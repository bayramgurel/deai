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57" r:id="rId5"/>
    <p:sldId id="258" r:id="rId6"/>
    <p:sldId id="282" r:id="rId7"/>
    <p:sldId id="284" r:id="rId8"/>
    <p:sldId id="283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4" r:id="rId17"/>
    <p:sldId id="293" r:id="rId18"/>
    <p:sldId id="320" r:id="rId19"/>
    <p:sldId id="321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A347AB-58D7-0015-8A67-4B13CDF46BB4}" name="Damion Gans" initials="DG" userId="S::djgans@hhs.nl::4c1bb948-5e60-4003-afc5-f5bdfae4bc1a" providerId="AD"/>
  <p188:author id="{64A2B3C2-56D3-CA22-BCAD-EAAFAFAF4B47}" name="Damion Gans" initials="DG" userId="bb27c2b77fb3b39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5BF69-C03B-4C4B-B239-916EFCF8E162}" v="8" dt="2026-03-16T17:10:01.545"/>
    <p1510:client id="{BEE410C0-C622-4FE2-BF48-C06C5975918B}" v="1115" dt="2026-03-16T08:58:00.6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lle van Barneveld" userId="bc7ecfdf-3719-43bf-9ebf-4e7030cd4705" providerId="ADAL" clId="{8FBCD94A-1B0B-4C78-B10A-8D7F43414B78}"/>
    <pc:docChg chg="undo custSel addSld delSld modSld sldOrd">
      <pc:chgData name="Jelle van Barneveld" userId="bc7ecfdf-3719-43bf-9ebf-4e7030cd4705" providerId="ADAL" clId="{8FBCD94A-1B0B-4C78-B10A-8D7F43414B78}" dt="2026-03-16T17:10:01.545" v="1748" actId="20577"/>
      <pc:docMkLst>
        <pc:docMk/>
      </pc:docMkLst>
      <pc:sldChg chg="modSp">
        <pc:chgData name="Jelle van Barneveld" userId="bc7ecfdf-3719-43bf-9ebf-4e7030cd4705" providerId="ADAL" clId="{8FBCD94A-1B0B-4C78-B10A-8D7F43414B78}" dt="2026-03-16T17:10:01.545" v="1748" actId="20577"/>
        <pc:sldMkLst>
          <pc:docMk/>
          <pc:sldMk cId="1448075382" sldId="285"/>
        </pc:sldMkLst>
        <pc:spChg chg="mod">
          <ac:chgData name="Jelle van Barneveld" userId="bc7ecfdf-3719-43bf-9ebf-4e7030cd4705" providerId="ADAL" clId="{8FBCD94A-1B0B-4C78-B10A-8D7F43414B78}" dt="2026-03-16T17:10:01.545" v="1748" actId="20577"/>
          <ac:spMkLst>
            <pc:docMk/>
            <pc:sldMk cId="1448075382" sldId="285"/>
            <ac:spMk id="13" creationId="{608AF07B-A100-195E-D5F1-59DCF076499E}"/>
          </ac:spMkLst>
        </pc:spChg>
      </pc:sldChg>
      <pc:sldChg chg="modSp">
        <pc:chgData name="Jelle van Barneveld" userId="bc7ecfdf-3719-43bf-9ebf-4e7030cd4705" providerId="ADAL" clId="{8FBCD94A-1B0B-4C78-B10A-8D7F43414B78}" dt="2026-03-16T08:10:53.397" v="9" actId="1076"/>
        <pc:sldMkLst>
          <pc:docMk/>
          <pc:sldMk cId="3972065359" sldId="286"/>
        </pc:sldMkLst>
        <pc:spChg chg="mod">
          <ac:chgData name="Jelle van Barneveld" userId="bc7ecfdf-3719-43bf-9ebf-4e7030cd4705" providerId="ADAL" clId="{8FBCD94A-1B0B-4C78-B10A-8D7F43414B78}" dt="2026-03-16T08:10:53.397" v="9" actId="1076"/>
          <ac:spMkLst>
            <pc:docMk/>
            <pc:sldMk cId="3972065359" sldId="286"/>
            <ac:spMk id="42" creationId="{58A28D57-F28F-D82E-B1A6-558DB290A4FD}"/>
          </ac:spMkLst>
        </pc:spChg>
        <pc:spChg chg="mod">
          <ac:chgData name="Jelle van Barneveld" userId="bc7ecfdf-3719-43bf-9ebf-4e7030cd4705" providerId="ADAL" clId="{8FBCD94A-1B0B-4C78-B10A-8D7F43414B78}" dt="2026-03-16T08:10:53.397" v="9" actId="1076"/>
          <ac:spMkLst>
            <pc:docMk/>
            <pc:sldMk cId="3972065359" sldId="286"/>
            <ac:spMk id="43" creationId="{D6109F5A-2EB4-59A5-C347-B3BEF3BC0AE6}"/>
          </ac:spMkLst>
        </pc:spChg>
        <pc:spChg chg="mod">
          <ac:chgData name="Jelle van Barneveld" userId="bc7ecfdf-3719-43bf-9ebf-4e7030cd4705" providerId="ADAL" clId="{8FBCD94A-1B0B-4C78-B10A-8D7F43414B78}" dt="2026-03-16T08:10:53.397" v="9" actId="1076"/>
          <ac:spMkLst>
            <pc:docMk/>
            <pc:sldMk cId="3972065359" sldId="286"/>
            <ac:spMk id="44" creationId="{5DBE27CF-0FC0-6C02-E823-56916C546473}"/>
          </ac:spMkLst>
        </pc:spChg>
        <pc:spChg chg="mod">
          <ac:chgData name="Jelle van Barneveld" userId="bc7ecfdf-3719-43bf-9ebf-4e7030cd4705" providerId="ADAL" clId="{8FBCD94A-1B0B-4C78-B10A-8D7F43414B78}" dt="2026-03-16T08:10:53.397" v="9" actId="1076"/>
          <ac:spMkLst>
            <pc:docMk/>
            <pc:sldMk cId="3972065359" sldId="286"/>
            <ac:spMk id="45" creationId="{7703CBBC-8BBE-30D5-14D1-682625DE2CD1}"/>
          </ac:spMkLst>
        </pc:spChg>
        <pc:spChg chg="mod">
          <ac:chgData name="Jelle van Barneveld" userId="bc7ecfdf-3719-43bf-9ebf-4e7030cd4705" providerId="ADAL" clId="{8FBCD94A-1B0B-4C78-B10A-8D7F43414B78}" dt="2026-03-16T08:10:53.397" v="9" actId="1076"/>
          <ac:spMkLst>
            <pc:docMk/>
            <pc:sldMk cId="3972065359" sldId="286"/>
            <ac:spMk id="46" creationId="{C40687DA-883D-9F65-F99A-D6161E97664E}"/>
          </ac:spMkLst>
        </pc:spChg>
        <pc:spChg chg="mod">
          <ac:chgData name="Jelle van Barneveld" userId="bc7ecfdf-3719-43bf-9ebf-4e7030cd4705" providerId="ADAL" clId="{8FBCD94A-1B0B-4C78-B10A-8D7F43414B78}" dt="2026-03-16T08:10:53.397" v="9" actId="1076"/>
          <ac:spMkLst>
            <pc:docMk/>
            <pc:sldMk cId="3972065359" sldId="286"/>
            <ac:spMk id="47" creationId="{FFF08A8E-E70E-12C3-E198-B442F597D1B9}"/>
          </ac:spMkLst>
        </pc:spChg>
        <pc:grpChg chg="mod">
          <ac:chgData name="Jelle van Barneveld" userId="bc7ecfdf-3719-43bf-9ebf-4e7030cd4705" providerId="ADAL" clId="{8FBCD94A-1B0B-4C78-B10A-8D7F43414B78}" dt="2026-03-16T08:10:53.397" v="9" actId="1076"/>
          <ac:grpSpMkLst>
            <pc:docMk/>
            <pc:sldMk cId="3972065359" sldId="286"/>
            <ac:grpSpMk id="38" creationId="{6FD73AE2-1B70-FB7F-7255-53089BD6A7CC}"/>
          </ac:grpSpMkLst>
        </pc:grpChg>
        <pc:grpChg chg="mod">
          <ac:chgData name="Jelle van Barneveld" userId="bc7ecfdf-3719-43bf-9ebf-4e7030cd4705" providerId="ADAL" clId="{8FBCD94A-1B0B-4C78-B10A-8D7F43414B78}" dt="2026-03-16T08:10:53.397" v="9" actId="1076"/>
          <ac:grpSpMkLst>
            <pc:docMk/>
            <pc:sldMk cId="3972065359" sldId="286"/>
            <ac:grpSpMk id="39" creationId="{0A42B4D8-EECC-F18C-310D-05B5A03A3FDF}"/>
          </ac:grpSpMkLst>
        </pc:grpChg>
        <pc:grpChg chg="mod">
          <ac:chgData name="Jelle van Barneveld" userId="bc7ecfdf-3719-43bf-9ebf-4e7030cd4705" providerId="ADAL" clId="{8FBCD94A-1B0B-4C78-B10A-8D7F43414B78}" dt="2026-03-16T08:10:53.397" v="9" actId="1076"/>
          <ac:grpSpMkLst>
            <pc:docMk/>
            <pc:sldMk cId="3972065359" sldId="286"/>
            <ac:grpSpMk id="40" creationId="{A837CC1E-6DA8-BB4C-5C35-0A3FF8F0F770}"/>
          </ac:grpSpMkLst>
        </pc:grpChg>
        <pc:grpChg chg="mod">
          <ac:chgData name="Jelle van Barneveld" userId="bc7ecfdf-3719-43bf-9ebf-4e7030cd4705" providerId="ADAL" clId="{8FBCD94A-1B0B-4C78-B10A-8D7F43414B78}" dt="2026-03-16T08:10:53.397" v="9" actId="1076"/>
          <ac:grpSpMkLst>
            <pc:docMk/>
            <pc:sldMk cId="3972065359" sldId="286"/>
            <ac:grpSpMk id="41" creationId="{7234151F-38E8-44BE-0C74-CFAF0891FF78}"/>
          </ac:grpSpMkLst>
        </pc:grpChg>
      </pc:sldChg>
      <pc:sldChg chg="modSp mod ord addAnim delAnim modAnim">
        <pc:chgData name="Jelle van Barneveld" userId="bc7ecfdf-3719-43bf-9ebf-4e7030cd4705" providerId="ADAL" clId="{8FBCD94A-1B0B-4C78-B10A-8D7F43414B78}" dt="2026-03-16T08:55:31.716" v="1476" actId="20577"/>
        <pc:sldMkLst>
          <pc:docMk/>
          <pc:sldMk cId="2097493477" sldId="291"/>
        </pc:sldMkLst>
        <pc:spChg chg="mod">
          <ac:chgData name="Jelle van Barneveld" userId="bc7ecfdf-3719-43bf-9ebf-4e7030cd4705" providerId="ADAL" clId="{8FBCD94A-1B0B-4C78-B10A-8D7F43414B78}" dt="2026-03-16T08:55:31.716" v="1476" actId="20577"/>
          <ac:spMkLst>
            <pc:docMk/>
            <pc:sldMk cId="2097493477" sldId="291"/>
            <ac:spMk id="4" creationId="{BAB2155C-1045-B2A5-F03A-4DA5AF9875CB}"/>
          </ac:spMkLst>
        </pc:spChg>
      </pc:sldChg>
      <pc:sldChg chg="modSp mod">
        <pc:chgData name="Jelle van Barneveld" userId="bc7ecfdf-3719-43bf-9ebf-4e7030cd4705" providerId="ADAL" clId="{8FBCD94A-1B0B-4C78-B10A-8D7F43414B78}" dt="2026-03-16T08:58:27.910" v="1740" actId="20577"/>
        <pc:sldMkLst>
          <pc:docMk/>
          <pc:sldMk cId="34604072" sldId="293"/>
        </pc:sldMkLst>
        <pc:graphicFrameChg chg="modGraphic">
          <ac:chgData name="Jelle van Barneveld" userId="bc7ecfdf-3719-43bf-9ebf-4e7030cd4705" providerId="ADAL" clId="{8FBCD94A-1B0B-4C78-B10A-8D7F43414B78}" dt="2026-03-16T08:58:27.910" v="1740" actId="20577"/>
          <ac:graphicFrameMkLst>
            <pc:docMk/>
            <pc:sldMk cId="34604072" sldId="293"/>
            <ac:graphicFrameMk id="2" creationId="{058E7A37-C393-D83F-0270-57112009CC2F}"/>
          </ac:graphicFrameMkLst>
        </pc:graphicFrameChg>
      </pc:sldChg>
      <pc:sldChg chg="addSp delSp modSp add mod modAnim">
        <pc:chgData name="Jelle van Barneveld" userId="bc7ecfdf-3719-43bf-9ebf-4e7030cd4705" providerId="ADAL" clId="{8FBCD94A-1B0B-4C78-B10A-8D7F43414B78}" dt="2026-03-16T08:58:00.607" v="1733"/>
        <pc:sldMkLst>
          <pc:docMk/>
          <pc:sldMk cId="3491390774" sldId="294"/>
        </pc:sldMkLst>
        <pc:spChg chg="mod">
          <ac:chgData name="Jelle van Barneveld" userId="bc7ecfdf-3719-43bf-9ebf-4e7030cd4705" providerId="ADAL" clId="{8FBCD94A-1B0B-4C78-B10A-8D7F43414B78}" dt="2026-03-16T08:57:35.566" v="1729" actId="20577"/>
          <ac:spMkLst>
            <pc:docMk/>
            <pc:sldMk cId="3491390774" sldId="294"/>
            <ac:spMk id="4" creationId="{11D6D8DA-ABF2-841F-0BCD-48108DFD582B}"/>
          </ac:spMkLst>
        </pc:spChg>
        <pc:spChg chg="del">
          <ac:chgData name="Jelle van Barneveld" userId="bc7ecfdf-3719-43bf-9ebf-4e7030cd4705" providerId="ADAL" clId="{8FBCD94A-1B0B-4C78-B10A-8D7F43414B78}" dt="2026-03-16T08:50:16.675" v="1252" actId="478"/>
          <ac:spMkLst>
            <pc:docMk/>
            <pc:sldMk cId="3491390774" sldId="294"/>
            <ac:spMk id="5" creationId="{E2373017-A02D-08F6-FCF8-9F7C9596EF2E}"/>
          </ac:spMkLst>
        </pc:spChg>
        <pc:spChg chg="mod">
          <ac:chgData name="Jelle van Barneveld" userId="bc7ecfdf-3719-43bf-9ebf-4e7030cd4705" providerId="ADAL" clId="{8FBCD94A-1B0B-4C78-B10A-8D7F43414B78}" dt="2026-03-16T08:38:23.912" v="78" actId="1076"/>
          <ac:spMkLst>
            <pc:docMk/>
            <pc:sldMk cId="3491390774" sldId="294"/>
            <ac:spMk id="7" creationId="{CBEFF85E-13D5-C1E5-7BF9-3223E13FCA57}"/>
          </ac:spMkLst>
        </pc:spChg>
        <pc:spChg chg="mod">
          <ac:chgData name="Jelle van Barneveld" userId="bc7ecfdf-3719-43bf-9ebf-4e7030cd4705" providerId="ADAL" clId="{8FBCD94A-1B0B-4C78-B10A-8D7F43414B78}" dt="2026-03-16T08:45:06.451" v="621" actId="14100"/>
          <ac:spMkLst>
            <pc:docMk/>
            <pc:sldMk cId="3491390774" sldId="294"/>
            <ac:spMk id="9" creationId="{7D8B50D7-C554-7B55-1DE9-7C42587F1244}"/>
          </ac:spMkLst>
        </pc:spChg>
        <pc:picChg chg="add del mod">
          <ac:chgData name="Jelle van Barneveld" userId="bc7ecfdf-3719-43bf-9ebf-4e7030cd4705" providerId="ADAL" clId="{8FBCD94A-1B0B-4C78-B10A-8D7F43414B78}" dt="2026-03-16T08:39:37.134" v="84" actId="478"/>
          <ac:picMkLst>
            <pc:docMk/>
            <pc:sldMk cId="3491390774" sldId="294"/>
            <ac:picMk id="2" creationId="{DBF2A50C-5472-4DFD-6928-A23BC8ED8C07}"/>
          </ac:picMkLst>
        </pc:picChg>
        <pc:picChg chg="add mod">
          <ac:chgData name="Jelle van Barneveld" userId="bc7ecfdf-3719-43bf-9ebf-4e7030cd4705" providerId="ADAL" clId="{8FBCD94A-1B0B-4C78-B10A-8D7F43414B78}" dt="2026-03-16T08:45:15.114" v="623" actId="14100"/>
          <ac:picMkLst>
            <pc:docMk/>
            <pc:sldMk cId="3491390774" sldId="294"/>
            <ac:picMk id="10" creationId="{BC44377D-6DFE-663E-A3CD-7D3CC42F4219}"/>
          </ac:picMkLst>
        </pc:picChg>
        <pc:picChg chg="del">
          <ac:chgData name="Jelle van Barneveld" userId="bc7ecfdf-3719-43bf-9ebf-4e7030cd4705" providerId="ADAL" clId="{8FBCD94A-1B0B-4C78-B10A-8D7F43414B78}" dt="2026-03-16T08:39:13.542" v="79" actId="478"/>
          <ac:picMkLst>
            <pc:docMk/>
            <pc:sldMk cId="3491390774" sldId="294"/>
            <ac:picMk id="1026" creationId="{1F7B1FD5-9924-6A8F-E3A7-46DF9B732C6C}"/>
          </ac:picMkLst>
        </pc:picChg>
      </pc:sldChg>
      <pc:sldChg chg="add">
        <pc:chgData name="Jelle van Barneveld" userId="bc7ecfdf-3719-43bf-9ebf-4e7030cd4705" providerId="ADAL" clId="{8FBCD94A-1B0B-4C78-B10A-8D7F43414B78}" dt="2026-03-16T08:51:10.110" v="1257"/>
        <pc:sldMkLst>
          <pc:docMk/>
          <pc:sldMk cId="1787970536" sldId="320"/>
        </pc:sldMkLst>
      </pc:sldChg>
      <pc:sldChg chg="add ord modAnim">
        <pc:chgData name="Jelle van Barneveld" userId="bc7ecfdf-3719-43bf-9ebf-4e7030cd4705" providerId="ADAL" clId="{8FBCD94A-1B0B-4C78-B10A-8D7F43414B78}" dt="2026-03-16T08:51:20.310" v="1261"/>
        <pc:sldMkLst>
          <pc:docMk/>
          <pc:sldMk cId="1198265886" sldId="3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136D9-EF6F-4855-B722-9BC0BF7B1A55}" type="datetimeFigureOut">
              <a:rPr lang="nl-NL" smtClean="0"/>
              <a:t>16-3-2026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E662B-CC1D-4B05-805F-0D121331987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36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477838" rtl="0" eaLnBrk="0" fontAlgn="base" latinLnBrk="0" hangingPunct="0">
              <a:lnSpc>
                <a:spcPct val="100000"/>
              </a:lnSpc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>
                <a:tab pos="755650" algn="l"/>
                <a:tab pos="1511300" algn="l"/>
                <a:tab pos="2268538" algn="l"/>
                <a:tab pos="3024188" algn="l"/>
              </a:tabLst>
              <a:defRPr/>
            </a:pPr>
            <a:fld id="{F751C962-19B1-E941-BF11-D365F135F8D5}" type="slidenum"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charset="0"/>
                <a:cs typeface="+mn-cs"/>
              </a:rPr>
              <a:pPr marL="0" marR="0" lvl="0" indent="0" algn="r" defTabSz="477838" rtl="0" eaLnBrk="0" fontAlgn="base" latinLnBrk="0" hangingPunct="0">
                <a:lnSpc>
                  <a:spcPct val="100000"/>
                </a:lnSpc>
                <a:spcBef>
                  <a:spcPts val="7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755650" algn="l"/>
                  <a:tab pos="1511300" algn="l"/>
                  <a:tab pos="2268538" algn="l"/>
                  <a:tab pos="3024188" algn="l"/>
                </a:tabLst>
                <a:defRPr/>
              </a:pPr>
              <a:t>1</a:t>
            </a:fld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18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E09-0CF7-15FE-56AE-AE2E7006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C46A-8596-B33A-41BF-366F0B9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0EAD-293B-3E82-7011-9362B185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C25E-D1B9-004D-65A4-A9F2925A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C643-E9BF-9350-BA5B-D59CDAF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438482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C38-465A-FCC3-19DB-3C9769E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3C0E-B795-CB22-8144-DEBE8E52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3648-CD85-36A6-CD18-E358C188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FC97-521F-4024-F7E5-F39DC51A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9FE3-1390-D2E6-7A7F-5DB9A4FD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1712530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CC-9A3B-32C7-26FA-7633AA5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76F7-064C-4F26-1F72-ABFA718D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7449-E52C-836C-22C1-A220B80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DBA3-7981-A147-894E-FBFEBC4E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1B8-6A5C-FB02-094E-4E8129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295524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475C-EE23-3178-A543-73FB811C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AB17-626A-5333-0A6E-CB12FEA6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3F0F-4796-84F5-DBE7-43D61AD8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BAF8-6E9E-0047-C4AF-6160F273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037A4-3D45-7E03-AF61-940775F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C9BB-0E76-AB74-BDB5-D56968B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5808346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D902-B76B-0D3B-7D8E-EC62DB7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7664-4DB7-3A7A-9154-32CA8884A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2F29-D106-938C-7A85-CC58AA8C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DE05-771E-EAF7-B5AD-DB62810DD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AFE87-8F2D-F296-E5BE-76C0F381E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DE75-237D-46D1-ACCC-056D7986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0C1E-DB96-C177-6BCD-6837B457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317B8-7B96-056C-C7A6-38D4E1FE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035566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0FC-7829-8CDA-4A7A-B763E7F0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884C6-40AE-7A1A-646F-FDB97DF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0B22-A8AB-852C-7952-E20D6422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1647F-ACAF-E312-C8BB-7F265E5E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563835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9462-9FEA-5D88-EE00-E187BAA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7087A-F4BC-7377-70F3-0A571BD7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4FF-048E-0634-23CE-F08BC13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29260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A2F-4D46-B289-C61D-EBEAFA11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170F-AB91-8E12-212F-57BF0430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F1DB-E4ED-A226-CC84-D5BC80092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C25F-3269-1F4E-CECA-5F2EF445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8728-A678-4921-52FF-FAC84DA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AA8-97A5-DAD4-C8BC-65BC563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41894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A4B-6237-DD8B-3CF0-8F9C6FB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2D31B-B7BB-010A-4AA4-79370FF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D15A3-2F7F-E910-4E49-0319EF17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3E74-A348-3972-B8B8-EF90192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B359-D110-649F-2709-F1206532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DCBB-7F8D-7680-B733-5A497210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811139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FF2-C20E-F920-8CD9-F976324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FCEA7-24D9-D5DC-C977-37546320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C4D3-B485-2A8D-BCF7-F3BAC5F1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B089-D6C5-1314-9322-0562E59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39-F72A-B3B9-4251-D09071CF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157385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FB015-28AB-C2F6-BF24-7B41FC5C4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C4992-6315-8134-344F-FBC543F69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BA65-F8D1-924C-C2F9-7A3F371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CD2E-031C-46D2-1A49-7115D89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E953-6330-21D1-00CB-7FC8C89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286303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FA4E-E385-847C-AE6D-230355D6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839E-C7CC-BF9A-55C1-AD77C38C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BAE-69DA-E883-5ADB-EB9AC96D0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B45D-D98F-4A32-A567-4AE2A91459D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F5B-BFA7-55B6-6151-5B263570E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B8DA-67AF-B29B-FC1D-2E06696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C1A59F-BCA0-79F1-6F87-079182BCC7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763"/>
            <a:ext cx="9779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718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7">
            <a:extLst>
              <a:ext uri="{FF2B5EF4-FFF2-40B4-BE49-F238E27FC236}">
                <a16:creationId xmlns:a16="http://schemas.microsoft.com/office/drawing/2014/main" id="{5ECCA89E-3666-CEB9-DEEF-AE7D0C9A09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AAD41C4-AB8B-603C-1D5D-873690001E0D}"/>
              </a:ext>
            </a:extLst>
          </p:cNvPr>
          <p:cNvSpPr txBox="1"/>
          <p:nvPr/>
        </p:nvSpPr>
        <p:spPr>
          <a:xfrm>
            <a:off x="1455575" y="0"/>
            <a:ext cx="1039177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3000" b="1">
                <a:solidFill>
                  <a:srgbClr val="829C30"/>
                </a:solidFill>
                <a:latin typeface="Arial"/>
                <a:ea typeface="MS PGothic" charset="0"/>
              </a:rPr>
              <a:t>Clusteringmodellen in (</a:t>
            </a:r>
            <a:r>
              <a:rPr lang="nl-NL" sz="3000" b="1" err="1">
                <a:solidFill>
                  <a:srgbClr val="829C30"/>
                </a:solidFill>
                <a:latin typeface="Arial"/>
                <a:ea typeface="MS PGothic" charset="0"/>
              </a:rPr>
              <a:t>unsupervised</a:t>
            </a:r>
            <a:r>
              <a:rPr lang="nl-NL" sz="3000" b="1">
                <a:solidFill>
                  <a:srgbClr val="829C30"/>
                </a:solidFill>
                <a:latin typeface="Arial"/>
                <a:ea typeface="MS PGothic" charset="0"/>
              </a:rPr>
              <a:t>) Machine Learning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B5CCCA6-8199-DE45-191D-56DB29787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471" y="965235"/>
            <a:ext cx="6054645" cy="554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0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29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practicum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40" y="3275345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0621E4-74F4-FAC7-0E0A-2A8DDEB96310}"/>
              </a:ext>
            </a:extLst>
          </p:cNvPr>
          <p:cNvSpPr txBox="1"/>
          <p:nvPr/>
        </p:nvSpPr>
        <p:spPr>
          <a:xfrm>
            <a:off x="7611128" y="2263806"/>
            <a:ext cx="3429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meansclustermodel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maken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AB055838-C7ED-88C2-08DF-B247E02AFBB8}"/>
              </a:ext>
            </a:extLst>
          </p:cNvPr>
          <p:cNvSpPr txBox="1"/>
          <p:nvPr/>
        </p:nvSpPr>
        <p:spPr>
          <a:xfrm>
            <a:off x="2760918" y="1525142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precieze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clustering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ACAFD4D3-153E-2D44-23BC-6692F109A000}"/>
              </a:ext>
            </a:extLst>
          </p:cNvPr>
          <p:cNvSpPr txBox="1"/>
          <p:nvPr/>
        </p:nvSpPr>
        <p:spPr>
          <a:xfrm>
            <a:off x="1672846" y="2851123"/>
            <a:ext cx="3554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voor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nadelen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clustering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t.o.v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andersom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C912A17B-CAD0-8AC8-BE8E-931C24BE2B01}"/>
              </a:ext>
            </a:extLst>
          </p:cNvPr>
          <p:cNvSpPr txBox="1"/>
          <p:nvPr/>
        </p:nvSpPr>
        <p:spPr>
          <a:xfrm>
            <a:off x="1672846" y="4332162"/>
            <a:ext cx="355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verschillende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clustermethoden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03AB0EDA-8F72-8C06-2850-BA7A94BF0647}"/>
              </a:ext>
            </a:extLst>
          </p:cNvPr>
          <p:cNvSpPr txBox="1"/>
          <p:nvPr/>
        </p:nvSpPr>
        <p:spPr>
          <a:xfrm>
            <a:off x="2760918" y="5579094"/>
            <a:ext cx="355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stappen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meansclustermodel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volgt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94413807-1407-1331-7D91-DF38D7423682}"/>
              </a:ext>
            </a:extLst>
          </p:cNvPr>
          <p:cNvSpPr txBox="1"/>
          <p:nvPr/>
        </p:nvSpPr>
        <p:spPr>
          <a:xfrm>
            <a:off x="7716359" y="4835227"/>
            <a:ext cx="3429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bepalen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middel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berekenen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de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inter-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intra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clusterafstand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Classificatie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vs. Clustering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62065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590145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850701" y="837429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Classificatie</a:t>
            </a:r>
            <a:endParaRPr lang="nl-NL" sz="200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8344530" y="879137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Clustering</a:t>
            </a:r>
            <a:endParaRPr lang="nl-NL" sz="2000"/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E1920202-5C03-4241-6763-D8DAA9CFD28F}"/>
              </a:ext>
            </a:extLst>
          </p:cNvPr>
          <p:cNvSpPr txBox="1"/>
          <p:nvPr/>
        </p:nvSpPr>
        <p:spPr>
          <a:xfrm>
            <a:off x="6676110" y="5420406"/>
            <a:ext cx="55227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i="1" dirty="0"/>
              <a:t>Clustering</a:t>
            </a:r>
            <a:r>
              <a:rPr lang="nl-NL" dirty="0"/>
              <a:t> is het vinden / bepalen van klassen in data.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De klassen zijn hier dus nog onbekend en we willen dat ons model deze zelf gaat vinden/maken, </a:t>
            </a:r>
            <a:r>
              <a:rPr lang="nl-NL" i="1" dirty="0"/>
              <a:t>zonder menselijke input door enkel het algoritme.</a:t>
            </a:r>
            <a:endParaRPr lang="nl-NL" dirty="0"/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03538475-B948-35F0-1013-3761103667FE}"/>
              </a:ext>
            </a:extLst>
          </p:cNvPr>
          <p:cNvSpPr txBox="1"/>
          <p:nvPr/>
        </p:nvSpPr>
        <p:spPr>
          <a:xfrm>
            <a:off x="1220580" y="5420406"/>
            <a:ext cx="5283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i="1"/>
              <a:t>Classificatie</a:t>
            </a:r>
            <a:r>
              <a:rPr lang="nl-NL"/>
              <a:t> is het onderbrengen van een </a:t>
            </a:r>
            <a:r>
              <a:rPr lang="nl-NL" i="1"/>
              <a:t>praktijksituatie</a:t>
            </a:r>
            <a:r>
              <a:rPr lang="nl-NL"/>
              <a:t> / </a:t>
            </a:r>
            <a:r>
              <a:rPr lang="nl-NL" i="1"/>
              <a:t>individu</a:t>
            </a:r>
            <a:r>
              <a:rPr lang="nl-NL"/>
              <a:t> in een bepaalde </a:t>
            </a:r>
            <a:r>
              <a:rPr lang="nl-NL" i="1"/>
              <a:t>klasse</a:t>
            </a:r>
          </a:p>
          <a:p>
            <a:pPr algn="ctr"/>
            <a:endParaRPr lang="nl-NL" i="1"/>
          </a:p>
          <a:p>
            <a:pPr algn="ctr"/>
            <a:r>
              <a:rPr lang="nl-NL"/>
              <a:t>De klassen zijn hier dus al bekend en we willen dat het model per datapunt op dezelfde klasse uitkomt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F6FF005-A44B-88E1-E130-F87A83CB0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74" y="1279247"/>
            <a:ext cx="5166066" cy="3902353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11AD0E5B-25BD-E70A-82F6-6CC2EC3C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926" y="1237539"/>
            <a:ext cx="5166065" cy="390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0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A91F9227-C1F1-C5F7-5087-87D99F9FB606}"/>
              </a:ext>
            </a:extLst>
          </p:cNvPr>
          <p:cNvSpPr txBox="1">
            <a:spLocks noChangeArrowheads="1"/>
          </p:cNvSpPr>
          <p:nvPr/>
        </p:nvSpPr>
        <p:spPr>
          <a:xfrm>
            <a:off x="1059256" y="252388"/>
            <a:ext cx="11132744" cy="42883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6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nl-NL" sz="2800" b="1" i="0" u="none" strike="noStrike" kern="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Voor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-/</a:t>
            </a: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nadeel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 van clustering </a:t>
            </a: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t.o.v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. </a:t>
            </a: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classificatie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9EA700"/>
              </a:solidFill>
              <a:effectLst/>
              <a:uLnTx/>
              <a:uFillTx/>
              <a:latin typeface="Arial Black"/>
              <a:ea typeface="+mj-ea"/>
              <a:cs typeface="+mj-cs"/>
              <a:sym typeface="Copperplate" charset="0"/>
            </a:endParaRPr>
          </a:p>
        </p:txBody>
      </p:sp>
      <p:sp>
        <p:nvSpPr>
          <p:cNvPr id="13" name="Tekstvak 7">
            <a:extLst>
              <a:ext uri="{FF2B5EF4-FFF2-40B4-BE49-F238E27FC236}">
                <a16:creationId xmlns:a16="http://schemas.microsoft.com/office/drawing/2014/main" id="{EB8E8095-0479-45D8-586C-2560E473D4CA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03289C03-D50C-C5B4-E4B6-DFDAB46F3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819803"/>
              </p:ext>
            </p:extLst>
          </p:nvPr>
        </p:nvGraphicFramePr>
        <p:xfrm>
          <a:off x="1958582" y="1956620"/>
          <a:ext cx="9334092" cy="3211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364">
                  <a:extLst>
                    <a:ext uri="{9D8B030D-6E8A-4147-A177-3AD203B41FA5}">
                      <a16:colId xmlns:a16="http://schemas.microsoft.com/office/drawing/2014/main" val="100850837"/>
                    </a:ext>
                  </a:extLst>
                </a:gridCol>
                <a:gridCol w="3111364">
                  <a:extLst>
                    <a:ext uri="{9D8B030D-6E8A-4147-A177-3AD203B41FA5}">
                      <a16:colId xmlns:a16="http://schemas.microsoft.com/office/drawing/2014/main" val="1514556312"/>
                    </a:ext>
                  </a:extLst>
                </a:gridCol>
                <a:gridCol w="3111364">
                  <a:extLst>
                    <a:ext uri="{9D8B030D-6E8A-4147-A177-3AD203B41FA5}">
                      <a16:colId xmlns:a16="http://schemas.microsoft.com/office/drawing/2014/main" val="450480425"/>
                    </a:ext>
                  </a:extLst>
                </a:gridCol>
              </a:tblGrid>
              <a:tr h="481005"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/>
                        <a:t>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Classificatie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330771"/>
                  </a:ext>
                </a:extLst>
              </a:tr>
              <a:tr h="1133297"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Voordeel t.o.v. de ander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Creatief: het model vormt clusters die wij als mens moeilijk zouden kunnen bedenken.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Resultaten makkelijk meetbaar: je weet immers de juiste klasse al en kan die vergelijken met de voorspelde klasse.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716620"/>
                  </a:ext>
                </a:extLst>
              </a:tr>
              <a:tr h="1541853"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Nadeel t.o.v. de ander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De gevormde clusters kunnen toevallig en niet op waarheid gebaseerd zijn: “horen datapunten A en B wel écht bij elkaar?”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Niet creatief: er worden alleen waarden van afhankelijke variabelen voorspeld die al bestaan.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426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68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A91F9227-C1F1-C5F7-5087-87D99F9FB606}"/>
              </a:ext>
            </a:extLst>
          </p:cNvPr>
          <p:cNvSpPr txBox="1">
            <a:spLocks noChangeArrowheads="1"/>
          </p:cNvSpPr>
          <p:nvPr/>
        </p:nvSpPr>
        <p:spPr>
          <a:xfrm>
            <a:off x="1059256" y="252388"/>
            <a:ext cx="11132744" cy="42883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6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nl-NL" sz="2800" b="1" i="0" u="none" strike="noStrike" kern="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Toepassingen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 van clustering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2DBC67B-41D4-6F14-4AF8-DD8AB04E619A}"/>
              </a:ext>
            </a:extLst>
          </p:cNvPr>
          <p:cNvSpPr txBox="1">
            <a:spLocks noChangeArrowheads="1"/>
          </p:cNvSpPr>
          <p:nvPr/>
        </p:nvSpPr>
        <p:spPr>
          <a:xfrm>
            <a:off x="1290456" y="1393323"/>
            <a:ext cx="5184228" cy="398585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>
              <a:lnSpc>
                <a:spcPct val="110000"/>
              </a:lnSpc>
              <a:buSzPct val="69000"/>
              <a:buNone/>
              <a:defRPr/>
            </a:pPr>
            <a:r>
              <a:rPr lang="nl-NL" dirty="0">
                <a:solidFill>
                  <a:srgbClr val="000000"/>
                </a:solidFill>
                <a:cs typeface="+mn-cs"/>
                <a:sym typeface="Palatino" charset="0"/>
              </a:rPr>
              <a:t>Overal waar labels / klassen onbekend, onzeker of te duur zijn.</a:t>
            </a:r>
          </a:p>
          <a:p>
            <a:pPr marL="558800" indent="-342900">
              <a:lnSpc>
                <a:spcPct val="110000"/>
              </a:lnSpc>
              <a:buSzPct val="69000"/>
              <a:defRPr/>
            </a:pPr>
            <a:r>
              <a:rPr lang="nl-NL" b="1" dirty="0">
                <a:solidFill>
                  <a:srgbClr val="000000"/>
                </a:solidFill>
                <a:sym typeface="Palatino Bold" charset="0"/>
              </a:rPr>
              <a:t>Marketing</a:t>
            </a:r>
            <a:r>
              <a:rPr lang="nl-NL" dirty="0">
                <a:solidFill>
                  <a:srgbClr val="000000"/>
                </a:solidFill>
                <a:sym typeface="Palatino Bold" charset="0"/>
              </a:rPr>
              <a:t>:</a:t>
            </a:r>
            <a:r>
              <a:rPr lang="nl-NL" dirty="0">
                <a:solidFill>
                  <a:srgbClr val="000000"/>
                </a:solidFill>
                <a:sym typeface="Palatino" charset="0"/>
              </a:rPr>
              <a:t> groepen van zelfde soort klanten</a:t>
            </a:r>
          </a:p>
          <a:p>
            <a:pPr marL="558800" indent="-342900">
              <a:lnSpc>
                <a:spcPct val="110000"/>
              </a:lnSpc>
              <a:buSzPct val="69000"/>
              <a:defRPr/>
            </a:pPr>
            <a:r>
              <a:rPr lang="nl-NL" b="1" dirty="0">
                <a:solidFill>
                  <a:srgbClr val="000000"/>
                </a:solidFill>
                <a:sym typeface="Palatino Bold" charset="0"/>
              </a:rPr>
              <a:t>Sterrenkunde</a:t>
            </a:r>
            <a:r>
              <a:rPr lang="nl-NL" dirty="0">
                <a:solidFill>
                  <a:srgbClr val="000000"/>
                </a:solidFill>
                <a:sym typeface="Palatino Bold" charset="0"/>
              </a:rPr>
              <a:t>: </a:t>
            </a:r>
            <a:r>
              <a:rPr lang="nl-NL" dirty="0">
                <a:solidFill>
                  <a:srgbClr val="000000"/>
                </a:solidFill>
                <a:sym typeface="Palatino" charset="0"/>
              </a:rPr>
              <a:t>groepen van zelfde soort sterren / zonnestelsels</a:t>
            </a:r>
          </a:p>
          <a:p>
            <a:pPr marL="558800" indent="-342900">
              <a:lnSpc>
                <a:spcPct val="110000"/>
              </a:lnSpc>
              <a:buSzPct val="69000"/>
              <a:defRPr/>
            </a:pPr>
            <a:r>
              <a:rPr lang="nl-NL" b="1" dirty="0">
                <a:solidFill>
                  <a:srgbClr val="000000"/>
                </a:solidFill>
                <a:sym typeface="Palatino Bold" charset="0"/>
              </a:rPr>
              <a:t>DNA onderzoek</a:t>
            </a:r>
            <a:r>
              <a:rPr lang="nl-NL" dirty="0">
                <a:solidFill>
                  <a:srgbClr val="000000"/>
                </a:solidFill>
                <a:sym typeface="Palatino Bold" charset="0"/>
              </a:rPr>
              <a:t>:</a:t>
            </a:r>
            <a:r>
              <a:rPr lang="nl-NL" dirty="0">
                <a:solidFill>
                  <a:srgbClr val="000000"/>
                </a:solidFill>
                <a:sym typeface="Palatino" charset="0"/>
              </a:rPr>
              <a:t> groepen genen met gelijksoortig effect.</a:t>
            </a:r>
          </a:p>
          <a:p>
            <a:pPr marL="558800" indent="-342900">
              <a:lnSpc>
                <a:spcPct val="110000"/>
              </a:lnSpc>
              <a:buSzPct val="69000"/>
              <a:defRPr/>
            </a:pPr>
            <a:r>
              <a:rPr lang="nl-NL" b="1" dirty="0" err="1">
                <a:solidFill>
                  <a:srgbClr val="000000"/>
                </a:solidFill>
                <a:sym typeface="Palatino" charset="0"/>
              </a:rPr>
              <a:t>ChatGPT</a:t>
            </a:r>
            <a:r>
              <a:rPr lang="nl-NL" b="1" dirty="0">
                <a:solidFill>
                  <a:srgbClr val="000000"/>
                </a:solidFill>
                <a:sym typeface="Palatino" charset="0"/>
              </a:rPr>
              <a:t>:</a:t>
            </a:r>
            <a:r>
              <a:rPr lang="nl-NL" dirty="0">
                <a:solidFill>
                  <a:srgbClr val="000000"/>
                </a:solidFill>
                <a:sym typeface="Palatino" charset="0"/>
              </a:rPr>
              <a:t> alle woorddelen zijn geclusterd in een supergrote hoeveelheid dimensies om betekenis aan woorden en zinnen te kunnen verlenen.</a:t>
            </a:r>
            <a:endParaRPr lang="nl-NL" b="1" dirty="0">
              <a:solidFill>
                <a:srgbClr val="000000"/>
              </a:solidFill>
              <a:sym typeface="Palatino" charset="0"/>
            </a:endParaRPr>
          </a:p>
        </p:txBody>
      </p:sp>
      <p:sp>
        <p:nvSpPr>
          <p:cNvPr id="13" name="Tekstvak 7">
            <a:extLst>
              <a:ext uri="{FF2B5EF4-FFF2-40B4-BE49-F238E27FC236}">
                <a16:creationId xmlns:a16="http://schemas.microsoft.com/office/drawing/2014/main" id="{EB8E8095-0479-45D8-586C-2560E473D4CA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1026" name="Picture 2" descr="Sterrenkunde bij Digibende – Digibende">
            <a:extLst>
              <a:ext uri="{FF2B5EF4-FFF2-40B4-BE49-F238E27FC236}">
                <a16:creationId xmlns:a16="http://schemas.microsoft.com/office/drawing/2014/main" id="{44CA4660-B9C2-7A54-BFC9-5A1AF2E8D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684" y="1393323"/>
            <a:ext cx="5560818" cy="417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Verschillende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clustermethoden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590145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014644" y="837429"/>
            <a:ext cx="5575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Overlapping vs. non-overlapping</a:t>
            </a:r>
            <a:endParaRPr lang="nl-NL" sz="200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6666276" y="879137"/>
            <a:ext cx="5525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Top-down vs. bottom-up</a:t>
            </a:r>
            <a:endParaRPr lang="nl-NL" sz="2000"/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03538475-B948-35F0-1013-3761103667FE}"/>
              </a:ext>
            </a:extLst>
          </p:cNvPr>
          <p:cNvSpPr txBox="1"/>
          <p:nvPr/>
        </p:nvSpPr>
        <p:spPr>
          <a:xfrm>
            <a:off x="988290" y="4890217"/>
            <a:ext cx="4994787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MS PGothic" charset="0"/>
              </a:rPr>
              <a:t>Non</a:t>
            </a:r>
            <a:r>
              <a:rPr lang="nl-NL" dirty="0">
                <a:latin typeface="Arial"/>
                <a:ea typeface="MS PGothic" charset="0"/>
              </a:rPr>
              <a:t>-o</a:t>
            </a:r>
            <a:r>
              <a:rPr lang="en-US" dirty="0" err="1">
                <a:latin typeface="Arial"/>
                <a:ea typeface="MS PGothic" charset="0"/>
              </a:rPr>
              <a:t>verlapping</a:t>
            </a:r>
            <a:r>
              <a:rPr lang="en-US" dirty="0">
                <a:latin typeface="Arial"/>
                <a:ea typeface="MS PGothic" charset="0"/>
              </a:rPr>
              <a:t>: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datapunt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kan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bij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slechts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één</a:t>
            </a:r>
            <a:r>
              <a:rPr lang="en-US" dirty="0">
                <a:latin typeface="Arial"/>
                <a:ea typeface="MS PGothic" charset="0"/>
              </a:rPr>
              <a:t> cluster </a:t>
            </a:r>
            <a:r>
              <a:rPr lang="en-US" dirty="0" err="1">
                <a:latin typeface="Arial"/>
                <a:ea typeface="MS PGothic" charset="0"/>
              </a:rPr>
              <a:t>horen</a:t>
            </a:r>
            <a:r>
              <a:rPr lang="en-US" dirty="0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MS PGothic" charset="0"/>
              </a:rPr>
              <a:t>Overlapping: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datapunt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kan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bij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meerdere</a:t>
            </a:r>
            <a:r>
              <a:rPr lang="en-US" dirty="0">
                <a:latin typeface="Arial"/>
                <a:ea typeface="MS PGothic" charset="0"/>
              </a:rPr>
              <a:t> clusters </a:t>
            </a:r>
            <a:r>
              <a:rPr lang="en-US" dirty="0" err="1">
                <a:latin typeface="Arial"/>
                <a:ea typeface="MS PGothic" charset="0"/>
              </a:rPr>
              <a:t>horen</a:t>
            </a:r>
            <a:endParaRPr lang="en-US" dirty="0">
              <a:latin typeface="Arial"/>
              <a:ea typeface="MS PGothic" charset="0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B1661F5-4C3E-D28D-E3A3-4E9F49E3B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0" y="1868917"/>
            <a:ext cx="5392841" cy="2733632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608AF07B-A100-195E-D5F1-59DCF076499E}"/>
              </a:ext>
            </a:extLst>
          </p:cNvPr>
          <p:cNvSpPr txBox="1"/>
          <p:nvPr/>
        </p:nvSpPr>
        <p:spPr>
          <a:xfrm>
            <a:off x="6590141" y="4468850"/>
            <a:ext cx="5283059" cy="2279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MS PGothic" charset="0"/>
              </a:rPr>
              <a:t>Top-down: </a:t>
            </a:r>
            <a:r>
              <a:rPr lang="en-US" dirty="0" err="1">
                <a:latin typeface="Arial"/>
                <a:ea typeface="MS PGothic" charset="0"/>
              </a:rPr>
              <a:t>eerst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komen</a:t>
            </a:r>
            <a:r>
              <a:rPr lang="en-US" dirty="0">
                <a:latin typeface="Arial"/>
                <a:ea typeface="MS PGothic" charset="0"/>
              </a:rPr>
              <a:t> alle </a:t>
            </a:r>
            <a:r>
              <a:rPr lang="en-US" dirty="0" err="1">
                <a:latin typeface="Arial"/>
                <a:ea typeface="MS PGothic" charset="0"/>
              </a:rPr>
              <a:t>datapunten</a:t>
            </a:r>
            <a:r>
              <a:rPr lang="en-US" dirty="0">
                <a:latin typeface="Arial"/>
                <a:ea typeface="MS PGothic" charset="0"/>
              </a:rPr>
              <a:t> in </a:t>
            </a:r>
            <a:r>
              <a:rPr lang="en-US" dirty="0" err="1">
                <a:latin typeface="Arial"/>
                <a:ea typeface="MS PGothic" charset="0"/>
              </a:rPr>
              <a:t>één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groot</a:t>
            </a:r>
            <a:r>
              <a:rPr lang="en-US" dirty="0">
                <a:latin typeface="Arial"/>
                <a:ea typeface="MS PGothic" charset="0"/>
              </a:rPr>
              <a:t> cluster </a:t>
            </a:r>
            <a:r>
              <a:rPr lang="en-US" dirty="0" err="1">
                <a:latin typeface="Arial"/>
                <a:ea typeface="MS PGothic" charset="0"/>
              </a:rPr>
              <a:t>terecht</a:t>
            </a:r>
            <a:r>
              <a:rPr lang="en-US" dirty="0">
                <a:latin typeface="Arial"/>
                <a:ea typeface="MS PGothic" charset="0"/>
              </a:rPr>
              <a:t>. </a:t>
            </a:r>
            <a:r>
              <a:rPr lang="en-US" dirty="0" err="1">
                <a:latin typeface="Arial"/>
                <a:ea typeface="MS PGothic" charset="0"/>
              </a:rPr>
              <a:t>Vervolgens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wordt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dat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grote</a:t>
            </a:r>
            <a:r>
              <a:rPr lang="en-US" dirty="0">
                <a:latin typeface="Arial"/>
                <a:ea typeface="MS PGothic" charset="0"/>
              </a:rPr>
              <a:t> cluster </a:t>
            </a:r>
            <a:r>
              <a:rPr lang="en-US" dirty="0" err="1">
                <a:latin typeface="Arial"/>
                <a:ea typeface="MS PGothic" charset="0"/>
              </a:rPr>
              <a:t>opgedeeld</a:t>
            </a:r>
            <a:r>
              <a:rPr lang="en-US" dirty="0">
                <a:latin typeface="Arial"/>
                <a:ea typeface="MS PGothic" charset="0"/>
              </a:rPr>
              <a:t> in </a:t>
            </a:r>
            <a:r>
              <a:rPr lang="en-US" dirty="0" err="1">
                <a:latin typeface="Arial"/>
                <a:ea typeface="MS PGothic" charset="0"/>
              </a:rPr>
              <a:t>meerdere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kleinere</a:t>
            </a:r>
            <a:r>
              <a:rPr lang="en-US" dirty="0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MS PGothic" charset="0"/>
              </a:rPr>
              <a:t>Bottom-up: elk </a:t>
            </a:r>
            <a:r>
              <a:rPr lang="en-US" dirty="0" err="1">
                <a:latin typeface="Arial"/>
                <a:ea typeface="MS PGothic" charset="0"/>
              </a:rPr>
              <a:t>datapunt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krijgt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eerst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zijn</a:t>
            </a:r>
            <a:r>
              <a:rPr lang="en-US" dirty="0">
                <a:latin typeface="Arial"/>
                <a:ea typeface="MS PGothic" charset="0"/>
              </a:rPr>
              <a:t> eigen cluster </a:t>
            </a:r>
            <a:r>
              <a:rPr lang="en-US" dirty="0" err="1">
                <a:latin typeface="Arial"/>
                <a:ea typeface="MS PGothic" charset="0"/>
              </a:rPr>
              <a:t>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vervolgens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wordt</a:t>
            </a:r>
            <a:r>
              <a:rPr lang="en-US" dirty="0">
                <a:latin typeface="Arial"/>
                <a:ea typeface="MS PGothic" charset="0"/>
              </a:rPr>
              <a:t> er </a:t>
            </a:r>
            <a:r>
              <a:rPr lang="en-US" dirty="0" err="1">
                <a:latin typeface="Arial"/>
                <a:ea typeface="MS PGothic" charset="0"/>
              </a:rPr>
              <a:t>gemerged</a:t>
            </a:r>
            <a:r>
              <a:rPr lang="en-US" dirty="0">
                <a:latin typeface="Arial"/>
                <a:ea typeface="MS PGothic" charset="0"/>
              </a:rPr>
              <a:t> met </a:t>
            </a:r>
            <a:r>
              <a:rPr lang="en-US" dirty="0" err="1">
                <a:latin typeface="Arial"/>
                <a:ea typeface="MS PGothic" charset="0"/>
              </a:rPr>
              <a:t>dichtstbijzijnde</a:t>
            </a:r>
            <a:r>
              <a:rPr lang="en-US" dirty="0">
                <a:latin typeface="Arial"/>
                <a:ea typeface="MS PGothic" charset="0"/>
              </a:rPr>
              <a:t> clusters.</a:t>
            </a:r>
          </a:p>
        </p:txBody>
      </p:sp>
      <p:pic>
        <p:nvPicPr>
          <p:cNvPr id="3074" name="Picture 2" descr="Difference between Top-down and Bottom-up Approach (with Comparison Chart)  - Tech Differences">
            <a:extLst>
              <a:ext uri="{FF2B5EF4-FFF2-40B4-BE49-F238E27FC236}">
                <a16:creationId xmlns:a16="http://schemas.microsoft.com/office/drawing/2014/main" id="{1C297609-C9F9-2039-9E96-6D35FBE68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276" y="1345583"/>
            <a:ext cx="5374556" cy="305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07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7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K-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meansclustering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: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stappen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1"/>
            <a:ext cx="11203710" cy="53421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b="1">
                <a:solidFill>
                  <a:srgbClr val="000000"/>
                </a:solidFill>
                <a:sym typeface="Palatino" charset="0"/>
              </a:rPr>
              <a:t>Stap 1: 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Kies 3 willekeurige punten: dit zijn de “startcentra” van de clusters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5C10A854-3B1F-71F1-976E-737A374F847B}"/>
              </a:ext>
            </a:extLst>
          </p:cNvPr>
          <p:cNvSpPr>
            <a:spLocks/>
          </p:cNvSpPr>
          <p:nvPr/>
        </p:nvSpPr>
        <p:spPr bwMode="auto">
          <a:xfrm>
            <a:off x="4038600" y="4991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6453C60-388E-751E-5B9E-4222B56639D0}"/>
              </a:ext>
            </a:extLst>
          </p:cNvPr>
          <p:cNvSpPr>
            <a:spLocks/>
          </p:cNvSpPr>
          <p:nvPr/>
        </p:nvSpPr>
        <p:spPr bwMode="auto">
          <a:xfrm>
            <a:off x="4191000" y="5219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DFB79EA2-74B0-60D6-F584-FB28E8EF5086}"/>
              </a:ext>
            </a:extLst>
          </p:cNvPr>
          <p:cNvSpPr>
            <a:spLocks/>
          </p:cNvSpPr>
          <p:nvPr/>
        </p:nvSpPr>
        <p:spPr bwMode="auto">
          <a:xfrm>
            <a:off x="3962400" y="5448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F1A2CAD6-491A-C2F3-37DA-9082C3C39248}"/>
              </a:ext>
            </a:extLst>
          </p:cNvPr>
          <p:cNvSpPr>
            <a:spLocks/>
          </p:cNvSpPr>
          <p:nvPr/>
        </p:nvSpPr>
        <p:spPr bwMode="auto">
          <a:xfrm>
            <a:off x="3733800" y="4762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82E0785C-5BCB-44CA-7873-92174D9F2C00}"/>
              </a:ext>
            </a:extLst>
          </p:cNvPr>
          <p:cNvSpPr>
            <a:spLocks/>
          </p:cNvSpPr>
          <p:nvPr/>
        </p:nvSpPr>
        <p:spPr bwMode="auto">
          <a:xfrm>
            <a:off x="3733800" y="2400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" name="AutoShape 8">
            <a:extLst>
              <a:ext uri="{FF2B5EF4-FFF2-40B4-BE49-F238E27FC236}">
                <a16:creationId xmlns:a16="http://schemas.microsoft.com/office/drawing/2014/main" id="{651DF189-AD28-B347-4812-3AC99151ED8C}"/>
              </a:ext>
            </a:extLst>
          </p:cNvPr>
          <p:cNvSpPr>
            <a:spLocks/>
          </p:cNvSpPr>
          <p:nvPr/>
        </p:nvSpPr>
        <p:spPr bwMode="auto">
          <a:xfrm>
            <a:off x="3733800" y="3924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8AB79EB5-4A73-03FE-5A03-AB89618A8A37}"/>
              </a:ext>
            </a:extLst>
          </p:cNvPr>
          <p:cNvSpPr>
            <a:spLocks/>
          </p:cNvSpPr>
          <p:nvPr/>
        </p:nvSpPr>
        <p:spPr bwMode="auto">
          <a:xfrm>
            <a:off x="3733800" y="5448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D3D7084E-CF02-3E11-7717-161FA5C74290}"/>
              </a:ext>
            </a:extLst>
          </p:cNvPr>
          <p:cNvSpPr>
            <a:spLocks/>
          </p:cNvSpPr>
          <p:nvPr/>
        </p:nvSpPr>
        <p:spPr bwMode="auto">
          <a:xfrm>
            <a:off x="3276600" y="4457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77C7A90E-B6B6-086E-846B-D0B3A7121087}"/>
              </a:ext>
            </a:extLst>
          </p:cNvPr>
          <p:cNvSpPr>
            <a:spLocks/>
          </p:cNvSpPr>
          <p:nvPr/>
        </p:nvSpPr>
        <p:spPr bwMode="auto">
          <a:xfrm>
            <a:off x="5803900" y="4127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0" name="AutoShape 12">
            <a:extLst>
              <a:ext uri="{FF2B5EF4-FFF2-40B4-BE49-F238E27FC236}">
                <a16:creationId xmlns:a16="http://schemas.microsoft.com/office/drawing/2014/main" id="{27DBC66D-8641-46FE-F5F2-5788E91BF8A1}"/>
              </a:ext>
            </a:extLst>
          </p:cNvPr>
          <p:cNvSpPr>
            <a:spLocks/>
          </p:cNvSpPr>
          <p:nvPr/>
        </p:nvSpPr>
        <p:spPr bwMode="auto">
          <a:xfrm>
            <a:off x="7543800" y="2171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1" name="AutoShape 13">
            <a:extLst>
              <a:ext uri="{FF2B5EF4-FFF2-40B4-BE49-F238E27FC236}">
                <a16:creationId xmlns:a16="http://schemas.microsoft.com/office/drawing/2014/main" id="{220FDD63-0C00-8931-3C6F-402EAA16250F}"/>
              </a:ext>
            </a:extLst>
          </p:cNvPr>
          <p:cNvSpPr>
            <a:spLocks/>
          </p:cNvSpPr>
          <p:nvPr/>
        </p:nvSpPr>
        <p:spPr bwMode="auto">
          <a:xfrm>
            <a:off x="8001000" y="2247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2" name="AutoShape 14">
            <a:extLst>
              <a:ext uri="{FF2B5EF4-FFF2-40B4-BE49-F238E27FC236}">
                <a16:creationId xmlns:a16="http://schemas.microsoft.com/office/drawing/2014/main" id="{91F84D6C-E8C5-0CC6-317F-48D2D2A1E30E}"/>
              </a:ext>
            </a:extLst>
          </p:cNvPr>
          <p:cNvSpPr>
            <a:spLocks/>
          </p:cNvSpPr>
          <p:nvPr/>
        </p:nvSpPr>
        <p:spPr bwMode="auto">
          <a:xfrm>
            <a:off x="7848600" y="2400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3" name="AutoShape 15">
            <a:extLst>
              <a:ext uri="{FF2B5EF4-FFF2-40B4-BE49-F238E27FC236}">
                <a16:creationId xmlns:a16="http://schemas.microsoft.com/office/drawing/2014/main" id="{F73CBD81-F4C5-2358-DABB-3D3B551F6AAD}"/>
              </a:ext>
            </a:extLst>
          </p:cNvPr>
          <p:cNvSpPr>
            <a:spLocks/>
          </p:cNvSpPr>
          <p:nvPr/>
        </p:nvSpPr>
        <p:spPr bwMode="auto">
          <a:xfrm>
            <a:off x="7696200" y="2552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4" name="AutoShape 16">
            <a:extLst>
              <a:ext uri="{FF2B5EF4-FFF2-40B4-BE49-F238E27FC236}">
                <a16:creationId xmlns:a16="http://schemas.microsoft.com/office/drawing/2014/main" id="{D8D821BD-E5E7-7F14-C5D2-A02BF881B671}"/>
              </a:ext>
            </a:extLst>
          </p:cNvPr>
          <p:cNvSpPr>
            <a:spLocks/>
          </p:cNvSpPr>
          <p:nvPr/>
        </p:nvSpPr>
        <p:spPr bwMode="auto">
          <a:xfrm>
            <a:off x="8001000" y="2705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5" name="AutoShape 17">
            <a:extLst>
              <a:ext uri="{FF2B5EF4-FFF2-40B4-BE49-F238E27FC236}">
                <a16:creationId xmlns:a16="http://schemas.microsoft.com/office/drawing/2014/main" id="{CB1190FD-17F8-6FBF-1D4C-C86AAF80DB33}"/>
              </a:ext>
            </a:extLst>
          </p:cNvPr>
          <p:cNvSpPr>
            <a:spLocks/>
          </p:cNvSpPr>
          <p:nvPr/>
        </p:nvSpPr>
        <p:spPr bwMode="auto">
          <a:xfrm>
            <a:off x="8305800" y="3086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6" name="AutoShape 18">
            <a:extLst>
              <a:ext uri="{FF2B5EF4-FFF2-40B4-BE49-F238E27FC236}">
                <a16:creationId xmlns:a16="http://schemas.microsoft.com/office/drawing/2014/main" id="{73E9B5CF-17D2-0668-F710-624A28EFC755}"/>
              </a:ext>
            </a:extLst>
          </p:cNvPr>
          <p:cNvSpPr>
            <a:spLocks/>
          </p:cNvSpPr>
          <p:nvPr/>
        </p:nvSpPr>
        <p:spPr bwMode="auto">
          <a:xfrm>
            <a:off x="6553200" y="2171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7" name="AutoShape 19">
            <a:extLst>
              <a:ext uri="{FF2B5EF4-FFF2-40B4-BE49-F238E27FC236}">
                <a16:creationId xmlns:a16="http://schemas.microsoft.com/office/drawing/2014/main" id="{E2CA3DBC-D877-2194-3569-430E15065DB6}"/>
              </a:ext>
            </a:extLst>
          </p:cNvPr>
          <p:cNvSpPr>
            <a:spLocks/>
          </p:cNvSpPr>
          <p:nvPr/>
        </p:nvSpPr>
        <p:spPr bwMode="auto">
          <a:xfrm>
            <a:off x="6858000" y="3619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8" name="AutoShape 20">
            <a:extLst>
              <a:ext uri="{FF2B5EF4-FFF2-40B4-BE49-F238E27FC236}">
                <a16:creationId xmlns:a16="http://schemas.microsoft.com/office/drawing/2014/main" id="{7AB590D7-A9DA-0CB4-E933-10973CBE935E}"/>
              </a:ext>
            </a:extLst>
          </p:cNvPr>
          <p:cNvSpPr>
            <a:spLocks/>
          </p:cNvSpPr>
          <p:nvPr/>
        </p:nvSpPr>
        <p:spPr bwMode="auto">
          <a:xfrm>
            <a:off x="6858000" y="5143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9" name="AutoShape 21">
            <a:extLst>
              <a:ext uri="{FF2B5EF4-FFF2-40B4-BE49-F238E27FC236}">
                <a16:creationId xmlns:a16="http://schemas.microsoft.com/office/drawing/2014/main" id="{18164CF4-C602-0DE5-CE10-599287787377}"/>
              </a:ext>
            </a:extLst>
          </p:cNvPr>
          <p:cNvSpPr>
            <a:spLocks/>
          </p:cNvSpPr>
          <p:nvPr/>
        </p:nvSpPr>
        <p:spPr bwMode="auto">
          <a:xfrm>
            <a:off x="7239000" y="5448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0" name="AutoShape 22">
            <a:extLst>
              <a:ext uri="{FF2B5EF4-FFF2-40B4-BE49-F238E27FC236}">
                <a16:creationId xmlns:a16="http://schemas.microsoft.com/office/drawing/2014/main" id="{6E7F7D1C-E236-32CA-E455-07BA0D63D16D}"/>
              </a:ext>
            </a:extLst>
          </p:cNvPr>
          <p:cNvSpPr>
            <a:spLocks/>
          </p:cNvSpPr>
          <p:nvPr/>
        </p:nvSpPr>
        <p:spPr bwMode="auto">
          <a:xfrm>
            <a:off x="7620000" y="4686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1" name="AutoShape 23">
            <a:extLst>
              <a:ext uri="{FF2B5EF4-FFF2-40B4-BE49-F238E27FC236}">
                <a16:creationId xmlns:a16="http://schemas.microsoft.com/office/drawing/2014/main" id="{504935E3-7740-EBC6-D50D-04C570605B2A}"/>
              </a:ext>
            </a:extLst>
          </p:cNvPr>
          <p:cNvSpPr>
            <a:spLocks/>
          </p:cNvSpPr>
          <p:nvPr/>
        </p:nvSpPr>
        <p:spPr bwMode="auto">
          <a:xfrm>
            <a:off x="6781800" y="4076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2" name="AutoShape 24">
            <a:extLst>
              <a:ext uri="{FF2B5EF4-FFF2-40B4-BE49-F238E27FC236}">
                <a16:creationId xmlns:a16="http://schemas.microsoft.com/office/drawing/2014/main" id="{2FDA13A1-27FD-400E-297F-4830D45D6C3D}"/>
              </a:ext>
            </a:extLst>
          </p:cNvPr>
          <p:cNvSpPr>
            <a:spLocks/>
          </p:cNvSpPr>
          <p:nvPr/>
        </p:nvSpPr>
        <p:spPr bwMode="auto">
          <a:xfrm>
            <a:off x="6019800" y="4533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3" name="AutoShape 25">
            <a:extLst>
              <a:ext uri="{FF2B5EF4-FFF2-40B4-BE49-F238E27FC236}">
                <a16:creationId xmlns:a16="http://schemas.microsoft.com/office/drawing/2014/main" id="{99BA7915-488D-F94C-DFB6-AC86BB3D7CC9}"/>
              </a:ext>
            </a:extLst>
          </p:cNvPr>
          <p:cNvSpPr>
            <a:spLocks/>
          </p:cNvSpPr>
          <p:nvPr/>
        </p:nvSpPr>
        <p:spPr bwMode="auto">
          <a:xfrm>
            <a:off x="8001000" y="4991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8ED84E8E-6D5C-7B2E-29D1-677C0FA31952}"/>
              </a:ext>
            </a:extLst>
          </p:cNvPr>
          <p:cNvSpPr>
            <a:spLocks/>
          </p:cNvSpPr>
          <p:nvPr/>
        </p:nvSpPr>
        <p:spPr bwMode="auto">
          <a:xfrm>
            <a:off x="7848600" y="5372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5" name="AutoShape 27">
            <a:extLst>
              <a:ext uri="{FF2B5EF4-FFF2-40B4-BE49-F238E27FC236}">
                <a16:creationId xmlns:a16="http://schemas.microsoft.com/office/drawing/2014/main" id="{B748C8D9-9213-AE80-781E-717DEF25F397}"/>
              </a:ext>
            </a:extLst>
          </p:cNvPr>
          <p:cNvSpPr>
            <a:spLocks/>
          </p:cNvSpPr>
          <p:nvPr/>
        </p:nvSpPr>
        <p:spPr bwMode="auto">
          <a:xfrm>
            <a:off x="7696200" y="4381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6" name="AutoShape 28">
            <a:extLst>
              <a:ext uri="{FF2B5EF4-FFF2-40B4-BE49-F238E27FC236}">
                <a16:creationId xmlns:a16="http://schemas.microsoft.com/office/drawing/2014/main" id="{2471114A-72DA-AFC5-32D3-912A76899324}"/>
              </a:ext>
            </a:extLst>
          </p:cNvPr>
          <p:cNvSpPr>
            <a:spLocks/>
          </p:cNvSpPr>
          <p:nvPr/>
        </p:nvSpPr>
        <p:spPr bwMode="auto">
          <a:xfrm>
            <a:off x="8305800" y="5600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7" name="AutoShape 29">
            <a:extLst>
              <a:ext uri="{FF2B5EF4-FFF2-40B4-BE49-F238E27FC236}">
                <a16:creationId xmlns:a16="http://schemas.microsoft.com/office/drawing/2014/main" id="{32632388-9521-0D61-A0ED-0EEC292C3FA1}"/>
              </a:ext>
            </a:extLst>
          </p:cNvPr>
          <p:cNvSpPr>
            <a:spLocks/>
          </p:cNvSpPr>
          <p:nvPr/>
        </p:nvSpPr>
        <p:spPr bwMode="auto">
          <a:xfrm>
            <a:off x="7467600" y="2933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grpSp>
        <p:nvGrpSpPr>
          <p:cNvPr id="38" name="Group 39">
            <a:extLst>
              <a:ext uri="{FF2B5EF4-FFF2-40B4-BE49-F238E27FC236}">
                <a16:creationId xmlns:a16="http://schemas.microsoft.com/office/drawing/2014/main" id="{6FD73AE2-1B70-FB7F-7255-53089BD6A7CC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2628900"/>
            <a:ext cx="2755900" cy="3378200"/>
            <a:chOff x="0" y="0"/>
            <a:chExt cx="1736" cy="2128"/>
          </a:xfrm>
        </p:grpSpPr>
        <p:grpSp>
          <p:nvGrpSpPr>
            <p:cNvPr id="39" name="Group 32">
              <a:extLst>
                <a:ext uri="{FF2B5EF4-FFF2-40B4-BE49-F238E27FC236}">
                  <a16:creationId xmlns:a16="http://schemas.microsoft.com/office/drawing/2014/main" id="{0A42B4D8-EECC-F18C-310D-05B5A03A3F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0"/>
              <a:ext cx="440" cy="399"/>
              <a:chOff x="0" y="0"/>
              <a:chExt cx="440" cy="399"/>
            </a:xfrm>
          </p:grpSpPr>
          <p:sp>
            <p:nvSpPr>
              <p:cNvPr id="46" name="Oval 30">
                <a:extLst>
                  <a:ext uri="{FF2B5EF4-FFF2-40B4-BE49-F238E27FC236}">
                    <a16:creationId xmlns:a16="http://schemas.microsoft.com/office/drawing/2014/main" id="{C40687DA-883D-9F65-F99A-D6161E976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144" cy="14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/>
                <a:endParaRPr lang="nl-NL" altLang="en-NL"/>
              </a:p>
            </p:txBody>
          </p:sp>
          <p:sp>
            <p:nvSpPr>
              <p:cNvPr id="47" name="Rectangle 31">
                <a:extLst>
                  <a:ext uri="{FF2B5EF4-FFF2-40B4-BE49-F238E27FC236}">
                    <a16:creationId xmlns:a16="http://schemas.microsoft.com/office/drawing/2014/main" id="{FFF08A8E-E70E-12C3-E198-B442F597D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" y="47"/>
                <a:ext cx="344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8100" tIns="38100" rIns="38100" bIns="3810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>
                  <a:spcBef>
                    <a:spcPts val="1075"/>
                  </a:spcBef>
                </a:pPr>
                <a:r>
                  <a:rPr lang="en-US" altLang="en-NL">
                    <a:solidFill>
                      <a:schemeClr val="tx1"/>
                    </a:solidFill>
                    <a:latin typeface="Verdana" panose="020B0604030504040204" pitchFamily="34" charset="0"/>
                  </a:rPr>
                  <a:t>k</a:t>
                </a:r>
                <a:r>
                  <a:rPr lang="en-US" altLang="en-NL" baseline="-19000">
                    <a:solidFill>
                      <a:schemeClr val="tx1"/>
                    </a:solidFill>
                    <a:latin typeface="Verdana" panose="020B0604030504040204" pitchFamily="34" charset="0"/>
                  </a:rPr>
                  <a:t>1</a:t>
                </a:r>
              </a:p>
            </p:txBody>
          </p:sp>
        </p:grpSp>
        <p:grpSp>
          <p:nvGrpSpPr>
            <p:cNvPr id="40" name="Group 35">
              <a:extLst>
                <a:ext uri="{FF2B5EF4-FFF2-40B4-BE49-F238E27FC236}">
                  <a16:creationId xmlns:a16="http://schemas.microsoft.com/office/drawing/2014/main" id="{A837CC1E-6DA8-BB4C-5C35-0A3FF8F0F7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0"/>
              <a:ext cx="440" cy="399"/>
              <a:chOff x="0" y="0"/>
              <a:chExt cx="440" cy="399"/>
            </a:xfrm>
          </p:grpSpPr>
          <p:sp>
            <p:nvSpPr>
              <p:cNvPr id="44" name="Oval 33">
                <a:extLst>
                  <a:ext uri="{FF2B5EF4-FFF2-40B4-BE49-F238E27FC236}">
                    <a16:creationId xmlns:a16="http://schemas.microsoft.com/office/drawing/2014/main" id="{5DBE27CF-0FC0-6C02-E823-56916C546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144" cy="14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/>
                <a:endParaRPr lang="nl-NL" altLang="en-NL"/>
              </a:p>
            </p:txBody>
          </p:sp>
          <p:sp>
            <p:nvSpPr>
              <p:cNvPr id="45" name="Rectangle 34">
                <a:extLst>
                  <a:ext uri="{FF2B5EF4-FFF2-40B4-BE49-F238E27FC236}">
                    <a16:creationId xmlns:a16="http://schemas.microsoft.com/office/drawing/2014/main" id="{7703CBBC-8BBE-30D5-14D1-682625DE2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" y="47"/>
                <a:ext cx="344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8100" tIns="38100" rIns="38100" bIns="3810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>
                  <a:spcBef>
                    <a:spcPts val="1075"/>
                  </a:spcBef>
                </a:pPr>
                <a:r>
                  <a:rPr lang="en-US" altLang="en-NL">
                    <a:solidFill>
                      <a:schemeClr val="tx1"/>
                    </a:solidFill>
                    <a:latin typeface="Verdana" panose="020B0604030504040204" pitchFamily="34" charset="0"/>
                  </a:rPr>
                  <a:t>k</a:t>
                </a:r>
                <a:r>
                  <a:rPr lang="en-US" altLang="en-NL" baseline="-19000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</p:grpSp>
        <p:grpSp>
          <p:nvGrpSpPr>
            <p:cNvPr id="41" name="Group 38">
              <a:extLst>
                <a:ext uri="{FF2B5EF4-FFF2-40B4-BE49-F238E27FC236}">
                  <a16:creationId xmlns:a16="http://schemas.microsoft.com/office/drawing/2014/main" id="{7234151F-38E8-44BE-0C74-CFAF0891FF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728"/>
              <a:ext cx="440" cy="400"/>
              <a:chOff x="0" y="0"/>
              <a:chExt cx="440" cy="400"/>
            </a:xfrm>
          </p:grpSpPr>
          <p:sp>
            <p:nvSpPr>
              <p:cNvPr id="42" name="Oval 36">
                <a:extLst>
                  <a:ext uri="{FF2B5EF4-FFF2-40B4-BE49-F238E27FC236}">
                    <a16:creationId xmlns:a16="http://schemas.microsoft.com/office/drawing/2014/main" id="{58A28D57-F28F-D82E-B1A6-558DB290A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144" cy="144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/>
                <a:endParaRPr lang="nl-NL" altLang="en-NL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D6109F5A-2EB4-59A5-C347-B3BEF3BC0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" y="48"/>
                <a:ext cx="344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8100" tIns="38100" rIns="38100" bIns="38100"/>
              <a:lstStyle>
                <a:lvl1pPr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1pPr>
                <a:lvl2pPr marL="742950" indent="-28575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2pPr>
                <a:lvl3pPr marL="11430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3pPr>
                <a:lvl4pPr marL="16002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4pPr>
                <a:lvl5pPr marL="2057400" indent="-228600" eaLnBrk="0" hangingPunct="0"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>
                    <a:solidFill>
                      <a:srgbClr val="3F3F3F"/>
                    </a:solidFill>
                    <a:latin typeface="Palatino" pitchFamily="2" charset="77"/>
                    <a:ea typeface="ＭＳ Ｐゴシック" panose="020B0600070205080204" pitchFamily="34" charset="-128"/>
                    <a:sym typeface="Palatino" pitchFamily="2" charset="77"/>
                  </a:defRPr>
                </a:lvl9pPr>
              </a:lstStyle>
              <a:p>
                <a:pPr eaLnBrk="1" hangingPunct="1">
                  <a:spcBef>
                    <a:spcPts val="1075"/>
                  </a:spcBef>
                </a:pPr>
                <a:r>
                  <a:rPr lang="en-US" altLang="en-NL">
                    <a:solidFill>
                      <a:schemeClr val="tx1"/>
                    </a:solidFill>
                    <a:latin typeface="Verdana" panose="020B0604030504040204" pitchFamily="34" charset="0"/>
                  </a:rPr>
                  <a:t>k</a:t>
                </a:r>
                <a:r>
                  <a:rPr lang="en-US" altLang="en-NL" baseline="-19000">
                    <a:solidFill>
                      <a:schemeClr val="tx1"/>
                    </a:solidFill>
                    <a:latin typeface="Verdana" panose="020B0604030504040204" pitchFamily="34" charset="0"/>
                  </a:rPr>
                  <a:t>3</a:t>
                </a:r>
              </a:p>
            </p:txBody>
          </p:sp>
        </p:grpSp>
      </p:grpSp>
      <p:grpSp>
        <p:nvGrpSpPr>
          <p:cNvPr id="48" name="Group 45">
            <a:extLst>
              <a:ext uri="{FF2B5EF4-FFF2-40B4-BE49-F238E27FC236}">
                <a16:creationId xmlns:a16="http://schemas.microsoft.com/office/drawing/2014/main" id="{9FF9CCC5-0FA5-57CA-D337-86FCDBCFBA5B}"/>
              </a:ext>
            </a:extLst>
          </p:cNvPr>
          <p:cNvGrpSpPr>
            <a:grpSpLocks/>
          </p:cNvGrpSpPr>
          <p:nvPr/>
        </p:nvGrpSpPr>
        <p:grpSpPr bwMode="auto">
          <a:xfrm>
            <a:off x="2733676" y="1789113"/>
            <a:ext cx="6716713" cy="4506912"/>
            <a:chOff x="10" y="0"/>
            <a:chExt cx="4230" cy="2838"/>
          </a:xfrm>
        </p:grpSpPr>
        <p:grpSp>
          <p:nvGrpSpPr>
            <p:cNvPr id="49" name="Group 42">
              <a:extLst>
                <a:ext uri="{FF2B5EF4-FFF2-40B4-BE49-F238E27FC236}">
                  <a16:creationId xmlns:a16="http://schemas.microsoft.com/office/drawing/2014/main" id="{C09A5DF9-FEBD-5185-CE89-0AB693C3F3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" y="0"/>
              <a:ext cx="3744" cy="2640"/>
              <a:chOff x="0" y="0"/>
              <a:chExt cx="3744" cy="2640"/>
            </a:xfrm>
          </p:grpSpPr>
          <p:sp>
            <p:nvSpPr>
              <p:cNvPr id="52" name="Line 40">
                <a:extLst>
                  <a:ext uri="{FF2B5EF4-FFF2-40B4-BE49-F238E27FC236}">
                    <a16:creationId xmlns:a16="http://schemas.microsoft.com/office/drawing/2014/main" id="{62C176BC-75D3-3500-FEBE-328EDB6E7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2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53" name="Line 41">
                <a:extLst>
                  <a:ext uri="{FF2B5EF4-FFF2-40B4-BE49-F238E27FC236}">
                    <a16:creationId xmlns:a16="http://schemas.microsoft.com/office/drawing/2014/main" id="{D0385FFE-3FEC-E96D-235A-9359A55E1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640"/>
                <a:ext cx="3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sp>
          <p:nvSpPr>
            <p:cNvPr id="50" name="Rectangle 43">
              <a:extLst>
                <a:ext uri="{FF2B5EF4-FFF2-40B4-BE49-F238E27FC236}">
                  <a16:creationId xmlns:a16="http://schemas.microsoft.com/office/drawing/2014/main" id="{B9882B60-CA5F-AF44-897E-03F357849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2538"/>
              <a:ext cx="17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x</a:t>
              </a:r>
            </a:p>
          </p:txBody>
        </p:sp>
        <p:sp>
          <p:nvSpPr>
            <p:cNvPr id="51" name="Rectangle 44">
              <a:extLst>
                <a:ext uri="{FF2B5EF4-FFF2-40B4-BE49-F238E27FC236}">
                  <a16:creationId xmlns:a16="http://schemas.microsoft.com/office/drawing/2014/main" id="{A077D846-0686-DCFF-4E27-828338F57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" y="842"/>
              <a:ext cx="17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206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K-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meansclustering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: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stappen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1"/>
            <a:ext cx="11203710" cy="53421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b="1">
                <a:solidFill>
                  <a:srgbClr val="000000"/>
                </a:solidFill>
                <a:sym typeface="Palatino" charset="0"/>
              </a:rPr>
              <a:t>Stap 2: 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Koppel elk punt aan het dichtstbijzijnde centrum</a:t>
            </a:r>
          </a:p>
        </p:txBody>
      </p:sp>
      <p:grpSp>
        <p:nvGrpSpPr>
          <p:cNvPr id="98" name="Group 5">
            <a:extLst>
              <a:ext uri="{FF2B5EF4-FFF2-40B4-BE49-F238E27FC236}">
                <a16:creationId xmlns:a16="http://schemas.microsoft.com/office/drawing/2014/main" id="{AEA110F4-4BB8-A17D-2A17-2769B53EE21B}"/>
              </a:ext>
            </a:extLst>
          </p:cNvPr>
          <p:cNvGrpSpPr>
            <a:grpSpLocks/>
          </p:cNvGrpSpPr>
          <p:nvPr/>
        </p:nvGrpSpPr>
        <p:grpSpPr bwMode="auto">
          <a:xfrm>
            <a:off x="4164371" y="2713924"/>
            <a:ext cx="698500" cy="722041"/>
            <a:chOff x="0" y="0"/>
            <a:chExt cx="440" cy="399"/>
          </a:xfrm>
        </p:grpSpPr>
        <p:sp>
          <p:nvSpPr>
            <p:cNvPr id="99" name="Oval 3">
              <a:extLst>
                <a:ext uri="{FF2B5EF4-FFF2-40B4-BE49-F238E27FC236}">
                  <a16:creationId xmlns:a16="http://schemas.microsoft.com/office/drawing/2014/main" id="{758FD2D1-B346-15C6-497F-2FBAFCA6A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44D245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00" name="Rectangle 4">
              <a:extLst>
                <a:ext uri="{FF2B5EF4-FFF2-40B4-BE49-F238E27FC236}">
                  <a16:creationId xmlns:a16="http://schemas.microsoft.com/office/drawing/2014/main" id="{14BC37A1-2C83-352D-7173-5C19A4676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47"/>
              <a:ext cx="34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101" name="Group 8">
            <a:extLst>
              <a:ext uri="{FF2B5EF4-FFF2-40B4-BE49-F238E27FC236}">
                <a16:creationId xmlns:a16="http://schemas.microsoft.com/office/drawing/2014/main" id="{07760BEC-3555-5F0C-73BC-A52DFA69F0E0}"/>
              </a:ext>
            </a:extLst>
          </p:cNvPr>
          <p:cNvGrpSpPr>
            <a:grpSpLocks/>
          </p:cNvGrpSpPr>
          <p:nvPr/>
        </p:nvGrpSpPr>
        <p:grpSpPr bwMode="auto">
          <a:xfrm>
            <a:off x="3376972" y="3838924"/>
            <a:ext cx="531813" cy="660667"/>
            <a:chOff x="0" y="0"/>
            <a:chExt cx="335" cy="366"/>
          </a:xfrm>
        </p:grpSpPr>
        <p:sp>
          <p:nvSpPr>
            <p:cNvPr id="102" name="Oval 6">
              <a:extLst>
                <a:ext uri="{FF2B5EF4-FFF2-40B4-BE49-F238E27FC236}">
                  <a16:creationId xmlns:a16="http://schemas.microsoft.com/office/drawing/2014/main" id="{C07F404C-EBA9-0366-9A88-E8FF53068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03" name="Rectangle 7">
              <a:extLst>
                <a:ext uri="{FF2B5EF4-FFF2-40B4-BE49-F238E27FC236}">
                  <a16:creationId xmlns:a16="http://schemas.microsoft.com/office/drawing/2014/main" id="{89C4B00E-213F-DBEA-DB5F-3E018A52B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" y="65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</p:grpSp>
      <p:grpSp>
        <p:nvGrpSpPr>
          <p:cNvPr id="104" name="Group 11">
            <a:extLst>
              <a:ext uri="{FF2B5EF4-FFF2-40B4-BE49-F238E27FC236}">
                <a16:creationId xmlns:a16="http://schemas.microsoft.com/office/drawing/2014/main" id="{80361BF3-7E03-6DCF-E6D6-359594FCCBF4}"/>
              </a:ext>
            </a:extLst>
          </p:cNvPr>
          <p:cNvGrpSpPr>
            <a:grpSpLocks/>
          </p:cNvGrpSpPr>
          <p:nvPr/>
        </p:nvGrpSpPr>
        <p:grpSpPr bwMode="auto">
          <a:xfrm>
            <a:off x="5459772" y="5469530"/>
            <a:ext cx="508001" cy="619150"/>
            <a:chOff x="0" y="0"/>
            <a:chExt cx="320" cy="343"/>
          </a:xfrm>
        </p:grpSpPr>
        <p:sp>
          <p:nvSpPr>
            <p:cNvPr id="105" name="Oval 9">
              <a:extLst>
                <a:ext uri="{FF2B5EF4-FFF2-40B4-BE49-F238E27FC236}">
                  <a16:creationId xmlns:a16="http://schemas.microsoft.com/office/drawing/2014/main" id="{07D3E26F-18A0-4782-701C-07BAC4713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F7056351-0E67-BF6B-DC64-6D5FB508D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3</a:t>
              </a:r>
            </a:p>
          </p:txBody>
        </p:sp>
      </p:grpSp>
      <p:sp>
        <p:nvSpPr>
          <p:cNvPr id="107" name="AutoShape 12">
            <a:extLst>
              <a:ext uri="{FF2B5EF4-FFF2-40B4-BE49-F238E27FC236}">
                <a16:creationId xmlns:a16="http://schemas.microsoft.com/office/drawing/2014/main" id="{7E16A843-1C8B-BF20-527F-78FD13FA60F8}"/>
              </a:ext>
            </a:extLst>
          </p:cNvPr>
          <p:cNvSpPr>
            <a:spLocks/>
          </p:cNvSpPr>
          <p:nvPr/>
        </p:nvSpPr>
        <p:spPr bwMode="auto">
          <a:xfrm>
            <a:off x="2945171" y="51422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08" name="AutoShape 13">
            <a:extLst>
              <a:ext uri="{FF2B5EF4-FFF2-40B4-BE49-F238E27FC236}">
                <a16:creationId xmlns:a16="http://schemas.microsoft.com/office/drawing/2014/main" id="{B56201F6-13C6-8078-E73B-FB3F360E9E4D}"/>
              </a:ext>
            </a:extLst>
          </p:cNvPr>
          <p:cNvSpPr>
            <a:spLocks/>
          </p:cNvSpPr>
          <p:nvPr/>
        </p:nvSpPr>
        <p:spPr bwMode="auto">
          <a:xfrm>
            <a:off x="3097571" y="53708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09" name="AutoShape 14">
            <a:extLst>
              <a:ext uri="{FF2B5EF4-FFF2-40B4-BE49-F238E27FC236}">
                <a16:creationId xmlns:a16="http://schemas.microsoft.com/office/drawing/2014/main" id="{3ABB3959-52E0-EA0B-991C-F38A2B18757D}"/>
              </a:ext>
            </a:extLst>
          </p:cNvPr>
          <p:cNvSpPr>
            <a:spLocks/>
          </p:cNvSpPr>
          <p:nvPr/>
        </p:nvSpPr>
        <p:spPr bwMode="auto">
          <a:xfrm>
            <a:off x="2868971" y="55994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0" name="AutoShape 15">
            <a:extLst>
              <a:ext uri="{FF2B5EF4-FFF2-40B4-BE49-F238E27FC236}">
                <a16:creationId xmlns:a16="http://schemas.microsoft.com/office/drawing/2014/main" id="{A301EDDA-0770-D0C2-ECC7-47A006ED605D}"/>
              </a:ext>
            </a:extLst>
          </p:cNvPr>
          <p:cNvSpPr>
            <a:spLocks/>
          </p:cNvSpPr>
          <p:nvPr/>
        </p:nvSpPr>
        <p:spPr bwMode="auto">
          <a:xfrm>
            <a:off x="2640371" y="49136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1" name="AutoShape 16">
            <a:extLst>
              <a:ext uri="{FF2B5EF4-FFF2-40B4-BE49-F238E27FC236}">
                <a16:creationId xmlns:a16="http://schemas.microsoft.com/office/drawing/2014/main" id="{925D7B62-3949-6658-8C8F-E9506F3DECB3}"/>
              </a:ext>
            </a:extLst>
          </p:cNvPr>
          <p:cNvSpPr>
            <a:spLocks/>
          </p:cNvSpPr>
          <p:nvPr/>
        </p:nvSpPr>
        <p:spPr bwMode="auto">
          <a:xfrm>
            <a:off x="2640371" y="25514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2" name="AutoShape 17">
            <a:extLst>
              <a:ext uri="{FF2B5EF4-FFF2-40B4-BE49-F238E27FC236}">
                <a16:creationId xmlns:a16="http://schemas.microsoft.com/office/drawing/2014/main" id="{7C528A52-92E7-FF9B-D880-AD341CD6869D}"/>
              </a:ext>
            </a:extLst>
          </p:cNvPr>
          <p:cNvSpPr>
            <a:spLocks/>
          </p:cNvSpPr>
          <p:nvPr/>
        </p:nvSpPr>
        <p:spPr bwMode="auto">
          <a:xfrm>
            <a:off x="2640371" y="40754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3" name="AutoShape 18">
            <a:extLst>
              <a:ext uri="{FF2B5EF4-FFF2-40B4-BE49-F238E27FC236}">
                <a16:creationId xmlns:a16="http://schemas.microsoft.com/office/drawing/2014/main" id="{9102ECD1-1866-D785-B6FB-C217029479A7}"/>
              </a:ext>
            </a:extLst>
          </p:cNvPr>
          <p:cNvSpPr>
            <a:spLocks/>
          </p:cNvSpPr>
          <p:nvPr/>
        </p:nvSpPr>
        <p:spPr bwMode="auto">
          <a:xfrm>
            <a:off x="2640371" y="55994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4" name="AutoShape 19">
            <a:extLst>
              <a:ext uri="{FF2B5EF4-FFF2-40B4-BE49-F238E27FC236}">
                <a16:creationId xmlns:a16="http://schemas.microsoft.com/office/drawing/2014/main" id="{13861BD6-10D0-2E36-8AFE-FA548D3C2BB3}"/>
              </a:ext>
            </a:extLst>
          </p:cNvPr>
          <p:cNvSpPr>
            <a:spLocks/>
          </p:cNvSpPr>
          <p:nvPr/>
        </p:nvSpPr>
        <p:spPr bwMode="auto">
          <a:xfrm>
            <a:off x="2183171" y="46088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5" name="AutoShape 20">
            <a:extLst>
              <a:ext uri="{FF2B5EF4-FFF2-40B4-BE49-F238E27FC236}">
                <a16:creationId xmlns:a16="http://schemas.microsoft.com/office/drawing/2014/main" id="{3CE75719-2B8C-E657-FBF2-FCDA804E0B5A}"/>
              </a:ext>
            </a:extLst>
          </p:cNvPr>
          <p:cNvSpPr>
            <a:spLocks/>
          </p:cNvSpPr>
          <p:nvPr/>
        </p:nvSpPr>
        <p:spPr bwMode="auto">
          <a:xfrm>
            <a:off x="6450371" y="23228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6" name="AutoShape 21">
            <a:extLst>
              <a:ext uri="{FF2B5EF4-FFF2-40B4-BE49-F238E27FC236}">
                <a16:creationId xmlns:a16="http://schemas.microsoft.com/office/drawing/2014/main" id="{24DFBFAD-66F4-5B0F-B8C8-7A10F06DEC8A}"/>
              </a:ext>
            </a:extLst>
          </p:cNvPr>
          <p:cNvSpPr>
            <a:spLocks/>
          </p:cNvSpPr>
          <p:nvPr/>
        </p:nvSpPr>
        <p:spPr bwMode="auto">
          <a:xfrm>
            <a:off x="6907571" y="23990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7" name="AutoShape 22">
            <a:extLst>
              <a:ext uri="{FF2B5EF4-FFF2-40B4-BE49-F238E27FC236}">
                <a16:creationId xmlns:a16="http://schemas.microsoft.com/office/drawing/2014/main" id="{9514B843-AA57-9A5F-C6CB-DC3A43FE2932}"/>
              </a:ext>
            </a:extLst>
          </p:cNvPr>
          <p:cNvSpPr>
            <a:spLocks/>
          </p:cNvSpPr>
          <p:nvPr/>
        </p:nvSpPr>
        <p:spPr bwMode="auto">
          <a:xfrm>
            <a:off x="6755171" y="25514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8" name="AutoShape 23">
            <a:extLst>
              <a:ext uri="{FF2B5EF4-FFF2-40B4-BE49-F238E27FC236}">
                <a16:creationId xmlns:a16="http://schemas.microsoft.com/office/drawing/2014/main" id="{D0AFC09D-4D4F-CB46-9283-A9640D0526C9}"/>
              </a:ext>
            </a:extLst>
          </p:cNvPr>
          <p:cNvSpPr>
            <a:spLocks/>
          </p:cNvSpPr>
          <p:nvPr/>
        </p:nvSpPr>
        <p:spPr bwMode="auto">
          <a:xfrm>
            <a:off x="6602771" y="27038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9" name="AutoShape 24">
            <a:extLst>
              <a:ext uri="{FF2B5EF4-FFF2-40B4-BE49-F238E27FC236}">
                <a16:creationId xmlns:a16="http://schemas.microsoft.com/office/drawing/2014/main" id="{84C90D0C-9CFD-D5F9-ABBF-2F03CE6FC46F}"/>
              </a:ext>
            </a:extLst>
          </p:cNvPr>
          <p:cNvSpPr>
            <a:spLocks/>
          </p:cNvSpPr>
          <p:nvPr/>
        </p:nvSpPr>
        <p:spPr bwMode="auto">
          <a:xfrm>
            <a:off x="6907571" y="28562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0" name="AutoShape 25">
            <a:extLst>
              <a:ext uri="{FF2B5EF4-FFF2-40B4-BE49-F238E27FC236}">
                <a16:creationId xmlns:a16="http://schemas.microsoft.com/office/drawing/2014/main" id="{4718C316-4E4D-4042-6F8E-4DB5F4B07DFE}"/>
              </a:ext>
            </a:extLst>
          </p:cNvPr>
          <p:cNvSpPr>
            <a:spLocks/>
          </p:cNvSpPr>
          <p:nvPr/>
        </p:nvSpPr>
        <p:spPr bwMode="auto">
          <a:xfrm>
            <a:off x="7212371" y="32372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1" name="AutoShape 26">
            <a:extLst>
              <a:ext uri="{FF2B5EF4-FFF2-40B4-BE49-F238E27FC236}">
                <a16:creationId xmlns:a16="http://schemas.microsoft.com/office/drawing/2014/main" id="{C6DD90C7-E107-41FD-9F1D-852D4411A118}"/>
              </a:ext>
            </a:extLst>
          </p:cNvPr>
          <p:cNvSpPr>
            <a:spLocks/>
          </p:cNvSpPr>
          <p:nvPr/>
        </p:nvSpPr>
        <p:spPr bwMode="auto">
          <a:xfrm>
            <a:off x="5459771" y="23228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2" name="AutoShape 27">
            <a:extLst>
              <a:ext uri="{FF2B5EF4-FFF2-40B4-BE49-F238E27FC236}">
                <a16:creationId xmlns:a16="http://schemas.microsoft.com/office/drawing/2014/main" id="{9F198F06-A482-6CA0-8E73-8A456A613BDE}"/>
              </a:ext>
            </a:extLst>
          </p:cNvPr>
          <p:cNvSpPr>
            <a:spLocks/>
          </p:cNvSpPr>
          <p:nvPr/>
        </p:nvSpPr>
        <p:spPr bwMode="auto">
          <a:xfrm>
            <a:off x="5764571" y="37706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3" name="AutoShape 28">
            <a:extLst>
              <a:ext uri="{FF2B5EF4-FFF2-40B4-BE49-F238E27FC236}">
                <a16:creationId xmlns:a16="http://schemas.microsoft.com/office/drawing/2014/main" id="{8F2778C1-CA69-7F36-1EB7-683AD6157519}"/>
              </a:ext>
            </a:extLst>
          </p:cNvPr>
          <p:cNvSpPr>
            <a:spLocks/>
          </p:cNvSpPr>
          <p:nvPr/>
        </p:nvSpPr>
        <p:spPr bwMode="auto">
          <a:xfrm>
            <a:off x="5764571" y="52946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4" name="AutoShape 29">
            <a:extLst>
              <a:ext uri="{FF2B5EF4-FFF2-40B4-BE49-F238E27FC236}">
                <a16:creationId xmlns:a16="http://schemas.microsoft.com/office/drawing/2014/main" id="{53760EB5-0FE5-7742-7D3A-6ECDC8166C7C}"/>
              </a:ext>
            </a:extLst>
          </p:cNvPr>
          <p:cNvSpPr>
            <a:spLocks/>
          </p:cNvSpPr>
          <p:nvPr/>
        </p:nvSpPr>
        <p:spPr bwMode="auto">
          <a:xfrm>
            <a:off x="6145571" y="55994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5" name="AutoShape 30">
            <a:extLst>
              <a:ext uri="{FF2B5EF4-FFF2-40B4-BE49-F238E27FC236}">
                <a16:creationId xmlns:a16="http://schemas.microsoft.com/office/drawing/2014/main" id="{2AEE8A22-3E37-9C1D-16BE-0DC73F9612A9}"/>
              </a:ext>
            </a:extLst>
          </p:cNvPr>
          <p:cNvSpPr>
            <a:spLocks/>
          </p:cNvSpPr>
          <p:nvPr/>
        </p:nvSpPr>
        <p:spPr bwMode="auto">
          <a:xfrm>
            <a:off x="6526571" y="48374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6" name="AutoShape 31">
            <a:extLst>
              <a:ext uri="{FF2B5EF4-FFF2-40B4-BE49-F238E27FC236}">
                <a16:creationId xmlns:a16="http://schemas.microsoft.com/office/drawing/2014/main" id="{3C7C645F-B496-8691-C74D-596158880F77}"/>
              </a:ext>
            </a:extLst>
          </p:cNvPr>
          <p:cNvSpPr>
            <a:spLocks/>
          </p:cNvSpPr>
          <p:nvPr/>
        </p:nvSpPr>
        <p:spPr bwMode="auto">
          <a:xfrm>
            <a:off x="5688371" y="42278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7" name="AutoShape 32">
            <a:extLst>
              <a:ext uri="{FF2B5EF4-FFF2-40B4-BE49-F238E27FC236}">
                <a16:creationId xmlns:a16="http://schemas.microsoft.com/office/drawing/2014/main" id="{B8BBD0BE-6877-96DA-EDC9-3AA35B3E95CE}"/>
              </a:ext>
            </a:extLst>
          </p:cNvPr>
          <p:cNvSpPr>
            <a:spLocks/>
          </p:cNvSpPr>
          <p:nvPr/>
        </p:nvSpPr>
        <p:spPr bwMode="auto">
          <a:xfrm>
            <a:off x="4926371" y="46850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8" name="AutoShape 33">
            <a:extLst>
              <a:ext uri="{FF2B5EF4-FFF2-40B4-BE49-F238E27FC236}">
                <a16:creationId xmlns:a16="http://schemas.microsoft.com/office/drawing/2014/main" id="{72B3363A-D830-BEBB-9D66-BB5E4A909296}"/>
              </a:ext>
            </a:extLst>
          </p:cNvPr>
          <p:cNvSpPr>
            <a:spLocks/>
          </p:cNvSpPr>
          <p:nvPr/>
        </p:nvSpPr>
        <p:spPr bwMode="auto">
          <a:xfrm>
            <a:off x="6907571" y="51422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9" name="AutoShape 34">
            <a:extLst>
              <a:ext uri="{FF2B5EF4-FFF2-40B4-BE49-F238E27FC236}">
                <a16:creationId xmlns:a16="http://schemas.microsoft.com/office/drawing/2014/main" id="{2EF8E173-19CB-A564-AEFD-4F4AEB608582}"/>
              </a:ext>
            </a:extLst>
          </p:cNvPr>
          <p:cNvSpPr>
            <a:spLocks/>
          </p:cNvSpPr>
          <p:nvPr/>
        </p:nvSpPr>
        <p:spPr bwMode="auto">
          <a:xfrm>
            <a:off x="6755171" y="55232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0" name="AutoShape 35">
            <a:extLst>
              <a:ext uri="{FF2B5EF4-FFF2-40B4-BE49-F238E27FC236}">
                <a16:creationId xmlns:a16="http://schemas.microsoft.com/office/drawing/2014/main" id="{31A54E8A-5743-0F67-3159-35A947AC2D9D}"/>
              </a:ext>
            </a:extLst>
          </p:cNvPr>
          <p:cNvSpPr>
            <a:spLocks/>
          </p:cNvSpPr>
          <p:nvPr/>
        </p:nvSpPr>
        <p:spPr bwMode="auto">
          <a:xfrm>
            <a:off x="6602771" y="45326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1" name="AutoShape 36">
            <a:extLst>
              <a:ext uri="{FF2B5EF4-FFF2-40B4-BE49-F238E27FC236}">
                <a16:creationId xmlns:a16="http://schemas.microsoft.com/office/drawing/2014/main" id="{0C7EDCB9-6019-3EB4-DAE9-AD9B009BF8C5}"/>
              </a:ext>
            </a:extLst>
          </p:cNvPr>
          <p:cNvSpPr>
            <a:spLocks/>
          </p:cNvSpPr>
          <p:nvPr/>
        </p:nvSpPr>
        <p:spPr bwMode="auto">
          <a:xfrm>
            <a:off x="7212371" y="5751875"/>
            <a:ext cx="152400" cy="17329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2" name="AutoShape 37">
            <a:extLst>
              <a:ext uri="{FF2B5EF4-FFF2-40B4-BE49-F238E27FC236}">
                <a16:creationId xmlns:a16="http://schemas.microsoft.com/office/drawing/2014/main" id="{30FE89B2-CB9B-D5E5-D08F-3B917F8DB932}"/>
              </a:ext>
            </a:extLst>
          </p:cNvPr>
          <p:cNvSpPr>
            <a:spLocks/>
          </p:cNvSpPr>
          <p:nvPr/>
        </p:nvSpPr>
        <p:spPr bwMode="auto">
          <a:xfrm>
            <a:off x="6374171" y="3084875"/>
            <a:ext cx="152400" cy="17329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grpSp>
        <p:nvGrpSpPr>
          <p:cNvPr id="133" name="Group 43">
            <a:extLst>
              <a:ext uri="{FF2B5EF4-FFF2-40B4-BE49-F238E27FC236}">
                <a16:creationId xmlns:a16="http://schemas.microsoft.com/office/drawing/2014/main" id="{752FDA3A-99AC-ABFB-27B8-B4807370EF83}"/>
              </a:ext>
            </a:extLst>
          </p:cNvPr>
          <p:cNvGrpSpPr>
            <a:grpSpLocks/>
          </p:cNvGrpSpPr>
          <p:nvPr/>
        </p:nvGrpSpPr>
        <p:grpSpPr bwMode="auto">
          <a:xfrm>
            <a:off x="1449746" y="1347020"/>
            <a:ext cx="6865938" cy="5121072"/>
            <a:chOff x="11" y="0"/>
            <a:chExt cx="4324" cy="2836"/>
          </a:xfrm>
        </p:grpSpPr>
        <p:grpSp>
          <p:nvGrpSpPr>
            <p:cNvPr id="134" name="Group 40">
              <a:extLst>
                <a:ext uri="{FF2B5EF4-FFF2-40B4-BE49-F238E27FC236}">
                  <a16:creationId xmlns:a16="http://schemas.microsoft.com/office/drawing/2014/main" id="{BB44FB08-3DBB-DC82-5A9B-DE19D7D2B5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0"/>
              <a:ext cx="3744" cy="2640"/>
              <a:chOff x="0" y="0"/>
              <a:chExt cx="3744" cy="2640"/>
            </a:xfrm>
          </p:grpSpPr>
          <p:sp>
            <p:nvSpPr>
              <p:cNvPr id="137" name="Line 38">
                <a:extLst>
                  <a:ext uri="{FF2B5EF4-FFF2-40B4-BE49-F238E27FC236}">
                    <a16:creationId xmlns:a16="http://schemas.microsoft.com/office/drawing/2014/main" id="{9ED57592-A03C-5FE3-7366-C9611F583A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2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138" name="Line 39">
                <a:extLst>
                  <a:ext uri="{FF2B5EF4-FFF2-40B4-BE49-F238E27FC236}">
                    <a16:creationId xmlns:a16="http://schemas.microsoft.com/office/drawing/2014/main" id="{21ACF6EE-3FF9-FCA8-3D83-930A36632C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640"/>
                <a:ext cx="3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sp>
          <p:nvSpPr>
            <p:cNvPr id="135" name="Rectangle 41">
              <a:extLst>
                <a:ext uri="{FF2B5EF4-FFF2-40B4-BE49-F238E27FC236}">
                  <a16:creationId xmlns:a16="http://schemas.microsoft.com/office/drawing/2014/main" id="{99CE7B20-01DB-E4C4-4F20-02697DCFD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538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x</a:t>
              </a:r>
            </a:p>
          </p:txBody>
        </p:sp>
        <p:sp>
          <p:nvSpPr>
            <p:cNvPr id="136" name="Rectangle 42">
              <a:extLst>
                <a:ext uri="{FF2B5EF4-FFF2-40B4-BE49-F238E27FC236}">
                  <a16:creationId xmlns:a16="http://schemas.microsoft.com/office/drawing/2014/main" id="{17F03BC7-79EF-DD65-A835-186BBF3CC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" y="842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y</a:t>
              </a:r>
            </a:p>
          </p:txBody>
        </p:sp>
      </p:grpSp>
      <p:sp>
        <p:nvSpPr>
          <p:cNvPr id="140" name="AutoShape 45">
            <a:extLst>
              <a:ext uri="{FF2B5EF4-FFF2-40B4-BE49-F238E27FC236}">
                <a16:creationId xmlns:a16="http://schemas.microsoft.com/office/drawing/2014/main" id="{D1E1EE36-829F-3BB4-4768-50EDA5C33E8F}"/>
              </a:ext>
            </a:extLst>
          </p:cNvPr>
          <p:cNvSpPr>
            <a:spLocks/>
          </p:cNvSpPr>
          <p:nvPr/>
        </p:nvSpPr>
        <p:spPr bwMode="auto">
          <a:xfrm>
            <a:off x="4681896" y="4304075"/>
            <a:ext cx="152400" cy="17329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9B6A0B02-923E-FE7A-4F21-596B01B758F8}"/>
              </a:ext>
            </a:extLst>
          </p:cNvPr>
          <p:cNvCxnSpPr>
            <a:cxnSpLocks/>
            <a:stCxn id="112" idx="3"/>
            <a:endCxn id="102" idx="2"/>
          </p:cNvCxnSpPr>
          <p:nvPr/>
        </p:nvCxnSpPr>
        <p:spPr>
          <a:xfrm flipV="1">
            <a:off x="2792771" y="3968892"/>
            <a:ext cx="584201" cy="193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2F87EA60-53C5-900A-66F7-0D0BE87CE67D}"/>
              </a:ext>
            </a:extLst>
          </p:cNvPr>
          <p:cNvSpPr txBox="1"/>
          <p:nvPr/>
        </p:nvSpPr>
        <p:spPr>
          <a:xfrm>
            <a:off x="8607071" y="2638120"/>
            <a:ext cx="36654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Voor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deze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koppeling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wordt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per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datapunt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 de </a:t>
            </a:r>
            <a:r>
              <a:rPr lang="en-US" altLang="en-NL" sz="1800" err="1">
                <a:solidFill>
                  <a:srgbClr val="000000"/>
                </a:solidFill>
                <a:latin typeface="Verdana" panose="020B0604030504040204" pitchFamily="34" charset="0"/>
              </a:rPr>
              <a:t>zgn</a:t>
            </a:r>
            <a:r>
              <a:rPr lang="en-US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nl-NL" altLang="en-NL" sz="1800">
                <a:solidFill>
                  <a:srgbClr val="000000"/>
                </a:solidFill>
                <a:latin typeface="Verdana" panose="020B0604030504040204" pitchFamily="34" charset="0"/>
              </a:rPr>
              <a:t>“euclidische afstand” berekend tot elk centrum.</a:t>
            </a:r>
          </a:p>
          <a:p>
            <a:pPr eaLnBrk="1" hangingPunct="1"/>
            <a:endParaRPr lang="nl-NL" altLang="en-NL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nl-NL" altLang="en-NL">
                <a:solidFill>
                  <a:srgbClr val="000000"/>
                </a:solidFill>
                <a:latin typeface="Verdana" panose="020B0604030504040204" pitchFamily="34" charset="0"/>
              </a:rPr>
              <a:t>Vervolgens wordt elk punt gekoppeld aan het centrum waarbij de euclidische afstand het laagst is.</a:t>
            </a:r>
            <a:endParaRPr lang="en-US" altLang="en-NL" sz="18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95C9AE27-D2BD-9442-1EA2-564C61F71216}"/>
              </a:ext>
            </a:extLst>
          </p:cNvPr>
          <p:cNvCxnSpPr>
            <a:cxnSpLocks/>
            <a:stCxn id="112" idx="3"/>
            <a:endCxn id="99" idx="3"/>
          </p:cNvCxnSpPr>
          <p:nvPr/>
        </p:nvCxnSpPr>
        <p:spPr>
          <a:xfrm flipV="1">
            <a:off x="2792771" y="2936348"/>
            <a:ext cx="1405078" cy="1225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6DBC459D-1B11-E14B-2045-D3B999298F1D}"/>
              </a:ext>
            </a:extLst>
          </p:cNvPr>
          <p:cNvCxnSpPr>
            <a:cxnSpLocks/>
            <a:stCxn id="112" idx="3"/>
            <a:endCxn id="105" idx="2"/>
          </p:cNvCxnSpPr>
          <p:nvPr/>
        </p:nvCxnSpPr>
        <p:spPr>
          <a:xfrm>
            <a:off x="2792771" y="4162120"/>
            <a:ext cx="2667001" cy="1437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12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9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K-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meansclustering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: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stappen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1"/>
            <a:ext cx="11203710" cy="53421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b="1">
                <a:solidFill>
                  <a:srgbClr val="000000"/>
                </a:solidFill>
                <a:sym typeface="Palatino" charset="0"/>
              </a:rPr>
              <a:t>Stap 3: 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Verplaats het centrum naar het daadwerkelijke centrum van het cluster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E934868-7D26-F8DA-B5DD-9CD1A32A9769}"/>
              </a:ext>
            </a:extLst>
          </p:cNvPr>
          <p:cNvSpPr>
            <a:spLocks/>
          </p:cNvSpPr>
          <p:nvPr/>
        </p:nvSpPr>
        <p:spPr bwMode="auto">
          <a:xfrm>
            <a:off x="4356100" y="5295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2D2091F-169B-5ED6-BD93-25D8A317779C}"/>
              </a:ext>
            </a:extLst>
          </p:cNvPr>
          <p:cNvSpPr>
            <a:spLocks/>
          </p:cNvSpPr>
          <p:nvPr/>
        </p:nvSpPr>
        <p:spPr bwMode="auto">
          <a:xfrm>
            <a:off x="4508500" y="55245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3DCEF880-AA3E-84FF-D54A-A2CD2A07820D}"/>
              </a:ext>
            </a:extLst>
          </p:cNvPr>
          <p:cNvSpPr>
            <a:spLocks/>
          </p:cNvSpPr>
          <p:nvPr/>
        </p:nvSpPr>
        <p:spPr bwMode="auto">
          <a:xfrm>
            <a:off x="4279900" y="57531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6A6642D6-8C6D-3D9A-5265-231C2DD59DF0}"/>
              </a:ext>
            </a:extLst>
          </p:cNvPr>
          <p:cNvSpPr>
            <a:spLocks/>
          </p:cNvSpPr>
          <p:nvPr/>
        </p:nvSpPr>
        <p:spPr bwMode="auto">
          <a:xfrm>
            <a:off x="4051300" y="50673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FCB2A5E8-87FF-90AD-7DB1-7459B2E7E133}"/>
              </a:ext>
            </a:extLst>
          </p:cNvPr>
          <p:cNvSpPr>
            <a:spLocks/>
          </p:cNvSpPr>
          <p:nvPr/>
        </p:nvSpPr>
        <p:spPr bwMode="auto">
          <a:xfrm>
            <a:off x="4051300" y="27051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602088EB-4652-2AFF-441C-0DB17D4E0070}"/>
              </a:ext>
            </a:extLst>
          </p:cNvPr>
          <p:cNvSpPr>
            <a:spLocks/>
          </p:cNvSpPr>
          <p:nvPr/>
        </p:nvSpPr>
        <p:spPr bwMode="auto">
          <a:xfrm>
            <a:off x="4051300" y="42291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0D489951-D7D4-3977-7099-C6AF281DD71E}"/>
              </a:ext>
            </a:extLst>
          </p:cNvPr>
          <p:cNvSpPr>
            <a:spLocks/>
          </p:cNvSpPr>
          <p:nvPr/>
        </p:nvSpPr>
        <p:spPr bwMode="auto">
          <a:xfrm>
            <a:off x="4051300" y="57531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BD5C3AC3-D567-AD45-924A-A8BDCF06B54E}"/>
              </a:ext>
            </a:extLst>
          </p:cNvPr>
          <p:cNvSpPr>
            <a:spLocks/>
          </p:cNvSpPr>
          <p:nvPr/>
        </p:nvSpPr>
        <p:spPr bwMode="auto">
          <a:xfrm>
            <a:off x="3594100" y="47625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85463158-4E8F-A790-882D-AD5CC2E374BF}"/>
              </a:ext>
            </a:extLst>
          </p:cNvPr>
          <p:cNvSpPr>
            <a:spLocks/>
          </p:cNvSpPr>
          <p:nvPr/>
        </p:nvSpPr>
        <p:spPr bwMode="auto">
          <a:xfrm>
            <a:off x="7861300" y="24765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" name="AutoShape 12">
            <a:extLst>
              <a:ext uri="{FF2B5EF4-FFF2-40B4-BE49-F238E27FC236}">
                <a16:creationId xmlns:a16="http://schemas.microsoft.com/office/drawing/2014/main" id="{940199E2-AB51-ABFD-3472-B6E7240F3CAB}"/>
              </a:ext>
            </a:extLst>
          </p:cNvPr>
          <p:cNvSpPr>
            <a:spLocks/>
          </p:cNvSpPr>
          <p:nvPr/>
        </p:nvSpPr>
        <p:spPr bwMode="auto">
          <a:xfrm>
            <a:off x="8318500" y="25527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EF33A61D-206C-F2CB-8E16-3BBD82BA1F77}"/>
              </a:ext>
            </a:extLst>
          </p:cNvPr>
          <p:cNvSpPr>
            <a:spLocks/>
          </p:cNvSpPr>
          <p:nvPr/>
        </p:nvSpPr>
        <p:spPr bwMode="auto">
          <a:xfrm>
            <a:off x="81788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A339D666-BA0D-4556-F2CA-8A20D24C42B0}"/>
              </a:ext>
            </a:extLst>
          </p:cNvPr>
          <p:cNvSpPr>
            <a:spLocks/>
          </p:cNvSpPr>
          <p:nvPr/>
        </p:nvSpPr>
        <p:spPr bwMode="auto">
          <a:xfrm>
            <a:off x="8026400" y="28956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0" name="AutoShape 15">
            <a:extLst>
              <a:ext uri="{FF2B5EF4-FFF2-40B4-BE49-F238E27FC236}">
                <a16:creationId xmlns:a16="http://schemas.microsoft.com/office/drawing/2014/main" id="{54535F25-8EFF-EF17-C96E-B3E932F37C34}"/>
              </a:ext>
            </a:extLst>
          </p:cNvPr>
          <p:cNvSpPr>
            <a:spLocks/>
          </p:cNvSpPr>
          <p:nvPr/>
        </p:nvSpPr>
        <p:spPr bwMode="auto">
          <a:xfrm>
            <a:off x="8331200" y="3048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1" name="AutoShape 16">
            <a:extLst>
              <a:ext uri="{FF2B5EF4-FFF2-40B4-BE49-F238E27FC236}">
                <a16:creationId xmlns:a16="http://schemas.microsoft.com/office/drawing/2014/main" id="{D6F3C3FA-21B9-1C2F-F1FA-9A305CF17CCB}"/>
              </a:ext>
            </a:extLst>
          </p:cNvPr>
          <p:cNvSpPr>
            <a:spLocks/>
          </p:cNvSpPr>
          <p:nvPr/>
        </p:nvSpPr>
        <p:spPr bwMode="auto">
          <a:xfrm>
            <a:off x="8623300" y="3390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2" name="AutoShape 17">
            <a:extLst>
              <a:ext uri="{FF2B5EF4-FFF2-40B4-BE49-F238E27FC236}">
                <a16:creationId xmlns:a16="http://schemas.microsoft.com/office/drawing/2014/main" id="{55B815F5-11C2-E36A-84FD-86CC63371600}"/>
              </a:ext>
            </a:extLst>
          </p:cNvPr>
          <p:cNvSpPr>
            <a:spLocks/>
          </p:cNvSpPr>
          <p:nvPr/>
        </p:nvSpPr>
        <p:spPr bwMode="auto">
          <a:xfrm>
            <a:off x="6870700" y="24765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3" name="AutoShape 18">
            <a:extLst>
              <a:ext uri="{FF2B5EF4-FFF2-40B4-BE49-F238E27FC236}">
                <a16:creationId xmlns:a16="http://schemas.microsoft.com/office/drawing/2014/main" id="{824365A0-99DE-7F53-DA17-6E5209F9193F}"/>
              </a:ext>
            </a:extLst>
          </p:cNvPr>
          <p:cNvSpPr>
            <a:spLocks/>
          </p:cNvSpPr>
          <p:nvPr/>
        </p:nvSpPr>
        <p:spPr bwMode="auto">
          <a:xfrm>
            <a:off x="7175500" y="3924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4" name="AutoShape 19">
            <a:extLst>
              <a:ext uri="{FF2B5EF4-FFF2-40B4-BE49-F238E27FC236}">
                <a16:creationId xmlns:a16="http://schemas.microsoft.com/office/drawing/2014/main" id="{4B4ACB8C-47D7-B2F5-C468-43F93AA91FBD}"/>
              </a:ext>
            </a:extLst>
          </p:cNvPr>
          <p:cNvSpPr>
            <a:spLocks/>
          </p:cNvSpPr>
          <p:nvPr/>
        </p:nvSpPr>
        <p:spPr bwMode="auto">
          <a:xfrm>
            <a:off x="7175500" y="5448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5" name="AutoShape 20">
            <a:extLst>
              <a:ext uri="{FF2B5EF4-FFF2-40B4-BE49-F238E27FC236}">
                <a16:creationId xmlns:a16="http://schemas.microsoft.com/office/drawing/2014/main" id="{19F0F944-4846-BDAA-E153-72CD818DBEA5}"/>
              </a:ext>
            </a:extLst>
          </p:cNvPr>
          <p:cNvSpPr>
            <a:spLocks/>
          </p:cNvSpPr>
          <p:nvPr/>
        </p:nvSpPr>
        <p:spPr bwMode="auto">
          <a:xfrm>
            <a:off x="7556500" y="5753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6" name="AutoShape 21">
            <a:extLst>
              <a:ext uri="{FF2B5EF4-FFF2-40B4-BE49-F238E27FC236}">
                <a16:creationId xmlns:a16="http://schemas.microsoft.com/office/drawing/2014/main" id="{2117103D-0719-DBE7-3F19-B97C226E8773}"/>
              </a:ext>
            </a:extLst>
          </p:cNvPr>
          <p:cNvSpPr>
            <a:spLocks/>
          </p:cNvSpPr>
          <p:nvPr/>
        </p:nvSpPr>
        <p:spPr bwMode="auto">
          <a:xfrm>
            <a:off x="7937500" y="4991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7" name="AutoShape 22">
            <a:extLst>
              <a:ext uri="{FF2B5EF4-FFF2-40B4-BE49-F238E27FC236}">
                <a16:creationId xmlns:a16="http://schemas.microsoft.com/office/drawing/2014/main" id="{2C21A8B6-07A7-EC9A-61DB-4A1BEAD56B05}"/>
              </a:ext>
            </a:extLst>
          </p:cNvPr>
          <p:cNvSpPr>
            <a:spLocks/>
          </p:cNvSpPr>
          <p:nvPr/>
        </p:nvSpPr>
        <p:spPr bwMode="auto">
          <a:xfrm>
            <a:off x="7099300" y="4381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4FB1F553-56F7-185A-5B91-4BE4FA720F77}"/>
              </a:ext>
            </a:extLst>
          </p:cNvPr>
          <p:cNvSpPr>
            <a:spLocks/>
          </p:cNvSpPr>
          <p:nvPr/>
        </p:nvSpPr>
        <p:spPr bwMode="auto">
          <a:xfrm>
            <a:off x="6337300" y="4838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29" name="AutoShape 24">
            <a:extLst>
              <a:ext uri="{FF2B5EF4-FFF2-40B4-BE49-F238E27FC236}">
                <a16:creationId xmlns:a16="http://schemas.microsoft.com/office/drawing/2014/main" id="{EEF5E9F6-7F38-E70A-390C-1EFDE5BE9B37}"/>
              </a:ext>
            </a:extLst>
          </p:cNvPr>
          <p:cNvSpPr>
            <a:spLocks/>
          </p:cNvSpPr>
          <p:nvPr/>
        </p:nvSpPr>
        <p:spPr bwMode="auto">
          <a:xfrm>
            <a:off x="8318500" y="5295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0" name="AutoShape 25">
            <a:extLst>
              <a:ext uri="{FF2B5EF4-FFF2-40B4-BE49-F238E27FC236}">
                <a16:creationId xmlns:a16="http://schemas.microsoft.com/office/drawing/2014/main" id="{16670E0E-621D-D1E2-D2A7-D636073F1DB4}"/>
              </a:ext>
            </a:extLst>
          </p:cNvPr>
          <p:cNvSpPr>
            <a:spLocks/>
          </p:cNvSpPr>
          <p:nvPr/>
        </p:nvSpPr>
        <p:spPr bwMode="auto">
          <a:xfrm>
            <a:off x="8166100" y="5676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1" name="AutoShape 26">
            <a:extLst>
              <a:ext uri="{FF2B5EF4-FFF2-40B4-BE49-F238E27FC236}">
                <a16:creationId xmlns:a16="http://schemas.microsoft.com/office/drawing/2014/main" id="{A8D80EC4-CE32-AF30-6E68-6C2C83974601}"/>
              </a:ext>
            </a:extLst>
          </p:cNvPr>
          <p:cNvSpPr>
            <a:spLocks/>
          </p:cNvSpPr>
          <p:nvPr/>
        </p:nvSpPr>
        <p:spPr bwMode="auto">
          <a:xfrm>
            <a:off x="8013700" y="4686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2" name="AutoShape 27">
            <a:extLst>
              <a:ext uri="{FF2B5EF4-FFF2-40B4-BE49-F238E27FC236}">
                <a16:creationId xmlns:a16="http://schemas.microsoft.com/office/drawing/2014/main" id="{7EBD4337-9F83-181D-4332-11E27416A1C3}"/>
              </a:ext>
            </a:extLst>
          </p:cNvPr>
          <p:cNvSpPr>
            <a:spLocks/>
          </p:cNvSpPr>
          <p:nvPr/>
        </p:nvSpPr>
        <p:spPr bwMode="auto">
          <a:xfrm>
            <a:off x="8623300" y="5905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33" name="AutoShape 28">
            <a:extLst>
              <a:ext uri="{FF2B5EF4-FFF2-40B4-BE49-F238E27FC236}">
                <a16:creationId xmlns:a16="http://schemas.microsoft.com/office/drawing/2014/main" id="{B76CF37F-97EB-864C-EC3E-52B1B1961AB9}"/>
              </a:ext>
            </a:extLst>
          </p:cNvPr>
          <p:cNvSpPr>
            <a:spLocks/>
          </p:cNvSpPr>
          <p:nvPr/>
        </p:nvSpPr>
        <p:spPr bwMode="auto">
          <a:xfrm>
            <a:off x="7797800" y="32766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7BBFB2A5-B81D-891B-4E13-6BCE50944D49}"/>
              </a:ext>
            </a:extLst>
          </p:cNvPr>
          <p:cNvGrpSpPr>
            <a:grpSpLocks/>
          </p:cNvGrpSpPr>
          <p:nvPr/>
        </p:nvGrpSpPr>
        <p:grpSpPr bwMode="auto">
          <a:xfrm>
            <a:off x="2874964" y="2093914"/>
            <a:ext cx="6916737" cy="4503737"/>
            <a:chOff x="11" y="0"/>
            <a:chExt cx="4356" cy="2836"/>
          </a:xfrm>
        </p:grpSpPr>
        <p:grpSp>
          <p:nvGrpSpPr>
            <p:cNvPr id="35" name="Group 31">
              <a:extLst>
                <a:ext uri="{FF2B5EF4-FFF2-40B4-BE49-F238E27FC236}">
                  <a16:creationId xmlns:a16="http://schemas.microsoft.com/office/drawing/2014/main" id="{50204F1D-BFDA-4DB3-7C87-6D5D2BEF62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0"/>
              <a:ext cx="3744" cy="2640"/>
              <a:chOff x="0" y="0"/>
              <a:chExt cx="3744" cy="2640"/>
            </a:xfrm>
          </p:grpSpPr>
          <p:sp>
            <p:nvSpPr>
              <p:cNvPr id="38" name="Line 29">
                <a:extLst>
                  <a:ext uri="{FF2B5EF4-FFF2-40B4-BE49-F238E27FC236}">
                    <a16:creationId xmlns:a16="http://schemas.microsoft.com/office/drawing/2014/main" id="{0BE0C53D-1792-7142-0AE5-9AE0D0284C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2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39" name="Line 30">
                <a:extLst>
                  <a:ext uri="{FF2B5EF4-FFF2-40B4-BE49-F238E27FC236}">
                    <a16:creationId xmlns:a16="http://schemas.microsoft.com/office/drawing/2014/main" id="{C600818B-ABC7-5AD4-6402-C22A4E5D4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640"/>
                <a:ext cx="3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sp>
          <p:nvSpPr>
            <p:cNvPr id="36" name="Rectangle 32">
              <a:extLst>
                <a:ext uri="{FF2B5EF4-FFF2-40B4-BE49-F238E27FC236}">
                  <a16:creationId xmlns:a16="http://schemas.microsoft.com/office/drawing/2014/main" id="{DEF2EC93-BB1F-3427-0411-B31CCD65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6" y="2538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x</a:t>
              </a:r>
            </a:p>
          </p:txBody>
        </p:sp>
        <p:sp>
          <p:nvSpPr>
            <p:cNvPr id="37" name="Rectangle 33">
              <a:extLst>
                <a:ext uri="{FF2B5EF4-FFF2-40B4-BE49-F238E27FC236}">
                  <a16:creationId xmlns:a16="http://schemas.microsoft.com/office/drawing/2014/main" id="{9141E741-5AEC-8621-6401-17BB00F00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" y="842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y</a:t>
              </a:r>
            </a:p>
          </p:txBody>
        </p:sp>
      </p:grpSp>
      <p:grpSp>
        <p:nvGrpSpPr>
          <p:cNvPr id="40" name="Group 37">
            <a:extLst>
              <a:ext uri="{FF2B5EF4-FFF2-40B4-BE49-F238E27FC236}">
                <a16:creationId xmlns:a16="http://schemas.microsoft.com/office/drawing/2014/main" id="{2C60848B-29D3-EAB1-4DDD-2BFB75A20491}"/>
              </a:ext>
            </a:extLst>
          </p:cNvPr>
          <p:cNvGrpSpPr>
            <a:grpSpLocks/>
          </p:cNvGrpSpPr>
          <p:nvPr/>
        </p:nvGrpSpPr>
        <p:grpSpPr bwMode="auto">
          <a:xfrm>
            <a:off x="4800601" y="4064001"/>
            <a:ext cx="508001" cy="544513"/>
            <a:chOff x="0" y="0"/>
            <a:chExt cx="320" cy="343"/>
          </a:xfrm>
        </p:grpSpPr>
        <p:sp>
          <p:nvSpPr>
            <p:cNvPr id="41" name="Oval 35">
              <a:extLst>
                <a:ext uri="{FF2B5EF4-FFF2-40B4-BE49-F238E27FC236}">
                  <a16:creationId xmlns:a16="http://schemas.microsoft.com/office/drawing/2014/main" id="{8EFD9688-F0B5-7E0B-8652-C6323B95D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42" name="Rectangle 36">
              <a:extLst>
                <a:ext uri="{FF2B5EF4-FFF2-40B4-BE49-F238E27FC236}">
                  <a16:creationId xmlns:a16="http://schemas.microsoft.com/office/drawing/2014/main" id="{6E053424-D31E-7A12-EF94-65B175330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</p:grpSp>
      <p:grpSp>
        <p:nvGrpSpPr>
          <p:cNvPr id="43" name="Group 40">
            <a:extLst>
              <a:ext uri="{FF2B5EF4-FFF2-40B4-BE49-F238E27FC236}">
                <a16:creationId xmlns:a16="http://schemas.microsoft.com/office/drawing/2014/main" id="{52EF06AF-C15B-7596-23F9-C7DD4C37D973}"/>
              </a:ext>
            </a:extLst>
          </p:cNvPr>
          <p:cNvGrpSpPr>
            <a:grpSpLocks/>
          </p:cNvGrpSpPr>
          <p:nvPr/>
        </p:nvGrpSpPr>
        <p:grpSpPr bwMode="auto">
          <a:xfrm>
            <a:off x="5575300" y="2933700"/>
            <a:ext cx="698500" cy="635000"/>
            <a:chOff x="0" y="0"/>
            <a:chExt cx="440" cy="399"/>
          </a:xfrm>
        </p:grpSpPr>
        <p:sp>
          <p:nvSpPr>
            <p:cNvPr id="44" name="Oval 38">
              <a:extLst>
                <a:ext uri="{FF2B5EF4-FFF2-40B4-BE49-F238E27FC236}">
                  <a16:creationId xmlns:a16="http://schemas.microsoft.com/office/drawing/2014/main" id="{A3254555-F06D-065B-28BB-483141664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16F22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45" name="Rectangle 39">
              <a:extLst>
                <a:ext uri="{FF2B5EF4-FFF2-40B4-BE49-F238E27FC236}">
                  <a16:creationId xmlns:a16="http://schemas.microsoft.com/office/drawing/2014/main" id="{A97F2112-5A6E-919A-286C-75AF8759C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47"/>
              <a:ext cx="34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46" name="Group 43">
            <a:extLst>
              <a:ext uri="{FF2B5EF4-FFF2-40B4-BE49-F238E27FC236}">
                <a16:creationId xmlns:a16="http://schemas.microsoft.com/office/drawing/2014/main" id="{111F3750-5116-A941-D0AF-61C0B149E505}"/>
              </a:ext>
            </a:extLst>
          </p:cNvPr>
          <p:cNvGrpSpPr>
            <a:grpSpLocks/>
          </p:cNvGrpSpPr>
          <p:nvPr/>
        </p:nvGrpSpPr>
        <p:grpSpPr bwMode="auto">
          <a:xfrm>
            <a:off x="6870701" y="5676901"/>
            <a:ext cx="508001" cy="544513"/>
            <a:chOff x="0" y="0"/>
            <a:chExt cx="320" cy="343"/>
          </a:xfrm>
        </p:grpSpPr>
        <p:sp>
          <p:nvSpPr>
            <p:cNvPr id="47" name="Oval 41">
              <a:extLst>
                <a:ext uri="{FF2B5EF4-FFF2-40B4-BE49-F238E27FC236}">
                  <a16:creationId xmlns:a16="http://schemas.microsoft.com/office/drawing/2014/main" id="{626B5A07-E9A5-88FE-49DF-C0B0AFAF5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48" name="Rectangle 42">
              <a:extLst>
                <a:ext uri="{FF2B5EF4-FFF2-40B4-BE49-F238E27FC236}">
                  <a16:creationId xmlns:a16="http://schemas.microsoft.com/office/drawing/2014/main" id="{B9F432BF-E6AD-7442-84C5-E4D33634C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3</a:t>
              </a:r>
            </a:p>
          </p:txBody>
        </p:sp>
      </p:grpSp>
      <p:sp>
        <p:nvSpPr>
          <p:cNvPr id="50" name="AutoShape 45">
            <a:extLst>
              <a:ext uri="{FF2B5EF4-FFF2-40B4-BE49-F238E27FC236}">
                <a16:creationId xmlns:a16="http://schemas.microsoft.com/office/drawing/2014/main" id="{B1012B1D-164C-99EA-5674-45A430B8F7F7}"/>
              </a:ext>
            </a:extLst>
          </p:cNvPr>
          <p:cNvSpPr>
            <a:spLocks/>
          </p:cNvSpPr>
          <p:nvPr/>
        </p:nvSpPr>
        <p:spPr bwMode="auto">
          <a:xfrm>
            <a:off x="6032500" y="44577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</p:spTree>
    <p:extLst>
      <p:ext uri="{BB962C8B-B14F-4D97-AF65-F5344CB8AC3E}">
        <p14:creationId xmlns:p14="http://schemas.microsoft.com/office/powerpoint/2010/main" val="115254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K-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meansclustering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: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stappen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1"/>
            <a:ext cx="11203710" cy="53421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b="1">
                <a:solidFill>
                  <a:srgbClr val="000000"/>
                </a:solidFill>
                <a:sym typeface="Palatino" charset="0"/>
              </a:rPr>
              <a:t>Stap 4: 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Zet alle punten opnieuw bij het dichtstbijzijnde centrum</a:t>
            </a:r>
          </a:p>
        </p:txBody>
      </p:sp>
      <p:sp>
        <p:nvSpPr>
          <p:cNvPr id="49" name="AutoShape 3">
            <a:extLst>
              <a:ext uri="{FF2B5EF4-FFF2-40B4-BE49-F238E27FC236}">
                <a16:creationId xmlns:a16="http://schemas.microsoft.com/office/drawing/2014/main" id="{1248E1B4-1BB3-D868-0C39-91EFED352F9A}"/>
              </a:ext>
            </a:extLst>
          </p:cNvPr>
          <p:cNvSpPr>
            <a:spLocks/>
          </p:cNvSpPr>
          <p:nvPr/>
        </p:nvSpPr>
        <p:spPr bwMode="auto">
          <a:xfrm>
            <a:off x="4508500" y="54483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1" name="AutoShape 4">
            <a:extLst>
              <a:ext uri="{FF2B5EF4-FFF2-40B4-BE49-F238E27FC236}">
                <a16:creationId xmlns:a16="http://schemas.microsoft.com/office/drawing/2014/main" id="{C46DB345-AE25-FB9E-F92C-2E1201BC47B5}"/>
              </a:ext>
            </a:extLst>
          </p:cNvPr>
          <p:cNvSpPr>
            <a:spLocks/>
          </p:cNvSpPr>
          <p:nvPr/>
        </p:nvSpPr>
        <p:spPr bwMode="auto">
          <a:xfrm>
            <a:off x="4660900" y="5676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3" name="AutoShape 5">
            <a:extLst>
              <a:ext uri="{FF2B5EF4-FFF2-40B4-BE49-F238E27FC236}">
                <a16:creationId xmlns:a16="http://schemas.microsoft.com/office/drawing/2014/main" id="{9E296E82-0BCA-125B-0155-A57F202C94B1}"/>
              </a:ext>
            </a:extLst>
          </p:cNvPr>
          <p:cNvSpPr>
            <a:spLocks/>
          </p:cNvSpPr>
          <p:nvPr/>
        </p:nvSpPr>
        <p:spPr bwMode="auto">
          <a:xfrm>
            <a:off x="4432300" y="59055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4" name="AutoShape 6">
            <a:extLst>
              <a:ext uri="{FF2B5EF4-FFF2-40B4-BE49-F238E27FC236}">
                <a16:creationId xmlns:a16="http://schemas.microsoft.com/office/drawing/2014/main" id="{77575C67-1F65-F006-DF55-70AE35734135}"/>
              </a:ext>
            </a:extLst>
          </p:cNvPr>
          <p:cNvSpPr>
            <a:spLocks/>
          </p:cNvSpPr>
          <p:nvPr/>
        </p:nvSpPr>
        <p:spPr bwMode="auto">
          <a:xfrm>
            <a:off x="4203700" y="52197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5" name="AutoShape 7">
            <a:extLst>
              <a:ext uri="{FF2B5EF4-FFF2-40B4-BE49-F238E27FC236}">
                <a16:creationId xmlns:a16="http://schemas.microsoft.com/office/drawing/2014/main" id="{6BFE2104-64E5-1129-3A37-EBF5A5C774A9}"/>
              </a:ext>
            </a:extLst>
          </p:cNvPr>
          <p:cNvSpPr>
            <a:spLocks/>
          </p:cNvSpPr>
          <p:nvPr/>
        </p:nvSpPr>
        <p:spPr bwMode="auto">
          <a:xfrm>
            <a:off x="4165600" y="2819400"/>
            <a:ext cx="228600" cy="2286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7" name="AutoShape 8">
            <a:extLst>
              <a:ext uri="{FF2B5EF4-FFF2-40B4-BE49-F238E27FC236}">
                <a16:creationId xmlns:a16="http://schemas.microsoft.com/office/drawing/2014/main" id="{0B6C5AF2-DBB3-31D5-4288-C112A745A4C6}"/>
              </a:ext>
            </a:extLst>
          </p:cNvPr>
          <p:cNvSpPr>
            <a:spLocks/>
          </p:cNvSpPr>
          <p:nvPr/>
        </p:nvSpPr>
        <p:spPr bwMode="auto">
          <a:xfrm>
            <a:off x="4203700" y="43815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8" name="AutoShape 9">
            <a:extLst>
              <a:ext uri="{FF2B5EF4-FFF2-40B4-BE49-F238E27FC236}">
                <a16:creationId xmlns:a16="http://schemas.microsoft.com/office/drawing/2014/main" id="{A5F47DC2-92A7-011C-A1C1-120B3E7FBA56}"/>
              </a:ext>
            </a:extLst>
          </p:cNvPr>
          <p:cNvSpPr>
            <a:spLocks/>
          </p:cNvSpPr>
          <p:nvPr/>
        </p:nvSpPr>
        <p:spPr bwMode="auto">
          <a:xfrm>
            <a:off x="4203700" y="59055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59" name="AutoShape 10">
            <a:extLst>
              <a:ext uri="{FF2B5EF4-FFF2-40B4-BE49-F238E27FC236}">
                <a16:creationId xmlns:a16="http://schemas.microsoft.com/office/drawing/2014/main" id="{956D5FB4-CA42-4BFA-2944-DF71244F003D}"/>
              </a:ext>
            </a:extLst>
          </p:cNvPr>
          <p:cNvSpPr>
            <a:spLocks/>
          </p:cNvSpPr>
          <p:nvPr/>
        </p:nvSpPr>
        <p:spPr bwMode="auto">
          <a:xfrm>
            <a:off x="3746500" y="4914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60" name="AutoShape 11">
            <a:extLst>
              <a:ext uri="{FF2B5EF4-FFF2-40B4-BE49-F238E27FC236}">
                <a16:creationId xmlns:a16="http://schemas.microsoft.com/office/drawing/2014/main" id="{5A110588-552E-1EEE-3912-03131DE21094}"/>
              </a:ext>
            </a:extLst>
          </p:cNvPr>
          <p:cNvSpPr>
            <a:spLocks/>
          </p:cNvSpPr>
          <p:nvPr/>
        </p:nvSpPr>
        <p:spPr bwMode="auto">
          <a:xfrm>
            <a:off x="6146800" y="4572000"/>
            <a:ext cx="228600" cy="2286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61" name="AutoShape 12">
            <a:extLst>
              <a:ext uri="{FF2B5EF4-FFF2-40B4-BE49-F238E27FC236}">
                <a16:creationId xmlns:a16="http://schemas.microsoft.com/office/drawing/2014/main" id="{67EC743D-4A67-5A1C-8ACA-470F8407B012}"/>
              </a:ext>
            </a:extLst>
          </p:cNvPr>
          <p:cNvSpPr>
            <a:spLocks/>
          </p:cNvSpPr>
          <p:nvPr/>
        </p:nvSpPr>
        <p:spPr bwMode="auto">
          <a:xfrm>
            <a:off x="8013700" y="2628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62" name="AutoShape 13">
            <a:extLst>
              <a:ext uri="{FF2B5EF4-FFF2-40B4-BE49-F238E27FC236}">
                <a16:creationId xmlns:a16="http://schemas.microsoft.com/office/drawing/2014/main" id="{195B5333-B43A-AE1A-DED8-7082F5C441D3}"/>
              </a:ext>
            </a:extLst>
          </p:cNvPr>
          <p:cNvSpPr>
            <a:spLocks/>
          </p:cNvSpPr>
          <p:nvPr/>
        </p:nvSpPr>
        <p:spPr bwMode="auto">
          <a:xfrm>
            <a:off x="8470900" y="27051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63" name="AutoShape 14">
            <a:extLst>
              <a:ext uri="{FF2B5EF4-FFF2-40B4-BE49-F238E27FC236}">
                <a16:creationId xmlns:a16="http://schemas.microsoft.com/office/drawing/2014/main" id="{8E9B34E7-76E8-3C4D-1CAE-62854279D86F}"/>
              </a:ext>
            </a:extLst>
          </p:cNvPr>
          <p:cNvSpPr>
            <a:spLocks/>
          </p:cNvSpPr>
          <p:nvPr/>
        </p:nvSpPr>
        <p:spPr bwMode="auto">
          <a:xfrm>
            <a:off x="8318500" y="28575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8" name="AutoShape 15">
            <a:extLst>
              <a:ext uri="{FF2B5EF4-FFF2-40B4-BE49-F238E27FC236}">
                <a16:creationId xmlns:a16="http://schemas.microsoft.com/office/drawing/2014/main" id="{FEB873C0-1251-5000-BF98-54B471B46948}"/>
              </a:ext>
            </a:extLst>
          </p:cNvPr>
          <p:cNvSpPr>
            <a:spLocks/>
          </p:cNvSpPr>
          <p:nvPr/>
        </p:nvSpPr>
        <p:spPr bwMode="auto">
          <a:xfrm>
            <a:off x="8166100" y="3009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29" name="AutoShape 16">
            <a:extLst>
              <a:ext uri="{FF2B5EF4-FFF2-40B4-BE49-F238E27FC236}">
                <a16:creationId xmlns:a16="http://schemas.microsoft.com/office/drawing/2014/main" id="{269D0405-FB6B-D11E-1EC9-E6D87FA7C3B6}"/>
              </a:ext>
            </a:extLst>
          </p:cNvPr>
          <p:cNvSpPr>
            <a:spLocks/>
          </p:cNvSpPr>
          <p:nvPr/>
        </p:nvSpPr>
        <p:spPr bwMode="auto">
          <a:xfrm>
            <a:off x="8470900" y="3162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0" name="AutoShape 17">
            <a:extLst>
              <a:ext uri="{FF2B5EF4-FFF2-40B4-BE49-F238E27FC236}">
                <a16:creationId xmlns:a16="http://schemas.microsoft.com/office/drawing/2014/main" id="{EF9ACC62-D57F-0975-6190-B2D7F47E9D2E}"/>
              </a:ext>
            </a:extLst>
          </p:cNvPr>
          <p:cNvSpPr>
            <a:spLocks/>
          </p:cNvSpPr>
          <p:nvPr/>
        </p:nvSpPr>
        <p:spPr bwMode="auto">
          <a:xfrm>
            <a:off x="8775700" y="3543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1" name="AutoShape 18">
            <a:extLst>
              <a:ext uri="{FF2B5EF4-FFF2-40B4-BE49-F238E27FC236}">
                <a16:creationId xmlns:a16="http://schemas.microsoft.com/office/drawing/2014/main" id="{55846C97-5972-68F9-C5C1-B7B1768B03EC}"/>
              </a:ext>
            </a:extLst>
          </p:cNvPr>
          <p:cNvSpPr>
            <a:spLocks/>
          </p:cNvSpPr>
          <p:nvPr/>
        </p:nvSpPr>
        <p:spPr bwMode="auto">
          <a:xfrm>
            <a:off x="7023100" y="2628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2" name="AutoShape 19">
            <a:extLst>
              <a:ext uri="{FF2B5EF4-FFF2-40B4-BE49-F238E27FC236}">
                <a16:creationId xmlns:a16="http://schemas.microsoft.com/office/drawing/2014/main" id="{6F2B9A06-9C61-D80E-F53E-A120E6F66DA3}"/>
              </a:ext>
            </a:extLst>
          </p:cNvPr>
          <p:cNvSpPr>
            <a:spLocks/>
          </p:cNvSpPr>
          <p:nvPr/>
        </p:nvSpPr>
        <p:spPr bwMode="auto">
          <a:xfrm>
            <a:off x="7289800" y="4038600"/>
            <a:ext cx="228600" cy="2286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3" name="AutoShape 20">
            <a:extLst>
              <a:ext uri="{FF2B5EF4-FFF2-40B4-BE49-F238E27FC236}">
                <a16:creationId xmlns:a16="http://schemas.microsoft.com/office/drawing/2014/main" id="{B9A44990-BDAE-6EB6-203F-0B0C5F757F18}"/>
              </a:ext>
            </a:extLst>
          </p:cNvPr>
          <p:cNvSpPr>
            <a:spLocks/>
          </p:cNvSpPr>
          <p:nvPr/>
        </p:nvSpPr>
        <p:spPr bwMode="auto">
          <a:xfrm>
            <a:off x="7327900" y="5600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4" name="AutoShape 21">
            <a:extLst>
              <a:ext uri="{FF2B5EF4-FFF2-40B4-BE49-F238E27FC236}">
                <a16:creationId xmlns:a16="http://schemas.microsoft.com/office/drawing/2014/main" id="{631F8EDC-FD4D-D207-72E8-55993CC73865}"/>
              </a:ext>
            </a:extLst>
          </p:cNvPr>
          <p:cNvSpPr>
            <a:spLocks/>
          </p:cNvSpPr>
          <p:nvPr/>
        </p:nvSpPr>
        <p:spPr bwMode="auto">
          <a:xfrm>
            <a:off x="7708900" y="5905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5" name="AutoShape 22">
            <a:extLst>
              <a:ext uri="{FF2B5EF4-FFF2-40B4-BE49-F238E27FC236}">
                <a16:creationId xmlns:a16="http://schemas.microsoft.com/office/drawing/2014/main" id="{42ABD562-353C-6A40-1B74-4D6D1C7F0D20}"/>
              </a:ext>
            </a:extLst>
          </p:cNvPr>
          <p:cNvSpPr>
            <a:spLocks/>
          </p:cNvSpPr>
          <p:nvPr/>
        </p:nvSpPr>
        <p:spPr bwMode="auto">
          <a:xfrm>
            <a:off x="8089900" y="5143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6" name="AutoShape 23">
            <a:extLst>
              <a:ext uri="{FF2B5EF4-FFF2-40B4-BE49-F238E27FC236}">
                <a16:creationId xmlns:a16="http://schemas.microsoft.com/office/drawing/2014/main" id="{A958E0E0-F52E-AFB4-3675-4655AAE21FD7}"/>
              </a:ext>
            </a:extLst>
          </p:cNvPr>
          <p:cNvSpPr>
            <a:spLocks/>
          </p:cNvSpPr>
          <p:nvPr/>
        </p:nvSpPr>
        <p:spPr bwMode="auto">
          <a:xfrm>
            <a:off x="7251700" y="4533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7" name="AutoShape 24">
            <a:extLst>
              <a:ext uri="{FF2B5EF4-FFF2-40B4-BE49-F238E27FC236}">
                <a16:creationId xmlns:a16="http://schemas.microsoft.com/office/drawing/2014/main" id="{017FDF1B-7E73-132D-80D5-8B44B272FA2B}"/>
              </a:ext>
            </a:extLst>
          </p:cNvPr>
          <p:cNvSpPr>
            <a:spLocks/>
          </p:cNvSpPr>
          <p:nvPr/>
        </p:nvSpPr>
        <p:spPr bwMode="auto">
          <a:xfrm>
            <a:off x="6489700" y="4991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8" name="AutoShape 25">
            <a:extLst>
              <a:ext uri="{FF2B5EF4-FFF2-40B4-BE49-F238E27FC236}">
                <a16:creationId xmlns:a16="http://schemas.microsoft.com/office/drawing/2014/main" id="{442FC05A-964F-45B4-A063-D2D5E5CC2F36}"/>
              </a:ext>
            </a:extLst>
          </p:cNvPr>
          <p:cNvSpPr>
            <a:spLocks/>
          </p:cNvSpPr>
          <p:nvPr/>
        </p:nvSpPr>
        <p:spPr bwMode="auto">
          <a:xfrm>
            <a:off x="8470900" y="5448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39" name="AutoShape 26">
            <a:extLst>
              <a:ext uri="{FF2B5EF4-FFF2-40B4-BE49-F238E27FC236}">
                <a16:creationId xmlns:a16="http://schemas.microsoft.com/office/drawing/2014/main" id="{46A74944-0486-6933-81F5-AAAD76EDE977}"/>
              </a:ext>
            </a:extLst>
          </p:cNvPr>
          <p:cNvSpPr>
            <a:spLocks/>
          </p:cNvSpPr>
          <p:nvPr/>
        </p:nvSpPr>
        <p:spPr bwMode="auto">
          <a:xfrm>
            <a:off x="8318500" y="5829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40" name="AutoShape 27">
            <a:extLst>
              <a:ext uri="{FF2B5EF4-FFF2-40B4-BE49-F238E27FC236}">
                <a16:creationId xmlns:a16="http://schemas.microsoft.com/office/drawing/2014/main" id="{D1A89ED8-B2B8-E618-1CAA-1F6D534B6056}"/>
              </a:ext>
            </a:extLst>
          </p:cNvPr>
          <p:cNvSpPr>
            <a:spLocks/>
          </p:cNvSpPr>
          <p:nvPr/>
        </p:nvSpPr>
        <p:spPr bwMode="auto">
          <a:xfrm>
            <a:off x="8166100" y="4838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41" name="AutoShape 28">
            <a:extLst>
              <a:ext uri="{FF2B5EF4-FFF2-40B4-BE49-F238E27FC236}">
                <a16:creationId xmlns:a16="http://schemas.microsoft.com/office/drawing/2014/main" id="{9FB29937-41F3-3F29-9481-CFAD21D9CB30}"/>
              </a:ext>
            </a:extLst>
          </p:cNvPr>
          <p:cNvSpPr>
            <a:spLocks/>
          </p:cNvSpPr>
          <p:nvPr/>
        </p:nvSpPr>
        <p:spPr bwMode="auto">
          <a:xfrm>
            <a:off x="8775700" y="6057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43" name="AutoShape 29">
            <a:extLst>
              <a:ext uri="{FF2B5EF4-FFF2-40B4-BE49-F238E27FC236}">
                <a16:creationId xmlns:a16="http://schemas.microsoft.com/office/drawing/2014/main" id="{1ABA1F5F-1871-39D9-9014-E7359062BF4C}"/>
              </a:ext>
            </a:extLst>
          </p:cNvPr>
          <p:cNvSpPr>
            <a:spLocks/>
          </p:cNvSpPr>
          <p:nvPr/>
        </p:nvSpPr>
        <p:spPr bwMode="auto">
          <a:xfrm>
            <a:off x="7937500" y="3390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grpSp>
        <p:nvGrpSpPr>
          <p:cNvPr id="144" name="Group 35">
            <a:extLst>
              <a:ext uri="{FF2B5EF4-FFF2-40B4-BE49-F238E27FC236}">
                <a16:creationId xmlns:a16="http://schemas.microsoft.com/office/drawing/2014/main" id="{050CC8BB-CC29-2BD4-456C-D22C94EF0731}"/>
              </a:ext>
            </a:extLst>
          </p:cNvPr>
          <p:cNvGrpSpPr>
            <a:grpSpLocks/>
          </p:cNvGrpSpPr>
          <p:nvPr/>
        </p:nvGrpSpPr>
        <p:grpSpPr bwMode="auto">
          <a:xfrm>
            <a:off x="3025776" y="2246313"/>
            <a:ext cx="6869113" cy="4506912"/>
            <a:chOff x="10" y="0"/>
            <a:chExt cx="4326" cy="2838"/>
          </a:xfrm>
        </p:grpSpPr>
        <p:grpSp>
          <p:nvGrpSpPr>
            <p:cNvPr id="145" name="Group 32">
              <a:extLst>
                <a:ext uri="{FF2B5EF4-FFF2-40B4-BE49-F238E27FC236}">
                  <a16:creationId xmlns:a16="http://schemas.microsoft.com/office/drawing/2014/main" id="{D60DF19E-0FFD-65F4-86F2-8FE566FBA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0"/>
              <a:ext cx="3744" cy="2640"/>
              <a:chOff x="0" y="0"/>
              <a:chExt cx="3744" cy="2640"/>
            </a:xfrm>
          </p:grpSpPr>
          <p:sp>
            <p:nvSpPr>
              <p:cNvPr id="148" name="Line 30">
                <a:extLst>
                  <a:ext uri="{FF2B5EF4-FFF2-40B4-BE49-F238E27FC236}">
                    <a16:creationId xmlns:a16="http://schemas.microsoft.com/office/drawing/2014/main" id="{B5BBF619-9ED6-1A38-9B72-4709793C89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2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149" name="Line 31">
                <a:extLst>
                  <a:ext uri="{FF2B5EF4-FFF2-40B4-BE49-F238E27FC236}">
                    <a16:creationId xmlns:a16="http://schemas.microsoft.com/office/drawing/2014/main" id="{035B7525-641A-BD93-C94A-AF4C21EB9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640"/>
                <a:ext cx="3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sp>
          <p:nvSpPr>
            <p:cNvPr id="146" name="Rectangle 33">
              <a:extLst>
                <a:ext uri="{FF2B5EF4-FFF2-40B4-BE49-F238E27FC236}">
                  <a16:creationId xmlns:a16="http://schemas.microsoft.com/office/drawing/2014/main" id="{EDF961C0-DFCA-757A-4145-020DC62E0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3" y="2538"/>
              <a:ext cx="17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x</a:t>
              </a:r>
            </a:p>
          </p:txBody>
        </p:sp>
        <p:sp>
          <p:nvSpPr>
            <p:cNvPr id="147" name="Rectangle 34">
              <a:extLst>
                <a:ext uri="{FF2B5EF4-FFF2-40B4-BE49-F238E27FC236}">
                  <a16:creationId xmlns:a16="http://schemas.microsoft.com/office/drawing/2014/main" id="{6B7B53DE-B28B-6508-ED1A-1C425AB43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" y="842"/>
              <a:ext cx="17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y</a:t>
              </a:r>
            </a:p>
          </p:txBody>
        </p:sp>
      </p:grpSp>
      <p:grpSp>
        <p:nvGrpSpPr>
          <p:cNvPr id="150" name="Group 38">
            <a:extLst>
              <a:ext uri="{FF2B5EF4-FFF2-40B4-BE49-F238E27FC236}">
                <a16:creationId xmlns:a16="http://schemas.microsoft.com/office/drawing/2014/main" id="{8AC60A02-DED7-8B13-3705-F8DFF64A955D}"/>
              </a:ext>
            </a:extLst>
          </p:cNvPr>
          <p:cNvGrpSpPr>
            <a:grpSpLocks/>
          </p:cNvGrpSpPr>
          <p:nvPr/>
        </p:nvGrpSpPr>
        <p:grpSpPr bwMode="auto">
          <a:xfrm>
            <a:off x="7480300" y="3086100"/>
            <a:ext cx="698500" cy="635000"/>
            <a:chOff x="0" y="0"/>
            <a:chExt cx="440" cy="399"/>
          </a:xfrm>
        </p:grpSpPr>
        <p:sp>
          <p:nvSpPr>
            <p:cNvPr id="151" name="Oval 36">
              <a:extLst>
                <a:ext uri="{FF2B5EF4-FFF2-40B4-BE49-F238E27FC236}">
                  <a16:creationId xmlns:a16="http://schemas.microsoft.com/office/drawing/2014/main" id="{AA2D4D33-5AD5-043A-CAA0-0E87041A5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55CC2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52" name="Rectangle 37">
              <a:extLst>
                <a:ext uri="{FF2B5EF4-FFF2-40B4-BE49-F238E27FC236}">
                  <a16:creationId xmlns:a16="http://schemas.microsoft.com/office/drawing/2014/main" id="{91849F78-C56E-C74A-CF1C-FB4A52653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47"/>
              <a:ext cx="34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153" name="Group 41">
            <a:extLst>
              <a:ext uri="{FF2B5EF4-FFF2-40B4-BE49-F238E27FC236}">
                <a16:creationId xmlns:a16="http://schemas.microsoft.com/office/drawing/2014/main" id="{518F726A-08B5-3DF0-69E2-0E0486EFF7E2}"/>
              </a:ext>
            </a:extLst>
          </p:cNvPr>
          <p:cNvGrpSpPr>
            <a:grpSpLocks/>
          </p:cNvGrpSpPr>
          <p:nvPr/>
        </p:nvGrpSpPr>
        <p:grpSpPr bwMode="auto">
          <a:xfrm>
            <a:off x="7632701" y="4838701"/>
            <a:ext cx="508001" cy="544513"/>
            <a:chOff x="0" y="0"/>
            <a:chExt cx="320" cy="343"/>
          </a:xfrm>
        </p:grpSpPr>
        <p:sp>
          <p:nvSpPr>
            <p:cNvPr id="154" name="Oval 39">
              <a:extLst>
                <a:ext uri="{FF2B5EF4-FFF2-40B4-BE49-F238E27FC236}">
                  <a16:creationId xmlns:a16="http://schemas.microsoft.com/office/drawing/2014/main" id="{4ACEED39-77F4-CF69-D844-E3338D1CB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55" name="Rectangle 40">
              <a:extLst>
                <a:ext uri="{FF2B5EF4-FFF2-40B4-BE49-F238E27FC236}">
                  <a16:creationId xmlns:a16="http://schemas.microsoft.com/office/drawing/2014/main" id="{EA17717A-932E-327A-399A-E11EF3CE2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3</a:t>
              </a:r>
            </a:p>
          </p:txBody>
        </p:sp>
      </p:grpSp>
      <p:grpSp>
        <p:nvGrpSpPr>
          <p:cNvPr id="156" name="Group 44">
            <a:extLst>
              <a:ext uri="{FF2B5EF4-FFF2-40B4-BE49-F238E27FC236}">
                <a16:creationId xmlns:a16="http://schemas.microsoft.com/office/drawing/2014/main" id="{066C9EFF-B25C-09A5-CE48-1AA35D6209D2}"/>
              </a:ext>
            </a:extLst>
          </p:cNvPr>
          <p:cNvGrpSpPr>
            <a:grpSpLocks/>
          </p:cNvGrpSpPr>
          <p:nvPr/>
        </p:nvGrpSpPr>
        <p:grpSpPr bwMode="auto">
          <a:xfrm>
            <a:off x="4737101" y="5143501"/>
            <a:ext cx="508001" cy="544513"/>
            <a:chOff x="0" y="0"/>
            <a:chExt cx="320" cy="343"/>
          </a:xfrm>
        </p:grpSpPr>
        <p:sp>
          <p:nvSpPr>
            <p:cNvPr id="157" name="Oval 42">
              <a:extLst>
                <a:ext uri="{FF2B5EF4-FFF2-40B4-BE49-F238E27FC236}">
                  <a16:creationId xmlns:a16="http://schemas.microsoft.com/office/drawing/2014/main" id="{6B2A7DB8-596F-F163-2F0E-61A2F7B4F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158" name="Rectangle 43">
              <a:extLst>
                <a:ext uri="{FF2B5EF4-FFF2-40B4-BE49-F238E27FC236}">
                  <a16:creationId xmlns:a16="http://schemas.microsoft.com/office/drawing/2014/main" id="{2202E5BC-68E0-39FD-D9A9-85E2CC466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</p:grpSp>
      <p:sp>
        <p:nvSpPr>
          <p:cNvPr id="160" name="AutoShape 46">
            <a:extLst>
              <a:ext uri="{FF2B5EF4-FFF2-40B4-BE49-F238E27FC236}">
                <a16:creationId xmlns:a16="http://schemas.microsoft.com/office/drawing/2014/main" id="{607E3691-0BEB-08EA-F221-8F5023FCC5E5}"/>
              </a:ext>
            </a:extLst>
          </p:cNvPr>
          <p:cNvSpPr>
            <a:spLocks/>
          </p:cNvSpPr>
          <p:nvPr/>
        </p:nvSpPr>
        <p:spPr bwMode="auto">
          <a:xfrm>
            <a:off x="4203700" y="28575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1" name="AutoShape 47">
            <a:extLst>
              <a:ext uri="{FF2B5EF4-FFF2-40B4-BE49-F238E27FC236}">
                <a16:creationId xmlns:a16="http://schemas.microsoft.com/office/drawing/2014/main" id="{14B64722-D792-1E95-7ED3-F8B3AB56157E}"/>
              </a:ext>
            </a:extLst>
          </p:cNvPr>
          <p:cNvSpPr>
            <a:spLocks/>
          </p:cNvSpPr>
          <p:nvPr/>
        </p:nvSpPr>
        <p:spPr bwMode="auto">
          <a:xfrm>
            <a:off x="6184900" y="46101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2" name="AutoShape 48">
            <a:extLst>
              <a:ext uri="{FF2B5EF4-FFF2-40B4-BE49-F238E27FC236}">
                <a16:creationId xmlns:a16="http://schemas.microsoft.com/office/drawing/2014/main" id="{D4E42C0B-3520-7675-32C2-3B8A6B3C3E79}"/>
              </a:ext>
            </a:extLst>
          </p:cNvPr>
          <p:cNvSpPr>
            <a:spLocks/>
          </p:cNvSpPr>
          <p:nvPr/>
        </p:nvSpPr>
        <p:spPr bwMode="auto">
          <a:xfrm>
            <a:off x="7327900" y="40767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</p:spTree>
    <p:extLst>
      <p:ext uri="{BB962C8B-B14F-4D97-AF65-F5344CB8AC3E}">
        <p14:creationId xmlns:p14="http://schemas.microsoft.com/office/powerpoint/2010/main" val="399338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-107430887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-107430887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-107430887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-107430887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-107430887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-107430887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60" grpId="0" animBg="1"/>
      <p:bldP spid="132" grpId="0" animBg="1"/>
      <p:bldP spid="160" grpId="0" animBg="1"/>
      <p:bldP spid="161" grpId="0" animBg="1"/>
      <p:bldP spid="16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11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K-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meansclustering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: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stappen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0"/>
            <a:ext cx="11203710" cy="83808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b="1" dirty="0">
                <a:solidFill>
                  <a:srgbClr val="000000"/>
                </a:solidFill>
                <a:sym typeface="Palatino" charset="0"/>
              </a:rPr>
              <a:t>Stap 5: </a:t>
            </a:r>
            <a:r>
              <a:rPr lang="nl-NL" dirty="0">
                <a:solidFill>
                  <a:srgbClr val="000000"/>
                </a:solidFill>
                <a:sym typeface="Palatino" charset="0"/>
              </a:rPr>
              <a:t>Herhaal stappen 3 en 4 totdat de centra bijna niet meer verplaatsen.</a:t>
            </a:r>
          </a:p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u="sng" dirty="0">
                <a:solidFill>
                  <a:srgbClr val="000000"/>
                </a:solidFill>
                <a:sym typeface="Palatino" charset="0"/>
              </a:rPr>
              <a:t>“Hoe zie ik dit?”</a:t>
            </a:r>
            <a:r>
              <a:rPr lang="nl-NL" dirty="0">
                <a:solidFill>
                  <a:srgbClr val="000000"/>
                </a:solidFill>
                <a:sym typeface="Palatino" charset="0"/>
              </a:rPr>
              <a:t> De euclidische afstand ontwikkelt zich bijna niet meer.</a:t>
            </a:r>
            <a:endParaRPr lang="nl-NL" u="sng" dirty="0">
              <a:solidFill>
                <a:srgbClr val="000000"/>
              </a:solidFill>
              <a:sym typeface="Palatino" charset="0"/>
            </a:endParaRPr>
          </a:p>
        </p:txBody>
      </p:sp>
      <p:sp>
        <p:nvSpPr>
          <p:cNvPr id="165" name="AutoShape 3">
            <a:extLst>
              <a:ext uri="{FF2B5EF4-FFF2-40B4-BE49-F238E27FC236}">
                <a16:creationId xmlns:a16="http://schemas.microsoft.com/office/drawing/2014/main" id="{81E247CB-229C-4525-3D0F-715C65947771}"/>
              </a:ext>
            </a:extLst>
          </p:cNvPr>
          <p:cNvSpPr>
            <a:spLocks/>
          </p:cNvSpPr>
          <p:nvPr/>
        </p:nvSpPr>
        <p:spPr bwMode="auto">
          <a:xfrm>
            <a:off x="4038600" y="49657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6" name="AutoShape 4">
            <a:extLst>
              <a:ext uri="{FF2B5EF4-FFF2-40B4-BE49-F238E27FC236}">
                <a16:creationId xmlns:a16="http://schemas.microsoft.com/office/drawing/2014/main" id="{BB115B3E-8981-C70C-3F5E-E2CBDC509585}"/>
              </a:ext>
            </a:extLst>
          </p:cNvPr>
          <p:cNvSpPr>
            <a:spLocks/>
          </p:cNvSpPr>
          <p:nvPr/>
        </p:nvSpPr>
        <p:spPr bwMode="auto">
          <a:xfrm>
            <a:off x="4191000" y="51943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7" name="AutoShape 5">
            <a:extLst>
              <a:ext uri="{FF2B5EF4-FFF2-40B4-BE49-F238E27FC236}">
                <a16:creationId xmlns:a16="http://schemas.microsoft.com/office/drawing/2014/main" id="{BAE02280-4661-4775-5883-89DCE6F98B41}"/>
              </a:ext>
            </a:extLst>
          </p:cNvPr>
          <p:cNvSpPr>
            <a:spLocks/>
          </p:cNvSpPr>
          <p:nvPr/>
        </p:nvSpPr>
        <p:spPr bwMode="auto">
          <a:xfrm>
            <a:off x="3962400" y="5422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8" name="AutoShape 6">
            <a:extLst>
              <a:ext uri="{FF2B5EF4-FFF2-40B4-BE49-F238E27FC236}">
                <a16:creationId xmlns:a16="http://schemas.microsoft.com/office/drawing/2014/main" id="{003A4532-6BB5-396B-1C24-1A2BBCCCC334}"/>
              </a:ext>
            </a:extLst>
          </p:cNvPr>
          <p:cNvSpPr>
            <a:spLocks/>
          </p:cNvSpPr>
          <p:nvPr/>
        </p:nvSpPr>
        <p:spPr bwMode="auto">
          <a:xfrm>
            <a:off x="3733800" y="47371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69" name="AutoShape 7">
            <a:extLst>
              <a:ext uri="{FF2B5EF4-FFF2-40B4-BE49-F238E27FC236}">
                <a16:creationId xmlns:a16="http://schemas.microsoft.com/office/drawing/2014/main" id="{FEFAB4D6-6D47-83B2-5982-C5285B47C7B0}"/>
              </a:ext>
            </a:extLst>
          </p:cNvPr>
          <p:cNvSpPr>
            <a:spLocks/>
          </p:cNvSpPr>
          <p:nvPr/>
        </p:nvSpPr>
        <p:spPr bwMode="auto">
          <a:xfrm>
            <a:off x="3733800" y="2374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0" name="AutoShape 8">
            <a:extLst>
              <a:ext uri="{FF2B5EF4-FFF2-40B4-BE49-F238E27FC236}">
                <a16:creationId xmlns:a16="http://schemas.microsoft.com/office/drawing/2014/main" id="{5F0EB39C-F2BB-739E-6B6F-D030AD857B52}"/>
              </a:ext>
            </a:extLst>
          </p:cNvPr>
          <p:cNvSpPr>
            <a:spLocks/>
          </p:cNvSpPr>
          <p:nvPr/>
        </p:nvSpPr>
        <p:spPr bwMode="auto">
          <a:xfrm>
            <a:off x="3733800" y="3898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1" name="AutoShape 9">
            <a:extLst>
              <a:ext uri="{FF2B5EF4-FFF2-40B4-BE49-F238E27FC236}">
                <a16:creationId xmlns:a16="http://schemas.microsoft.com/office/drawing/2014/main" id="{8331BD1F-4400-0D97-5836-76DBA3543AEB}"/>
              </a:ext>
            </a:extLst>
          </p:cNvPr>
          <p:cNvSpPr>
            <a:spLocks/>
          </p:cNvSpPr>
          <p:nvPr/>
        </p:nvSpPr>
        <p:spPr bwMode="auto">
          <a:xfrm>
            <a:off x="3733800" y="54229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2" name="AutoShape 10">
            <a:extLst>
              <a:ext uri="{FF2B5EF4-FFF2-40B4-BE49-F238E27FC236}">
                <a16:creationId xmlns:a16="http://schemas.microsoft.com/office/drawing/2014/main" id="{AE513375-8272-2CEB-3DB3-873568003C68}"/>
              </a:ext>
            </a:extLst>
          </p:cNvPr>
          <p:cNvSpPr>
            <a:spLocks/>
          </p:cNvSpPr>
          <p:nvPr/>
        </p:nvSpPr>
        <p:spPr bwMode="auto">
          <a:xfrm>
            <a:off x="3276600" y="44323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3" name="AutoShape 11">
            <a:extLst>
              <a:ext uri="{FF2B5EF4-FFF2-40B4-BE49-F238E27FC236}">
                <a16:creationId xmlns:a16="http://schemas.microsoft.com/office/drawing/2014/main" id="{3F3095A3-7DD8-296C-BBA3-5E8CA36B3B09}"/>
              </a:ext>
            </a:extLst>
          </p:cNvPr>
          <p:cNvSpPr>
            <a:spLocks/>
          </p:cNvSpPr>
          <p:nvPr/>
        </p:nvSpPr>
        <p:spPr bwMode="auto">
          <a:xfrm>
            <a:off x="5675313" y="4127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4" name="AutoShape 12">
            <a:extLst>
              <a:ext uri="{FF2B5EF4-FFF2-40B4-BE49-F238E27FC236}">
                <a16:creationId xmlns:a16="http://schemas.microsoft.com/office/drawing/2014/main" id="{0A18A0E3-F58D-0B79-E1D9-F86C0DB316AF}"/>
              </a:ext>
            </a:extLst>
          </p:cNvPr>
          <p:cNvSpPr>
            <a:spLocks/>
          </p:cNvSpPr>
          <p:nvPr/>
        </p:nvSpPr>
        <p:spPr bwMode="auto">
          <a:xfrm>
            <a:off x="7543800" y="2146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5" name="AutoShape 13">
            <a:extLst>
              <a:ext uri="{FF2B5EF4-FFF2-40B4-BE49-F238E27FC236}">
                <a16:creationId xmlns:a16="http://schemas.microsoft.com/office/drawing/2014/main" id="{065D2B6C-0EB0-058B-9178-2FBF320ED27E}"/>
              </a:ext>
            </a:extLst>
          </p:cNvPr>
          <p:cNvSpPr>
            <a:spLocks/>
          </p:cNvSpPr>
          <p:nvPr/>
        </p:nvSpPr>
        <p:spPr bwMode="auto">
          <a:xfrm>
            <a:off x="8001000" y="22225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6" name="AutoShape 14">
            <a:extLst>
              <a:ext uri="{FF2B5EF4-FFF2-40B4-BE49-F238E27FC236}">
                <a16:creationId xmlns:a16="http://schemas.microsoft.com/office/drawing/2014/main" id="{CC12EB04-5F14-24C6-67B0-F7844C51652B}"/>
              </a:ext>
            </a:extLst>
          </p:cNvPr>
          <p:cNvSpPr>
            <a:spLocks/>
          </p:cNvSpPr>
          <p:nvPr/>
        </p:nvSpPr>
        <p:spPr bwMode="auto">
          <a:xfrm>
            <a:off x="7848600" y="23749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7" name="AutoShape 15">
            <a:extLst>
              <a:ext uri="{FF2B5EF4-FFF2-40B4-BE49-F238E27FC236}">
                <a16:creationId xmlns:a16="http://schemas.microsoft.com/office/drawing/2014/main" id="{EE3ABA84-4326-A7F9-0BF1-07FF6D84868B}"/>
              </a:ext>
            </a:extLst>
          </p:cNvPr>
          <p:cNvSpPr>
            <a:spLocks/>
          </p:cNvSpPr>
          <p:nvPr/>
        </p:nvSpPr>
        <p:spPr bwMode="auto">
          <a:xfrm>
            <a:off x="7696200" y="2527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8" name="AutoShape 16">
            <a:extLst>
              <a:ext uri="{FF2B5EF4-FFF2-40B4-BE49-F238E27FC236}">
                <a16:creationId xmlns:a16="http://schemas.microsoft.com/office/drawing/2014/main" id="{B521F56E-2BEB-793C-B768-C8181997D3AA}"/>
              </a:ext>
            </a:extLst>
          </p:cNvPr>
          <p:cNvSpPr>
            <a:spLocks/>
          </p:cNvSpPr>
          <p:nvPr/>
        </p:nvSpPr>
        <p:spPr bwMode="auto">
          <a:xfrm>
            <a:off x="8001000" y="26797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79" name="AutoShape 17">
            <a:extLst>
              <a:ext uri="{FF2B5EF4-FFF2-40B4-BE49-F238E27FC236}">
                <a16:creationId xmlns:a16="http://schemas.microsoft.com/office/drawing/2014/main" id="{DC079491-0628-5C67-2423-BACCE3125042}"/>
              </a:ext>
            </a:extLst>
          </p:cNvPr>
          <p:cNvSpPr>
            <a:spLocks/>
          </p:cNvSpPr>
          <p:nvPr/>
        </p:nvSpPr>
        <p:spPr bwMode="auto">
          <a:xfrm>
            <a:off x="8305800" y="30607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0" name="AutoShape 18">
            <a:extLst>
              <a:ext uri="{FF2B5EF4-FFF2-40B4-BE49-F238E27FC236}">
                <a16:creationId xmlns:a16="http://schemas.microsoft.com/office/drawing/2014/main" id="{0B678A5D-3F35-BA08-B24D-4CC4DFE2F64E}"/>
              </a:ext>
            </a:extLst>
          </p:cNvPr>
          <p:cNvSpPr>
            <a:spLocks/>
          </p:cNvSpPr>
          <p:nvPr/>
        </p:nvSpPr>
        <p:spPr bwMode="auto">
          <a:xfrm>
            <a:off x="6553200" y="2146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1" name="AutoShape 19">
            <a:extLst>
              <a:ext uri="{FF2B5EF4-FFF2-40B4-BE49-F238E27FC236}">
                <a16:creationId xmlns:a16="http://schemas.microsoft.com/office/drawing/2014/main" id="{130ED610-F866-5AE3-D8E5-CF83579CFBB7}"/>
              </a:ext>
            </a:extLst>
          </p:cNvPr>
          <p:cNvSpPr>
            <a:spLocks/>
          </p:cNvSpPr>
          <p:nvPr/>
        </p:nvSpPr>
        <p:spPr bwMode="auto">
          <a:xfrm>
            <a:off x="6858000" y="3594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2" name="AutoShape 20">
            <a:extLst>
              <a:ext uri="{FF2B5EF4-FFF2-40B4-BE49-F238E27FC236}">
                <a16:creationId xmlns:a16="http://schemas.microsoft.com/office/drawing/2014/main" id="{FDAEEDE8-634C-6921-6E04-6C2E8F49A9C6}"/>
              </a:ext>
            </a:extLst>
          </p:cNvPr>
          <p:cNvSpPr>
            <a:spLocks/>
          </p:cNvSpPr>
          <p:nvPr/>
        </p:nvSpPr>
        <p:spPr bwMode="auto">
          <a:xfrm>
            <a:off x="6858000" y="5118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3" name="AutoShape 21">
            <a:extLst>
              <a:ext uri="{FF2B5EF4-FFF2-40B4-BE49-F238E27FC236}">
                <a16:creationId xmlns:a16="http://schemas.microsoft.com/office/drawing/2014/main" id="{75CACC94-73C0-F6A9-9E3F-A1185B49545B}"/>
              </a:ext>
            </a:extLst>
          </p:cNvPr>
          <p:cNvSpPr>
            <a:spLocks/>
          </p:cNvSpPr>
          <p:nvPr/>
        </p:nvSpPr>
        <p:spPr bwMode="auto">
          <a:xfrm>
            <a:off x="7239000" y="5422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4" name="AutoShape 22">
            <a:extLst>
              <a:ext uri="{FF2B5EF4-FFF2-40B4-BE49-F238E27FC236}">
                <a16:creationId xmlns:a16="http://schemas.microsoft.com/office/drawing/2014/main" id="{9EAFF221-E4CF-867A-B7BF-04C84205C2CD}"/>
              </a:ext>
            </a:extLst>
          </p:cNvPr>
          <p:cNvSpPr>
            <a:spLocks/>
          </p:cNvSpPr>
          <p:nvPr/>
        </p:nvSpPr>
        <p:spPr bwMode="auto">
          <a:xfrm>
            <a:off x="7620000" y="46609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5" name="AutoShape 23">
            <a:extLst>
              <a:ext uri="{FF2B5EF4-FFF2-40B4-BE49-F238E27FC236}">
                <a16:creationId xmlns:a16="http://schemas.microsoft.com/office/drawing/2014/main" id="{B8BC149A-0136-D0B0-A053-3C4869D72829}"/>
              </a:ext>
            </a:extLst>
          </p:cNvPr>
          <p:cNvSpPr>
            <a:spLocks/>
          </p:cNvSpPr>
          <p:nvPr/>
        </p:nvSpPr>
        <p:spPr bwMode="auto">
          <a:xfrm>
            <a:off x="6781800" y="4051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6" name="AutoShape 24">
            <a:extLst>
              <a:ext uri="{FF2B5EF4-FFF2-40B4-BE49-F238E27FC236}">
                <a16:creationId xmlns:a16="http://schemas.microsoft.com/office/drawing/2014/main" id="{F1C00AC5-1093-2759-EB8A-468AFF3B7FF7}"/>
              </a:ext>
            </a:extLst>
          </p:cNvPr>
          <p:cNvSpPr>
            <a:spLocks/>
          </p:cNvSpPr>
          <p:nvPr/>
        </p:nvSpPr>
        <p:spPr bwMode="auto">
          <a:xfrm>
            <a:off x="6019800" y="45085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7" name="AutoShape 25">
            <a:extLst>
              <a:ext uri="{FF2B5EF4-FFF2-40B4-BE49-F238E27FC236}">
                <a16:creationId xmlns:a16="http://schemas.microsoft.com/office/drawing/2014/main" id="{A091E778-FE75-B370-725A-7A9A04D6BA26}"/>
              </a:ext>
            </a:extLst>
          </p:cNvPr>
          <p:cNvSpPr>
            <a:spLocks/>
          </p:cNvSpPr>
          <p:nvPr/>
        </p:nvSpPr>
        <p:spPr bwMode="auto">
          <a:xfrm>
            <a:off x="8001000" y="4965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8" name="AutoShape 26">
            <a:extLst>
              <a:ext uri="{FF2B5EF4-FFF2-40B4-BE49-F238E27FC236}">
                <a16:creationId xmlns:a16="http://schemas.microsoft.com/office/drawing/2014/main" id="{7EF18D06-7B5C-F754-592B-CA0B2FBEF0DF}"/>
              </a:ext>
            </a:extLst>
          </p:cNvPr>
          <p:cNvSpPr>
            <a:spLocks/>
          </p:cNvSpPr>
          <p:nvPr/>
        </p:nvSpPr>
        <p:spPr bwMode="auto">
          <a:xfrm>
            <a:off x="7848600" y="53467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89" name="AutoShape 27">
            <a:extLst>
              <a:ext uri="{FF2B5EF4-FFF2-40B4-BE49-F238E27FC236}">
                <a16:creationId xmlns:a16="http://schemas.microsoft.com/office/drawing/2014/main" id="{FD98F5FD-2FEA-D00D-4456-203B1F2E79AD}"/>
              </a:ext>
            </a:extLst>
          </p:cNvPr>
          <p:cNvSpPr>
            <a:spLocks/>
          </p:cNvSpPr>
          <p:nvPr/>
        </p:nvSpPr>
        <p:spPr bwMode="auto">
          <a:xfrm>
            <a:off x="7696200" y="43561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90" name="AutoShape 28">
            <a:extLst>
              <a:ext uri="{FF2B5EF4-FFF2-40B4-BE49-F238E27FC236}">
                <a16:creationId xmlns:a16="http://schemas.microsoft.com/office/drawing/2014/main" id="{7FC6C111-4437-B74B-160E-09E5E72F178F}"/>
              </a:ext>
            </a:extLst>
          </p:cNvPr>
          <p:cNvSpPr>
            <a:spLocks/>
          </p:cNvSpPr>
          <p:nvPr/>
        </p:nvSpPr>
        <p:spPr bwMode="auto">
          <a:xfrm>
            <a:off x="8305800" y="55753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sp>
        <p:nvSpPr>
          <p:cNvPr id="191" name="AutoShape 29">
            <a:extLst>
              <a:ext uri="{FF2B5EF4-FFF2-40B4-BE49-F238E27FC236}">
                <a16:creationId xmlns:a16="http://schemas.microsoft.com/office/drawing/2014/main" id="{6B69D378-E171-F1DC-A68F-2F44AE0F02AC}"/>
              </a:ext>
            </a:extLst>
          </p:cNvPr>
          <p:cNvSpPr>
            <a:spLocks/>
          </p:cNvSpPr>
          <p:nvPr/>
        </p:nvSpPr>
        <p:spPr bwMode="auto">
          <a:xfrm>
            <a:off x="7467600" y="29083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1pPr>
            <a:lvl2pPr marL="742950" indent="-28575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2pPr>
            <a:lvl3pPr marL="11430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3pPr>
            <a:lvl4pPr marL="16002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4pPr>
            <a:lvl5pPr marL="2057400" indent="-228600" eaLnBrk="0" hangingPunct="0"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rgbClr val="3F3F3F"/>
                </a:solidFill>
                <a:latin typeface="Palatino" pitchFamily="2" charset="77"/>
                <a:ea typeface="ＭＳ Ｐゴシック" panose="020B0600070205080204" pitchFamily="34" charset="-128"/>
                <a:sym typeface="Palatino" pitchFamily="2" charset="77"/>
              </a:defRPr>
            </a:lvl9pPr>
          </a:lstStyle>
          <a:p>
            <a:pPr eaLnBrk="1" hangingPunct="1"/>
            <a:endParaRPr lang="nl-NL" altLang="en-NL"/>
          </a:p>
        </p:txBody>
      </p:sp>
      <p:grpSp>
        <p:nvGrpSpPr>
          <p:cNvPr id="192" name="Group 35">
            <a:extLst>
              <a:ext uri="{FF2B5EF4-FFF2-40B4-BE49-F238E27FC236}">
                <a16:creationId xmlns:a16="http://schemas.microsoft.com/office/drawing/2014/main" id="{AEE366FB-EFDA-DFDA-CBE2-A8A16ABE4872}"/>
              </a:ext>
            </a:extLst>
          </p:cNvPr>
          <p:cNvGrpSpPr>
            <a:grpSpLocks/>
          </p:cNvGrpSpPr>
          <p:nvPr/>
        </p:nvGrpSpPr>
        <p:grpSpPr bwMode="auto">
          <a:xfrm>
            <a:off x="2557464" y="1763714"/>
            <a:ext cx="6878637" cy="4516437"/>
            <a:chOff x="11" y="0"/>
            <a:chExt cx="4332" cy="2844"/>
          </a:xfrm>
        </p:grpSpPr>
        <p:grpSp>
          <p:nvGrpSpPr>
            <p:cNvPr id="193" name="Group 32">
              <a:extLst>
                <a:ext uri="{FF2B5EF4-FFF2-40B4-BE49-F238E27FC236}">
                  <a16:creationId xmlns:a16="http://schemas.microsoft.com/office/drawing/2014/main" id="{AC2E4C5F-29D3-03CF-618E-E23134F87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0"/>
              <a:ext cx="3744" cy="2640"/>
              <a:chOff x="0" y="0"/>
              <a:chExt cx="3744" cy="2640"/>
            </a:xfrm>
          </p:grpSpPr>
          <p:sp>
            <p:nvSpPr>
              <p:cNvPr id="196" name="Line 30">
                <a:extLst>
                  <a:ext uri="{FF2B5EF4-FFF2-40B4-BE49-F238E27FC236}">
                    <a16:creationId xmlns:a16="http://schemas.microsoft.com/office/drawing/2014/main" id="{B5603DFE-5B81-CC83-D675-C41F88FD6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26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  <p:sp>
            <p:nvSpPr>
              <p:cNvPr id="197" name="Line 31">
                <a:extLst>
                  <a:ext uri="{FF2B5EF4-FFF2-40B4-BE49-F238E27FC236}">
                    <a16:creationId xmlns:a16="http://schemas.microsoft.com/office/drawing/2014/main" id="{1D0C1CEE-FC0A-0CF8-B2AE-BEB77FF64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640"/>
                <a:ext cx="37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nl-NL"/>
              </a:p>
            </p:txBody>
          </p:sp>
        </p:grpSp>
        <p:sp>
          <p:nvSpPr>
            <p:cNvPr id="194" name="Rectangle 33">
              <a:extLst>
                <a:ext uri="{FF2B5EF4-FFF2-40B4-BE49-F238E27FC236}">
                  <a16:creationId xmlns:a16="http://schemas.microsoft.com/office/drawing/2014/main" id="{211905F6-44B7-4E58-C80F-F3107E7A0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2" y="2546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x</a:t>
              </a:r>
            </a:p>
          </p:txBody>
        </p:sp>
        <p:sp>
          <p:nvSpPr>
            <p:cNvPr id="195" name="Rectangle 34">
              <a:extLst>
                <a:ext uri="{FF2B5EF4-FFF2-40B4-BE49-F238E27FC236}">
                  <a16:creationId xmlns:a16="http://schemas.microsoft.com/office/drawing/2014/main" id="{5F18812A-A6FD-ED9B-F5F0-CB2B7E252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" y="842"/>
              <a:ext cx="17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y</a:t>
              </a:r>
            </a:p>
          </p:txBody>
        </p:sp>
      </p:grpSp>
      <p:grpSp>
        <p:nvGrpSpPr>
          <p:cNvPr id="198" name="Group 38">
            <a:extLst>
              <a:ext uri="{FF2B5EF4-FFF2-40B4-BE49-F238E27FC236}">
                <a16:creationId xmlns:a16="http://schemas.microsoft.com/office/drawing/2014/main" id="{2AC0A23C-F7A4-F47B-1C7C-A12E869D1A31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603501"/>
            <a:ext cx="698500" cy="633413"/>
            <a:chOff x="0" y="0"/>
            <a:chExt cx="440" cy="399"/>
          </a:xfrm>
        </p:grpSpPr>
        <p:sp>
          <p:nvSpPr>
            <p:cNvPr id="199" name="Oval 36">
              <a:extLst>
                <a:ext uri="{FF2B5EF4-FFF2-40B4-BE49-F238E27FC236}">
                  <a16:creationId xmlns:a16="http://schemas.microsoft.com/office/drawing/2014/main" id="{8CC92734-88C7-518A-67C7-B4641C96A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61C41A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200" name="Rectangle 37">
              <a:extLst>
                <a:ext uri="{FF2B5EF4-FFF2-40B4-BE49-F238E27FC236}">
                  <a16:creationId xmlns:a16="http://schemas.microsoft.com/office/drawing/2014/main" id="{C06ACA14-A58D-CA81-C775-C600021FF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47"/>
              <a:ext cx="344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201" name="Group 41">
            <a:extLst>
              <a:ext uri="{FF2B5EF4-FFF2-40B4-BE49-F238E27FC236}">
                <a16:creationId xmlns:a16="http://schemas.microsoft.com/office/drawing/2014/main" id="{7903D214-994F-F669-0162-9496E84E0B6B}"/>
              </a:ext>
            </a:extLst>
          </p:cNvPr>
          <p:cNvGrpSpPr>
            <a:grpSpLocks/>
          </p:cNvGrpSpPr>
          <p:nvPr/>
        </p:nvGrpSpPr>
        <p:grpSpPr bwMode="auto">
          <a:xfrm>
            <a:off x="7162801" y="4356101"/>
            <a:ext cx="508001" cy="544513"/>
            <a:chOff x="0" y="0"/>
            <a:chExt cx="320" cy="343"/>
          </a:xfrm>
        </p:grpSpPr>
        <p:sp>
          <p:nvSpPr>
            <p:cNvPr id="202" name="Oval 39">
              <a:extLst>
                <a:ext uri="{FF2B5EF4-FFF2-40B4-BE49-F238E27FC236}">
                  <a16:creationId xmlns:a16="http://schemas.microsoft.com/office/drawing/2014/main" id="{412F61F9-A10E-104D-F12F-E861A9F72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203" name="Rectangle 40">
              <a:extLst>
                <a:ext uri="{FF2B5EF4-FFF2-40B4-BE49-F238E27FC236}">
                  <a16:creationId xmlns:a16="http://schemas.microsoft.com/office/drawing/2014/main" id="{97EC34C1-390A-996D-A696-AAC5EA114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3</a:t>
              </a:r>
            </a:p>
          </p:txBody>
        </p:sp>
      </p:grpSp>
      <p:grpSp>
        <p:nvGrpSpPr>
          <p:cNvPr id="204" name="Group 44">
            <a:extLst>
              <a:ext uri="{FF2B5EF4-FFF2-40B4-BE49-F238E27FC236}">
                <a16:creationId xmlns:a16="http://schemas.microsoft.com/office/drawing/2014/main" id="{770A3AFC-162C-EAF5-43EC-FA85622E68BC}"/>
              </a:ext>
            </a:extLst>
          </p:cNvPr>
          <p:cNvGrpSpPr>
            <a:grpSpLocks/>
          </p:cNvGrpSpPr>
          <p:nvPr/>
        </p:nvGrpSpPr>
        <p:grpSpPr bwMode="auto">
          <a:xfrm>
            <a:off x="4267201" y="4660901"/>
            <a:ext cx="508001" cy="544513"/>
            <a:chOff x="0" y="0"/>
            <a:chExt cx="320" cy="343"/>
          </a:xfrm>
        </p:grpSpPr>
        <p:sp>
          <p:nvSpPr>
            <p:cNvPr id="205" name="Oval 42">
              <a:extLst>
                <a:ext uri="{FF2B5EF4-FFF2-40B4-BE49-F238E27FC236}">
                  <a16:creationId xmlns:a16="http://schemas.microsoft.com/office/drawing/2014/main" id="{B402CA9D-7680-C847-D8C5-D6FB7D97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/>
              <a:endParaRPr lang="nl-NL" altLang="en-NL"/>
            </a:p>
          </p:txBody>
        </p:sp>
        <p:sp>
          <p:nvSpPr>
            <p:cNvPr id="206" name="Rectangle 43">
              <a:extLst>
                <a:ext uri="{FF2B5EF4-FFF2-40B4-BE49-F238E27FC236}">
                  <a16:creationId xmlns:a16="http://schemas.microsoft.com/office/drawing/2014/main" id="{828C5839-22A9-5CF7-2AB3-118D6AF03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" y="42"/>
              <a:ext cx="26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38100" bIns="38100" anchor="ctr">
              <a:spAutoFit/>
            </a:bodyPr>
            <a:lstStyle>
              <a:lvl1pPr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1pPr>
              <a:lvl2pPr marL="742950" indent="-28575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2pPr>
              <a:lvl3pPr marL="11430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3pPr>
              <a:lvl4pPr marL="16002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4pPr>
              <a:lvl5pPr marL="2057400" indent="-228600" eaLnBrk="0" hangingPunct="0"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>
                  <a:solidFill>
                    <a:srgbClr val="3F3F3F"/>
                  </a:solidFill>
                  <a:latin typeface="Palatino" pitchFamily="2" charset="77"/>
                  <a:ea typeface="ＭＳ Ｐゴシック" panose="020B0600070205080204" pitchFamily="34" charset="-128"/>
                  <a:sym typeface="Palatino" pitchFamily="2" charset="77"/>
                </a:defRPr>
              </a:lvl9pPr>
            </a:lstStyle>
            <a:p>
              <a:pPr eaLnBrk="1" hangingPunct="1">
                <a:spcBef>
                  <a:spcPts val="1075"/>
                </a:spcBef>
              </a:pPr>
              <a:r>
                <a:rPr lang="en-US" altLang="en-NL">
                  <a:solidFill>
                    <a:schemeClr val="tx1"/>
                  </a:solidFill>
                  <a:latin typeface="Verdana" panose="020B0604030504040204" pitchFamily="34" charset="0"/>
                </a:rPr>
                <a:t>k</a:t>
              </a:r>
              <a:r>
                <a:rPr lang="en-US" altLang="en-NL" baseline="-19000">
                  <a:solidFill>
                    <a:schemeClr val="tx1"/>
                  </a:solidFill>
                  <a:latin typeface="Verdana" panose="020B060403050404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571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C99E86-813E-C04C-ACFA-5A15EFEB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12</a:t>
            </a:fld>
            <a:endParaRPr lang="nl-NL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584FD35D-CBEF-84A0-42F2-5B93A23B275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73C776D-F374-B3EB-C813-03751C639B5D}"/>
              </a:ext>
            </a:extLst>
          </p:cNvPr>
          <p:cNvSpPr txBox="1"/>
          <p:nvPr/>
        </p:nvSpPr>
        <p:spPr>
          <a:xfrm>
            <a:off x="988290" y="-990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Hoe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kies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ik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het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aantal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clusters (de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zogenoemde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k)?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C46091E-9110-FB9A-343D-BD46860A7326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03F21FE5-01A9-1CF9-6E21-6F1087E0E0FE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0"/>
            <a:ext cx="11203710" cy="119221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>
                <a:solidFill>
                  <a:srgbClr val="000000"/>
                </a:solidFill>
                <a:sym typeface="Palatino" charset="0"/>
              </a:rPr>
              <a:t>Je bouwt de eerste versie van je clustermodel altijd met een willekeurig aantal clusters (k).</a:t>
            </a:r>
          </a:p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>
                <a:solidFill>
                  <a:srgbClr val="000000"/>
                </a:solidFill>
                <a:sym typeface="Palatino" charset="0"/>
              </a:rPr>
              <a:t>Vervolgens evalueer je de clusterkwaliteit met de </a:t>
            </a:r>
            <a:r>
              <a:rPr lang="nl-NL" err="1">
                <a:solidFill>
                  <a:srgbClr val="000000"/>
                </a:solidFill>
                <a:sym typeface="Palatino" charset="0"/>
              </a:rPr>
              <a:t>interclusterafstand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 en de </a:t>
            </a:r>
            <a:r>
              <a:rPr lang="nl-NL" err="1">
                <a:solidFill>
                  <a:srgbClr val="000000"/>
                </a:solidFill>
                <a:sym typeface="Palatino" charset="0"/>
              </a:rPr>
              <a:t>intraclusterafstand</a:t>
            </a:r>
            <a:r>
              <a:rPr lang="nl-NL">
                <a:solidFill>
                  <a:srgbClr val="000000"/>
                </a:solidFill>
                <a:sym typeface="Palatino" charset="0"/>
              </a:rPr>
              <a:t>.</a:t>
            </a:r>
          </a:p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>
                <a:solidFill>
                  <a:srgbClr val="000000"/>
                </a:solidFill>
                <a:sym typeface="Palatino" charset="0"/>
              </a:rPr>
              <a:t>Op basis hiervan kan je je k verhogen of juist verlagen</a:t>
            </a:r>
          </a:p>
        </p:txBody>
      </p:sp>
      <p:pic>
        <p:nvPicPr>
          <p:cNvPr id="1026" name="Picture 2" descr="Intra-cluster distances vs inter-cluster distances | Download Scientific  Diagram">
            <a:extLst>
              <a:ext uri="{FF2B5EF4-FFF2-40B4-BE49-F238E27FC236}">
                <a16:creationId xmlns:a16="http://schemas.microsoft.com/office/drawing/2014/main" id="{950E6322-2E2D-874A-6FA1-3C5B44653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971" y="2220889"/>
            <a:ext cx="5090345" cy="450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BAB2155C-1045-B2A5-F03A-4DA5AF9875CB}"/>
              </a:ext>
            </a:extLst>
          </p:cNvPr>
          <p:cNvSpPr txBox="1"/>
          <p:nvPr/>
        </p:nvSpPr>
        <p:spPr>
          <a:xfrm>
            <a:off x="6760029" y="2088507"/>
            <a:ext cx="54319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nl-NL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3</a:t>
            </a:r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 meetwaarden: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nl-NL" altLang="en-NL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Inter</a:t>
            </a:r>
            <a:r>
              <a:rPr lang="nl-NL" altLang="en-NL" dirty="0" err="1">
                <a:solidFill>
                  <a:srgbClr val="000000"/>
                </a:solidFill>
                <a:latin typeface="Verdana" panose="020B0604030504040204" pitchFamily="34" charset="0"/>
              </a:rPr>
              <a:t>clusterafstand</a:t>
            </a:r>
            <a:r>
              <a:rPr lang="nl-NL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: de afstand tussen clusters.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nl-NL" altLang="en-NL" sz="1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Intra</a:t>
            </a:r>
            <a:r>
              <a:rPr lang="nl-NL" altLang="en-NL" sz="1800" dirty="0" err="1">
                <a:solidFill>
                  <a:srgbClr val="000000"/>
                </a:solidFill>
                <a:latin typeface="Verdana" panose="020B0604030504040204" pitchFamily="34" charset="0"/>
              </a:rPr>
              <a:t>cluster</a:t>
            </a:r>
            <a:r>
              <a:rPr lang="nl-NL" altLang="en-NL" dirty="0" err="1">
                <a:solidFill>
                  <a:srgbClr val="000000"/>
                </a:solidFill>
                <a:latin typeface="Verdana" panose="020B0604030504040204" pitchFamily="34" charset="0"/>
              </a:rPr>
              <a:t>afstand</a:t>
            </a:r>
            <a:r>
              <a:rPr lang="nl-NL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: de afstand tussen punten binnen een cluster.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De </a:t>
            </a:r>
            <a:r>
              <a:rPr lang="nl-NL" altLang="en-NL" sz="1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silhouette</a:t>
            </a:r>
            <a:r>
              <a:rPr lang="nl-NL" altLang="en-NL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score</a:t>
            </a:r>
            <a:r>
              <a:rPr lang="nl-NL" altLang="en-NL" b="1" dirty="0">
                <a:solidFill>
                  <a:srgbClr val="000000"/>
                </a:solidFill>
                <a:latin typeface="Verdana" panose="020B0604030504040204" pitchFamily="34" charset="0"/>
              </a:rPr>
              <a:t>:</a:t>
            </a:r>
            <a:endParaRPr lang="nl-NL" altLang="en-NL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nl-NL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    </a:t>
            </a:r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(</a:t>
            </a:r>
            <a:r>
              <a:rPr lang="nl-NL" altLang="en-NL" sz="1800" dirty="0" err="1">
                <a:solidFill>
                  <a:srgbClr val="000000"/>
                </a:solidFill>
                <a:latin typeface="Verdana" panose="020B0604030504040204" pitchFamily="34" charset="0"/>
              </a:rPr>
              <a:t>interclusterafstand</a:t>
            </a:r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 – </a:t>
            </a:r>
            <a:r>
              <a:rPr lang="nl-NL" altLang="en-NL" sz="1800" dirty="0" err="1">
                <a:solidFill>
                  <a:srgbClr val="000000"/>
                </a:solidFill>
                <a:latin typeface="Verdana" panose="020B0604030504040204" pitchFamily="34" charset="0"/>
              </a:rPr>
              <a:t>intraclusterafstand</a:t>
            </a:r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)   </a:t>
            </a:r>
          </a:p>
          <a:p>
            <a:pPr eaLnBrk="1" hangingPunct="1"/>
            <a:r>
              <a:rPr lang="nl-NL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    </a:t>
            </a:r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/ max(</a:t>
            </a:r>
            <a:r>
              <a:rPr lang="nl-NL" altLang="en-NL" sz="1800" dirty="0" err="1">
                <a:solidFill>
                  <a:srgbClr val="000000"/>
                </a:solidFill>
                <a:latin typeface="Verdana" panose="020B0604030504040204" pitchFamily="34" charset="0"/>
              </a:rPr>
              <a:t>interclusterafstand</a:t>
            </a:r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,  </a:t>
            </a:r>
          </a:p>
          <a:p>
            <a:pPr eaLnBrk="1" hangingPunct="1"/>
            <a:r>
              <a:rPr lang="nl-NL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    </a:t>
            </a:r>
            <a:r>
              <a:rPr lang="nl-NL" altLang="en-NL" sz="1800" dirty="0" err="1">
                <a:solidFill>
                  <a:srgbClr val="000000"/>
                </a:solidFill>
                <a:latin typeface="Verdana" panose="020B0604030504040204" pitchFamily="34" charset="0"/>
              </a:rPr>
              <a:t>intraclusterafstand</a:t>
            </a:r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)</a:t>
            </a:r>
          </a:p>
          <a:p>
            <a:pPr eaLnBrk="1" hangingPunct="1"/>
            <a:endParaRPr lang="nl-NL" altLang="en-NL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nl-NL" altLang="en-NL" sz="1800" b="1" dirty="0">
                <a:solidFill>
                  <a:srgbClr val="000000"/>
                </a:solidFill>
                <a:latin typeface="Verdana" panose="020B0604030504040204" pitchFamily="34" charset="0"/>
              </a:rPr>
              <a:t>Advies</a:t>
            </a:r>
          </a:p>
          <a:p>
            <a:pPr eaLnBrk="1" hangingPunct="1"/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Experimenteer met meerdere k’s.</a:t>
            </a:r>
            <a:endParaRPr lang="nl-NL" altLang="en-NL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Je bijgestelde k is een verbetering als…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De </a:t>
            </a:r>
            <a:r>
              <a:rPr lang="en-US" altLang="en-NL" sz="1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inter</a:t>
            </a:r>
            <a:r>
              <a:rPr lang="en-US" altLang="en-NL" sz="1800" dirty="0" err="1">
                <a:solidFill>
                  <a:srgbClr val="000000"/>
                </a:solidFill>
                <a:latin typeface="Verdana" panose="020B0604030504040204" pitchFamily="34" charset="0"/>
              </a:rPr>
              <a:t>clusterafstand</a:t>
            </a:r>
            <a:r>
              <a:rPr lang="en-US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sz="1800" dirty="0" err="1">
                <a:solidFill>
                  <a:srgbClr val="000000"/>
                </a:solidFill>
                <a:latin typeface="Verdana" panose="020B0604030504040204" pitchFamily="34" charset="0"/>
              </a:rPr>
              <a:t>verhoogd</a:t>
            </a:r>
            <a:r>
              <a:rPr lang="en-US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 is.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De </a:t>
            </a:r>
            <a:r>
              <a:rPr lang="en-US" altLang="en-NL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intra</a:t>
            </a:r>
            <a:r>
              <a:rPr lang="en-US" altLang="en-NL" dirty="0" err="1">
                <a:solidFill>
                  <a:srgbClr val="000000"/>
                </a:solidFill>
                <a:latin typeface="Verdana" panose="020B0604030504040204" pitchFamily="34" charset="0"/>
              </a:rPr>
              <a:t>clusterafstand</a:t>
            </a:r>
            <a:r>
              <a:rPr lang="en-US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dirty="0" err="1">
                <a:solidFill>
                  <a:srgbClr val="000000"/>
                </a:solidFill>
                <a:latin typeface="Verdana" panose="020B0604030504040204" pitchFamily="34" charset="0"/>
              </a:rPr>
              <a:t>verlaagd</a:t>
            </a:r>
            <a:r>
              <a:rPr lang="en-US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 is.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De </a:t>
            </a:r>
            <a:r>
              <a:rPr lang="en-US" altLang="en-NL" sz="1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silhouettescore</a:t>
            </a:r>
            <a:r>
              <a:rPr lang="en-US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altLang="en-NL" sz="1800" dirty="0" err="1">
                <a:solidFill>
                  <a:srgbClr val="000000"/>
                </a:solidFill>
                <a:latin typeface="Verdana" panose="020B0604030504040204" pitchFamily="34" charset="0"/>
              </a:rPr>
              <a:t>verhoogd</a:t>
            </a:r>
            <a:r>
              <a:rPr lang="en-US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 is.</a:t>
            </a:r>
          </a:p>
        </p:txBody>
      </p:sp>
    </p:spTree>
    <p:extLst>
      <p:ext uri="{BB962C8B-B14F-4D97-AF65-F5344CB8AC3E}">
        <p14:creationId xmlns:p14="http://schemas.microsoft.com/office/powerpoint/2010/main" val="209749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92E94-6B2E-1A05-ED44-AF9B4310C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C0805337-3DC1-A5A5-2C5A-A5272E418E2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CBEFF85E-13D5-C1E5-7BF9-3223E13FCA57}"/>
              </a:ext>
            </a:extLst>
          </p:cNvPr>
          <p:cNvSpPr txBox="1"/>
          <p:nvPr/>
        </p:nvSpPr>
        <p:spPr>
          <a:xfrm>
            <a:off x="929573" y="0"/>
            <a:ext cx="1132114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Inzoomen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op de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intraclusterafstand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met de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elleboogmethode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BCEDAC1-847D-49AB-604B-F6F76231639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7D8B50D7-C554-7B55-1DE9-7C42587F1244}"/>
              </a:ext>
            </a:extLst>
          </p:cNvPr>
          <p:cNvSpPr txBox="1">
            <a:spLocks noChangeArrowheads="1"/>
          </p:cNvSpPr>
          <p:nvPr/>
        </p:nvSpPr>
        <p:spPr>
          <a:xfrm>
            <a:off x="988290" y="812801"/>
            <a:ext cx="11203710" cy="809170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536575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809625" indent="-273050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73150" indent="-263525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44613" indent="-271463" algn="l" defTabSz="914400" rtl="0" eaLnBrk="1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−"/>
              <a:defRPr sz="20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dirty="0">
                <a:solidFill>
                  <a:srgbClr val="000000"/>
                </a:solidFill>
                <a:sym typeface="Palatino" charset="0"/>
              </a:rPr>
              <a:t>De elleboogmethode visualiseert per clusteraantal wat de </a:t>
            </a:r>
            <a:r>
              <a:rPr lang="nl-NL" dirty="0" err="1">
                <a:solidFill>
                  <a:srgbClr val="000000"/>
                </a:solidFill>
                <a:sym typeface="Palatino" charset="0"/>
              </a:rPr>
              <a:t>intraclusterafstand</a:t>
            </a:r>
            <a:r>
              <a:rPr lang="nl-NL" dirty="0">
                <a:solidFill>
                  <a:srgbClr val="000000"/>
                </a:solidFill>
                <a:sym typeface="Palatino" charset="0"/>
              </a:rPr>
              <a:t> is.</a:t>
            </a:r>
          </a:p>
          <a:p>
            <a:pPr marL="215900" indent="0" algn="ctr">
              <a:lnSpc>
                <a:spcPct val="110000"/>
              </a:lnSpc>
              <a:buSzPct val="69000"/>
              <a:buFont typeface="Arial" panose="020B0604020202020204" pitchFamily="34" charset="0"/>
              <a:buNone/>
              <a:defRPr/>
            </a:pPr>
            <a:r>
              <a:rPr lang="nl-NL" dirty="0">
                <a:solidFill>
                  <a:srgbClr val="000000"/>
                </a:solidFill>
                <a:sym typeface="Palatino" charset="0"/>
              </a:rPr>
              <a:t>Op basis hiervan kan het optimale aantal clusters, de zogeheten k-waarde, dus bepaald worden.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1D6D8DA-ABF2-841F-0BCD-48108DFD582B}"/>
              </a:ext>
            </a:extLst>
          </p:cNvPr>
          <p:cNvSpPr txBox="1"/>
          <p:nvPr/>
        </p:nvSpPr>
        <p:spPr>
          <a:xfrm>
            <a:off x="6565853" y="1871919"/>
            <a:ext cx="562614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De </a:t>
            </a:r>
            <a:r>
              <a:rPr lang="nl-NL" altLang="en-NL" sz="1800" b="1" dirty="0">
                <a:solidFill>
                  <a:srgbClr val="000000"/>
                </a:solidFill>
                <a:latin typeface="Verdana" panose="020B0604030504040204" pitchFamily="34" charset="0"/>
              </a:rPr>
              <a:t>WSS Error (</a:t>
            </a:r>
            <a:r>
              <a:rPr lang="nl-NL" altLang="en-NL" sz="1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Within</a:t>
            </a:r>
            <a:r>
              <a:rPr lang="nl-NL" altLang="en-NL" sz="1800" b="1" dirty="0">
                <a:solidFill>
                  <a:srgbClr val="000000"/>
                </a:solidFill>
                <a:latin typeface="Verdana" panose="020B0604030504040204" pitchFamily="34" charset="0"/>
              </a:rPr>
              <a:t>-Cluster </a:t>
            </a:r>
            <a:r>
              <a:rPr lang="nl-NL" altLang="en-NL" sz="1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Sum</a:t>
            </a:r>
            <a:r>
              <a:rPr lang="nl-NL" altLang="en-NL" sz="1800" b="1" dirty="0">
                <a:solidFill>
                  <a:srgbClr val="000000"/>
                </a:solidFill>
                <a:latin typeface="Verdana" panose="020B0604030504040204" pitchFamily="34" charset="0"/>
              </a:rPr>
              <a:t> of Squares Error)</a:t>
            </a:r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 is een mogelijke maatstaf voor de </a:t>
            </a:r>
            <a:r>
              <a:rPr lang="nl-NL" altLang="en-NL" sz="1800" dirty="0" err="1">
                <a:solidFill>
                  <a:srgbClr val="000000"/>
                </a:solidFill>
                <a:latin typeface="Verdana" panose="020B0604030504040204" pitchFamily="34" charset="0"/>
              </a:rPr>
              <a:t>intraclusterafstand</a:t>
            </a:r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pPr eaLnBrk="1" hangingPunct="1"/>
            <a:r>
              <a:rPr lang="nl-NL" altLang="en-NL" sz="1800" dirty="0">
                <a:solidFill>
                  <a:srgbClr val="000000"/>
                </a:solidFill>
                <a:latin typeface="Verdana" panose="020B0604030504040204" pitchFamily="34" charset="0"/>
              </a:rPr>
              <a:t>Het kwadrateert per punt de afstand tot het eigen centrum en telt deze kwadraten bij elkaar op.</a:t>
            </a:r>
          </a:p>
          <a:p>
            <a:pPr eaLnBrk="1" hangingPunct="1"/>
            <a:r>
              <a:rPr lang="nl-NL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Elke ruimtelijke afwijking t.o.v. het eigen centrum wordt hier als “error” gezien.</a:t>
            </a:r>
          </a:p>
          <a:p>
            <a:pPr eaLnBrk="1" hangingPunct="1"/>
            <a:endParaRPr lang="nl-NL" altLang="en-NL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hangingPunct="1"/>
            <a:r>
              <a:rPr lang="nl-NL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In een dergelijke curve vind je het optimale aantal clusters door het punt te zoeken waar de curve afvlakt.</a:t>
            </a:r>
          </a:p>
          <a:p>
            <a:pPr eaLnBrk="1" hangingPunct="1"/>
            <a:r>
              <a:rPr lang="nl-NL" altLang="en-NL" dirty="0">
                <a:solidFill>
                  <a:srgbClr val="000000"/>
                </a:solidFill>
                <a:latin typeface="Verdana" panose="020B0604030504040204" pitchFamily="34" charset="0"/>
              </a:rPr>
              <a:t>Je kijkt niét naar het laagste punt, omdat je dan het risico hebt dat je teveel clusters aanmaakt.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44377D-6DFE-663E-A3CD-7D3CC42F4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553" y="1871919"/>
            <a:ext cx="4953247" cy="465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A91F9227-C1F1-C5F7-5087-87D99F9FB606}"/>
              </a:ext>
            </a:extLst>
          </p:cNvPr>
          <p:cNvSpPr txBox="1">
            <a:spLocks noChangeArrowheads="1"/>
          </p:cNvSpPr>
          <p:nvPr/>
        </p:nvSpPr>
        <p:spPr>
          <a:xfrm>
            <a:off x="1059256" y="252388"/>
            <a:ext cx="11132744" cy="42883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06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nl-NL" sz="2800" b="1" i="0" u="none" strike="noStrike" kern="0" cap="none" spc="0" normalizeH="0" baseline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Verschillende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 clustering- </a:t>
            </a: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en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 </a:t>
            </a:r>
            <a:r>
              <a:rPr kumimoji="0" lang="en-US" sz="2800" b="1" i="0" u="none" strike="noStrike" kern="0" cap="none" spc="0" normalizeH="0" baseline="0" noProof="0" err="1">
                <a:ln>
                  <a:noFill/>
                </a:ln>
                <a:solidFill>
                  <a:srgbClr val="9EA700"/>
                </a:solidFill>
                <a:effectLst/>
                <a:uLnTx/>
                <a:uFillTx/>
                <a:latin typeface="Arial Black"/>
                <a:ea typeface="+mj-ea"/>
                <a:cs typeface="+mj-cs"/>
                <a:sym typeface="Copperplate" charset="0"/>
              </a:rPr>
              <a:t>classificatiemethoden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9EA700"/>
              </a:solidFill>
              <a:effectLst/>
              <a:uLnTx/>
              <a:uFillTx/>
              <a:latin typeface="Arial Black"/>
              <a:ea typeface="+mj-ea"/>
              <a:cs typeface="+mj-cs"/>
              <a:sym typeface="Copperplate" charset="0"/>
            </a:endParaRPr>
          </a:p>
        </p:txBody>
      </p:sp>
      <p:sp>
        <p:nvSpPr>
          <p:cNvPr id="13" name="Tekstvak 7">
            <a:extLst>
              <a:ext uri="{FF2B5EF4-FFF2-40B4-BE49-F238E27FC236}">
                <a16:creationId xmlns:a16="http://schemas.microsoft.com/office/drawing/2014/main" id="{EB8E8095-0479-45D8-586C-2560E473D4CA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graphicFrame>
        <p:nvGraphicFramePr>
          <p:cNvPr id="2" name="Tabel 1">
            <a:extLst>
              <a:ext uri="{FF2B5EF4-FFF2-40B4-BE49-F238E27FC236}">
                <a16:creationId xmlns:a16="http://schemas.microsoft.com/office/drawing/2014/main" id="{058E7A37-C393-D83F-0270-57112009C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936623"/>
              </p:ext>
            </p:extLst>
          </p:nvPr>
        </p:nvGraphicFramePr>
        <p:xfrm>
          <a:off x="1365605" y="1167413"/>
          <a:ext cx="10520046" cy="5040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538">
                  <a:extLst>
                    <a:ext uri="{9D8B030D-6E8A-4147-A177-3AD203B41FA5}">
                      <a16:colId xmlns:a16="http://schemas.microsoft.com/office/drawing/2014/main" val="3265696051"/>
                    </a:ext>
                  </a:extLst>
                </a:gridCol>
                <a:gridCol w="2929338">
                  <a:extLst>
                    <a:ext uri="{9D8B030D-6E8A-4147-A177-3AD203B41FA5}">
                      <a16:colId xmlns:a16="http://schemas.microsoft.com/office/drawing/2014/main" val="3688462428"/>
                    </a:ext>
                  </a:extLst>
                </a:gridCol>
                <a:gridCol w="5998170">
                  <a:extLst>
                    <a:ext uri="{9D8B030D-6E8A-4147-A177-3AD203B41FA5}">
                      <a16:colId xmlns:a16="http://schemas.microsoft.com/office/drawing/2014/main" val="542024920"/>
                    </a:ext>
                  </a:extLst>
                </a:gridCol>
              </a:tblGrid>
              <a:tr h="508593">
                <a:tc>
                  <a:txBody>
                    <a:bodyPr/>
                    <a:lstStyle/>
                    <a:p>
                      <a:pPr algn="ctr"/>
                      <a:r>
                        <a:rPr lang="nl-NL" b="1"/>
                        <a:t>Soort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Globale werking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78661"/>
                  </a:ext>
                </a:extLst>
              </a:tr>
              <a:tr h="508593">
                <a:tc rowSpan="3">
                  <a:txBody>
                    <a:bodyPr/>
                    <a:lstStyle/>
                    <a:p>
                      <a:pPr algn="ctr"/>
                      <a:r>
                        <a:rPr lang="nl-NL"/>
                        <a:t>Classificatie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err="1"/>
                        <a:t>Decision</a:t>
                      </a:r>
                      <a:r>
                        <a:rPr lang="nl-NL"/>
                        <a:t>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Datastructuur waarin elk knooppunt staat voor een beslissing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47508"/>
                  </a:ext>
                </a:extLst>
              </a:tr>
              <a:tr h="508593">
                <a:tc v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Random </a:t>
                      </a:r>
                      <a:r>
                        <a:rPr lang="nl-NL" err="1"/>
                        <a:t>Forests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Combineert meerdere </a:t>
                      </a:r>
                      <a:r>
                        <a:rPr lang="nl-NL" err="1"/>
                        <a:t>Decision</a:t>
                      </a:r>
                      <a:r>
                        <a:rPr lang="nl-NL"/>
                        <a:t> Trees om nauwkeuriger voorspellingen te doen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618302"/>
                  </a:ext>
                </a:extLst>
              </a:tr>
              <a:tr h="508593">
                <a:tc v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Logistische Regressie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Modelleert de waarschijnlijkheid van uitkomsten.</a:t>
                      </a:r>
                    </a:p>
                    <a:p>
                      <a:pPr algn="ctr"/>
                      <a:r>
                        <a:rPr lang="nl-NL" dirty="0"/>
                        <a:t>Continue regressie-uitkomsten worden naar discrete omgezet: “er is een kans van 65% dat er een kat op deze foto staat, dus er staat een kat op deze foto”.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881277"/>
                  </a:ext>
                </a:extLst>
              </a:tr>
              <a:tr h="508593">
                <a:tc rowSpan="3">
                  <a:txBody>
                    <a:bodyPr/>
                    <a:lstStyle/>
                    <a:p>
                      <a:pPr algn="ctr"/>
                      <a:r>
                        <a:rPr lang="nl-NL"/>
                        <a:t>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K-Means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Verdeelt gegevens t.o.v. centra en optimaliseert vervolgens op iteratieve wijze de locatie van die centra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976806"/>
                  </a:ext>
                </a:extLst>
              </a:tr>
              <a:tr h="508593">
                <a:tc v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Hiërarchische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Creëert clusterhiërarchieën door punten samen te voegen op basis van hun </a:t>
                      </a:r>
                      <a:r>
                        <a:rPr lang="nl-NL" err="1"/>
                        <a:t>inter</a:t>
                      </a:r>
                      <a:r>
                        <a:rPr lang="nl-NL"/>
                        <a:t>- en </a:t>
                      </a:r>
                      <a:r>
                        <a:rPr lang="nl-NL" err="1"/>
                        <a:t>intraclusterafstand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19908"/>
                  </a:ext>
                </a:extLst>
              </a:tr>
              <a:tr h="508593">
                <a:tc v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/>
                        <a:t>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Vormt clusters op basis van datadichtheid: aantallen datapunten. Scheidingen van clusters </a:t>
                      </a:r>
                      <a:r>
                        <a:rPr lang="nl-NL"/>
                        <a:t>worden correct </a:t>
                      </a:r>
                      <a:r>
                        <a:rPr lang="nl-NL" dirty="0"/>
                        <a:t>aangegeven met gebieden met een lage datadichtheid.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379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4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AC71-3498-942D-754D-F74DC3BA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CEC621F3-CF9C-E006-C460-E2CB28E91556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41EFFA-3FEE-86AD-C155-53371C11ABD9}"/>
              </a:ext>
            </a:extLst>
          </p:cNvPr>
          <p:cNvSpPr txBox="1"/>
          <p:nvPr/>
        </p:nvSpPr>
        <p:spPr>
          <a:xfrm>
            <a:off x="2259112" y="0"/>
            <a:ext cx="913966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Demo time</a:t>
            </a:r>
          </a:p>
        </p:txBody>
      </p:sp>
      <p:pic>
        <p:nvPicPr>
          <p:cNvPr id="1026" name="Picture 2" descr="Demo - Applied Post">
            <a:extLst>
              <a:ext uri="{FF2B5EF4-FFF2-40B4-BE49-F238E27FC236}">
                <a16:creationId xmlns:a16="http://schemas.microsoft.com/office/drawing/2014/main" id="{8C1BFF8E-1A1D-4FCA-B3A5-ECCA34886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151" y="900504"/>
            <a:ext cx="9626630" cy="548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970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60BD-3DBF-5F2E-BE41-076D6DD2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4A332-F04D-AF0E-7272-A8B90222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B9EE92C-CA12-746A-E909-709C7C714EC2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09AC2C92-0AD3-2857-0B07-E9F1F1D824D8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5F6C90F9-205B-933C-9A16-50C7EED61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54CADA-BE54-90F2-7B8F-4FCA257CA128}"/>
              </a:ext>
            </a:extLst>
          </p:cNvPr>
          <p:cNvSpPr txBox="1"/>
          <p:nvPr/>
        </p:nvSpPr>
        <p:spPr>
          <a:xfrm>
            <a:off x="3576418" y="683609"/>
            <a:ext cx="129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BD93F7-D6BF-CFC3-10CE-03F8463F7588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E34205-1649-496C-7755-96022335F77C}"/>
              </a:ext>
            </a:extLst>
          </p:cNvPr>
          <p:cNvSpPr txBox="1"/>
          <p:nvPr/>
        </p:nvSpPr>
        <p:spPr>
          <a:xfrm>
            <a:off x="5808945" y="2475078"/>
            <a:ext cx="1368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practicum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872CFAC6-4097-3B92-CF84-9F66D3FC7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40" y="3275345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2379EB-D8BB-F92D-8456-AF26DA1D91C7}"/>
              </a:ext>
            </a:extLst>
          </p:cNvPr>
          <p:cNvSpPr txBox="1"/>
          <p:nvPr/>
        </p:nvSpPr>
        <p:spPr>
          <a:xfrm>
            <a:off x="7611128" y="2263806"/>
            <a:ext cx="3429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meansclustermodel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maken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62D3B45F-A691-CF68-3E62-C477FBF8BA89}"/>
              </a:ext>
            </a:extLst>
          </p:cNvPr>
          <p:cNvSpPr txBox="1"/>
          <p:nvPr/>
        </p:nvSpPr>
        <p:spPr>
          <a:xfrm>
            <a:off x="2760918" y="1525142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precieze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clustering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B9442CBB-1038-A359-6A5F-CD81330A9246}"/>
              </a:ext>
            </a:extLst>
          </p:cNvPr>
          <p:cNvSpPr txBox="1"/>
          <p:nvPr/>
        </p:nvSpPr>
        <p:spPr>
          <a:xfrm>
            <a:off x="1672846" y="2851123"/>
            <a:ext cx="3554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voor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nadelen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clustering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t.o.v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andersom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0F960AE3-A2A3-7882-7C35-A613953A85B3}"/>
              </a:ext>
            </a:extLst>
          </p:cNvPr>
          <p:cNvSpPr txBox="1"/>
          <p:nvPr/>
        </p:nvSpPr>
        <p:spPr>
          <a:xfrm>
            <a:off x="1672846" y="4332162"/>
            <a:ext cx="355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verschillende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clustermethoden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27D2130C-5185-132D-7C8C-FACD9D79752B}"/>
              </a:ext>
            </a:extLst>
          </p:cNvPr>
          <p:cNvSpPr txBox="1"/>
          <p:nvPr/>
        </p:nvSpPr>
        <p:spPr>
          <a:xfrm>
            <a:off x="2760918" y="5579094"/>
            <a:ext cx="355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stappen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meansclustermodel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volgt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EB5CF9FE-9014-E428-DB78-C807F76B775F}"/>
              </a:ext>
            </a:extLst>
          </p:cNvPr>
          <p:cNvSpPr txBox="1"/>
          <p:nvPr/>
        </p:nvSpPr>
        <p:spPr>
          <a:xfrm>
            <a:off x="7716359" y="4835227"/>
            <a:ext cx="3429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k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bepalen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middel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berekenen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de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inter-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intra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clusterafstand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265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b2ec890ea17184f49c4a58d4bd1095a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f90993f1e063ba2c6886d3a92126f3a0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4FD2EE-3E5C-4A84-9285-AB42A63F4957}">
  <ds:schemaRefs>
    <ds:schemaRef ds:uri="http://schemas.microsoft.com/office/2006/documentManagement/types"/>
    <ds:schemaRef ds:uri="http://purl.org/dc/terms/"/>
    <ds:schemaRef ds:uri="d11bdb94-d558-4ffe-a4b0-092cbde21480"/>
    <ds:schemaRef ds:uri="http://purl.org/dc/dcmitype/"/>
    <ds:schemaRef ds:uri="http://schemas.microsoft.com/office/2006/metadata/properties"/>
    <ds:schemaRef ds:uri="597a471e-0b75-4fc5-bc4a-75c43d0a6ad2"/>
    <ds:schemaRef ds:uri="32f5a426-4411-422f-b9c8-9b9c919dd02d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313A7BF-42BA-4ADC-809E-765AF48B1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19EA19-9C5F-4433-8F4F-3C97804B75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a426-4411-422f-b9c8-9b9c919dd02d"/>
    <ds:schemaRef ds:uri="597a471e-0b75-4fc5-bc4a-75c43d0a6ad2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1060</Words>
  <Application>Microsoft Office PowerPoint</Application>
  <PresentationFormat>Widescreen</PresentationFormat>
  <Paragraphs>163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Arial</vt:lpstr>
      <vt:lpstr>Arial Black</vt:lpstr>
      <vt:lpstr>Calibri</vt:lpstr>
      <vt:lpstr>Calibri Light</vt:lpstr>
      <vt:lpstr>Palatino</vt:lpstr>
      <vt:lpstr>Palatino Bold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Jelle van Barneveld</dc:creator>
  <cp:lastModifiedBy>Jelle van Barneveld</cp:lastModifiedBy>
  <cp:revision>1</cp:revision>
  <dcterms:created xsi:type="dcterms:W3CDTF">2024-04-02T11:18:46Z</dcterms:created>
  <dcterms:modified xsi:type="dcterms:W3CDTF">2026-03-16T17:10:43Z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