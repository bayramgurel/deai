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9.xml" ContentType="application/vnd.openxmlformats-officedocument.presentationml.tags+xml"/>
  <Override PartName="/ppt/notesSlides/notesSlide14.xml" ContentType="application/vnd.openxmlformats-officedocument.presentationml.notesSlide+xml"/>
  <Override PartName="/ppt/tags/tag10.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3"/>
  </p:notesMasterIdLst>
  <p:sldIdLst>
    <p:sldId id="439" r:id="rId5"/>
    <p:sldId id="473" r:id="rId6"/>
    <p:sldId id="442" r:id="rId7"/>
    <p:sldId id="451" r:id="rId8"/>
    <p:sldId id="453" r:id="rId9"/>
    <p:sldId id="452" r:id="rId10"/>
    <p:sldId id="455" r:id="rId11"/>
    <p:sldId id="456" r:id="rId12"/>
    <p:sldId id="457" r:id="rId13"/>
    <p:sldId id="458" r:id="rId14"/>
    <p:sldId id="286" r:id="rId15"/>
    <p:sldId id="443" r:id="rId16"/>
    <p:sldId id="444" r:id="rId17"/>
    <p:sldId id="445" r:id="rId18"/>
    <p:sldId id="471" r:id="rId19"/>
    <p:sldId id="472" r:id="rId20"/>
    <p:sldId id="290" r:id="rId21"/>
    <p:sldId id="47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47F4F5-2374-4FAE-A6E2-CB44EBA6ADCC}" v="4298" dt="2026-03-16T19:09:55.6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74" autoAdjust="0"/>
    <p:restoredTop sz="94954" autoAdjust="0"/>
  </p:normalViewPr>
  <p:slideViewPr>
    <p:cSldViewPr snapToGrid="0">
      <p:cViewPr varScale="1">
        <p:scale>
          <a:sx n="74" d="100"/>
          <a:sy n="74" d="100"/>
        </p:scale>
        <p:origin x="1008" y="2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B41D0E-EB88-4749-89F8-9DFB374F9C16}" type="datetimeFigureOut">
              <a:rPr lang="en-US" smtClean="0"/>
              <a:t>3/19/2026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88B787-19A5-4841-9136-A8C6238BB1E9}" type="slidenum">
              <a:rPr lang="en-US" smtClean="0"/>
              <a:t>‹#›</a:t>
            </a:fld>
            <a:endParaRPr lang="en-US"/>
          </a:p>
        </p:txBody>
      </p:sp>
    </p:spTree>
    <p:extLst>
      <p:ext uri="{BB962C8B-B14F-4D97-AF65-F5344CB8AC3E}">
        <p14:creationId xmlns:p14="http://schemas.microsoft.com/office/powerpoint/2010/main" val="3360617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0"/>
          </p:nvPr>
        </p:nvSpPr>
        <p:spPr/>
        <p:txBody>
          <a:bodyPr/>
          <a:lstStyle/>
          <a:p>
            <a:pPr marL="0" marR="0" lvl="0" indent="0" algn="r" defTabSz="477838" rtl="0" eaLnBrk="0" fontAlgn="base" latinLnBrk="0" hangingPunct="0">
              <a:lnSpc>
                <a:spcPct val="100000"/>
              </a:lnSpc>
              <a:spcBef>
                <a:spcPts val="788"/>
              </a:spcBef>
              <a:spcAft>
                <a:spcPct val="0"/>
              </a:spcAft>
              <a:buClr>
                <a:srgbClr val="000000"/>
              </a:buClr>
              <a:buSzPct val="100000"/>
              <a:buFont typeface="Arial" charset="0"/>
              <a:buNone/>
              <a:tabLst>
                <a:tab pos="755650" algn="l"/>
                <a:tab pos="1511300" algn="l"/>
                <a:tab pos="2268538" algn="l"/>
                <a:tab pos="3024188" algn="l"/>
              </a:tabLst>
              <a:defRPr/>
            </a:pPr>
            <a:fld id="{F751C962-19B1-E941-BF11-D365F135F8D5}" type="slidenum">
              <a:rPr kumimoji="0" lang="en-GB" sz="1300" b="1" i="0" u="none" strike="noStrike" kern="1200" cap="none" spc="0" normalizeH="0" baseline="0" noProof="0">
                <a:ln>
                  <a:noFill/>
                </a:ln>
                <a:solidFill>
                  <a:srgbClr val="000000"/>
                </a:solidFill>
                <a:effectLst/>
                <a:uLnTx/>
                <a:uFillTx/>
                <a:latin typeface="Arial" charset="0"/>
                <a:ea typeface="MS PGothic" charset="0"/>
              </a:rPr>
              <a:pPr marL="0" marR="0" lvl="0" indent="0" algn="r" defTabSz="477838" rtl="0" eaLnBrk="0" fontAlgn="base" latinLnBrk="0" hangingPunct="0">
                <a:lnSpc>
                  <a:spcPct val="100000"/>
                </a:lnSpc>
                <a:spcBef>
                  <a:spcPts val="788"/>
                </a:spcBef>
                <a:spcAft>
                  <a:spcPct val="0"/>
                </a:spcAft>
                <a:buClr>
                  <a:srgbClr val="000000"/>
                </a:buClr>
                <a:buSzPct val="100000"/>
                <a:buFont typeface="Arial" charset="0"/>
                <a:buNone/>
                <a:tabLst>
                  <a:tab pos="755650" algn="l"/>
                  <a:tab pos="1511300" algn="l"/>
                  <a:tab pos="2268538" algn="l"/>
                  <a:tab pos="3024188" algn="l"/>
                </a:tabLst>
                <a:defRPr/>
              </a:pPr>
              <a:t>1</a:t>
            </a:fld>
            <a:endParaRPr kumimoji="0" lang="en-GB" sz="1300" b="1" i="0" u="none" strike="noStrike" kern="1200" cap="none" spc="0" normalizeH="0" baseline="0" noProof="0">
              <a:ln>
                <a:noFill/>
              </a:ln>
              <a:solidFill>
                <a:srgbClr val="000000"/>
              </a:solidFill>
              <a:effectLst/>
              <a:uLnTx/>
              <a:uFillTx/>
              <a:latin typeface="Arial" charset="0"/>
              <a:ea typeface="MS PGothic" charset="0"/>
            </a:endParaRPr>
          </a:p>
        </p:txBody>
      </p:sp>
    </p:spTree>
    <p:extLst>
      <p:ext uri="{BB962C8B-B14F-4D97-AF65-F5344CB8AC3E}">
        <p14:creationId xmlns:p14="http://schemas.microsoft.com/office/powerpoint/2010/main" val="436184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9EA69-2149-F569-D66E-D2D4C3D226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E8A02-7622-5779-7A8F-AF73479036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6F6B7F-AE64-6E07-FEC8-BC36C3627446}"/>
              </a:ext>
            </a:extLst>
          </p:cNvPr>
          <p:cNvSpPr>
            <a:spLocks noGrp="1"/>
          </p:cNvSpPr>
          <p:nvPr>
            <p:ph type="body" idx="1"/>
          </p:nvPr>
        </p:nvSpPr>
        <p:spPr/>
        <p:txBody>
          <a:bodyPr/>
          <a:lstStyle/>
          <a:p>
            <a:pPr>
              <a:lnSpc>
                <a:spcPts val="1425"/>
              </a:lnSpc>
            </a:pPr>
            <a:endParaRPr lang="en-US" b="0" dirty="0">
              <a:solidFill>
                <a:srgbClr val="CCCCCC"/>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5F34DEE9-1DF3-D24F-CBDD-8B3BD3209A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D4F08E-DBF9-4149-B53D-0FE47425BC5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00648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9EA69-2149-F569-D66E-D2D4C3D226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E8A02-7622-5779-7A8F-AF73479036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6F6B7F-AE64-6E07-FEC8-BC36C3627446}"/>
              </a:ext>
            </a:extLst>
          </p:cNvPr>
          <p:cNvSpPr>
            <a:spLocks noGrp="1"/>
          </p:cNvSpPr>
          <p:nvPr>
            <p:ph type="body" idx="1"/>
          </p:nvPr>
        </p:nvSpPr>
        <p:spPr/>
        <p:txBody>
          <a:bodyPr/>
          <a:lstStyle/>
          <a:p>
            <a:pPr>
              <a:lnSpc>
                <a:spcPts val="1425"/>
              </a:lnSpc>
            </a:pPr>
            <a:endParaRPr lang="en-US" b="0" dirty="0">
              <a:solidFill>
                <a:srgbClr val="CCCCCC"/>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5F34DEE9-1DF3-D24F-CBDD-8B3BD3209A69}"/>
              </a:ext>
            </a:extLst>
          </p:cNvPr>
          <p:cNvSpPr>
            <a:spLocks noGrp="1"/>
          </p:cNvSpPr>
          <p:nvPr>
            <p:ph type="sldNum" sz="quarter" idx="5"/>
          </p:nvPr>
        </p:nvSpPr>
        <p:spPr/>
        <p:txBody>
          <a:bodyPr/>
          <a:lstStyle/>
          <a:p>
            <a:fld id="{89D4F08E-DBF9-4149-B53D-0FE47425BC50}" type="slidenum">
              <a:rPr lang="en-US" smtClean="0"/>
              <a:t>3</a:t>
            </a:fld>
            <a:endParaRPr lang="en-US"/>
          </a:p>
        </p:txBody>
      </p:sp>
    </p:spTree>
    <p:extLst>
      <p:ext uri="{BB962C8B-B14F-4D97-AF65-F5344CB8AC3E}">
        <p14:creationId xmlns:p14="http://schemas.microsoft.com/office/powerpoint/2010/main" val="1500648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D287CBEC-879D-4917-8D46-5F3379606FAC}" type="slidenum">
              <a:rPr lang="en-US" smtClean="0"/>
              <a:t>5</a:t>
            </a:fld>
            <a:endParaRPr lang="en-US"/>
          </a:p>
        </p:txBody>
      </p:sp>
    </p:spTree>
    <p:extLst>
      <p:ext uri="{BB962C8B-B14F-4D97-AF65-F5344CB8AC3E}">
        <p14:creationId xmlns:p14="http://schemas.microsoft.com/office/powerpoint/2010/main" val="31527944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Voor</a:t>
            </a:r>
            <a:r>
              <a:rPr lang="en-US" dirty="0"/>
              <a:t> de docent: </a:t>
            </a:r>
            <a:r>
              <a:rPr lang="en-US" dirty="0" err="1"/>
              <a:t>klik</a:t>
            </a:r>
            <a:r>
              <a:rPr lang="en-US" dirty="0"/>
              <a:t> </a:t>
            </a:r>
            <a:r>
              <a:rPr lang="en-US" dirty="0" err="1"/>
              <a:t>zelf</a:t>
            </a:r>
            <a:r>
              <a:rPr lang="en-US" dirty="0"/>
              <a:t> “live” het document “Van Java </a:t>
            </a:r>
            <a:r>
              <a:rPr lang="en-US" dirty="0" err="1"/>
              <a:t>naar</a:t>
            </a:r>
            <a:r>
              <a:rPr lang="en-US" dirty="0"/>
              <a:t> Python – </a:t>
            </a:r>
            <a:r>
              <a:rPr lang="en-US" dirty="0" err="1"/>
              <a:t>Cheatsheet</a:t>
            </a:r>
            <a:r>
              <a:rPr lang="en-US" dirty="0"/>
              <a:t>” open </a:t>
            </a:r>
            <a:r>
              <a:rPr lang="en-US" dirty="0" err="1"/>
              <a:t>en</a:t>
            </a:r>
            <a:r>
              <a:rPr lang="en-US" dirty="0"/>
              <a:t> </a:t>
            </a:r>
            <a:r>
              <a:rPr lang="en-US" dirty="0" err="1"/>
              <a:t>kopieer</a:t>
            </a:r>
            <a:r>
              <a:rPr lang="en-US" dirty="0"/>
              <a:t> </a:t>
            </a:r>
            <a:r>
              <a:rPr lang="en-US" dirty="0" err="1"/>
              <a:t>een</a:t>
            </a:r>
            <a:r>
              <a:rPr lang="en-US" dirty="0"/>
              <a:t> </a:t>
            </a:r>
            <a:r>
              <a:rPr lang="en-US" dirty="0" err="1"/>
              <a:t>aantal</a:t>
            </a:r>
            <a:r>
              <a:rPr lang="en-US" dirty="0"/>
              <a:t> </a:t>
            </a:r>
            <a:r>
              <a:rPr lang="en-US" dirty="0" err="1"/>
              <a:t>codeblokken</a:t>
            </a:r>
            <a:r>
              <a:rPr lang="en-US" dirty="0"/>
              <a:t> </a:t>
            </a:r>
            <a:r>
              <a:rPr lang="en-US" dirty="0" err="1"/>
              <a:t>naar</a:t>
            </a:r>
            <a:r>
              <a:rPr lang="en-US" dirty="0"/>
              <a:t> </a:t>
            </a:r>
            <a:r>
              <a:rPr lang="en-US" dirty="0" err="1"/>
              <a:t>Jupyter</a:t>
            </a:r>
            <a:r>
              <a:rPr lang="en-US" dirty="0"/>
              <a:t> Notebook in </a:t>
            </a:r>
            <a:r>
              <a:rPr lang="en-US" dirty="0" err="1"/>
              <a:t>VSCode</a:t>
            </a:r>
            <a:r>
              <a:rPr lang="en-US" dirty="0"/>
              <a:t>, </a:t>
            </a:r>
            <a:r>
              <a:rPr lang="en-US" dirty="0" err="1"/>
              <a:t>zodat</a:t>
            </a:r>
            <a:r>
              <a:rPr lang="en-US" dirty="0"/>
              <a:t> </a:t>
            </a:r>
            <a:r>
              <a:rPr lang="en-US" dirty="0" err="1"/>
              <a:t>studenten</a:t>
            </a:r>
            <a:r>
              <a:rPr lang="en-US" dirty="0"/>
              <a:t> </a:t>
            </a:r>
            <a:r>
              <a:rPr lang="en-US" dirty="0" err="1"/>
              <a:t>daadwerkelijk</a:t>
            </a:r>
            <a:r>
              <a:rPr lang="en-US" dirty="0"/>
              <a:t> de </a:t>
            </a:r>
            <a:r>
              <a:rPr lang="en-US" dirty="0" err="1"/>
              <a:t>werking</a:t>
            </a:r>
            <a:r>
              <a:rPr lang="en-US" dirty="0"/>
              <a:t> </a:t>
            </a:r>
            <a:r>
              <a:rPr lang="en-US" dirty="0" err="1"/>
              <a:t>zien</a:t>
            </a:r>
            <a:r>
              <a:rPr lang="en-US" dirty="0"/>
              <a:t> van de </a:t>
            </a:r>
            <a:r>
              <a:rPr lang="en-US" dirty="0" err="1"/>
              <a:t>betreffende</a:t>
            </a:r>
            <a:r>
              <a:rPr lang="en-US" dirty="0"/>
              <a:t> code. </a:t>
            </a:r>
            <a:r>
              <a:rPr lang="en-US" dirty="0" err="1"/>
              <a:t>Kijk</a:t>
            </a:r>
            <a:r>
              <a:rPr lang="en-US" dirty="0"/>
              <a:t>/hoor/</a:t>
            </a:r>
            <a:r>
              <a:rPr lang="en-US" dirty="0" err="1"/>
              <a:t>voel</a:t>
            </a:r>
            <a:r>
              <a:rPr lang="en-US" dirty="0"/>
              <a:t> </a:t>
            </a:r>
            <a:r>
              <a:rPr lang="en-US" dirty="0" err="1"/>
              <a:t>zelf</a:t>
            </a:r>
            <a:r>
              <a:rPr lang="en-US" dirty="0"/>
              <a:t> even </a:t>
            </a:r>
            <a:r>
              <a:rPr lang="en-US" dirty="0" err="1"/>
              <a:t>aan</a:t>
            </a:r>
            <a:r>
              <a:rPr lang="en-US" dirty="0"/>
              <a:t> </a:t>
            </a:r>
            <a:r>
              <a:rPr lang="en-US" dirty="0" err="1"/>
              <a:t>welke</a:t>
            </a:r>
            <a:r>
              <a:rPr lang="en-US" dirty="0"/>
              <a:t> </a:t>
            </a:r>
            <a:r>
              <a:rPr lang="en-US" dirty="0" err="1"/>
              <a:t>codeblokken</a:t>
            </a:r>
            <a:r>
              <a:rPr lang="en-US" dirty="0"/>
              <a:t> </a:t>
            </a:r>
            <a:r>
              <a:rPr lang="en-US" dirty="0" err="1"/>
              <a:t>handig</a:t>
            </a:r>
            <a:r>
              <a:rPr lang="en-US" dirty="0"/>
              <a:t> </a:t>
            </a:r>
            <a:r>
              <a:rPr lang="en-US" dirty="0" err="1"/>
              <a:t>zijn</a:t>
            </a:r>
            <a:r>
              <a:rPr lang="en-US" dirty="0"/>
              <a:t> om </a:t>
            </a:r>
            <a:r>
              <a:rPr lang="en-US" dirty="0" err="1"/>
              <a:t>te</a:t>
            </a:r>
            <a:r>
              <a:rPr lang="en-US" dirty="0"/>
              <a:t> </a:t>
            </a:r>
            <a:r>
              <a:rPr lang="en-US" dirty="0" err="1"/>
              <a:t>kopiëren</a:t>
            </a:r>
            <a:r>
              <a:rPr lang="en-US" dirty="0"/>
              <a:t>.</a:t>
            </a:r>
          </a:p>
        </p:txBody>
      </p:sp>
      <p:sp>
        <p:nvSpPr>
          <p:cNvPr id="4" name="Tijdelijke aanduiding voor dianummer 3"/>
          <p:cNvSpPr>
            <a:spLocks noGrp="1"/>
          </p:cNvSpPr>
          <p:nvPr>
            <p:ph type="sldNum" sz="quarter" idx="5"/>
          </p:nvPr>
        </p:nvSpPr>
        <p:spPr/>
        <p:txBody>
          <a:bodyPr/>
          <a:lstStyle/>
          <a:p>
            <a:fld id="{D287CBEC-879D-4917-8D46-5F3379606FAC}" type="slidenum">
              <a:rPr lang="en-US" smtClean="0"/>
              <a:t>6</a:t>
            </a:fld>
            <a:endParaRPr lang="en-US"/>
          </a:p>
        </p:txBody>
      </p:sp>
    </p:spTree>
    <p:extLst>
      <p:ext uri="{BB962C8B-B14F-4D97-AF65-F5344CB8AC3E}">
        <p14:creationId xmlns:p14="http://schemas.microsoft.com/office/powerpoint/2010/main" val="981694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EE188-31A5-19BA-D0E5-E5D4C467DB1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E6BBDB5-7DDB-C1DB-0CD8-226F133198D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B38D780-7637-6F8C-BB3B-BBBD609B561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Voor</a:t>
            </a:r>
            <a:r>
              <a:rPr lang="en-US" dirty="0"/>
              <a:t> de docent: </a:t>
            </a:r>
            <a:r>
              <a:rPr lang="en-US" dirty="0" err="1"/>
              <a:t>klik</a:t>
            </a:r>
            <a:r>
              <a:rPr lang="en-US" dirty="0"/>
              <a:t> </a:t>
            </a:r>
            <a:r>
              <a:rPr lang="en-US" dirty="0" err="1"/>
              <a:t>zelf</a:t>
            </a:r>
            <a:r>
              <a:rPr lang="en-US" dirty="0"/>
              <a:t> “live” het document “Van Java </a:t>
            </a:r>
            <a:r>
              <a:rPr lang="en-US" dirty="0" err="1"/>
              <a:t>naar</a:t>
            </a:r>
            <a:r>
              <a:rPr lang="en-US" dirty="0"/>
              <a:t> Python – </a:t>
            </a:r>
            <a:r>
              <a:rPr lang="en-US" dirty="0" err="1"/>
              <a:t>Cheatsheet</a:t>
            </a:r>
            <a:r>
              <a:rPr lang="en-US" dirty="0"/>
              <a:t>” open </a:t>
            </a:r>
            <a:r>
              <a:rPr lang="en-US" dirty="0" err="1"/>
              <a:t>en</a:t>
            </a:r>
            <a:r>
              <a:rPr lang="en-US" dirty="0"/>
              <a:t> </a:t>
            </a:r>
            <a:r>
              <a:rPr lang="en-US" dirty="0" err="1"/>
              <a:t>kopieer</a:t>
            </a:r>
            <a:r>
              <a:rPr lang="en-US" dirty="0"/>
              <a:t> </a:t>
            </a:r>
            <a:r>
              <a:rPr lang="en-US" dirty="0" err="1"/>
              <a:t>een</a:t>
            </a:r>
            <a:r>
              <a:rPr lang="en-US" dirty="0"/>
              <a:t> </a:t>
            </a:r>
            <a:r>
              <a:rPr lang="en-US" dirty="0" err="1"/>
              <a:t>aantal</a:t>
            </a:r>
            <a:r>
              <a:rPr lang="en-US" dirty="0"/>
              <a:t> </a:t>
            </a:r>
            <a:r>
              <a:rPr lang="en-US" dirty="0" err="1"/>
              <a:t>codeblokken</a:t>
            </a:r>
            <a:r>
              <a:rPr lang="en-US" dirty="0"/>
              <a:t> </a:t>
            </a:r>
            <a:r>
              <a:rPr lang="en-US" dirty="0" err="1"/>
              <a:t>naar</a:t>
            </a:r>
            <a:r>
              <a:rPr lang="en-US" dirty="0"/>
              <a:t> </a:t>
            </a:r>
            <a:r>
              <a:rPr lang="en-US" dirty="0" err="1"/>
              <a:t>Jupyter</a:t>
            </a:r>
            <a:r>
              <a:rPr lang="en-US" dirty="0"/>
              <a:t> Notebook in </a:t>
            </a:r>
            <a:r>
              <a:rPr lang="en-US" dirty="0" err="1"/>
              <a:t>VSCode</a:t>
            </a:r>
            <a:r>
              <a:rPr lang="en-US" dirty="0"/>
              <a:t>, </a:t>
            </a:r>
            <a:r>
              <a:rPr lang="en-US" dirty="0" err="1"/>
              <a:t>zodat</a:t>
            </a:r>
            <a:r>
              <a:rPr lang="en-US" dirty="0"/>
              <a:t> </a:t>
            </a:r>
            <a:r>
              <a:rPr lang="en-US" dirty="0" err="1"/>
              <a:t>studenten</a:t>
            </a:r>
            <a:r>
              <a:rPr lang="en-US" dirty="0"/>
              <a:t> </a:t>
            </a:r>
            <a:r>
              <a:rPr lang="en-US" dirty="0" err="1"/>
              <a:t>daadwerkelijk</a:t>
            </a:r>
            <a:r>
              <a:rPr lang="en-US" dirty="0"/>
              <a:t> de </a:t>
            </a:r>
            <a:r>
              <a:rPr lang="en-US" dirty="0" err="1"/>
              <a:t>werking</a:t>
            </a:r>
            <a:r>
              <a:rPr lang="en-US" dirty="0"/>
              <a:t> </a:t>
            </a:r>
            <a:r>
              <a:rPr lang="en-US" dirty="0" err="1"/>
              <a:t>zien</a:t>
            </a:r>
            <a:r>
              <a:rPr lang="en-US" dirty="0"/>
              <a:t> van de </a:t>
            </a:r>
            <a:r>
              <a:rPr lang="en-US" dirty="0" err="1"/>
              <a:t>betreffende</a:t>
            </a:r>
            <a:r>
              <a:rPr lang="en-US" dirty="0"/>
              <a:t> code. </a:t>
            </a:r>
            <a:r>
              <a:rPr lang="en-US" dirty="0" err="1"/>
              <a:t>Kijk</a:t>
            </a:r>
            <a:r>
              <a:rPr lang="en-US" dirty="0"/>
              <a:t>/hoor/</a:t>
            </a:r>
            <a:r>
              <a:rPr lang="en-US" dirty="0" err="1"/>
              <a:t>voel</a:t>
            </a:r>
            <a:r>
              <a:rPr lang="en-US" dirty="0"/>
              <a:t> </a:t>
            </a:r>
            <a:r>
              <a:rPr lang="en-US" dirty="0" err="1"/>
              <a:t>zelf</a:t>
            </a:r>
            <a:r>
              <a:rPr lang="en-US" dirty="0"/>
              <a:t> even </a:t>
            </a:r>
            <a:r>
              <a:rPr lang="en-US" dirty="0" err="1"/>
              <a:t>aan</a:t>
            </a:r>
            <a:r>
              <a:rPr lang="en-US" dirty="0"/>
              <a:t> </a:t>
            </a:r>
            <a:r>
              <a:rPr lang="en-US" dirty="0" err="1"/>
              <a:t>welke</a:t>
            </a:r>
            <a:r>
              <a:rPr lang="en-US" dirty="0"/>
              <a:t> </a:t>
            </a:r>
            <a:r>
              <a:rPr lang="en-US" dirty="0" err="1"/>
              <a:t>codeblokken</a:t>
            </a:r>
            <a:r>
              <a:rPr lang="en-US" dirty="0"/>
              <a:t> </a:t>
            </a:r>
            <a:r>
              <a:rPr lang="en-US" dirty="0" err="1"/>
              <a:t>handig</a:t>
            </a:r>
            <a:r>
              <a:rPr lang="en-US" dirty="0"/>
              <a:t> </a:t>
            </a:r>
            <a:r>
              <a:rPr lang="en-US" dirty="0" err="1"/>
              <a:t>zijn</a:t>
            </a:r>
            <a:r>
              <a:rPr lang="en-US" dirty="0"/>
              <a:t> om </a:t>
            </a:r>
            <a:r>
              <a:rPr lang="en-US" dirty="0" err="1"/>
              <a:t>te</a:t>
            </a:r>
            <a:r>
              <a:rPr lang="en-US" dirty="0"/>
              <a:t> </a:t>
            </a:r>
            <a:r>
              <a:rPr lang="en-US" dirty="0" err="1"/>
              <a:t>kopiëren</a:t>
            </a:r>
            <a:r>
              <a:rPr lang="en-US" dirty="0"/>
              <a:t>.</a:t>
            </a:r>
          </a:p>
        </p:txBody>
      </p:sp>
      <p:sp>
        <p:nvSpPr>
          <p:cNvPr id="4" name="Tijdelijke aanduiding voor dianummer 3">
            <a:extLst>
              <a:ext uri="{FF2B5EF4-FFF2-40B4-BE49-F238E27FC236}">
                <a16:creationId xmlns:a16="http://schemas.microsoft.com/office/drawing/2014/main" id="{F27BBA23-A3B2-5985-67DA-50B2D9A5FBA3}"/>
              </a:ext>
            </a:extLst>
          </p:cNvPr>
          <p:cNvSpPr>
            <a:spLocks noGrp="1"/>
          </p:cNvSpPr>
          <p:nvPr>
            <p:ph type="sldNum" sz="quarter" idx="5"/>
          </p:nvPr>
        </p:nvSpPr>
        <p:spPr/>
        <p:txBody>
          <a:bodyPr/>
          <a:lstStyle/>
          <a:p>
            <a:fld id="{D287CBEC-879D-4917-8D46-5F3379606FAC}" type="slidenum">
              <a:rPr lang="en-US" smtClean="0"/>
              <a:t>7</a:t>
            </a:fld>
            <a:endParaRPr lang="en-US"/>
          </a:p>
        </p:txBody>
      </p:sp>
    </p:spTree>
    <p:extLst>
      <p:ext uri="{BB962C8B-B14F-4D97-AF65-F5344CB8AC3E}">
        <p14:creationId xmlns:p14="http://schemas.microsoft.com/office/powerpoint/2010/main" val="2441142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B253C-62C0-56CB-0845-9BC9EAAFA3D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27C64E6-8894-F3DA-133E-63052F542BA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FABA9F5-3446-80F5-CB72-FD069233A63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Voor</a:t>
            </a:r>
            <a:r>
              <a:rPr lang="en-US" dirty="0"/>
              <a:t> de docent: </a:t>
            </a:r>
            <a:r>
              <a:rPr lang="en-US" dirty="0" err="1"/>
              <a:t>klik</a:t>
            </a:r>
            <a:r>
              <a:rPr lang="en-US" dirty="0"/>
              <a:t> </a:t>
            </a:r>
            <a:r>
              <a:rPr lang="en-US" dirty="0" err="1"/>
              <a:t>zelf</a:t>
            </a:r>
            <a:r>
              <a:rPr lang="en-US" dirty="0"/>
              <a:t> “live” het document “Van Java </a:t>
            </a:r>
            <a:r>
              <a:rPr lang="en-US" dirty="0" err="1"/>
              <a:t>naar</a:t>
            </a:r>
            <a:r>
              <a:rPr lang="en-US" dirty="0"/>
              <a:t> Python – </a:t>
            </a:r>
            <a:r>
              <a:rPr lang="en-US" dirty="0" err="1"/>
              <a:t>Cheatsheet</a:t>
            </a:r>
            <a:r>
              <a:rPr lang="en-US" dirty="0"/>
              <a:t>” open </a:t>
            </a:r>
            <a:r>
              <a:rPr lang="en-US" dirty="0" err="1"/>
              <a:t>en</a:t>
            </a:r>
            <a:r>
              <a:rPr lang="en-US" dirty="0"/>
              <a:t> </a:t>
            </a:r>
            <a:r>
              <a:rPr lang="en-US" dirty="0" err="1"/>
              <a:t>kopieer</a:t>
            </a:r>
            <a:r>
              <a:rPr lang="en-US" dirty="0"/>
              <a:t> </a:t>
            </a:r>
            <a:r>
              <a:rPr lang="en-US" dirty="0" err="1"/>
              <a:t>een</a:t>
            </a:r>
            <a:r>
              <a:rPr lang="en-US" dirty="0"/>
              <a:t> </a:t>
            </a:r>
            <a:r>
              <a:rPr lang="en-US" dirty="0" err="1"/>
              <a:t>aantal</a:t>
            </a:r>
            <a:r>
              <a:rPr lang="en-US" dirty="0"/>
              <a:t> </a:t>
            </a:r>
            <a:r>
              <a:rPr lang="en-US" dirty="0" err="1"/>
              <a:t>codeblokken</a:t>
            </a:r>
            <a:r>
              <a:rPr lang="en-US" dirty="0"/>
              <a:t> </a:t>
            </a:r>
            <a:r>
              <a:rPr lang="en-US" dirty="0" err="1"/>
              <a:t>naar</a:t>
            </a:r>
            <a:r>
              <a:rPr lang="en-US" dirty="0"/>
              <a:t> </a:t>
            </a:r>
            <a:r>
              <a:rPr lang="en-US" dirty="0" err="1"/>
              <a:t>Jupyter</a:t>
            </a:r>
            <a:r>
              <a:rPr lang="en-US" dirty="0"/>
              <a:t> Notebook in </a:t>
            </a:r>
            <a:r>
              <a:rPr lang="en-US" dirty="0" err="1"/>
              <a:t>VSCode</a:t>
            </a:r>
            <a:r>
              <a:rPr lang="en-US" dirty="0"/>
              <a:t>, </a:t>
            </a:r>
            <a:r>
              <a:rPr lang="en-US" dirty="0" err="1"/>
              <a:t>zodat</a:t>
            </a:r>
            <a:r>
              <a:rPr lang="en-US" dirty="0"/>
              <a:t> </a:t>
            </a:r>
            <a:r>
              <a:rPr lang="en-US" dirty="0" err="1"/>
              <a:t>studenten</a:t>
            </a:r>
            <a:r>
              <a:rPr lang="en-US" dirty="0"/>
              <a:t> </a:t>
            </a:r>
            <a:r>
              <a:rPr lang="en-US" dirty="0" err="1"/>
              <a:t>daadwerkelijk</a:t>
            </a:r>
            <a:r>
              <a:rPr lang="en-US" dirty="0"/>
              <a:t> de </a:t>
            </a:r>
            <a:r>
              <a:rPr lang="en-US" dirty="0" err="1"/>
              <a:t>werking</a:t>
            </a:r>
            <a:r>
              <a:rPr lang="en-US" dirty="0"/>
              <a:t> </a:t>
            </a:r>
            <a:r>
              <a:rPr lang="en-US" dirty="0" err="1"/>
              <a:t>zien</a:t>
            </a:r>
            <a:r>
              <a:rPr lang="en-US" dirty="0"/>
              <a:t> van de </a:t>
            </a:r>
            <a:r>
              <a:rPr lang="en-US" dirty="0" err="1"/>
              <a:t>betreffende</a:t>
            </a:r>
            <a:r>
              <a:rPr lang="en-US" dirty="0"/>
              <a:t> code. </a:t>
            </a:r>
            <a:r>
              <a:rPr lang="en-US" dirty="0" err="1"/>
              <a:t>Kijk</a:t>
            </a:r>
            <a:r>
              <a:rPr lang="en-US" dirty="0"/>
              <a:t>/hoor/</a:t>
            </a:r>
            <a:r>
              <a:rPr lang="en-US" dirty="0" err="1"/>
              <a:t>voel</a:t>
            </a:r>
            <a:r>
              <a:rPr lang="en-US" dirty="0"/>
              <a:t> </a:t>
            </a:r>
            <a:r>
              <a:rPr lang="en-US" dirty="0" err="1"/>
              <a:t>zelf</a:t>
            </a:r>
            <a:r>
              <a:rPr lang="en-US" dirty="0"/>
              <a:t> even </a:t>
            </a:r>
            <a:r>
              <a:rPr lang="en-US" dirty="0" err="1"/>
              <a:t>aan</a:t>
            </a:r>
            <a:r>
              <a:rPr lang="en-US" dirty="0"/>
              <a:t> </a:t>
            </a:r>
            <a:r>
              <a:rPr lang="en-US" dirty="0" err="1"/>
              <a:t>welke</a:t>
            </a:r>
            <a:r>
              <a:rPr lang="en-US" dirty="0"/>
              <a:t> </a:t>
            </a:r>
            <a:r>
              <a:rPr lang="en-US" dirty="0" err="1"/>
              <a:t>codeblokken</a:t>
            </a:r>
            <a:r>
              <a:rPr lang="en-US" dirty="0"/>
              <a:t> </a:t>
            </a:r>
            <a:r>
              <a:rPr lang="en-US" dirty="0" err="1"/>
              <a:t>handig</a:t>
            </a:r>
            <a:r>
              <a:rPr lang="en-US" dirty="0"/>
              <a:t> </a:t>
            </a:r>
            <a:r>
              <a:rPr lang="en-US" dirty="0" err="1"/>
              <a:t>zijn</a:t>
            </a:r>
            <a:r>
              <a:rPr lang="en-US" dirty="0"/>
              <a:t> om </a:t>
            </a:r>
            <a:r>
              <a:rPr lang="en-US" dirty="0" err="1"/>
              <a:t>te</a:t>
            </a:r>
            <a:r>
              <a:rPr lang="en-US" dirty="0"/>
              <a:t> </a:t>
            </a:r>
            <a:r>
              <a:rPr lang="en-US" dirty="0" err="1"/>
              <a:t>kopiëren</a:t>
            </a:r>
            <a:r>
              <a:rPr lang="en-US" dirty="0"/>
              <a:t>.</a:t>
            </a:r>
          </a:p>
        </p:txBody>
      </p:sp>
      <p:sp>
        <p:nvSpPr>
          <p:cNvPr id="4" name="Tijdelijke aanduiding voor dianummer 3">
            <a:extLst>
              <a:ext uri="{FF2B5EF4-FFF2-40B4-BE49-F238E27FC236}">
                <a16:creationId xmlns:a16="http://schemas.microsoft.com/office/drawing/2014/main" id="{7A562BC1-4017-AC2D-42ED-60AC4D15D5B8}"/>
              </a:ext>
            </a:extLst>
          </p:cNvPr>
          <p:cNvSpPr>
            <a:spLocks noGrp="1"/>
          </p:cNvSpPr>
          <p:nvPr>
            <p:ph type="sldNum" sz="quarter" idx="5"/>
          </p:nvPr>
        </p:nvSpPr>
        <p:spPr/>
        <p:txBody>
          <a:bodyPr/>
          <a:lstStyle/>
          <a:p>
            <a:fld id="{D287CBEC-879D-4917-8D46-5F3379606FAC}" type="slidenum">
              <a:rPr lang="en-US" smtClean="0"/>
              <a:t>8</a:t>
            </a:fld>
            <a:endParaRPr lang="en-US"/>
          </a:p>
        </p:txBody>
      </p:sp>
    </p:spTree>
    <p:extLst>
      <p:ext uri="{BB962C8B-B14F-4D97-AF65-F5344CB8AC3E}">
        <p14:creationId xmlns:p14="http://schemas.microsoft.com/office/powerpoint/2010/main" val="954980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FB5E6-32AD-9843-F30D-2B388B636EB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543B3F8-428F-C0DB-3170-48EAF95987A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ED401F9-BC48-45F9-5B7A-B316B276FE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Voor</a:t>
            </a:r>
            <a:r>
              <a:rPr lang="en-US" dirty="0"/>
              <a:t> de docent: </a:t>
            </a:r>
            <a:r>
              <a:rPr lang="en-US" dirty="0" err="1"/>
              <a:t>klik</a:t>
            </a:r>
            <a:r>
              <a:rPr lang="en-US" dirty="0"/>
              <a:t> </a:t>
            </a:r>
            <a:r>
              <a:rPr lang="en-US" dirty="0" err="1"/>
              <a:t>zelf</a:t>
            </a:r>
            <a:r>
              <a:rPr lang="en-US" dirty="0"/>
              <a:t> “live” het document “Van Java </a:t>
            </a:r>
            <a:r>
              <a:rPr lang="en-US" dirty="0" err="1"/>
              <a:t>naar</a:t>
            </a:r>
            <a:r>
              <a:rPr lang="en-US" dirty="0"/>
              <a:t> Python – </a:t>
            </a:r>
            <a:r>
              <a:rPr lang="en-US" dirty="0" err="1"/>
              <a:t>Cheatsheet</a:t>
            </a:r>
            <a:r>
              <a:rPr lang="en-US" dirty="0"/>
              <a:t>” open </a:t>
            </a:r>
            <a:r>
              <a:rPr lang="en-US" dirty="0" err="1"/>
              <a:t>en</a:t>
            </a:r>
            <a:r>
              <a:rPr lang="en-US" dirty="0"/>
              <a:t> </a:t>
            </a:r>
            <a:r>
              <a:rPr lang="en-US" dirty="0" err="1"/>
              <a:t>kopieer</a:t>
            </a:r>
            <a:r>
              <a:rPr lang="en-US" dirty="0"/>
              <a:t> </a:t>
            </a:r>
            <a:r>
              <a:rPr lang="en-US" dirty="0" err="1"/>
              <a:t>een</a:t>
            </a:r>
            <a:r>
              <a:rPr lang="en-US" dirty="0"/>
              <a:t> </a:t>
            </a:r>
            <a:r>
              <a:rPr lang="en-US" dirty="0" err="1"/>
              <a:t>aantal</a:t>
            </a:r>
            <a:r>
              <a:rPr lang="en-US" dirty="0"/>
              <a:t> </a:t>
            </a:r>
            <a:r>
              <a:rPr lang="en-US" dirty="0" err="1"/>
              <a:t>codeblokken</a:t>
            </a:r>
            <a:r>
              <a:rPr lang="en-US" dirty="0"/>
              <a:t> </a:t>
            </a:r>
            <a:r>
              <a:rPr lang="en-US" dirty="0" err="1"/>
              <a:t>naar</a:t>
            </a:r>
            <a:r>
              <a:rPr lang="en-US" dirty="0"/>
              <a:t> </a:t>
            </a:r>
            <a:r>
              <a:rPr lang="en-US" dirty="0" err="1"/>
              <a:t>Jupyter</a:t>
            </a:r>
            <a:r>
              <a:rPr lang="en-US" dirty="0"/>
              <a:t> Notebook in </a:t>
            </a:r>
            <a:r>
              <a:rPr lang="en-US" dirty="0" err="1"/>
              <a:t>VSCode</a:t>
            </a:r>
            <a:r>
              <a:rPr lang="en-US" dirty="0"/>
              <a:t>, </a:t>
            </a:r>
            <a:r>
              <a:rPr lang="en-US" dirty="0" err="1"/>
              <a:t>zodat</a:t>
            </a:r>
            <a:r>
              <a:rPr lang="en-US" dirty="0"/>
              <a:t> </a:t>
            </a:r>
            <a:r>
              <a:rPr lang="en-US" dirty="0" err="1"/>
              <a:t>studenten</a:t>
            </a:r>
            <a:r>
              <a:rPr lang="en-US" dirty="0"/>
              <a:t> </a:t>
            </a:r>
            <a:r>
              <a:rPr lang="en-US" dirty="0" err="1"/>
              <a:t>daadwerkelijk</a:t>
            </a:r>
            <a:r>
              <a:rPr lang="en-US" dirty="0"/>
              <a:t> de </a:t>
            </a:r>
            <a:r>
              <a:rPr lang="en-US" dirty="0" err="1"/>
              <a:t>werking</a:t>
            </a:r>
            <a:r>
              <a:rPr lang="en-US" dirty="0"/>
              <a:t> </a:t>
            </a:r>
            <a:r>
              <a:rPr lang="en-US" dirty="0" err="1"/>
              <a:t>zien</a:t>
            </a:r>
            <a:r>
              <a:rPr lang="en-US" dirty="0"/>
              <a:t> van de </a:t>
            </a:r>
            <a:r>
              <a:rPr lang="en-US" dirty="0" err="1"/>
              <a:t>betreffende</a:t>
            </a:r>
            <a:r>
              <a:rPr lang="en-US" dirty="0"/>
              <a:t> code. </a:t>
            </a:r>
            <a:r>
              <a:rPr lang="en-US" dirty="0" err="1"/>
              <a:t>Kijk</a:t>
            </a:r>
            <a:r>
              <a:rPr lang="en-US" dirty="0"/>
              <a:t>/hoor/</a:t>
            </a:r>
            <a:r>
              <a:rPr lang="en-US" dirty="0" err="1"/>
              <a:t>voel</a:t>
            </a:r>
            <a:r>
              <a:rPr lang="en-US" dirty="0"/>
              <a:t> </a:t>
            </a:r>
            <a:r>
              <a:rPr lang="en-US" dirty="0" err="1"/>
              <a:t>zelf</a:t>
            </a:r>
            <a:r>
              <a:rPr lang="en-US" dirty="0"/>
              <a:t> even </a:t>
            </a:r>
            <a:r>
              <a:rPr lang="en-US" dirty="0" err="1"/>
              <a:t>aan</a:t>
            </a:r>
            <a:r>
              <a:rPr lang="en-US" dirty="0"/>
              <a:t> </a:t>
            </a:r>
            <a:r>
              <a:rPr lang="en-US" dirty="0" err="1"/>
              <a:t>welke</a:t>
            </a:r>
            <a:r>
              <a:rPr lang="en-US" dirty="0"/>
              <a:t> </a:t>
            </a:r>
            <a:r>
              <a:rPr lang="en-US" dirty="0" err="1"/>
              <a:t>codeblokken</a:t>
            </a:r>
            <a:r>
              <a:rPr lang="en-US" dirty="0"/>
              <a:t> </a:t>
            </a:r>
            <a:r>
              <a:rPr lang="en-US" dirty="0" err="1"/>
              <a:t>handig</a:t>
            </a:r>
            <a:r>
              <a:rPr lang="en-US" dirty="0"/>
              <a:t> </a:t>
            </a:r>
            <a:r>
              <a:rPr lang="en-US" dirty="0" err="1"/>
              <a:t>zijn</a:t>
            </a:r>
            <a:r>
              <a:rPr lang="en-US" dirty="0"/>
              <a:t> om </a:t>
            </a:r>
            <a:r>
              <a:rPr lang="en-US" dirty="0" err="1"/>
              <a:t>te</a:t>
            </a:r>
            <a:r>
              <a:rPr lang="en-US" dirty="0"/>
              <a:t> </a:t>
            </a:r>
            <a:r>
              <a:rPr lang="en-US" dirty="0" err="1"/>
              <a:t>kopiëren</a:t>
            </a:r>
            <a:r>
              <a:rPr lang="en-US" dirty="0"/>
              <a:t>.</a:t>
            </a:r>
          </a:p>
        </p:txBody>
      </p:sp>
      <p:sp>
        <p:nvSpPr>
          <p:cNvPr id="4" name="Tijdelijke aanduiding voor dianummer 3">
            <a:extLst>
              <a:ext uri="{FF2B5EF4-FFF2-40B4-BE49-F238E27FC236}">
                <a16:creationId xmlns:a16="http://schemas.microsoft.com/office/drawing/2014/main" id="{16E4B30B-5989-8CD5-BAB6-704B8B7AE22D}"/>
              </a:ext>
            </a:extLst>
          </p:cNvPr>
          <p:cNvSpPr>
            <a:spLocks noGrp="1"/>
          </p:cNvSpPr>
          <p:nvPr>
            <p:ph type="sldNum" sz="quarter" idx="5"/>
          </p:nvPr>
        </p:nvSpPr>
        <p:spPr/>
        <p:txBody>
          <a:bodyPr/>
          <a:lstStyle/>
          <a:p>
            <a:fld id="{D287CBEC-879D-4917-8D46-5F3379606FAC}" type="slidenum">
              <a:rPr lang="en-US" smtClean="0"/>
              <a:t>9</a:t>
            </a:fld>
            <a:endParaRPr lang="en-US"/>
          </a:p>
        </p:txBody>
      </p:sp>
    </p:spTree>
    <p:extLst>
      <p:ext uri="{BB962C8B-B14F-4D97-AF65-F5344CB8AC3E}">
        <p14:creationId xmlns:p14="http://schemas.microsoft.com/office/powerpoint/2010/main" val="1862583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4573B-343A-7CE9-114C-3CAF5D4176B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1014BEC-328F-4926-5D6E-4173ACC610F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85C8F6C-EA79-33ED-1999-0C8966DA7CD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Voor</a:t>
            </a:r>
            <a:r>
              <a:rPr lang="en-US" dirty="0"/>
              <a:t> de docent: </a:t>
            </a:r>
            <a:r>
              <a:rPr lang="en-US" dirty="0" err="1"/>
              <a:t>klik</a:t>
            </a:r>
            <a:r>
              <a:rPr lang="en-US" dirty="0"/>
              <a:t> </a:t>
            </a:r>
            <a:r>
              <a:rPr lang="en-US" dirty="0" err="1"/>
              <a:t>zelf</a:t>
            </a:r>
            <a:r>
              <a:rPr lang="en-US" dirty="0"/>
              <a:t> “live” het document “Van Java </a:t>
            </a:r>
            <a:r>
              <a:rPr lang="en-US" dirty="0" err="1"/>
              <a:t>naar</a:t>
            </a:r>
            <a:r>
              <a:rPr lang="en-US" dirty="0"/>
              <a:t> Python – </a:t>
            </a:r>
            <a:r>
              <a:rPr lang="en-US" dirty="0" err="1"/>
              <a:t>Cheatsheet</a:t>
            </a:r>
            <a:r>
              <a:rPr lang="en-US" dirty="0"/>
              <a:t>” open </a:t>
            </a:r>
            <a:r>
              <a:rPr lang="en-US" dirty="0" err="1"/>
              <a:t>en</a:t>
            </a:r>
            <a:r>
              <a:rPr lang="en-US" dirty="0"/>
              <a:t> </a:t>
            </a:r>
            <a:r>
              <a:rPr lang="en-US" dirty="0" err="1"/>
              <a:t>kopieer</a:t>
            </a:r>
            <a:r>
              <a:rPr lang="en-US" dirty="0"/>
              <a:t> </a:t>
            </a:r>
            <a:r>
              <a:rPr lang="en-US" dirty="0" err="1"/>
              <a:t>een</a:t>
            </a:r>
            <a:r>
              <a:rPr lang="en-US" dirty="0"/>
              <a:t> </a:t>
            </a:r>
            <a:r>
              <a:rPr lang="en-US" dirty="0" err="1"/>
              <a:t>aantal</a:t>
            </a:r>
            <a:r>
              <a:rPr lang="en-US" dirty="0"/>
              <a:t> </a:t>
            </a:r>
            <a:r>
              <a:rPr lang="en-US" dirty="0" err="1"/>
              <a:t>codeblokken</a:t>
            </a:r>
            <a:r>
              <a:rPr lang="en-US" dirty="0"/>
              <a:t> </a:t>
            </a:r>
            <a:r>
              <a:rPr lang="en-US" dirty="0" err="1"/>
              <a:t>naar</a:t>
            </a:r>
            <a:r>
              <a:rPr lang="en-US" dirty="0"/>
              <a:t> </a:t>
            </a:r>
            <a:r>
              <a:rPr lang="en-US" dirty="0" err="1"/>
              <a:t>Jupyter</a:t>
            </a:r>
            <a:r>
              <a:rPr lang="en-US" dirty="0"/>
              <a:t> Notebook in </a:t>
            </a:r>
            <a:r>
              <a:rPr lang="en-US" dirty="0" err="1"/>
              <a:t>VSCode</a:t>
            </a:r>
            <a:r>
              <a:rPr lang="en-US" dirty="0"/>
              <a:t>, </a:t>
            </a:r>
            <a:r>
              <a:rPr lang="en-US" dirty="0" err="1"/>
              <a:t>zodat</a:t>
            </a:r>
            <a:r>
              <a:rPr lang="en-US" dirty="0"/>
              <a:t> </a:t>
            </a:r>
            <a:r>
              <a:rPr lang="en-US" dirty="0" err="1"/>
              <a:t>studenten</a:t>
            </a:r>
            <a:r>
              <a:rPr lang="en-US" dirty="0"/>
              <a:t> </a:t>
            </a:r>
            <a:r>
              <a:rPr lang="en-US" dirty="0" err="1"/>
              <a:t>daadwerkelijk</a:t>
            </a:r>
            <a:r>
              <a:rPr lang="en-US" dirty="0"/>
              <a:t> de </a:t>
            </a:r>
            <a:r>
              <a:rPr lang="en-US" dirty="0" err="1"/>
              <a:t>werking</a:t>
            </a:r>
            <a:r>
              <a:rPr lang="en-US" dirty="0"/>
              <a:t> </a:t>
            </a:r>
            <a:r>
              <a:rPr lang="en-US" dirty="0" err="1"/>
              <a:t>zien</a:t>
            </a:r>
            <a:r>
              <a:rPr lang="en-US" dirty="0"/>
              <a:t> van de </a:t>
            </a:r>
            <a:r>
              <a:rPr lang="en-US" dirty="0" err="1"/>
              <a:t>betreffende</a:t>
            </a:r>
            <a:r>
              <a:rPr lang="en-US" dirty="0"/>
              <a:t> code. </a:t>
            </a:r>
            <a:r>
              <a:rPr lang="en-US" dirty="0" err="1"/>
              <a:t>Kijk</a:t>
            </a:r>
            <a:r>
              <a:rPr lang="en-US" dirty="0"/>
              <a:t>/hoor/</a:t>
            </a:r>
            <a:r>
              <a:rPr lang="en-US" dirty="0" err="1"/>
              <a:t>voel</a:t>
            </a:r>
            <a:r>
              <a:rPr lang="en-US" dirty="0"/>
              <a:t> </a:t>
            </a:r>
            <a:r>
              <a:rPr lang="en-US" dirty="0" err="1"/>
              <a:t>zelf</a:t>
            </a:r>
            <a:r>
              <a:rPr lang="en-US" dirty="0"/>
              <a:t> even </a:t>
            </a:r>
            <a:r>
              <a:rPr lang="en-US" dirty="0" err="1"/>
              <a:t>aan</a:t>
            </a:r>
            <a:r>
              <a:rPr lang="en-US" dirty="0"/>
              <a:t> </a:t>
            </a:r>
            <a:r>
              <a:rPr lang="en-US" dirty="0" err="1"/>
              <a:t>welke</a:t>
            </a:r>
            <a:r>
              <a:rPr lang="en-US" dirty="0"/>
              <a:t> </a:t>
            </a:r>
            <a:r>
              <a:rPr lang="en-US" dirty="0" err="1"/>
              <a:t>codeblokken</a:t>
            </a:r>
            <a:r>
              <a:rPr lang="en-US" dirty="0"/>
              <a:t> </a:t>
            </a:r>
            <a:r>
              <a:rPr lang="en-US" dirty="0" err="1"/>
              <a:t>handig</a:t>
            </a:r>
            <a:r>
              <a:rPr lang="en-US" dirty="0"/>
              <a:t> </a:t>
            </a:r>
            <a:r>
              <a:rPr lang="en-US" dirty="0" err="1"/>
              <a:t>zijn</a:t>
            </a:r>
            <a:r>
              <a:rPr lang="en-US" dirty="0"/>
              <a:t> om </a:t>
            </a:r>
            <a:r>
              <a:rPr lang="en-US" dirty="0" err="1"/>
              <a:t>te</a:t>
            </a:r>
            <a:r>
              <a:rPr lang="en-US" dirty="0"/>
              <a:t> </a:t>
            </a:r>
            <a:r>
              <a:rPr lang="en-US" dirty="0" err="1"/>
              <a:t>kopiëren</a:t>
            </a:r>
            <a:r>
              <a:rPr lang="en-US" dirty="0"/>
              <a:t>.</a:t>
            </a:r>
          </a:p>
        </p:txBody>
      </p:sp>
      <p:sp>
        <p:nvSpPr>
          <p:cNvPr id="4" name="Tijdelijke aanduiding voor dianummer 3">
            <a:extLst>
              <a:ext uri="{FF2B5EF4-FFF2-40B4-BE49-F238E27FC236}">
                <a16:creationId xmlns:a16="http://schemas.microsoft.com/office/drawing/2014/main" id="{35B3DDF8-A105-2023-11E3-E7DEB2A0F1DC}"/>
              </a:ext>
            </a:extLst>
          </p:cNvPr>
          <p:cNvSpPr>
            <a:spLocks noGrp="1"/>
          </p:cNvSpPr>
          <p:nvPr>
            <p:ph type="sldNum" sz="quarter" idx="5"/>
          </p:nvPr>
        </p:nvSpPr>
        <p:spPr/>
        <p:txBody>
          <a:bodyPr/>
          <a:lstStyle/>
          <a:p>
            <a:fld id="{D287CBEC-879D-4917-8D46-5F3379606FAC}" type="slidenum">
              <a:rPr lang="en-US" smtClean="0"/>
              <a:t>10</a:t>
            </a:fld>
            <a:endParaRPr lang="en-US"/>
          </a:p>
        </p:txBody>
      </p:sp>
    </p:spTree>
    <p:extLst>
      <p:ext uri="{BB962C8B-B14F-4D97-AF65-F5344CB8AC3E}">
        <p14:creationId xmlns:p14="http://schemas.microsoft.com/office/powerpoint/2010/main" val="3603926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E4FAB-47E2-6217-12BC-0B293AFB561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4E4AD00-D4C8-789B-14B3-A0FE58B7105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AAB5B54-030F-87D5-2A20-B1BECC73F7B5}"/>
              </a:ext>
            </a:extLst>
          </p:cNvPr>
          <p:cNvSpPr>
            <a:spLocks noGrp="1"/>
          </p:cNvSpPr>
          <p:nvPr>
            <p:ph type="body" idx="1"/>
          </p:nvPr>
        </p:nvSpPr>
        <p:spPr/>
        <p:txBody>
          <a:bodyPr/>
          <a:lstStyle/>
          <a:p>
            <a:endParaRPr lang="nl-NL" dirty="0"/>
          </a:p>
        </p:txBody>
      </p:sp>
      <p:sp>
        <p:nvSpPr>
          <p:cNvPr id="4" name="Tijdelijke aanduiding voor dianummer 3">
            <a:extLst>
              <a:ext uri="{FF2B5EF4-FFF2-40B4-BE49-F238E27FC236}">
                <a16:creationId xmlns:a16="http://schemas.microsoft.com/office/drawing/2014/main" id="{F6642AF9-4A41-FE5C-B25E-3D302FED83C9}"/>
              </a:ext>
            </a:extLst>
          </p:cNvPr>
          <p:cNvSpPr>
            <a:spLocks noGrp="1"/>
          </p:cNvSpPr>
          <p:nvPr>
            <p:ph type="sldNum" sz="quarter" idx="5"/>
          </p:nvPr>
        </p:nvSpPr>
        <p:spPr/>
        <p:txBody>
          <a:bodyPr/>
          <a:lstStyle/>
          <a:p>
            <a:fld id="{D287CBEC-879D-4917-8D46-5F3379606FAC}" type="slidenum">
              <a:rPr lang="en-US" smtClean="0"/>
              <a:t>12</a:t>
            </a:fld>
            <a:endParaRPr lang="en-US"/>
          </a:p>
        </p:txBody>
      </p:sp>
    </p:spTree>
    <p:extLst>
      <p:ext uri="{BB962C8B-B14F-4D97-AF65-F5344CB8AC3E}">
        <p14:creationId xmlns:p14="http://schemas.microsoft.com/office/powerpoint/2010/main" val="9338262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25"/>
              </a:lnSpc>
            </a:pPr>
            <a:r>
              <a:rPr lang="en-US" b="0" dirty="0" err="1">
                <a:solidFill>
                  <a:srgbClr val="9CDCFE"/>
                </a:solidFill>
                <a:effectLst/>
                <a:latin typeface="Consolas" panose="020B0609020204030204" pitchFamily="49" charset="0"/>
              </a:rPr>
              <a:t>export_conn</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pyodbc</a:t>
            </a:r>
            <a:r>
              <a:rPr lang="en-US" b="0" dirty="0" err="1">
                <a:solidFill>
                  <a:srgbClr val="CCCCCC"/>
                </a:solidFill>
                <a:effectLst/>
                <a:latin typeface="Consolas" panose="020B0609020204030204" pitchFamily="49" charset="0"/>
              </a:rPr>
              <a:t>.connect</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'DRIVER={SQL Server};SERVER='</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425"/>
              </a:lnSpc>
            </a:pPr>
            <a:r>
              <a:rPr lang="en-US" b="0" dirty="0">
                <a:solidFill>
                  <a:srgbClr val="CCCCCC"/>
                </a:solidFill>
                <a:effectLst/>
                <a:latin typeface="Consolas" panose="020B0609020204030204" pitchFamily="49" charset="0"/>
              </a:rPr>
              <a:t>                             </a:t>
            </a:r>
            <a:r>
              <a:rPr lang="en-US" b="0" dirty="0">
                <a:solidFill>
                  <a:srgbClr val="4FC1FF"/>
                </a:solidFill>
                <a:effectLst/>
                <a:latin typeface="Consolas" panose="020B0609020204030204" pitchFamily="49" charset="0"/>
              </a:rPr>
              <a:t>DB</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servername</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425"/>
              </a:lnSpc>
            </a:pP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';DATABASE='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425"/>
              </a:lnSpc>
            </a:pPr>
            <a:r>
              <a:rPr lang="en-US" b="0" dirty="0">
                <a:solidFill>
                  <a:srgbClr val="CCCCCC"/>
                </a:solidFill>
                <a:effectLst/>
                <a:latin typeface="Consolas" panose="020B0609020204030204" pitchFamily="49" charset="0"/>
              </a:rPr>
              <a:t>                             </a:t>
            </a:r>
            <a:r>
              <a:rPr lang="en-US" b="0" dirty="0">
                <a:solidFill>
                  <a:srgbClr val="4FC1FF"/>
                </a:solidFill>
                <a:effectLst/>
                <a:latin typeface="Consolas" panose="020B0609020204030204" pitchFamily="49" charset="0"/>
              </a:rPr>
              <a:t>DB</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'database'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425"/>
              </a:lnSpc>
            </a:pP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Trusted_Connection</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yes'</a:t>
            </a:r>
            <a:endParaRPr lang="en-US" b="0" dirty="0">
              <a:solidFill>
                <a:srgbClr val="CCCCCC"/>
              </a:solidFill>
              <a:effectLst/>
              <a:latin typeface="Consolas" panose="020B0609020204030204" pitchFamily="49" charset="0"/>
            </a:endParaRPr>
          </a:p>
          <a:p>
            <a:pPr>
              <a:lnSpc>
                <a:spcPts val="1425"/>
              </a:lnSpc>
            </a:pPr>
            <a:r>
              <a:rPr lang="en-US" b="0" dirty="0">
                <a:solidFill>
                  <a:srgbClr val="CCCCCC"/>
                </a:solidFill>
                <a:effectLst/>
                <a:latin typeface="Consolas" panose="020B0609020204030204" pitchFamily="49" charset="0"/>
              </a:rPr>
              <a:t>)</a:t>
            </a:r>
          </a:p>
        </p:txBody>
      </p:sp>
      <p:sp>
        <p:nvSpPr>
          <p:cNvPr id="4" name="Slide Number Placeholder 3"/>
          <p:cNvSpPr>
            <a:spLocks noGrp="1"/>
          </p:cNvSpPr>
          <p:nvPr>
            <p:ph type="sldNum" sz="quarter" idx="5"/>
          </p:nvPr>
        </p:nvSpPr>
        <p:spPr/>
        <p:txBody>
          <a:bodyPr/>
          <a:lstStyle/>
          <a:p>
            <a:fld id="{89D4F08E-DBF9-4149-B53D-0FE47425BC50}" type="slidenum">
              <a:rPr lang="en-US" smtClean="0"/>
              <a:t>13</a:t>
            </a:fld>
            <a:endParaRPr lang="en-US"/>
          </a:p>
        </p:txBody>
      </p:sp>
    </p:spTree>
    <p:extLst>
      <p:ext uri="{BB962C8B-B14F-4D97-AF65-F5344CB8AC3E}">
        <p14:creationId xmlns:p14="http://schemas.microsoft.com/office/powerpoint/2010/main" val="28534338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6788C-CA44-302A-5438-6B478CBAB3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EE179F-8E00-8331-B247-6895CAAC5D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CA2137-6952-C66F-8CC3-8D93182D4739}"/>
              </a:ext>
            </a:extLst>
          </p:cNvPr>
          <p:cNvSpPr>
            <a:spLocks noGrp="1"/>
          </p:cNvSpPr>
          <p:nvPr>
            <p:ph type="body" idx="1"/>
          </p:nvPr>
        </p:nvSpPr>
        <p:spPr/>
        <p:txBody>
          <a:bodyPr/>
          <a:lstStyle/>
          <a:p>
            <a:pPr>
              <a:lnSpc>
                <a:spcPts val="1425"/>
              </a:lnSpc>
            </a:pPr>
            <a:endParaRPr lang="en-US" b="0" dirty="0">
              <a:solidFill>
                <a:srgbClr val="CCCCCC"/>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C9507C48-D576-0F01-225C-9885A301D08F}"/>
              </a:ext>
            </a:extLst>
          </p:cNvPr>
          <p:cNvSpPr>
            <a:spLocks noGrp="1"/>
          </p:cNvSpPr>
          <p:nvPr>
            <p:ph type="sldNum" sz="quarter" idx="5"/>
          </p:nvPr>
        </p:nvSpPr>
        <p:spPr/>
        <p:txBody>
          <a:bodyPr/>
          <a:lstStyle/>
          <a:p>
            <a:fld id="{89D4F08E-DBF9-4149-B53D-0FE47425BC50}" type="slidenum">
              <a:rPr lang="en-US" smtClean="0"/>
              <a:t>14</a:t>
            </a:fld>
            <a:endParaRPr lang="en-US"/>
          </a:p>
        </p:txBody>
      </p:sp>
    </p:spTree>
    <p:extLst>
      <p:ext uri="{BB962C8B-B14F-4D97-AF65-F5344CB8AC3E}">
        <p14:creationId xmlns:p14="http://schemas.microsoft.com/office/powerpoint/2010/main" val="3484235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88B787-19A5-4841-9136-A8C6238BB1E9}" type="slidenum">
              <a:rPr lang="en-US" smtClean="0"/>
              <a:t>15</a:t>
            </a:fld>
            <a:endParaRPr lang="en-US"/>
          </a:p>
        </p:txBody>
      </p:sp>
    </p:spTree>
    <p:extLst>
      <p:ext uri="{BB962C8B-B14F-4D97-AF65-F5344CB8AC3E}">
        <p14:creationId xmlns:p14="http://schemas.microsoft.com/office/powerpoint/2010/main" val="24691715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F0FD9-01E2-F3CF-4F43-7C392CA5578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937BBF3-656B-3ADA-87E7-F8F24ABD867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51068BD-E6CE-D250-8E3B-CB69E5D357B1}"/>
              </a:ext>
            </a:extLst>
          </p:cNvPr>
          <p:cNvSpPr>
            <a:spLocks noGrp="1"/>
          </p:cNvSpPr>
          <p:nvPr>
            <p:ph type="body" idx="1"/>
          </p:nvPr>
        </p:nvSpPr>
        <p:spPr/>
        <p:txBody>
          <a:bodyPr/>
          <a:lstStyle/>
          <a:p>
            <a:endParaRPr lang="nl-NL" dirty="0"/>
          </a:p>
        </p:txBody>
      </p:sp>
      <p:sp>
        <p:nvSpPr>
          <p:cNvPr id="4" name="Tijdelijke aanduiding voor dianummer 3">
            <a:extLst>
              <a:ext uri="{FF2B5EF4-FFF2-40B4-BE49-F238E27FC236}">
                <a16:creationId xmlns:a16="http://schemas.microsoft.com/office/drawing/2014/main" id="{693A866B-65EF-4EDA-E95D-0C548BD8D2C5}"/>
              </a:ext>
            </a:extLst>
          </p:cNvPr>
          <p:cNvSpPr>
            <a:spLocks noGrp="1"/>
          </p:cNvSpPr>
          <p:nvPr>
            <p:ph type="sldNum" sz="quarter" idx="5"/>
          </p:nvPr>
        </p:nvSpPr>
        <p:spPr/>
        <p:txBody>
          <a:bodyPr/>
          <a:lstStyle/>
          <a:p>
            <a:fld id="{D287CBEC-879D-4917-8D46-5F3379606FAC}" type="slidenum">
              <a:rPr lang="en-US" smtClean="0"/>
              <a:t>16</a:t>
            </a:fld>
            <a:endParaRPr lang="en-US"/>
          </a:p>
        </p:txBody>
      </p:sp>
    </p:spTree>
    <p:extLst>
      <p:ext uri="{BB962C8B-B14F-4D97-AF65-F5344CB8AC3E}">
        <p14:creationId xmlns:p14="http://schemas.microsoft.com/office/powerpoint/2010/main" val="23323795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3790B-8510-6422-A707-F66A6A1387B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F07D519-1235-F5D6-2A9A-8E94C2A8A42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1F5DED1-FF1C-E1CE-5F09-537674F6AB9E}"/>
              </a:ext>
            </a:extLst>
          </p:cNvPr>
          <p:cNvSpPr>
            <a:spLocks noGrp="1"/>
          </p:cNvSpPr>
          <p:nvPr>
            <p:ph type="body" idx="1"/>
          </p:nvPr>
        </p:nvSpPr>
        <p:spPr/>
        <p:txBody>
          <a:bodyPr/>
          <a:lstStyle/>
          <a:p>
            <a:endParaRPr lang="nl-NL" dirty="0"/>
          </a:p>
        </p:txBody>
      </p:sp>
      <p:sp>
        <p:nvSpPr>
          <p:cNvPr id="4" name="Tijdelijke aanduiding voor dianummer 3">
            <a:extLst>
              <a:ext uri="{FF2B5EF4-FFF2-40B4-BE49-F238E27FC236}">
                <a16:creationId xmlns:a16="http://schemas.microsoft.com/office/drawing/2014/main" id="{14F1586D-DD57-11C6-540D-FBC8DCB3CE99}"/>
              </a:ext>
            </a:extLst>
          </p:cNvPr>
          <p:cNvSpPr>
            <a:spLocks noGrp="1"/>
          </p:cNvSpPr>
          <p:nvPr>
            <p:ph type="sldNum" sz="quarter" idx="5"/>
          </p:nvPr>
        </p:nvSpPr>
        <p:spPr/>
        <p:txBody>
          <a:bodyPr/>
          <a:lstStyle/>
          <a:p>
            <a:fld id="{D287CBEC-879D-4917-8D46-5F3379606FAC}" type="slidenum">
              <a:rPr lang="en-US" smtClean="0"/>
              <a:t>17</a:t>
            </a:fld>
            <a:endParaRPr lang="en-US"/>
          </a:p>
        </p:txBody>
      </p:sp>
    </p:spTree>
    <p:extLst>
      <p:ext uri="{BB962C8B-B14F-4D97-AF65-F5344CB8AC3E}">
        <p14:creationId xmlns:p14="http://schemas.microsoft.com/office/powerpoint/2010/main" val="13327984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2E90A-3C73-10C9-E65B-EB1DAAEDA3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5A2C47-9D4C-2902-74FF-A22CF0ADE3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3AED89-D4B4-70D6-0239-9333B38072BE}"/>
              </a:ext>
            </a:extLst>
          </p:cNvPr>
          <p:cNvSpPr>
            <a:spLocks noGrp="1"/>
          </p:cNvSpPr>
          <p:nvPr>
            <p:ph type="body" idx="1"/>
          </p:nvPr>
        </p:nvSpPr>
        <p:spPr/>
        <p:txBody>
          <a:bodyPr/>
          <a:lstStyle/>
          <a:p>
            <a:pPr>
              <a:lnSpc>
                <a:spcPts val="1425"/>
              </a:lnSpc>
            </a:pPr>
            <a:endParaRPr lang="en-US" b="0" dirty="0">
              <a:solidFill>
                <a:srgbClr val="CCCCCC"/>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7F2CE7D1-D40E-5E97-1B3A-85222F2ED59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D4F08E-DBF9-4149-B53D-0FE47425BC5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86154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56E09-0CF7-15FE-56AE-AE2E7006BA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452C46A-8596-B33A-41BF-366F0B9C7B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180EAD-293B-3E82-7011-9362B1852C93}"/>
              </a:ext>
            </a:extLst>
          </p:cNvPr>
          <p:cNvSpPr>
            <a:spLocks noGrp="1"/>
          </p:cNvSpPr>
          <p:nvPr>
            <p:ph type="dt" sz="half" idx="10"/>
          </p:nvPr>
        </p:nvSpPr>
        <p:spPr/>
        <p:txBody>
          <a:bodyPr/>
          <a:lstStyle/>
          <a:p>
            <a:fld id="{7B96B45D-D98F-4A32-A567-4AE2A91459D6}" type="datetimeFigureOut">
              <a:rPr lang="en-US" smtClean="0"/>
              <a:t>3/19/2026</a:t>
            </a:fld>
            <a:endParaRPr lang="en-US"/>
          </a:p>
        </p:txBody>
      </p:sp>
      <p:sp>
        <p:nvSpPr>
          <p:cNvPr id="5" name="Footer Placeholder 4">
            <a:extLst>
              <a:ext uri="{FF2B5EF4-FFF2-40B4-BE49-F238E27FC236}">
                <a16:creationId xmlns:a16="http://schemas.microsoft.com/office/drawing/2014/main" id="{E19DC25E-D1B9-004D-65A4-A9F2925A5443}"/>
              </a:ext>
            </a:extLst>
          </p:cNvPr>
          <p:cNvSpPr>
            <a:spLocks noGrp="1"/>
          </p:cNvSpPr>
          <p:nvPr>
            <p:ph type="ftr" sz="quarter" idx="11"/>
          </p:nvPr>
        </p:nvSpPr>
        <p:spPr/>
        <p:txBody>
          <a:bodyPr/>
          <a:lstStyle/>
          <a:p>
            <a:pPr>
              <a:defRPr/>
            </a:pPr>
            <a:r>
              <a:rPr lang="nl-NL"/>
              <a:t>invoegen-voet-koptekst</a:t>
            </a:r>
            <a:endParaRPr lang="en-GB"/>
          </a:p>
        </p:txBody>
      </p:sp>
      <p:sp>
        <p:nvSpPr>
          <p:cNvPr id="6" name="Slide Number Placeholder 5">
            <a:extLst>
              <a:ext uri="{FF2B5EF4-FFF2-40B4-BE49-F238E27FC236}">
                <a16:creationId xmlns:a16="http://schemas.microsoft.com/office/drawing/2014/main" id="{A003C643-E9BF-9350-BA5B-D59CDAF25367}"/>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257466375"/>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0AC38-465A-FCC3-19DB-3C9769EC95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D73C0E-B795-CB22-8144-DEBE8E52DE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F83648-CD85-36A6-CD18-E358C1884762}"/>
              </a:ext>
            </a:extLst>
          </p:cNvPr>
          <p:cNvSpPr>
            <a:spLocks noGrp="1"/>
          </p:cNvSpPr>
          <p:nvPr>
            <p:ph type="dt" sz="half" idx="10"/>
          </p:nvPr>
        </p:nvSpPr>
        <p:spPr/>
        <p:txBody>
          <a:bodyPr/>
          <a:lstStyle/>
          <a:p>
            <a:fld id="{7B96B45D-D98F-4A32-A567-4AE2A91459D6}" type="datetimeFigureOut">
              <a:rPr lang="en-US" smtClean="0"/>
              <a:t>3/19/2026</a:t>
            </a:fld>
            <a:endParaRPr lang="en-US"/>
          </a:p>
        </p:txBody>
      </p:sp>
      <p:sp>
        <p:nvSpPr>
          <p:cNvPr id="5" name="Footer Placeholder 4">
            <a:extLst>
              <a:ext uri="{FF2B5EF4-FFF2-40B4-BE49-F238E27FC236}">
                <a16:creationId xmlns:a16="http://schemas.microsoft.com/office/drawing/2014/main" id="{BAD4FC97-521F-4024-F7E5-F39DC51A04E6}"/>
              </a:ext>
            </a:extLst>
          </p:cNvPr>
          <p:cNvSpPr>
            <a:spLocks noGrp="1"/>
          </p:cNvSpPr>
          <p:nvPr>
            <p:ph type="ftr" sz="quarter" idx="11"/>
          </p:nvPr>
        </p:nvSpPr>
        <p:spPr/>
        <p:txBody>
          <a:bodyPr/>
          <a:lstStyle/>
          <a:p>
            <a:pPr>
              <a:defRPr/>
            </a:pPr>
            <a:r>
              <a:rPr lang="nl-NL"/>
              <a:t>invoegen-voet-koptekst</a:t>
            </a:r>
            <a:endParaRPr lang="en-GB"/>
          </a:p>
        </p:txBody>
      </p:sp>
      <p:sp>
        <p:nvSpPr>
          <p:cNvPr id="6" name="Slide Number Placeholder 5">
            <a:extLst>
              <a:ext uri="{FF2B5EF4-FFF2-40B4-BE49-F238E27FC236}">
                <a16:creationId xmlns:a16="http://schemas.microsoft.com/office/drawing/2014/main" id="{D9AB9FE3-1390-D2E6-7A7F-5DB9A4FD5FD2}"/>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37486675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995CC-9A3B-32C7-26FA-7633AA549C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00676F7-064C-4F26-1F72-ABFA718DE3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117449-E52C-836C-22C1-A220B80D236C}"/>
              </a:ext>
            </a:extLst>
          </p:cNvPr>
          <p:cNvSpPr>
            <a:spLocks noGrp="1"/>
          </p:cNvSpPr>
          <p:nvPr>
            <p:ph type="dt" sz="half" idx="10"/>
          </p:nvPr>
        </p:nvSpPr>
        <p:spPr/>
        <p:txBody>
          <a:bodyPr/>
          <a:lstStyle/>
          <a:p>
            <a:fld id="{7B96B45D-D98F-4A32-A567-4AE2A91459D6}" type="datetimeFigureOut">
              <a:rPr lang="en-US" smtClean="0"/>
              <a:t>3/19/2026</a:t>
            </a:fld>
            <a:endParaRPr lang="en-US"/>
          </a:p>
        </p:txBody>
      </p:sp>
      <p:sp>
        <p:nvSpPr>
          <p:cNvPr id="5" name="Footer Placeholder 4">
            <a:extLst>
              <a:ext uri="{FF2B5EF4-FFF2-40B4-BE49-F238E27FC236}">
                <a16:creationId xmlns:a16="http://schemas.microsoft.com/office/drawing/2014/main" id="{A13EDBA3-7981-A147-894E-FBFEBC4E7588}"/>
              </a:ext>
            </a:extLst>
          </p:cNvPr>
          <p:cNvSpPr>
            <a:spLocks noGrp="1"/>
          </p:cNvSpPr>
          <p:nvPr>
            <p:ph type="ftr" sz="quarter" idx="11"/>
          </p:nvPr>
        </p:nvSpPr>
        <p:spPr/>
        <p:txBody>
          <a:bodyPr/>
          <a:lstStyle/>
          <a:p>
            <a:pPr>
              <a:defRPr/>
            </a:pPr>
            <a:r>
              <a:rPr lang="nl-NL"/>
              <a:t>invoegen-voet-koptekst</a:t>
            </a:r>
            <a:endParaRPr lang="en-GB"/>
          </a:p>
        </p:txBody>
      </p:sp>
      <p:sp>
        <p:nvSpPr>
          <p:cNvPr id="6" name="Slide Number Placeholder 5">
            <a:extLst>
              <a:ext uri="{FF2B5EF4-FFF2-40B4-BE49-F238E27FC236}">
                <a16:creationId xmlns:a16="http://schemas.microsoft.com/office/drawing/2014/main" id="{E29A01B8-6A5C-FB02-094E-4E81295A2C4F}"/>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794401026"/>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D475C-EE23-3178-A543-73FB811C5A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98AB17-626A-5333-0A6E-CB12FEA6D1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213F0F-4796-84F5-DBE7-43D61AD83F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76BAF8-6E9E-0047-C4AF-6160F2736D24}"/>
              </a:ext>
            </a:extLst>
          </p:cNvPr>
          <p:cNvSpPr>
            <a:spLocks noGrp="1"/>
          </p:cNvSpPr>
          <p:nvPr>
            <p:ph type="dt" sz="half" idx="10"/>
          </p:nvPr>
        </p:nvSpPr>
        <p:spPr/>
        <p:txBody>
          <a:bodyPr/>
          <a:lstStyle/>
          <a:p>
            <a:fld id="{7B96B45D-D98F-4A32-A567-4AE2A91459D6}" type="datetimeFigureOut">
              <a:rPr lang="en-US" smtClean="0"/>
              <a:t>3/19/2026</a:t>
            </a:fld>
            <a:endParaRPr lang="en-US"/>
          </a:p>
        </p:txBody>
      </p:sp>
      <p:sp>
        <p:nvSpPr>
          <p:cNvPr id="6" name="Footer Placeholder 5">
            <a:extLst>
              <a:ext uri="{FF2B5EF4-FFF2-40B4-BE49-F238E27FC236}">
                <a16:creationId xmlns:a16="http://schemas.microsoft.com/office/drawing/2014/main" id="{62E037A4-3D45-7E03-AF61-940775F3CD74}"/>
              </a:ext>
            </a:extLst>
          </p:cNvPr>
          <p:cNvSpPr>
            <a:spLocks noGrp="1"/>
          </p:cNvSpPr>
          <p:nvPr>
            <p:ph type="ftr" sz="quarter" idx="11"/>
          </p:nvPr>
        </p:nvSpPr>
        <p:spPr/>
        <p:txBody>
          <a:bodyPr/>
          <a:lstStyle/>
          <a:p>
            <a:pPr>
              <a:defRPr/>
            </a:pPr>
            <a:r>
              <a:rPr lang="nl-NL"/>
              <a:t>invoegen-voet-koptekst</a:t>
            </a:r>
            <a:endParaRPr lang="en-GB"/>
          </a:p>
        </p:txBody>
      </p:sp>
      <p:sp>
        <p:nvSpPr>
          <p:cNvPr id="7" name="Slide Number Placeholder 6">
            <a:extLst>
              <a:ext uri="{FF2B5EF4-FFF2-40B4-BE49-F238E27FC236}">
                <a16:creationId xmlns:a16="http://schemas.microsoft.com/office/drawing/2014/main" id="{B09FC9BB-0E76-AB74-BDB5-D56968BCE51C}"/>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59853726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1D902-B76B-0D3B-7D8E-EC62DB739B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F87664-4DB7-3A7A-9154-32CA8884A9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BF2F29-D106-938C-7A85-CC58AA8C96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78DE05-771E-EAF7-B5AD-DB62810DDC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CAFE87-8F2D-F296-E5BE-76C0F381E0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7ADE75-237D-46D1-ACCC-056D7986640F}"/>
              </a:ext>
            </a:extLst>
          </p:cNvPr>
          <p:cNvSpPr>
            <a:spLocks noGrp="1"/>
          </p:cNvSpPr>
          <p:nvPr>
            <p:ph type="dt" sz="half" idx="10"/>
          </p:nvPr>
        </p:nvSpPr>
        <p:spPr/>
        <p:txBody>
          <a:bodyPr/>
          <a:lstStyle/>
          <a:p>
            <a:fld id="{7B96B45D-D98F-4A32-A567-4AE2A91459D6}" type="datetimeFigureOut">
              <a:rPr lang="en-US" smtClean="0"/>
              <a:t>3/19/2026</a:t>
            </a:fld>
            <a:endParaRPr lang="en-US"/>
          </a:p>
        </p:txBody>
      </p:sp>
      <p:sp>
        <p:nvSpPr>
          <p:cNvPr id="8" name="Footer Placeholder 7">
            <a:extLst>
              <a:ext uri="{FF2B5EF4-FFF2-40B4-BE49-F238E27FC236}">
                <a16:creationId xmlns:a16="http://schemas.microsoft.com/office/drawing/2014/main" id="{94950C1E-DB96-C177-6BCD-6837B4579CD1}"/>
              </a:ext>
            </a:extLst>
          </p:cNvPr>
          <p:cNvSpPr>
            <a:spLocks noGrp="1"/>
          </p:cNvSpPr>
          <p:nvPr>
            <p:ph type="ftr" sz="quarter" idx="11"/>
          </p:nvPr>
        </p:nvSpPr>
        <p:spPr/>
        <p:txBody>
          <a:bodyPr/>
          <a:lstStyle/>
          <a:p>
            <a:pPr>
              <a:defRPr/>
            </a:pPr>
            <a:r>
              <a:rPr lang="nl-NL"/>
              <a:t>invoegen-voet-koptekst</a:t>
            </a:r>
            <a:endParaRPr lang="en-GB"/>
          </a:p>
        </p:txBody>
      </p:sp>
      <p:sp>
        <p:nvSpPr>
          <p:cNvPr id="9" name="Slide Number Placeholder 8">
            <a:extLst>
              <a:ext uri="{FF2B5EF4-FFF2-40B4-BE49-F238E27FC236}">
                <a16:creationId xmlns:a16="http://schemas.microsoft.com/office/drawing/2014/main" id="{4E5317B8-7B96-056C-C7A6-38D4E1FEE3A5}"/>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361182736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630FC-7829-8CDA-4A7A-B763E7F01E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F884C6-40AE-7A1A-646F-FDB97DF4E133}"/>
              </a:ext>
            </a:extLst>
          </p:cNvPr>
          <p:cNvSpPr>
            <a:spLocks noGrp="1"/>
          </p:cNvSpPr>
          <p:nvPr>
            <p:ph type="dt" sz="half" idx="10"/>
          </p:nvPr>
        </p:nvSpPr>
        <p:spPr/>
        <p:txBody>
          <a:bodyPr/>
          <a:lstStyle/>
          <a:p>
            <a:fld id="{7B96B45D-D98F-4A32-A567-4AE2A91459D6}" type="datetimeFigureOut">
              <a:rPr lang="en-US" smtClean="0"/>
              <a:t>3/19/2026</a:t>
            </a:fld>
            <a:endParaRPr lang="en-US"/>
          </a:p>
        </p:txBody>
      </p:sp>
      <p:sp>
        <p:nvSpPr>
          <p:cNvPr id="4" name="Footer Placeholder 3">
            <a:extLst>
              <a:ext uri="{FF2B5EF4-FFF2-40B4-BE49-F238E27FC236}">
                <a16:creationId xmlns:a16="http://schemas.microsoft.com/office/drawing/2014/main" id="{5F9C0B22-A8AB-852C-7952-E20D6422FDA1}"/>
              </a:ext>
            </a:extLst>
          </p:cNvPr>
          <p:cNvSpPr>
            <a:spLocks noGrp="1"/>
          </p:cNvSpPr>
          <p:nvPr>
            <p:ph type="ftr" sz="quarter" idx="11"/>
          </p:nvPr>
        </p:nvSpPr>
        <p:spPr/>
        <p:txBody>
          <a:bodyPr/>
          <a:lstStyle/>
          <a:p>
            <a:pPr>
              <a:defRPr/>
            </a:pPr>
            <a:r>
              <a:rPr lang="nl-NL"/>
              <a:t>invoegen-voet-koptekst</a:t>
            </a:r>
            <a:endParaRPr lang="en-GB"/>
          </a:p>
        </p:txBody>
      </p:sp>
      <p:sp>
        <p:nvSpPr>
          <p:cNvPr id="5" name="Slide Number Placeholder 4">
            <a:extLst>
              <a:ext uri="{FF2B5EF4-FFF2-40B4-BE49-F238E27FC236}">
                <a16:creationId xmlns:a16="http://schemas.microsoft.com/office/drawing/2014/main" id="{7A21647F-ACAF-E312-C8BB-7F265E5E9D8D}"/>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3556664320"/>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069462-9FEA-5D88-EE00-E187BAA415A2}"/>
              </a:ext>
            </a:extLst>
          </p:cNvPr>
          <p:cNvSpPr>
            <a:spLocks noGrp="1"/>
          </p:cNvSpPr>
          <p:nvPr>
            <p:ph type="dt" sz="half" idx="10"/>
          </p:nvPr>
        </p:nvSpPr>
        <p:spPr/>
        <p:txBody>
          <a:bodyPr/>
          <a:lstStyle/>
          <a:p>
            <a:fld id="{7B96B45D-D98F-4A32-A567-4AE2A91459D6}" type="datetimeFigureOut">
              <a:rPr lang="en-US" smtClean="0"/>
              <a:t>3/19/2026</a:t>
            </a:fld>
            <a:endParaRPr lang="en-US"/>
          </a:p>
        </p:txBody>
      </p:sp>
      <p:sp>
        <p:nvSpPr>
          <p:cNvPr id="3" name="Footer Placeholder 2">
            <a:extLst>
              <a:ext uri="{FF2B5EF4-FFF2-40B4-BE49-F238E27FC236}">
                <a16:creationId xmlns:a16="http://schemas.microsoft.com/office/drawing/2014/main" id="{53B7087A-F4BC-7377-70F3-0A571BD7FC76}"/>
              </a:ext>
            </a:extLst>
          </p:cNvPr>
          <p:cNvSpPr>
            <a:spLocks noGrp="1"/>
          </p:cNvSpPr>
          <p:nvPr>
            <p:ph type="ftr" sz="quarter" idx="11"/>
          </p:nvPr>
        </p:nvSpPr>
        <p:spPr/>
        <p:txBody>
          <a:bodyPr/>
          <a:lstStyle/>
          <a:p>
            <a:pPr>
              <a:defRPr/>
            </a:pPr>
            <a:r>
              <a:rPr lang="nl-NL"/>
              <a:t>invoegen-voet-koptekst</a:t>
            </a:r>
            <a:endParaRPr lang="en-GB"/>
          </a:p>
        </p:txBody>
      </p:sp>
      <p:sp>
        <p:nvSpPr>
          <p:cNvPr id="4" name="Slide Number Placeholder 3">
            <a:extLst>
              <a:ext uri="{FF2B5EF4-FFF2-40B4-BE49-F238E27FC236}">
                <a16:creationId xmlns:a16="http://schemas.microsoft.com/office/drawing/2014/main" id="{B24184FF-048E-0634-23CE-F08BC13056DF}"/>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1524056406"/>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20A2F-4D46-B289-C61D-EBEAFA11EB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DF170F-AB91-8E12-212F-57BF043017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91F1DB-E4ED-A226-CC84-D5BC800924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F7C25F-3269-1F4E-CECA-5F2EF4454D16}"/>
              </a:ext>
            </a:extLst>
          </p:cNvPr>
          <p:cNvSpPr>
            <a:spLocks noGrp="1"/>
          </p:cNvSpPr>
          <p:nvPr>
            <p:ph type="dt" sz="half" idx="10"/>
          </p:nvPr>
        </p:nvSpPr>
        <p:spPr/>
        <p:txBody>
          <a:bodyPr/>
          <a:lstStyle/>
          <a:p>
            <a:fld id="{7B96B45D-D98F-4A32-A567-4AE2A91459D6}" type="datetimeFigureOut">
              <a:rPr lang="en-US" smtClean="0"/>
              <a:t>3/19/2026</a:t>
            </a:fld>
            <a:endParaRPr lang="en-US"/>
          </a:p>
        </p:txBody>
      </p:sp>
      <p:sp>
        <p:nvSpPr>
          <p:cNvPr id="6" name="Footer Placeholder 5">
            <a:extLst>
              <a:ext uri="{FF2B5EF4-FFF2-40B4-BE49-F238E27FC236}">
                <a16:creationId xmlns:a16="http://schemas.microsoft.com/office/drawing/2014/main" id="{E5CE8728-A678-4921-52FF-FAC84DAB2FDF}"/>
              </a:ext>
            </a:extLst>
          </p:cNvPr>
          <p:cNvSpPr>
            <a:spLocks noGrp="1"/>
          </p:cNvSpPr>
          <p:nvPr>
            <p:ph type="ftr" sz="quarter" idx="11"/>
          </p:nvPr>
        </p:nvSpPr>
        <p:spPr/>
        <p:txBody>
          <a:bodyPr/>
          <a:lstStyle/>
          <a:p>
            <a:pPr>
              <a:defRPr/>
            </a:pPr>
            <a:r>
              <a:rPr lang="nl-NL"/>
              <a:t>invoegen-voet-koptekst</a:t>
            </a:r>
            <a:endParaRPr lang="en-GB"/>
          </a:p>
        </p:txBody>
      </p:sp>
      <p:sp>
        <p:nvSpPr>
          <p:cNvPr id="7" name="Slide Number Placeholder 6">
            <a:extLst>
              <a:ext uri="{FF2B5EF4-FFF2-40B4-BE49-F238E27FC236}">
                <a16:creationId xmlns:a16="http://schemas.microsoft.com/office/drawing/2014/main" id="{1EDF1AA8-97A5-DAD4-C8BC-65BC563F993A}"/>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3628104375"/>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CA4B-6237-DD8B-3CF0-8F9C6FB90E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42D31B-B7BB-010A-4AA4-79370FF579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4D15A3-2F7F-E910-4E49-0319EF17FE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373E74-A348-3972-B8B8-EF901921AB04}"/>
              </a:ext>
            </a:extLst>
          </p:cNvPr>
          <p:cNvSpPr>
            <a:spLocks noGrp="1"/>
          </p:cNvSpPr>
          <p:nvPr>
            <p:ph type="dt" sz="half" idx="10"/>
          </p:nvPr>
        </p:nvSpPr>
        <p:spPr/>
        <p:txBody>
          <a:bodyPr/>
          <a:lstStyle/>
          <a:p>
            <a:fld id="{7B96B45D-D98F-4A32-A567-4AE2A91459D6}" type="datetimeFigureOut">
              <a:rPr lang="en-US" smtClean="0"/>
              <a:t>3/19/2026</a:t>
            </a:fld>
            <a:endParaRPr lang="en-US"/>
          </a:p>
        </p:txBody>
      </p:sp>
      <p:sp>
        <p:nvSpPr>
          <p:cNvPr id="6" name="Footer Placeholder 5">
            <a:extLst>
              <a:ext uri="{FF2B5EF4-FFF2-40B4-BE49-F238E27FC236}">
                <a16:creationId xmlns:a16="http://schemas.microsoft.com/office/drawing/2014/main" id="{F77FB359-D110-649F-2709-F12065329048}"/>
              </a:ext>
            </a:extLst>
          </p:cNvPr>
          <p:cNvSpPr>
            <a:spLocks noGrp="1"/>
          </p:cNvSpPr>
          <p:nvPr>
            <p:ph type="ftr" sz="quarter" idx="11"/>
          </p:nvPr>
        </p:nvSpPr>
        <p:spPr/>
        <p:txBody>
          <a:bodyPr/>
          <a:lstStyle/>
          <a:p>
            <a:pPr>
              <a:defRPr/>
            </a:pPr>
            <a:r>
              <a:rPr lang="nl-NL"/>
              <a:t>invoegen-voet-koptekst</a:t>
            </a:r>
            <a:endParaRPr lang="en-GB"/>
          </a:p>
        </p:txBody>
      </p:sp>
      <p:sp>
        <p:nvSpPr>
          <p:cNvPr id="7" name="Slide Number Placeholder 6">
            <a:extLst>
              <a:ext uri="{FF2B5EF4-FFF2-40B4-BE49-F238E27FC236}">
                <a16:creationId xmlns:a16="http://schemas.microsoft.com/office/drawing/2014/main" id="{AFFFDCBB-7F8D-7680-B733-5A49721002EF}"/>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50064911"/>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2EFF2-C20E-F920-8CD9-F976324B37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8FCEA7-24D9-D5DC-C977-3754632062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BCC4D3-B485-2A8D-BCF7-F3BAC5F16260}"/>
              </a:ext>
            </a:extLst>
          </p:cNvPr>
          <p:cNvSpPr>
            <a:spLocks noGrp="1"/>
          </p:cNvSpPr>
          <p:nvPr>
            <p:ph type="dt" sz="half" idx="10"/>
          </p:nvPr>
        </p:nvSpPr>
        <p:spPr/>
        <p:txBody>
          <a:bodyPr/>
          <a:lstStyle/>
          <a:p>
            <a:fld id="{7B96B45D-D98F-4A32-A567-4AE2A91459D6}" type="datetimeFigureOut">
              <a:rPr lang="en-US" smtClean="0"/>
              <a:t>3/19/2026</a:t>
            </a:fld>
            <a:endParaRPr lang="en-US"/>
          </a:p>
        </p:txBody>
      </p:sp>
      <p:sp>
        <p:nvSpPr>
          <p:cNvPr id="5" name="Footer Placeholder 4">
            <a:extLst>
              <a:ext uri="{FF2B5EF4-FFF2-40B4-BE49-F238E27FC236}">
                <a16:creationId xmlns:a16="http://schemas.microsoft.com/office/drawing/2014/main" id="{5D8DB089-D6C5-1314-9322-0562E592BCA1}"/>
              </a:ext>
            </a:extLst>
          </p:cNvPr>
          <p:cNvSpPr>
            <a:spLocks noGrp="1"/>
          </p:cNvSpPr>
          <p:nvPr>
            <p:ph type="ftr" sz="quarter" idx="11"/>
          </p:nvPr>
        </p:nvSpPr>
        <p:spPr/>
        <p:txBody>
          <a:bodyPr/>
          <a:lstStyle/>
          <a:p>
            <a:pPr>
              <a:defRPr/>
            </a:pPr>
            <a:r>
              <a:rPr lang="nl-NL"/>
              <a:t>invoegen-voet-koptekst</a:t>
            </a:r>
            <a:endParaRPr lang="en-GB"/>
          </a:p>
        </p:txBody>
      </p:sp>
      <p:sp>
        <p:nvSpPr>
          <p:cNvPr id="6" name="Slide Number Placeholder 5">
            <a:extLst>
              <a:ext uri="{FF2B5EF4-FFF2-40B4-BE49-F238E27FC236}">
                <a16:creationId xmlns:a16="http://schemas.microsoft.com/office/drawing/2014/main" id="{A1757239-F72A-B3B9-4251-D09071CFD054}"/>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24949622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5FB015-28AB-C2F6-BF24-7B41FC5C45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A5C4992-6315-8134-344F-FBC543F690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4BBA65-F8D1-924C-C2F9-7A3F3711A5B3}"/>
              </a:ext>
            </a:extLst>
          </p:cNvPr>
          <p:cNvSpPr>
            <a:spLocks noGrp="1"/>
          </p:cNvSpPr>
          <p:nvPr>
            <p:ph type="dt" sz="half" idx="10"/>
          </p:nvPr>
        </p:nvSpPr>
        <p:spPr/>
        <p:txBody>
          <a:bodyPr/>
          <a:lstStyle/>
          <a:p>
            <a:fld id="{7B96B45D-D98F-4A32-A567-4AE2A91459D6}" type="datetimeFigureOut">
              <a:rPr lang="en-US" smtClean="0"/>
              <a:t>3/19/2026</a:t>
            </a:fld>
            <a:endParaRPr lang="en-US"/>
          </a:p>
        </p:txBody>
      </p:sp>
      <p:sp>
        <p:nvSpPr>
          <p:cNvPr id="5" name="Footer Placeholder 4">
            <a:extLst>
              <a:ext uri="{FF2B5EF4-FFF2-40B4-BE49-F238E27FC236}">
                <a16:creationId xmlns:a16="http://schemas.microsoft.com/office/drawing/2014/main" id="{0EA9CD2E-031C-46D2-1A49-7115D8930D17}"/>
              </a:ext>
            </a:extLst>
          </p:cNvPr>
          <p:cNvSpPr>
            <a:spLocks noGrp="1"/>
          </p:cNvSpPr>
          <p:nvPr>
            <p:ph type="ftr" sz="quarter" idx="11"/>
          </p:nvPr>
        </p:nvSpPr>
        <p:spPr/>
        <p:txBody>
          <a:bodyPr/>
          <a:lstStyle/>
          <a:p>
            <a:pPr>
              <a:defRPr/>
            </a:pPr>
            <a:r>
              <a:rPr lang="nl-NL"/>
              <a:t>invoegen-voet-koptekst</a:t>
            </a:r>
            <a:endParaRPr lang="en-GB"/>
          </a:p>
        </p:txBody>
      </p:sp>
      <p:sp>
        <p:nvSpPr>
          <p:cNvPr id="6" name="Slide Number Placeholder 5">
            <a:extLst>
              <a:ext uri="{FF2B5EF4-FFF2-40B4-BE49-F238E27FC236}">
                <a16:creationId xmlns:a16="http://schemas.microsoft.com/office/drawing/2014/main" id="{227EE953-6330-21D1-00CB-7FC8C8955BC3}"/>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2881324072"/>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11FA4E-E385-847C-AE6D-230355D62E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BB839E-C7CC-BF9A-55C1-AD77C38C52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F0ABAE-69DA-E883-5ADB-EB9AC96D09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96B45D-D98F-4A32-A567-4AE2A91459D6}" type="datetimeFigureOut">
              <a:rPr lang="en-US" smtClean="0"/>
              <a:t>3/19/2026</a:t>
            </a:fld>
            <a:endParaRPr lang="en-US"/>
          </a:p>
        </p:txBody>
      </p:sp>
      <p:sp>
        <p:nvSpPr>
          <p:cNvPr id="5" name="Footer Placeholder 4">
            <a:extLst>
              <a:ext uri="{FF2B5EF4-FFF2-40B4-BE49-F238E27FC236}">
                <a16:creationId xmlns:a16="http://schemas.microsoft.com/office/drawing/2014/main" id="{F902FF5B-BFA7-55B6-6151-5B263570E6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nl-NL"/>
              <a:t>invoegen-voet-koptekst</a:t>
            </a:r>
            <a:endParaRPr lang="en-GB"/>
          </a:p>
        </p:txBody>
      </p:sp>
      <p:sp>
        <p:nvSpPr>
          <p:cNvPr id="6" name="Slide Number Placeholder 5">
            <a:extLst>
              <a:ext uri="{FF2B5EF4-FFF2-40B4-BE49-F238E27FC236}">
                <a16:creationId xmlns:a16="http://schemas.microsoft.com/office/drawing/2014/main" id="{BEB7B8DA-67AF-B29B-FC1D-2E06696884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7C737D-49A5-4740-8401-0C4DFF2B9D4A}" type="slidenum">
              <a:rPr lang="nl-NL" smtClean="0"/>
              <a:pPr/>
              <a:t>‹#›</a:t>
            </a:fld>
            <a:endParaRPr lang="nl-NL"/>
          </a:p>
        </p:txBody>
      </p:sp>
      <p:pic>
        <p:nvPicPr>
          <p:cNvPr id="7" name="Picture 2">
            <a:extLst>
              <a:ext uri="{FF2B5EF4-FFF2-40B4-BE49-F238E27FC236}">
                <a16:creationId xmlns:a16="http://schemas.microsoft.com/office/drawing/2014/main" id="{D8C1A59F-BCA0-79F1-6F87-079182BCC73D}"/>
              </a:ext>
            </a:extLst>
          </p:cNvPr>
          <p:cNvPicPr>
            <a:picLocks noChangeAspect="1"/>
          </p:cNvPicPr>
          <p:nvPr userDrawn="1"/>
        </p:nvPicPr>
        <p:blipFill>
          <a:blip r:embed="rId13" cstate="email">
            <a:extLst>
              <a:ext uri="{28A0092B-C50C-407E-A947-70E740481C1C}">
                <a14:useLocalDpi xmlns:a14="http://schemas.microsoft.com/office/drawing/2010/main" val="0"/>
              </a:ext>
            </a:extLst>
          </a:blip>
          <a:srcRect/>
          <a:stretch>
            <a:fillRect/>
          </a:stretch>
        </p:blipFill>
        <p:spPr bwMode="auto">
          <a:xfrm>
            <a:off x="1" y="-4763"/>
            <a:ext cx="977900" cy="68627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58546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0.pn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10.png"/><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10.pn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10.png"/><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10.png"/><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vak 7">
            <a:extLst>
              <a:ext uri="{FF2B5EF4-FFF2-40B4-BE49-F238E27FC236}">
                <a16:creationId xmlns:a16="http://schemas.microsoft.com/office/drawing/2014/main" id="{5ECCA89E-3666-CEB9-DEEF-AE7D0C9A09DE}"/>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sp>
        <p:nvSpPr>
          <p:cNvPr id="7" name="TextBox 1">
            <a:extLst>
              <a:ext uri="{FF2B5EF4-FFF2-40B4-BE49-F238E27FC236}">
                <a16:creationId xmlns:a16="http://schemas.microsoft.com/office/drawing/2014/main" id="{BAAD41C4-AB8B-603C-1D5D-873690001E0D}"/>
              </a:ext>
            </a:extLst>
          </p:cNvPr>
          <p:cNvSpPr txBox="1"/>
          <p:nvPr/>
        </p:nvSpPr>
        <p:spPr>
          <a:xfrm>
            <a:off x="1455575" y="0"/>
            <a:ext cx="10391775"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Datawarehouse Implementation</a:t>
            </a:r>
          </a:p>
        </p:txBody>
      </p:sp>
      <p:pic>
        <p:nvPicPr>
          <p:cNvPr id="3" name="Picture 2" descr="We are moving lettering concept. Smallyellow car with boxes on the roof  with furniture, lamp,cat, plant. Moving home. Pile of stuff on vehicle.  Vector flat illustration isolated on white background 12494507 Vector">
            <a:extLst>
              <a:ext uri="{FF2B5EF4-FFF2-40B4-BE49-F238E27FC236}">
                <a16:creationId xmlns:a16="http://schemas.microsoft.com/office/drawing/2014/main" id="{0D80337F-2C16-A840-480A-C9E91F9F14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9482" y="611246"/>
            <a:ext cx="11142518" cy="6214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2729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1579A-00E3-0EA8-2788-5FC4C41CE637}"/>
            </a:ext>
          </a:extLst>
        </p:cNvPr>
        <p:cNvGrpSpPr/>
        <p:nvPr/>
      </p:nvGrpSpPr>
      <p:grpSpPr>
        <a:xfrm>
          <a:off x="0" y="0"/>
          <a:ext cx="0" cy="0"/>
          <a:chOff x="0" y="0"/>
          <a:chExt cx="0" cy="0"/>
        </a:xfrm>
      </p:grpSpPr>
      <p:sp>
        <p:nvSpPr>
          <p:cNvPr id="7" name="Tekstvak 7">
            <a:extLst>
              <a:ext uri="{FF2B5EF4-FFF2-40B4-BE49-F238E27FC236}">
                <a16:creationId xmlns:a16="http://schemas.microsoft.com/office/drawing/2014/main" id="{98BFEDA1-D06A-90BD-7A6D-4F8D7ACED92E}"/>
              </a:ext>
            </a:extLst>
          </p:cNvPr>
          <p:cNvSpPr txBox="1"/>
          <p:nvPr/>
        </p:nvSpPr>
        <p:spPr>
          <a:xfrm rot="16200000">
            <a:off x="-760560" y="982747"/>
            <a:ext cx="21927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800" b="0" i="0" u="none" strike="noStrike" kern="1200" cap="none" spc="0" normalizeH="0" baseline="0" noProof="0" dirty="0">
                <a:ln>
                  <a:noFill/>
                </a:ln>
                <a:solidFill>
                  <a:prstClr val="white"/>
                </a:solidFill>
                <a:effectLst/>
                <a:uLnTx/>
                <a:uFillTx/>
                <a:latin typeface="Calibri" panose="020F0502020204030204"/>
                <a:ea typeface="+mn-ea"/>
                <a:cs typeface="+mn-cs"/>
              </a:rPr>
              <a:t>Jelle van Barneveld</a:t>
            </a:r>
          </a:p>
        </p:txBody>
      </p:sp>
      <p:sp>
        <p:nvSpPr>
          <p:cNvPr id="2" name="TextBox 1">
            <a:extLst>
              <a:ext uri="{FF2B5EF4-FFF2-40B4-BE49-F238E27FC236}">
                <a16:creationId xmlns:a16="http://schemas.microsoft.com/office/drawing/2014/main" id="{A6C17733-86D5-32B9-CE14-A41A5BD7A674}"/>
              </a:ext>
            </a:extLst>
          </p:cNvPr>
          <p:cNvSpPr txBox="1"/>
          <p:nvPr/>
        </p:nvSpPr>
        <p:spPr>
          <a:xfrm>
            <a:off x="988290" y="-10754"/>
            <a:ext cx="11203710" cy="643831"/>
          </a:xfrm>
          <a:prstGeom prst="rect">
            <a:avLst/>
          </a:prstGeom>
          <a:noFill/>
        </p:spPr>
        <p:txBody>
          <a:bodyPr wrap="square" rtlCol="0">
            <a:spAutoFit/>
          </a:bodyPr>
          <a:lstStyle/>
          <a:p>
            <a:pPr marL="0" marR="0" lvl="0" indent="0" algn="ctr" defTabSz="457200" rtl="0" eaLnBrk="0" fontAlgn="base" latinLnBrk="0" hangingPunct="0">
              <a:lnSpc>
                <a:spcPct val="134000"/>
              </a:lnSpc>
              <a:spcBef>
                <a:spcPct val="0"/>
              </a:spcBef>
              <a:spcAft>
                <a:spcPct val="0"/>
              </a:spcAft>
              <a:buClr>
                <a:srgbClr val="080808"/>
              </a:buClr>
              <a:buSzPct val="100000"/>
              <a:buFont typeface="Times New Roman" charset="0"/>
              <a:buNone/>
              <a:tabLst/>
              <a:defRPr/>
            </a:pPr>
            <a:r>
              <a:rPr kumimoji="0" lang="en-US" sz="3000" b="1" i="0" u="none" strike="noStrike" kern="1200" cap="none" spc="0" normalizeH="0" baseline="0" noProof="0" dirty="0">
                <a:ln>
                  <a:noFill/>
                </a:ln>
                <a:solidFill>
                  <a:srgbClr val="829C30"/>
                </a:solidFill>
                <a:effectLst/>
                <a:uLnTx/>
                <a:uFillTx/>
                <a:latin typeface="Arial"/>
                <a:ea typeface="MS PGothic" charset="0"/>
                <a:cs typeface="+mn-cs"/>
              </a:rPr>
              <a:t>Na </a:t>
            </a:r>
            <a:r>
              <a:rPr kumimoji="0" lang="en-US" sz="3000" b="1" i="0" u="none" strike="noStrike" kern="1200" cap="none" spc="0" normalizeH="0" baseline="0" noProof="0" dirty="0" err="1">
                <a:ln>
                  <a:noFill/>
                </a:ln>
                <a:solidFill>
                  <a:srgbClr val="829C30"/>
                </a:solidFill>
                <a:effectLst/>
                <a:uLnTx/>
                <a:uFillTx/>
                <a:latin typeface="Arial"/>
                <a:ea typeface="MS PGothic" charset="0"/>
                <a:cs typeface="+mn-cs"/>
              </a:rPr>
              <a:t>vandaag</a:t>
            </a:r>
            <a:r>
              <a:rPr kumimoji="0" lang="en-US" sz="3000" b="1" i="0" u="none" strike="noStrike" kern="1200" cap="none" spc="0" normalizeH="0" baseline="0" noProof="0" dirty="0">
                <a:ln>
                  <a:noFill/>
                </a:ln>
                <a:solidFill>
                  <a:srgbClr val="829C30"/>
                </a:solidFill>
                <a:effectLst/>
                <a:uLnTx/>
                <a:uFillTx/>
                <a:latin typeface="Arial"/>
                <a:ea typeface="MS PGothic" charset="0"/>
                <a:cs typeface="+mn-cs"/>
              </a:rPr>
              <a:t>…</a:t>
            </a:r>
          </a:p>
        </p:txBody>
      </p:sp>
      <p:sp>
        <p:nvSpPr>
          <p:cNvPr id="5" name="Slide Number Placeholder 4">
            <a:extLst>
              <a:ext uri="{FF2B5EF4-FFF2-40B4-BE49-F238E27FC236}">
                <a16:creationId xmlns:a16="http://schemas.microsoft.com/office/drawing/2014/main" id="{3393672C-20DD-A5AA-8F54-CE575B0742E0}"/>
              </a:ext>
            </a:extLst>
          </p:cNvPr>
          <p:cNvSpPr>
            <a:spLocks noGrp="1"/>
          </p:cNvSpPr>
          <p:nvPr>
            <p:ph type="sldNum" sz="quarter" idx="12"/>
          </p:nvPr>
        </p:nvSpPr>
        <p:spPr>
          <a:xfrm>
            <a:off x="8601364" y="6381345"/>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7C737D-49A5-4740-8401-0C4DFF2B9D4A}" type="slidenum">
              <a:rPr kumimoji="0" lang="nl-N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nl-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Tekstvak 7">
            <a:extLst>
              <a:ext uri="{FF2B5EF4-FFF2-40B4-BE49-F238E27FC236}">
                <a16:creationId xmlns:a16="http://schemas.microsoft.com/office/drawing/2014/main" id="{B9DFE172-B384-9D7C-529C-1A1E332E61FC}"/>
              </a:ext>
            </a:extLst>
          </p:cNvPr>
          <p:cNvSpPr txBox="1"/>
          <p:nvPr/>
        </p:nvSpPr>
        <p:spPr>
          <a:xfrm rot="16200000">
            <a:off x="-760560" y="982747"/>
            <a:ext cx="21927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800" b="0" i="0" u="none" strike="noStrike" kern="1200" cap="none" spc="0" normalizeH="0" baseline="0" noProof="0" dirty="0">
                <a:ln>
                  <a:noFill/>
                </a:ln>
                <a:solidFill>
                  <a:prstClr val="white"/>
                </a:solidFill>
                <a:effectLst/>
                <a:uLnTx/>
                <a:uFillTx/>
                <a:latin typeface="Calibri" panose="020F0502020204030204"/>
                <a:ea typeface="+mn-ea"/>
                <a:cs typeface="+mn-cs"/>
              </a:rPr>
              <a:t>Jelle van Barneveld</a:t>
            </a:r>
          </a:p>
        </p:txBody>
      </p:sp>
      <p:pic>
        <p:nvPicPr>
          <p:cNvPr id="1026" name="Picture 2" descr="Venn Diagram | DHH Resources for Teachers | UMN">
            <a:extLst>
              <a:ext uri="{FF2B5EF4-FFF2-40B4-BE49-F238E27FC236}">
                <a16:creationId xmlns:a16="http://schemas.microsoft.com/office/drawing/2014/main" id="{6FED045B-462C-3386-2609-66494E12A0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863" y="1025768"/>
            <a:ext cx="11101137" cy="589417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56B1447-F3FA-03F3-5142-FB50043A4FCF}"/>
              </a:ext>
            </a:extLst>
          </p:cNvPr>
          <p:cNvSpPr txBox="1"/>
          <p:nvPr/>
        </p:nvSpPr>
        <p:spPr>
          <a:xfrm>
            <a:off x="7124700" y="1339924"/>
            <a:ext cx="2884934"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Slowly Changing Dimensions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typen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1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2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inbouwen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in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dynamische</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Datawarehouses</a:t>
            </a:r>
            <a:endPar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endParaRPr>
          </a:p>
        </p:txBody>
      </p:sp>
      <p:sp>
        <p:nvSpPr>
          <p:cNvPr id="13" name="TextBox 12">
            <a:extLst>
              <a:ext uri="{FF2B5EF4-FFF2-40B4-BE49-F238E27FC236}">
                <a16:creationId xmlns:a16="http://schemas.microsoft.com/office/drawing/2014/main" id="{E496ABE9-0CD0-E2DE-CF37-A6B647DE8797}"/>
              </a:ext>
            </a:extLst>
          </p:cNvPr>
          <p:cNvSpPr txBox="1"/>
          <p:nvPr/>
        </p:nvSpPr>
        <p:spPr>
          <a:xfrm>
            <a:off x="3576418" y="683609"/>
            <a:ext cx="174021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Weet/ken je…</a:t>
            </a:r>
          </a:p>
        </p:txBody>
      </p:sp>
      <p:sp>
        <p:nvSpPr>
          <p:cNvPr id="8" name="TextBox 7">
            <a:extLst>
              <a:ext uri="{FF2B5EF4-FFF2-40B4-BE49-F238E27FC236}">
                <a16:creationId xmlns:a16="http://schemas.microsoft.com/office/drawing/2014/main" id="{F19940F7-248C-6C42-F446-AF1C75EF07EE}"/>
              </a:ext>
            </a:extLst>
          </p:cNvPr>
          <p:cNvSpPr txBox="1"/>
          <p:nvPr/>
        </p:nvSpPr>
        <p:spPr>
          <a:xfrm>
            <a:off x="7306936" y="683609"/>
            <a:ext cx="264986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Kan je…</a:t>
            </a:r>
          </a:p>
        </p:txBody>
      </p:sp>
      <p:sp>
        <p:nvSpPr>
          <p:cNvPr id="15" name="TextBox 14">
            <a:extLst>
              <a:ext uri="{FF2B5EF4-FFF2-40B4-BE49-F238E27FC236}">
                <a16:creationId xmlns:a16="http://schemas.microsoft.com/office/drawing/2014/main" id="{CF10889F-382A-D342-BF7D-9D35C40DC063}"/>
              </a:ext>
            </a:extLst>
          </p:cNvPr>
          <p:cNvSpPr txBox="1"/>
          <p:nvPr/>
        </p:nvSpPr>
        <p:spPr>
          <a:xfrm>
            <a:off x="5873750" y="2438044"/>
            <a:ext cx="136809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HC + WC</a:t>
            </a:r>
          </a:p>
        </p:txBody>
      </p:sp>
      <p:pic>
        <p:nvPicPr>
          <p:cNvPr id="1030" name="Picture 6" descr="Smile Emoji Happy - Free vector graphic on Pixabay">
            <a:extLst>
              <a:ext uri="{FF2B5EF4-FFF2-40B4-BE49-F238E27FC236}">
                <a16:creationId xmlns:a16="http://schemas.microsoft.com/office/drawing/2014/main" id="{11021C13-7D51-0DFB-3E20-6388FC05F9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75" y="3213902"/>
            <a:ext cx="1523028" cy="152302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DC790D2-3E2A-D032-BC6F-BD30767DF5BC}"/>
              </a:ext>
            </a:extLst>
          </p:cNvPr>
          <p:cNvSpPr txBox="1"/>
          <p:nvPr/>
        </p:nvSpPr>
        <p:spPr>
          <a:xfrm>
            <a:off x="2780368" y="1462949"/>
            <a:ext cx="333231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Welke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soorten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databronnen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er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bestaan</a:t>
            </a:r>
            <a:endPar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endParaRPr>
          </a:p>
        </p:txBody>
      </p:sp>
      <p:sp>
        <p:nvSpPr>
          <p:cNvPr id="12" name="TextBox 11">
            <a:extLst>
              <a:ext uri="{FF2B5EF4-FFF2-40B4-BE49-F238E27FC236}">
                <a16:creationId xmlns:a16="http://schemas.microsoft.com/office/drawing/2014/main" id="{E1A0803F-14FB-9D65-946A-C04A3C607EE3}"/>
              </a:ext>
            </a:extLst>
          </p:cNvPr>
          <p:cNvSpPr txBox="1"/>
          <p:nvPr/>
        </p:nvSpPr>
        <p:spPr>
          <a:xfrm>
            <a:off x="1555185" y="4000724"/>
            <a:ext cx="3651447"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W</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at in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Datawarehouses</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het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verschil</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is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tussen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Business Keys &amp; Surrogate Keys</a:t>
            </a:r>
            <a:endPar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endParaRPr>
          </a:p>
        </p:txBody>
      </p:sp>
      <p:sp>
        <p:nvSpPr>
          <p:cNvPr id="20" name="TextBox 19">
            <a:extLst>
              <a:ext uri="{FF2B5EF4-FFF2-40B4-BE49-F238E27FC236}">
                <a16:creationId xmlns:a16="http://schemas.microsoft.com/office/drawing/2014/main" id="{FC908A55-9878-5825-BC26-592336566A01}"/>
              </a:ext>
            </a:extLst>
          </p:cNvPr>
          <p:cNvSpPr txBox="1"/>
          <p:nvPr/>
        </p:nvSpPr>
        <p:spPr>
          <a:xfrm>
            <a:off x="1750693" y="2316338"/>
            <a:ext cx="3651447"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Wat Slowly Changing Dimensions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typen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0 t/m 3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zijn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hoe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zij</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van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elkaar</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verschillen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waarom</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wanneer</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je welk type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gebruikt</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a:t>
            </a:r>
            <a:endPar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endParaRPr>
          </a:p>
        </p:txBody>
      </p:sp>
      <p:sp>
        <p:nvSpPr>
          <p:cNvPr id="22" name="TextBox 21">
            <a:extLst>
              <a:ext uri="{FF2B5EF4-FFF2-40B4-BE49-F238E27FC236}">
                <a16:creationId xmlns:a16="http://schemas.microsoft.com/office/drawing/2014/main" id="{36AEED11-0C20-EA7B-F553-E428282D1170}"/>
              </a:ext>
            </a:extLst>
          </p:cNvPr>
          <p:cNvSpPr txBox="1"/>
          <p:nvPr/>
        </p:nvSpPr>
        <p:spPr>
          <a:xfrm>
            <a:off x="2222303" y="5222977"/>
            <a:ext cx="3651447"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Welke inlaadstrategieën je het beste kunt toepassen bij het inladen van data in Datawarehouses</a:t>
            </a:r>
            <a:endPar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endParaRPr>
          </a:p>
        </p:txBody>
      </p:sp>
      <p:sp>
        <p:nvSpPr>
          <p:cNvPr id="23" name="TextBox 22">
            <a:extLst>
              <a:ext uri="{FF2B5EF4-FFF2-40B4-BE49-F238E27FC236}">
                <a16:creationId xmlns:a16="http://schemas.microsoft.com/office/drawing/2014/main" id="{E5FADC9C-4ED0-C831-AA7F-C2E3E4CB7D1B}"/>
              </a:ext>
            </a:extLst>
          </p:cNvPr>
          <p:cNvSpPr txBox="1"/>
          <p:nvPr/>
        </p:nvSpPr>
        <p:spPr>
          <a:xfrm>
            <a:off x="8310684" y="2975762"/>
            <a:ext cx="2884934"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Surrogate- &amp; Business Keys op de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juiste</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manier</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verwerken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in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Datawarehouses</a:t>
            </a:r>
            <a:endPar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endParaRPr>
          </a:p>
        </p:txBody>
      </p:sp>
      <p:sp>
        <p:nvSpPr>
          <p:cNvPr id="24" name="TextBox 23">
            <a:extLst>
              <a:ext uri="{FF2B5EF4-FFF2-40B4-BE49-F238E27FC236}">
                <a16:creationId xmlns:a16="http://schemas.microsoft.com/office/drawing/2014/main" id="{0A41BF6F-9A1C-9BAA-4F47-B535BABE3F48}"/>
              </a:ext>
            </a:extLst>
          </p:cNvPr>
          <p:cNvSpPr txBox="1"/>
          <p:nvPr/>
        </p:nvSpPr>
        <p:spPr>
          <a:xfrm>
            <a:off x="7590408" y="4723878"/>
            <a:ext cx="2884934"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De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strategieën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“UPSERT”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“Incremental Data Loading”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gebruiken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om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Datawarehouses</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te</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actualiseren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met data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uit</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Source Data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Modellen</a:t>
            </a:r>
            <a:endPar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199930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2" grpId="0"/>
      <p:bldP spid="23"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1579A-00E3-0EA8-2788-5FC4C41CE637}"/>
            </a:ext>
          </a:extLst>
        </p:cNvPr>
        <p:cNvGrpSpPr/>
        <p:nvPr/>
      </p:nvGrpSpPr>
      <p:grpSpPr>
        <a:xfrm>
          <a:off x="0" y="0"/>
          <a:ext cx="0" cy="0"/>
          <a:chOff x="0" y="0"/>
          <a:chExt cx="0" cy="0"/>
        </a:xfrm>
      </p:grpSpPr>
      <p:sp>
        <p:nvSpPr>
          <p:cNvPr id="7" name="Tekstvak 7">
            <a:extLst>
              <a:ext uri="{FF2B5EF4-FFF2-40B4-BE49-F238E27FC236}">
                <a16:creationId xmlns:a16="http://schemas.microsoft.com/office/drawing/2014/main" id="{98BFEDA1-D06A-90BD-7A6D-4F8D7ACED92E}"/>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sp>
        <p:nvSpPr>
          <p:cNvPr id="2" name="TextBox 1">
            <a:extLst>
              <a:ext uri="{FF2B5EF4-FFF2-40B4-BE49-F238E27FC236}">
                <a16:creationId xmlns:a16="http://schemas.microsoft.com/office/drawing/2014/main" id="{A6C17733-86D5-32B9-CE14-A41A5BD7A674}"/>
              </a:ext>
            </a:extLst>
          </p:cNvPr>
          <p:cNvSpPr txBox="1"/>
          <p:nvPr/>
        </p:nvSpPr>
        <p:spPr>
          <a:xfrm>
            <a:off x="988290" y="-10754"/>
            <a:ext cx="11203710"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Het </a:t>
            </a:r>
            <a:r>
              <a:rPr lang="en-US" sz="3000" b="1" dirty="0" err="1">
                <a:solidFill>
                  <a:srgbClr val="829C30"/>
                </a:solidFill>
                <a:latin typeface="Arial"/>
                <a:ea typeface="MS PGothic" charset="0"/>
              </a:rPr>
              <a:t>huidige</a:t>
            </a:r>
            <a:r>
              <a:rPr lang="en-US" sz="3000" b="1" dirty="0">
                <a:solidFill>
                  <a:srgbClr val="829C30"/>
                </a:solidFill>
                <a:latin typeface="Arial"/>
                <a:ea typeface="MS PGothic" charset="0"/>
              </a:rPr>
              <a:t> </a:t>
            </a:r>
            <a:r>
              <a:rPr lang="en-US" sz="3000" b="1" dirty="0" err="1">
                <a:solidFill>
                  <a:srgbClr val="829C30"/>
                </a:solidFill>
                <a:latin typeface="Arial"/>
                <a:ea typeface="MS PGothic" charset="0"/>
              </a:rPr>
              <a:t>Sterschema</a:t>
            </a:r>
            <a:endParaRPr lang="en-US" sz="3000" b="1" dirty="0">
              <a:solidFill>
                <a:srgbClr val="829C30"/>
              </a:solidFill>
              <a:latin typeface="Arial"/>
              <a:ea typeface="MS PGothic" charset="0"/>
            </a:endParaRPr>
          </a:p>
        </p:txBody>
      </p:sp>
      <p:cxnSp>
        <p:nvCxnSpPr>
          <p:cNvPr id="21" name="Straight Connector 10">
            <a:extLst>
              <a:ext uri="{FF2B5EF4-FFF2-40B4-BE49-F238E27FC236}">
                <a16:creationId xmlns:a16="http://schemas.microsoft.com/office/drawing/2014/main" id="{E35D44B6-5C92-5584-4749-D278F4AA7FFE}"/>
              </a:ext>
            </a:extLst>
          </p:cNvPr>
          <p:cNvCxnSpPr>
            <a:cxnSpLocks/>
          </p:cNvCxnSpPr>
          <p:nvPr/>
        </p:nvCxnSpPr>
        <p:spPr>
          <a:xfrm>
            <a:off x="988290" y="702275"/>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10" name="TextBox 1">
            <a:extLst>
              <a:ext uri="{FF2B5EF4-FFF2-40B4-BE49-F238E27FC236}">
                <a16:creationId xmlns:a16="http://schemas.microsoft.com/office/drawing/2014/main" id="{4D6B609E-E84B-0418-B7CE-3D47F2C5F8FC}"/>
              </a:ext>
            </a:extLst>
          </p:cNvPr>
          <p:cNvSpPr txBox="1"/>
          <p:nvPr/>
        </p:nvSpPr>
        <p:spPr>
          <a:xfrm>
            <a:off x="9102181" y="3241964"/>
            <a:ext cx="2938653" cy="1536896"/>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dirty="0">
                <a:latin typeface="Arial"/>
                <a:ea typeface="MS PGothic" charset="0"/>
              </a:rPr>
              <a:t>Bij het aanmaken van het DWH: maak je als eerst de </a:t>
            </a:r>
            <a:r>
              <a:rPr lang="nl-NL" u="sng" dirty="0">
                <a:latin typeface="Arial"/>
                <a:ea typeface="MS PGothic" charset="0"/>
              </a:rPr>
              <a:t>feiten</a:t>
            </a:r>
            <a:r>
              <a:rPr lang="nl-NL" dirty="0">
                <a:latin typeface="Arial"/>
                <a:ea typeface="MS PGothic" charset="0"/>
              </a:rPr>
              <a:t> of juist als eerst de </a:t>
            </a:r>
            <a:r>
              <a:rPr lang="nl-NL" u="sng" dirty="0">
                <a:latin typeface="Arial"/>
                <a:ea typeface="MS PGothic" charset="0"/>
              </a:rPr>
              <a:t>dimensies</a:t>
            </a:r>
            <a:r>
              <a:rPr lang="nl-NL" dirty="0">
                <a:latin typeface="Arial"/>
                <a:ea typeface="MS PGothic" charset="0"/>
              </a:rPr>
              <a:t> aan?</a:t>
            </a:r>
          </a:p>
        </p:txBody>
      </p:sp>
      <p:sp>
        <p:nvSpPr>
          <p:cNvPr id="14" name="TextBox 1">
            <a:extLst>
              <a:ext uri="{FF2B5EF4-FFF2-40B4-BE49-F238E27FC236}">
                <a16:creationId xmlns:a16="http://schemas.microsoft.com/office/drawing/2014/main" id="{39F28E77-5E85-9960-D75E-9D95E8B5DA1B}"/>
              </a:ext>
            </a:extLst>
          </p:cNvPr>
          <p:cNvSpPr txBox="1"/>
          <p:nvPr/>
        </p:nvSpPr>
        <p:spPr>
          <a:xfrm>
            <a:off x="8931485" y="5097021"/>
            <a:ext cx="3260515" cy="1165704"/>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dirty="0">
                <a:solidFill>
                  <a:srgbClr val="00B050"/>
                </a:solidFill>
                <a:latin typeface="Arial"/>
                <a:ea typeface="MS PGothic" charset="0"/>
              </a:rPr>
              <a:t>De dimensies: feiten moeten hiernaar verwijzen, dus </a:t>
            </a:r>
            <a:r>
              <a:rPr lang="nl-NL" u="sng" dirty="0">
                <a:solidFill>
                  <a:srgbClr val="00B050"/>
                </a:solidFill>
                <a:latin typeface="Arial"/>
                <a:ea typeface="MS PGothic" charset="0"/>
              </a:rPr>
              <a:t>deze moeten al bestaan</a:t>
            </a:r>
            <a:endParaRPr lang="nl-NL" dirty="0">
              <a:solidFill>
                <a:srgbClr val="00B050"/>
              </a:solidFill>
              <a:latin typeface="Arial"/>
              <a:ea typeface="MS PGothic" charset="0"/>
            </a:endParaRPr>
          </a:p>
        </p:txBody>
      </p:sp>
      <p:pic>
        <p:nvPicPr>
          <p:cNvPr id="2050" name="Picture 2" descr="Forensic Friday — Mobile Forensic Investigation using DB Browser SQLite |  by MichaelLearns_ | Medium">
            <a:extLst>
              <a:ext uri="{FF2B5EF4-FFF2-40B4-BE49-F238E27FC236}">
                <a16:creationId xmlns:a16="http://schemas.microsoft.com/office/drawing/2014/main" id="{ADCDF2AE-FB52-B749-D14B-29414280A8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1846" y="1020437"/>
            <a:ext cx="3288988" cy="215232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429E3513-971C-6665-3513-E6C8914D4323}"/>
              </a:ext>
            </a:extLst>
          </p:cNvPr>
          <p:cNvPicPr>
            <a:picLocks noChangeAspect="1"/>
          </p:cNvPicPr>
          <p:nvPr/>
        </p:nvPicPr>
        <p:blipFill>
          <a:blip r:embed="rId4"/>
          <a:stretch>
            <a:fillRect/>
          </a:stretch>
        </p:blipFill>
        <p:spPr>
          <a:xfrm>
            <a:off x="988290" y="811425"/>
            <a:ext cx="7667337" cy="6046575"/>
          </a:xfrm>
          <a:prstGeom prst="rect">
            <a:avLst/>
          </a:prstGeom>
        </p:spPr>
      </p:pic>
    </p:spTree>
    <p:extLst>
      <p:ext uri="{BB962C8B-B14F-4D97-AF65-F5344CB8AC3E}">
        <p14:creationId xmlns:p14="http://schemas.microsoft.com/office/powerpoint/2010/main" val="1475492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kstvak 7">
            <a:extLst>
              <a:ext uri="{FF2B5EF4-FFF2-40B4-BE49-F238E27FC236}">
                <a16:creationId xmlns:a16="http://schemas.microsoft.com/office/drawing/2014/main" id="{44D485DA-CE64-C41D-89EA-EE617D435320}"/>
              </a:ext>
            </a:extLst>
          </p:cNvPr>
          <p:cNvSpPr txBox="1"/>
          <p:nvPr/>
        </p:nvSpPr>
        <p:spPr>
          <a:xfrm rot="16200000">
            <a:off x="-760560" y="982747"/>
            <a:ext cx="2192786" cy="369332"/>
          </a:xfrm>
          <a:prstGeom prst="rect">
            <a:avLst/>
          </a:prstGeom>
          <a:noFill/>
        </p:spPr>
        <p:txBody>
          <a:bodyPr wrap="square" rtlCol="0">
            <a:spAutoFit/>
          </a:bodyPr>
          <a:lstStyle/>
          <a:p>
            <a:r>
              <a:rPr lang="nl-NL" sz="1800">
                <a:solidFill>
                  <a:schemeClr val="bg1"/>
                </a:solidFill>
                <a:latin typeface="+mn-lt"/>
              </a:rPr>
              <a:t>Jelle van Barneveld</a:t>
            </a:r>
          </a:p>
        </p:txBody>
      </p:sp>
      <p:sp>
        <p:nvSpPr>
          <p:cNvPr id="2" name="TextBox 1">
            <a:extLst>
              <a:ext uri="{FF2B5EF4-FFF2-40B4-BE49-F238E27FC236}">
                <a16:creationId xmlns:a16="http://schemas.microsoft.com/office/drawing/2014/main" id="{042711C9-B8C6-980A-6A8E-B70FC6573C7F}"/>
              </a:ext>
            </a:extLst>
          </p:cNvPr>
          <p:cNvSpPr txBox="1"/>
          <p:nvPr/>
        </p:nvSpPr>
        <p:spPr>
          <a:xfrm>
            <a:off x="2531828" y="-990"/>
            <a:ext cx="8636105"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2 </a:t>
            </a:r>
            <a:r>
              <a:rPr lang="en-US" sz="3000" b="1" dirty="0" err="1">
                <a:solidFill>
                  <a:srgbClr val="829C30"/>
                </a:solidFill>
                <a:latin typeface="Arial"/>
                <a:ea typeface="MS PGothic" charset="0"/>
              </a:rPr>
              <a:t>soorten</a:t>
            </a:r>
            <a:r>
              <a:rPr lang="en-US" sz="3000" b="1" dirty="0">
                <a:solidFill>
                  <a:srgbClr val="829C30"/>
                </a:solidFill>
                <a:latin typeface="Arial"/>
                <a:ea typeface="MS PGothic" charset="0"/>
              </a:rPr>
              <a:t> </a:t>
            </a:r>
            <a:r>
              <a:rPr lang="en-US" sz="3000" b="1" dirty="0" err="1">
                <a:solidFill>
                  <a:srgbClr val="829C30"/>
                </a:solidFill>
                <a:latin typeface="Arial"/>
                <a:ea typeface="MS PGothic" charset="0"/>
              </a:rPr>
              <a:t>databronnen</a:t>
            </a:r>
            <a:endParaRPr lang="en-US" sz="3000" b="1" dirty="0">
              <a:solidFill>
                <a:srgbClr val="829C30"/>
              </a:solidFill>
              <a:latin typeface="Arial"/>
              <a:ea typeface="MS PGothic" charset="0"/>
            </a:endParaRPr>
          </a:p>
        </p:txBody>
      </p:sp>
      <p:cxnSp>
        <p:nvCxnSpPr>
          <p:cNvPr id="3" name="Straight Connector 10">
            <a:extLst>
              <a:ext uri="{FF2B5EF4-FFF2-40B4-BE49-F238E27FC236}">
                <a16:creationId xmlns:a16="http://schemas.microsoft.com/office/drawing/2014/main" id="{6D403D28-38E6-E976-8636-3F973FB2541F}"/>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cxnSp>
        <p:nvCxnSpPr>
          <p:cNvPr id="8" name="Straight Connector 10">
            <a:extLst>
              <a:ext uri="{FF2B5EF4-FFF2-40B4-BE49-F238E27FC236}">
                <a16:creationId xmlns:a16="http://schemas.microsoft.com/office/drawing/2014/main" id="{A6EBBAAF-064A-A99B-AEE5-4D6114FC22DD}"/>
              </a:ext>
            </a:extLst>
          </p:cNvPr>
          <p:cNvCxnSpPr>
            <a:cxnSpLocks/>
          </p:cNvCxnSpPr>
          <p:nvPr/>
        </p:nvCxnSpPr>
        <p:spPr>
          <a:xfrm flipV="1">
            <a:off x="6590145" y="812800"/>
            <a:ext cx="0" cy="604520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15" name="TextBox 1">
            <a:extLst>
              <a:ext uri="{FF2B5EF4-FFF2-40B4-BE49-F238E27FC236}">
                <a16:creationId xmlns:a16="http://schemas.microsoft.com/office/drawing/2014/main" id="{00251B71-3E87-E159-84CA-8CBA38F29A15}"/>
              </a:ext>
            </a:extLst>
          </p:cNvPr>
          <p:cNvSpPr txBox="1"/>
          <p:nvPr/>
        </p:nvSpPr>
        <p:spPr>
          <a:xfrm>
            <a:off x="1850701" y="837429"/>
            <a:ext cx="3649024" cy="400110"/>
          </a:xfrm>
          <a:prstGeom prst="rect">
            <a:avLst/>
          </a:prstGeom>
          <a:noFill/>
        </p:spPr>
        <p:txBody>
          <a:bodyPr wrap="square" rtlCol="0">
            <a:spAutoFit/>
          </a:bodyPr>
          <a:lstStyle/>
          <a:p>
            <a:pPr algn="ctr"/>
            <a:r>
              <a:rPr lang="en-US" sz="2000" b="0" i="0" u="none" strike="noStrike" dirty="0" err="1">
                <a:solidFill>
                  <a:srgbClr val="000000"/>
                </a:solidFill>
                <a:effectLst/>
                <a:latin typeface="Arial" panose="020B0604020202020204" pitchFamily="34" charset="0"/>
              </a:rPr>
              <a:t>Statisch</a:t>
            </a:r>
            <a:endParaRPr lang="nl-NL" sz="2000" dirty="0"/>
          </a:p>
        </p:txBody>
      </p:sp>
      <p:sp>
        <p:nvSpPr>
          <p:cNvPr id="19" name="TextBox 1">
            <a:extLst>
              <a:ext uri="{FF2B5EF4-FFF2-40B4-BE49-F238E27FC236}">
                <a16:creationId xmlns:a16="http://schemas.microsoft.com/office/drawing/2014/main" id="{915C875B-B26A-2F79-6FBB-4D96A68FF464}"/>
              </a:ext>
            </a:extLst>
          </p:cNvPr>
          <p:cNvSpPr txBox="1"/>
          <p:nvPr/>
        </p:nvSpPr>
        <p:spPr>
          <a:xfrm>
            <a:off x="8344530" y="879137"/>
            <a:ext cx="2823403" cy="400110"/>
          </a:xfrm>
          <a:prstGeom prst="rect">
            <a:avLst/>
          </a:prstGeom>
          <a:noFill/>
        </p:spPr>
        <p:txBody>
          <a:bodyPr wrap="square" rtlCol="0">
            <a:spAutoFit/>
          </a:bodyPr>
          <a:lstStyle/>
          <a:p>
            <a:pPr algn="ctr"/>
            <a:r>
              <a:rPr lang="en-US" sz="2000" dirty="0" err="1">
                <a:solidFill>
                  <a:srgbClr val="000000"/>
                </a:solidFill>
                <a:latin typeface="Arial" panose="020B0604020202020204" pitchFamily="34" charset="0"/>
              </a:rPr>
              <a:t>Dynamisch</a:t>
            </a:r>
            <a:endParaRPr lang="nl-NL" sz="2000" dirty="0"/>
          </a:p>
        </p:txBody>
      </p:sp>
      <p:sp>
        <p:nvSpPr>
          <p:cNvPr id="30" name="TextBox 1">
            <a:extLst>
              <a:ext uri="{FF2B5EF4-FFF2-40B4-BE49-F238E27FC236}">
                <a16:creationId xmlns:a16="http://schemas.microsoft.com/office/drawing/2014/main" id="{03538475-B948-35F0-1013-3761103667FE}"/>
              </a:ext>
            </a:extLst>
          </p:cNvPr>
          <p:cNvSpPr txBox="1"/>
          <p:nvPr/>
        </p:nvSpPr>
        <p:spPr>
          <a:xfrm>
            <a:off x="937804" y="3820296"/>
            <a:ext cx="5509650" cy="3021661"/>
          </a:xfrm>
          <a:prstGeom prst="rect">
            <a:avLst/>
          </a:prstGeom>
          <a:noFill/>
        </p:spPr>
        <p:txBody>
          <a:bodyPr wrap="square" rtlCol="0">
            <a:spAutoFit/>
          </a:bodyPr>
          <a:lstStyle/>
          <a:p>
            <a:pPr defTabSz="457200" eaLnBrk="0" fontAlgn="base" hangingPunct="0">
              <a:lnSpc>
                <a:spcPct val="134000"/>
              </a:lnSpc>
              <a:spcBef>
                <a:spcPct val="0"/>
              </a:spcBef>
              <a:spcAft>
                <a:spcPct val="0"/>
              </a:spcAft>
              <a:buClr>
                <a:srgbClr val="080808"/>
              </a:buClr>
              <a:buSzPct val="100000"/>
              <a:buFont typeface="Times New Roman" charset="0"/>
              <a:buNone/>
            </a:pPr>
            <a:r>
              <a:rPr lang="en-US" dirty="0" err="1">
                <a:latin typeface="Arial"/>
                <a:ea typeface="MS PGothic" charset="0"/>
              </a:rPr>
              <a:t>Databronnen</a:t>
            </a:r>
            <a:r>
              <a:rPr lang="en-US" dirty="0">
                <a:latin typeface="Arial"/>
                <a:ea typeface="MS PGothic" charset="0"/>
              </a:rPr>
              <a:t> </a:t>
            </a:r>
            <a:r>
              <a:rPr lang="en-US" dirty="0" err="1">
                <a:latin typeface="Arial"/>
                <a:ea typeface="MS PGothic" charset="0"/>
              </a:rPr>
              <a:t>waarin</a:t>
            </a:r>
            <a:r>
              <a:rPr lang="en-US" dirty="0">
                <a:latin typeface="Arial"/>
                <a:ea typeface="MS PGothic" charset="0"/>
              </a:rPr>
              <a:t> </a:t>
            </a:r>
            <a:r>
              <a:rPr lang="en-US" dirty="0" err="1">
                <a:latin typeface="Arial"/>
                <a:ea typeface="MS PGothic" charset="0"/>
              </a:rPr>
              <a:t>bijna</a:t>
            </a:r>
            <a:r>
              <a:rPr lang="en-US" dirty="0">
                <a:latin typeface="Arial"/>
                <a:ea typeface="MS PGothic" charset="0"/>
              </a:rPr>
              <a:t> nooit </a:t>
            </a:r>
            <a:r>
              <a:rPr lang="en-US" dirty="0" err="1">
                <a:latin typeface="Arial"/>
                <a:ea typeface="MS PGothic" charset="0"/>
              </a:rPr>
              <a:t>wijzigingen</a:t>
            </a:r>
            <a:r>
              <a:rPr lang="en-US" dirty="0">
                <a:latin typeface="Arial"/>
                <a:ea typeface="MS PGothic" charset="0"/>
              </a:rPr>
              <a:t> </a:t>
            </a:r>
            <a:r>
              <a:rPr lang="en-US" dirty="0" err="1">
                <a:latin typeface="Arial"/>
                <a:ea typeface="MS PGothic" charset="0"/>
              </a:rPr>
              <a:t>plaatsvinden</a:t>
            </a:r>
            <a:r>
              <a:rPr lang="en-US" dirty="0">
                <a:latin typeface="Arial"/>
                <a:ea typeface="MS PGothic" charset="0"/>
              </a:rPr>
              <a:t>. </a:t>
            </a:r>
            <a:r>
              <a:rPr lang="en-US" dirty="0" err="1">
                <a:latin typeface="Arial"/>
                <a:ea typeface="MS PGothic" charset="0"/>
              </a:rPr>
              <a:t>Bijvoorbeeld</a:t>
            </a:r>
            <a:r>
              <a:rPr lang="en-US" dirty="0">
                <a:latin typeface="Arial"/>
                <a:ea typeface="MS PGothic" charset="0"/>
              </a:rPr>
              <a:t>…</a:t>
            </a:r>
          </a:p>
          <a:p>
            <a:pPr marL="285750" indent="-285750" defTabSz="457200" eaLnBrk="0" fontAlgn="base" hangingPunct="0">
              <a:lnSpc>
                <a:spcPct val="134000"/>
              </a:lnSpc>
              <a:spcBef>
                <a:spcPct val="0"/>
              </a:spcBef>
              <a:spcAft>
                <a:spcPct val="0"/>
              </a:spcAft>
              <a:buClr>
                <a:srgbClr val="080808"/>
              </a:buClr>
              <a:buSzPct val="100000"/>
              <a:buFont typeface="Arial" panose="020B0604020202020204" pitchFamily="34" charset="0"/>
              <a:buChar char="•"/>
            </a:pPr>
            <a:r>
              <a:rPr lang="en-US" dirty="0" err="1">
                <a:latin typeface="Arial"/>
                <a:ea typeface="MS PGothic" charset="0"/>
              </a:rPr>
              <a:t>Overzichten</a:t>
            </a:r>
            <a:r>
              <a:rPr lang="en-US" dirty="0">
                <a:latin typeface="Arial"/>
                <a:ea typeface="MS PGothic" charset="0"/>
              </a:rPr>
              <a:t> die </a:t>
            </a:r>
            <a:r>
              <a:rPr lang="en-US" dirty="0" err="1">
                <a:latin typeface="Arial"/>
                <a:ea typeface="MS PGothic" charset="0"/>
              </a:rPr>
              <a:t>slechts</a:t>
            </a:r>
            <a:r>
              <a:rPr lang="en-US" dirty="0">
                <a:latin typeface="Arial"/>
                <a:ea typeface="MS PGothic" charset="0"/>
              </a:rPr>
              <a:t> </a:t>
            </a:r>
            <a:r>
              <a:rPr lang="en-US" dirty="0" err="1">
                <a:latin typeface="Arial"/>
                <a:ea typeface="MS PGothic" charset="0"/>
              </a:rPr>
              <a:t>eens</a:t>
            </a:r>
            <a:r>
              <a:rPr lang="en-US" dirty="0">
                <a:latin typeface="Arial"/>
                <a:ea typeface="MS PGothic" charset="0"/>
              </a:rPr>
              <a:t> per </a:t>
            </a:r>
            <a:r>
              <a:rPr lang="en-US" dirty="0" err="1">
                <a:latin typeface="Arial"/>
                <a:ea typeface="MS PGothic" charset="0"/>
              </a:rPr>
              <a:t>jaar</a:t>
            </a:r>
            <a:r>
              <a:rPr lang="en-US" dirty="0">
                <a:latin typeface="Arial"/>
                <a:ea typeface="MS PGothic" charset="0"/>
              </a:rPr>
              <a:t> </a:t>
            </a:r>
            <a:r>
              <a:rPr lang="en-US" dirty="0" err="1">
                <a:latin typeface="Arial"/>
                <a:ea typeface="MS PGothic" charset="0"/>
              </a:rPr>
              <a:t>geraadpleegd</a:t>
            </a:r>
            <a:r>
              <a:rPr lang="en-US" dirty="0">
                <a:latin typeface="Arial"/>
                <a:ea typeface="MS PGothic" charset="0"/>
              </a:rPr>
              <a:t> </a:t>
            </a:r>
            <a:r>
              <a:rPr lang="en-US" dirty="0" err="1">
                <a:latin typeface="Arial"/>
                <a:ea typeface="MS PGothic" charset="0"/>
              </a:rPr>
              <a:t>worden</a:t>
            </a:r>
            <a:endParaRPr lang="en-US" dirty="0">
              <a:latin typeface="Arial"/>
              <a:ea typeface="MS PGothic" charset="0"/>
            </a:endParaRPr>
          </a:p>
          <a:p>
            <a:pPr marL="285750" indent="-285750" defTabSz="457200" eaLnBrk="0" fontAlgn="base" hangingPunct="0">
              <a:lnSpc>
                <a:spcPct val="134000"/>
              </a:lnSpc>
              <a:spcBef>
                <a:spcPct val="0"/>
              </a:spcBef>
              <a:spcAft>
                <a:spcPct val="0"/>
              </a:spcAft>
              <a:buClr>
                <a:srgbClr val="080808"/>
              </a:buClr>
              <a:buSzPct val="100000"/>
              <a:buFont typeface="Arial" panose="020B0604020202020204" pitchFamily="34" charset="0"/>
              <a:buChar char="•"/>
            </a:pPr>
            <a:r>
              <a:rPr lang="en-US" dirty="0" err="1">
                <a:latin typeface="Arial"/>
                <a:ea typeface="MS PGothic" charset="0"/>
              </a:rPr>
              <a:t>Overzichten</a:t>
            </a:r>
            <a:r>
              <a:rPr lang="en-US" dirty="0">
                <a:latin typeface="Arial"/>
                <a:ea typeface="MS PGothic" charset="0"/>
              </a:rPr>
              <a:t> die in </a:t>
            </a:r>
            <a:r>
              <a:rPr lang="en-US" dirty="0" err="1">
                <a:latin typeface="Arial"/>
                <a:ea typeface="MS PGothic" charset="0"/>
              </a:rPr>
              <a:t>nieuwe</a:t>
            </a:r>
            <a:r>
              <a:rPr lang="en-US" dirty="0">
                <a:latin typeface="Arial"/>
                <a:ea typeface="MS PGothic" charset="0"/>
              </a:rPr>
              <a:t> </a:t>
            </a:r>
            <a:r>
              <a:rPr lang="en-US" dirty="0" err="1">
                <a:latin typeface="Arial"/>
                <a:ea typeface="MS PGothic" charset="0"/>
              </a:rPr>
              <a:t>bestanden</a:t>
            </a:r>
            <a:r>
              <a:rPr lang="en-US" dirty="0">
                <a:latin typeface="Arial"/>
                <a:ea typeface="MS PGothic" charset="0"/>
              </a:rPr>
              <a:t> </a:t>
            </a:r>
            <a:r>
              <a:rPr lang="en-US" dirty="0" err="1">
                <a:latin typeface="Arial"/>
                <a:ea typeface="MS PGothic" charset="0"/>
              </a:rPr>
              <a:t>zijn</a:t>
            </a:r>
            <a:r>
              <a:rPr lang="en-US" dirty="0">
                <a:latin typeface="Arial"/>
                <a:ea typeface="MS PGothic" charset="0"/>
              </a:rPr>
              <a:t> </a:t>
            </a:r>
            <a:r>
              <a:rPr lang="en-US" dirty="0" err="1">
                <a:latin typeface="Arial"/>
                <a:ea typeface="MS PGothic" charset="0"/>
              </a:rPr>
              <a:t>geactualiseerd</a:t>
            </a:r>
            <a:endParaRPr lang="en-US" dirty="0">
              <a:latin typeface="Arial"/>
              <a:ea typeface="MS PGothic" charset="0"/>
            </a:endParaRPr>
          </a:p>
          <a:p>
            <a:pPr marL="285750" indent="-285750" defTabSz="457200" eaLnBrk="0" fontAlgn="base" hangingPunct="0">
              <a:lnSpc>
                <a:spcPct val="134000"/>
              </a:lnSpc>
              <a:spcBef>
                <a:spcPct val="0"/>
              </a:spcBef>
              <a:spcAft>
                <a:spcPct val="0"/>
              </a:spcAft>
              <a:buClr>
                <a:srgbClr val="080808"/>
              </a:buClr>
              <a:buSzPct val="100000"/>
              <a:buFont typeface="Arial" panose="020B0604020202020204" pitchFamily="34" charset="0"/>
              <a:buChar char="•"/>
            </a:pPr>
            <a:r>
              <a:rPr lang="en-US" dirty="0">
                <a:latin typeface="Arial"/>
                <a:ea typeface="MS PGothic" charset="0"/>
              </a:rPr>
              <a:t>Databases van </a:t>
            </a:r>
            <a:r>
              <a:rPr lang="en-US" dirty="0" err="1">
                <a:latin typeface="Arial"/>
                <a:ea typeface="MS PGothic" charset="0"/>
              </a:rPr>
              <a:t>softwaresystemen</a:t>
            </a:r>
            <a:r>
              <a:rPr lang="en-US" dirty="0">
                <a:latin typeface="Arial"/>
                <a:ea typeface="MS PGothic" charset="0"/>
              </a:rPr>
              <a:t> die </a:t>
            </a:r>
            <a:r>
              <a:rPr lang="en-US" dirty="0" err="1">
                <a:latin typeface="Arial"/>
                <a:ea typeface="MS PGothic" charset="0"/>
              </a:rPr>
              <a:t>niet</a:t>
            </a:r>
            <a:r>
              <a:rPr lang="en-US" dirty="0">
                <a:latin typeface="Arial"/>
                <a:ea typeface="MS PGothic" charset="0"/>
              </a:rPr>
              <a:t> (</a:t>
            </a:r>
            <a:r>
              <a:rPr lang="en-US" dirty="0" err="1">
                <a:latin typeface="Arial"/>
                <a:ea typeface="MS PGothic" charset="0"/>
              </a:rPr>
              <a:t>meer</a:t>
            </a:r>
            <a:r>
              <a:rPr lang="en-US" dirty="0">
                <a:latin typeface="Arial"/>
                <a:ea typeface="MS PGothic" charset="0"/>
              </a:rPr>
              <a:t>) </a:t>
            </a:r>
            <a:r>
              <a:rPr lang="en-US" dirty="0" err="1">
                <a:latin typeface="Arial"/>
                <a:ea typeface="MS PGothic" charset="0"/>
              </a:rPr>
              <a:t>gebruikt</a:t>
            </a:r>
            <a:r>
              <a:rPr lang="en-US" dirty="0">
                <a:latin typeface="Arial"/>
                <a:ea typeface="MS PGothic" charset="0"/>
              </a:rPr>
              <a:t> </a:t>
            </a:r>
            <a:r>
              <a:rPr lang="en-US" dirty="0" err="1">
                <a:latin typeface="Arial"/>
                <a:ea typeface="MS PGothic" charset="0"/>
              </a:rPr>
              <a:t>worden</a:t>
            </a:r>
            <a:endParaRPr lang="en-US" dirty="0">
              <a:latin typeface="Arial"/>
              <a:ea typeface="MS PGothic" charset="0"/>
            </a:endParaRPr>
          </a:p>
        </p:txBody>
      </p:sp>
      <p:pic>
        <p:nvPicPr>
          <p:cNvPr id="10" name="Afbeelding 9">
            <a:extLst>
              <a:ext uri="{FF2B5EF4-FFF2-40B4-BE49-F238E27FC236}">
                <a16:creationId xmlns:a16="http://schemas.microsoft.com/office/drawing/2014/main" id="{D4B02C6D-F9EC-22E3-4664-DE957702E6DD}"/>
              </a:ext>
            </a:extLst>
          </p:cNvPr>
          <p:cNvPicPr>
            <a:picLocks noChangeAspect="1"/>
          </p:cNvPicPr>
          <p:nvPr/>
        </p:nvPicPr>
        <p:blipFill>
          <a:blip r:embed="rId3"/>
          <a:stretch>
            <a:fillRect/>
          </a:stretch>
        </p:blipFill>
        <p:spPr>
          <a:xfrm>
            <a:off x="2470528" y="1392033"/>
            <a:ext cx="2413386" cy="2273769"/>
          </a:xfrm>
          <a:prstGeom prst="rect">
            <a:avLst/>
          </a:prstGeom>
        </p:spPr>
      </p:pic>
      <p:pic>
        <p:nvPicPr>
          <p:cNvPr id="1028" name="Picture 4" descr="How to Draw a Waterfall - HelloArtsy">
            <a:extLst>
              <a:ext uri="{FF2B5EF4-FFF2-40B4-BE49-F238E27FC236}">
                <a16:creationId xmlns:a16="http://schemas.microsoft.com/office/drawing/2014/main" id="{B16C0319-F672-F8CF-1508-808A2AA0A6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1364" y="1392033"/>
            <a:ext cx="2077606" cy="203696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
            <a:extLst>
              <a:ext uri="{FF2B5EF4-FFF2-40B4-BE49-F238E27FC236}">
                <a16:creationId xmlns:a16="http://schemas.microsoft.com/office/drawing/2014/main" id="{88237332-14A1-AC86-E12F-B563EBB39B36}"/>
              </a:ext>
            </a:extLst>
          </p:cNvPr>
          <p:cNvSpPr txBox="1"/>
          <p:nvPr/>
        </p:nvSpPr>
        <p:spPr>
          <a:xfrm>
            <a:off x="6647042" y="3820295"/>
            <a:ext cx="5402267" cy="3021661"/>
          </a:xfrm>
          <a:prstGeom prst="rect">
            <a:avLst/>
          </a:prstGeom>
          <a:noFill/>
        </p:spPr>
        <p:txBody>
          <a:bodyPr wrap="square" rtlCol="0">
            <a:spAutoFit/>
          </a:bodyPr>
          <a:lstStyle/>
          <a:p>
            <a:pPr defTabSz="457200" eaLnBrk="0" fontAlgn="base" hangingPunct="0">
              <a:lnSpc>
                <a:spcPct val="134000"/>
              </a:lnSpc>
              <a:spcBef>
                <a:spcPct val="0"/>
              </a:spcBef>
              <a:spcAft>
                <a:spcPct val="0"/>
              </a:spcAft>
              <a:buClr>
                <a:srgbClr val="080808"/>
              </a:buClr>
              <a:buSzPct val="100000"/>
              <a:buFont typeface="Times New Roman" charset="0"/>
              <a:buNone/>
            </a:pPr>
            <a:r>
              <a:rPr lang="en-US" dirty="0" err="1">
                <a:latin typeface="Arial"/>
                <a:ea typeface="MS PGothic" charset="0"/>
              </a:rPr>
              <a:t>Databronnen</a:t>
            </a:r>
            <a:r>
              <a:rPr lang="en-US" dirty="0">
                <a:latin typeface="Arial"/>
                <a:ea typeface="MS PGothic" charset="0"/>
              </a:rPr>
              <a:t> </a:t>
            </a:r>
            <a:r>
              <a:rPr lang="en-US" dirty="0" err="1">
                <a:latin typeface="Arial"/>
                <a:ea typeface="MS PGothic" charset="0"/>
              </a:rPr>
              <a:t>waarin</a:t>
            </a:r>
            <a:r>
              <a:rPr lang="en-US" dirty="0">
                <a:latin typeface="Arial"/>
                <a:ea typeface="MS PGothic" charset="0"/>
              </a:rPr>
              <a:t> (heel) </a:t>
            </a:r>
            <a:r>
              <a:rPr lang="en-US" dirty="0" err="1">
                <a:latin typeface="Arial"/>
                <a:ea typeface="MS PGothic" charset="0"/>
              </a:rPr>
              <a:t>vaak</a:t>
            </a:r>
            <a:r>
              <a:rPr lang="en-US" dirty="0">
                <a:latin typeface="Arial"/>
                <a:ea typeface="MS PGothic" charset="0"/>
              </a:rPr>
              <a:t> </a:t>
            </a:r>
            <a:r>
              <a:rPr lang="en-US" dirty="0" err="1">
                <a:latin typeface="Arial"/>
                <a:ea typeface="MS PGothic" charset="0"/>
              </a:rPr>
              <a:t>wijzigingen</a:t>
            </a:r>
            <a:r>
              <a:rPr lang="en-US" dirty="0">
                <a:latin typeface="Arial"/>
                <a:ea typeface="MS PGothic" charset="0"/>
              </a:rPr>
              <a:t> </a:t>
            </a:r>
            <a:r>
              <a:rPr lang="en-US" dirty="0" err="1">
                <a:latin typeface="Arial"/>
                <a:ea typeface="MS PGothic" charset="0"/>
              </a:rPr>
              <a:t>plaatsvinden</a:t>
            </a:r>
            <a:r>
              <a:rPr lang="en-US" dirty="0">
                <a:latin typeface="Arial"/>
                <a:ea typeface="MS PGothic" charset="0"/>
              </a:rPr>
              <a:t>. </a:t>
            </a:r>
            <a:r>
              <a:rPr lang="en-US" dirty="0" err="1">
                <a:latin typeface="Arial"/>
                <a:ea typeface="MS PGothic" charset="0"/>
              </a:rPr>
              <a:t>Bijvoorbeeld</a:t>
            </a:r>
            <a:r>
              <a:rPr lang="en-US" dirty="0">
                <a:latin typeface="Arial"/>
                <a:ea typeface="MS PGothic" charset="0"/>
              </a:rPr>
              <a:t>…</a:t>
            </a:r>
          </a:p>
          <a:p>
            <a:pPr marL="285750" indent="-285750" defTabSz="457200" eaLnBrk="0" fontAlgn="base" hangingPunct="0">
              <a:lnSpc>
                <a:spcPct val="134000"/>
              </a:lnSpc>
              <a:spcBef>
                <a:spcPct val="0"/>
              </a:spcBef>
              <a:spcAft>
                <a:spcPct val="0"/>
              </a:spcAft>
              <a:buClr>
                <a:srgbClr val="080808"/>
              </a:buClr>
              <a:buSzPct val="100000"/>
              <a:buFont typeface="Arial" panose="020B0604020202020204" pitchFamily="34" charset="0"/>
              <a:buChar char="•"/>
            </a:pPr>
            <a:r>
              <a:rPr lang="en-US" dirty="0">
                <a:latin typeface="Arial"/>
                <a:ea typeface="MS PGothic" charset="0"/>
              </a:rPr>
              <a:t>Databases </a:t>
            </a:r>
            <a:r>
              <a:rPr lang="en-US" dirty="0" err="1">
                <a:latin typeface="Arial"/>
                <a:ea typeface="MS PGothic" charset="0"/>
              </a:rPr>
              <a:t>waarin</a:t>
            </a:r>
            <a:r>
              <a:rPr lang="en-US" dirty="0">
                <a:latin typeface="Arial"/>
                <a:ea typeface="MS PGothic" charset="0"/>
              </a:rPr>
              <a:t> updates </a:t>
            </a:r>
            <a:r>
              <a:rPr lang="en-US" dirty="0" err="1">
                <a:latin typeface="Arial"/>
                <a:ea typeface="MS PGothic" charset="0"/>
              </a:rPr>
              <a:t>plaatsvinden</a:t>
            </a:r>
            <a:r>
              <a:rPr lang="en-US" dirty="0">
                <a:latin typeface="Arial"/>
                <a:ea typeface="MS PGothic" charset="0"/>
              </a:rPr>
              <a:t> </a:t>
            </a:r>
            <a:r>
              <a:rPr lang="en-US" dirty="0" err="1">
                <a:latin typeface="Arial"/>
                <a:ea typeface="MS PGothic" charset="0"/>
              </a:rPr>
              <a:t>bij</a:t>
            </a:r>
            <a:r>
              <a:rPr lang="en-US" dirty="0">
                <a:latin typeface="Arial"/>
                <a:ea typeface="MS PGothic" charset="0"/>
              </a:rPr>
              <a:t> </a:t>
            </a:r>
            <a:r>
              <a:rPr lang="en-US" dirty="0" err="1">
                <a:latin typeface="Arial"/>
                <a:ea typeface="MS PGothic" charset="0"/>
              </a:rPr>
              <a:t>elke</a:t>
            </a:r>
            <a:r>
              <a:rPr lang="en-US" dirty="0">
                <a:latin typeface="Arial"/>
                <a:ea typeface="MS PGothic" charset="0"/>
              </a:rPr>
              <a:t> </a:t>
            </a:r>
            <a:r>
              <a:rPr lang="en-US" dirty="0" err="1">
                <a:latin typeface="Arial"/>
                <a:ea typeface="MS PGothic" charset="0"/>
              </a:rPr>
              <a:t>klantactie</a:t>
            </a:r>
            <a:r>
              <a:rPr lang="en-US" dirty="0">
                <a:latin typeface="Arial"/>
                <a:ea typeface="MS PGothic" charset="0"/>
              </a:rPr>
              <a:t>.</a:t>
            </a:r>
          </a:p>
          <a:p>
            <a:pPr marL="285750" indent="-285750" defTabSz="457200" eaLnBrk="0" fontAlgn="base" hangingPunct="0">
              <a:lnSpc>
                <a:spcPct val="134000"/>
              </a:lnSpc>
              <a:spcBef>
                <a:spcPct val="0"/>
              </a:spcBef>
              <a:spcAft>
                <a:spcPct val="0"/>
              </a:spcAft>
              <a:buClr>
                <a:srgbClr val="080808"/>
              </a:buClr>
              <a:buSzPct val="100000"/>
              <a:buFont typeface="Arial" panose="020B0604020202020204" pitchFamily="34" charset="0"/>
              <a:buChar char="•"/>
            </a:pPr>
            <a:r>
              <a:rPr lang="en-US" dirty="0">
                <a:latin typeface="Arial"/>
                <a:ea typeface="MS PGothic" charset="0"/>
              </a:rPr>
              <a:t>“</a:t>
            </a:r>
            <a:r>
              <a:rPr lang="en-US" dirty="0" err="1">
                <a:latin typeface="Arial"/>
                <a:ea typeface="MS PGothic" charset="0"/>
              </a:rPr>
              <a:t>Getapte</a:t>
            </a:r>
            <a:r>
              <a:rPr lang="en-US" dirty="0">
                <a:latin typeface="Arial"/>
                <a:ea typeface="MS PGothic" charset="0"/>
              </a:rPr>
              <a:t>” / “</a:t>
            </a:r>
            <a:r>
              <a:rPr lang="en-US" dirty="0" err="1">
                <a:latin typeface="Arial"/>
                <a:ea typeface="MS PGothic" charset="0"/>
              </a:rPr>
              <a:t>gescrapete</a:t>
            </a:r>
            <a:r>
              <a:rPr lang="en-US" dirty="0">
                <a:latin typeface="Arial"/>
                <a:ea typeface="MS PGothic" charset="0"/>
              </a:rPr>
              <a:t>” data van </a:t>
            </a:r>
            <a:r>
              <a:rPr lang="en-US" dirty="0" err="1">
                <a:latin typeface="Arial"/>
                <a:ea typeface="MS PGothic" charset="0"/>
              </a:rPr>
              <a:t>continu</a:t>
            </a:r>
            <a:r>
              <a:rPr lang="en-US" dirty="0">
                <a:latin typeface="Arial"/>
                <a:ea typeface="MS PGothic" charset="0"/>
              </a:rPr>
              <a:t> </a:t>
            </a:r>
            <a:r>
              <a:rPr lang="en-US" dirty="0" err="1">
                <a:latin typeface="Arial"/>
                <a:ea typeface="MS PGothic" charset="0"/>
              </a:rPr>
              <a:t>wijzigende</a:t>
            </a:r>
            <a:r>
              <a:rPr lang="en-US" dirty="0">
                <a:latin typeface="Arial"/>
                <a:ea typeface="MS PGothic" charset="0"/>
              </a:rPr>
              <a:t> </a:t>
            </a:r>
            <a:r>
              <a:rPr lang="en-US" dirty="0" err="1">
                <a:latin typeface="Arial"/>
                <a:ea typeface="MS PGothic" charset="0"/>
              </a:rPr>
              <a:t>webpagina’s</a:t>
            </a:r>
            <a:r>
              <a:rPr lang="en-US" dirty="0">
                <a:latin typeface="Arial"/>
                <a:ea typeface="MS PGothic" charset="0"/>
              </a:rPr>
              <a:t>.</a:t>
            </a:r>
          </a:p>
          <a:p>
            <a:pPr marL="285750" indent="-285750" defTabSz="457200" eaLnBrk="0" fontAlgn="base" hangingPunct="0">
              <a:lnSpc>
                <a:spcPct val="134000"/>
              </a:lnSpc>
              <a:spcBef>
                <a:spcPct val="0"/>
              </a:spcBef>
              <a:spcAft>
                <a:spcPct val="0"/>
              </a:spcAft>
              <a:buClr>
                <a:srgbClr val="080808"/>
              </a:buClr>
              <a:buSzPct val="100000"/>
              <a:buFont typeface="Arial" panose="020B0604020202020204" pitchFamily="34" charset="0"/>
              <a:buChar char="•"/>
            </a:pPr>
            <a:r>
              <a:rPr lang="en-US" dirty="0" err="1">
                <a:latin typeface="Arial"/>
                <a:ea typeface="MS PGothic" charset="0"/>
              </a:rPr>
              <a:t>Platformen</a:t>
            </a:r>
            <a:r>
              <a:rPr lang="en-US" dirty="0">
                <a:latin typeface="Arial"/>
                <a:ea typeface="MS PGothic" charset="0"/>
              </a:rPr>
              <a:t> </a:t>
            </a:r>
            <a:r>
              <a:rPr lang="en-US" dirty="0" err="1">
                <a:latin typeface="Arial"/>
                <a:ea typeface="MS PGothic" charset="0"/>
              </a:rPr>
              <a:t>waarop</a:t>
            </a:r>
            <a:r>
              <a:rPr lang="en-US" dirty="0">
                <a:latin typeface="Arial"/>
                <a:ea typeface="MS PGothic" charset="0"/>
              </a:rPr>
              <a:t> </a:t>
            </a:r>
            <a:r>
              <a:rPr lang="en-US" dirty="0" err="1">
                <a:latin typeface="Arial"/>
                <a:ea typeface="MS PGothic" charset="0"/>
              </a:rPr>
              <a:t>continu</a:t>
            </a:r>
            <a:r>
              <a:rPr lang="en-US" dirty="0">
                <a:latin typeface="Arial"/>
                <a:ea typeface="MS PGothic" charset="0"/>
              </a:rPr>
              <a:t> </a:t>
            </a:r>
            <a:r>
              <a:rPr lang="en-US" dirty="0" err="1">
                <a:latin typeface="Arial"/>
                <a:ea typeface="MS PGothic" charset="0"/>
              </a:rPr>
              <a:t>wijzigende</a:t>
            </a:r>
            <a:r>
              <a:rPr lang="en-US" dirty="0">
                <a:latin typeface="Arial"/>
                <a:ea typeface="MS PGothic" charset="0"/>
              </a:rPr>
              <a:t> </a:t>
            </a:r>
            <a:r>
              <a:rPr lang="en-US" dirty="0" err="1">
                <a:latin typeface="Arial"/>
                <a:ea typeface="MS PGothic" charset="0"/>
              </a:rPr>
              <a:t>sensordata</a:t>
            </a:r>
            <a:r>
              <a:rPr lang="en-US" dirty="0">
                <a:latin typeface="Arial"/>
                <a:ea typeface="MS PGothic" charset="0"/>
              </a:rPr>
              <a:t> </a:t>
            </a:r>
            <a:r>
              <a:rPr lang="en-US" dirty="0" err="1">
                <a:latin typeface="Arial"/>
                <a:ea typeface="MS PGothic" charset="0"/>
              </a:rPr>
              <a:t>terechtkomt</a:t>
            </a:r>
            <a:r>
              <a:rPr lang="en-US" dirty="0">
                <a:latin typeface="Arial"/>
                <a:ea typeface="MS PGothic" charset="0"/>
              </a:rPr>
              <a:t> (Internet of Things).</a:t>
            </a:r>
          </a:p>
        </p:txBody>
      </p:sp>
    </p:spTree>
    <p:custDataLst>
      <p:tags r:id="rId1"/>
    </p:custDataLst>
    <p:extLst>
      <p:ext uri="{BB962C8B-B14F-4D97-AF65-F5344CB8AC3E}">
        <p14:creationId xmlns:p14="http://schemas.microsoft.com/office/powerpoint/2010/main" val="1393805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nodeType="withEffect">
                                  <p:stCondLst>
                                    <p:cond delay="0"/>
                                  </p:stCondLst>
                                  <p:childTnLst>
                                    <p:set>
                                      <p:cBhvr>
                                        <p:cTn id="14" dur="1" fill="hold">
                                          <p:stCondLst>
                                            <p:cond delay="0"/>
                                          </p:stCondLst>
                                        </p:cTn>
                                        <p:tgtEl>
                                          <p:spTgt spid="1028"/>
                                        </p:tgtEl>
                                        <p:attrNameLst>
                                          <p:attrName>style.visibility</p:attrName>
                                        </p:attrNameLst>
                                      </p:cBhvr>
                                      <p:to>
                                        <p:strVal val="visible"/>
                                      </p:to>
                                    </p:set>
                                    <p:animEffect transition="in" filter="fade">
                                      <p:cBhvr>
                                        <p:cTn id="15" dur="500"/>
                                        <p:tgtEl>
                                          <p:spTgt spid="102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kstvak 7">
            <a:extLst>
              <a:ext uri="{FF2B5EF4-FFF2-40B4-BE49-F238E27FC236}">
                <a16:creationId xmlns:a16="http://schemas.microsoft.com/office/drawing/2014/main" id="{BA269D03-4CD4-A824-783F-AFAA660F0E45}"/>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cxnSp>
        <p:nvCxnSpPr>
          <p:cNvPr id="8" name="Straight Connector 10">
            <a:extLst>
              <a:ext uri="{FF2B5EF4-FFF2-40B4-BE49-F238E27FC236}">
                <a16:creationId xmlns:a16="http://schemas.microsoft.com/office/drawing/2014/main" id="{A262CF38-BB42-BEB5-C710-06267CB16BFA}"/>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graphicFrame>
        <p:nvGraphicFramePr>
          <p:cNvPr id="4" name="Tabel 3">
            <a:extLst>
              <a:ext uri="{FF2B5EF4-FFF2-40B4-BE49-F238E27FC236}">
                <a16:creationId xmlns:a16="http://schemas.microsoft.com/office/drawing/2014/main" id="{74759678-FB97-8F64-F052-6F02D31DD998}"/>
              </a:ext>
            </a:extLst>
          </p:cNvPr>
          <p:cNvGraphicFramePr>
            <a:graphicFrameLocks noGrp="1"/>
          </p:cNvGraphicFramePr>
          <p:nvPr>
            <p:extLst>
              <p:ext uri="{D42A27DB-BD31-4B8C-83A1-F6EECF244321}">
                <p14:modId xmlns:p14="http://schemas.microsoft.com/office/powerpoint/2010/main" val="1418110288"/>
              </p:ext>
            </p:extLst>
          </p:nvPr>
        </p:nvGraphicFramePr>
        <p:xfrm>
          <a:off x="1299463" y="4610101"/>
          <a:ext cx="4137986" cy="1920240"/>
        </p:xfrm>
        <a:graphic>
          <a:graphicData uri="http://schemas.openxmlformats.org/drawingml/2006/table">
            <a:tbl>
              <a:tblPr firstRow="1" bandRow="1">
                <a:tableStyleId>{93296810-A885-4BE3-A3E7-6D5BEEA58F35}</a:tableStyleId>
              </a:tblPr>
              <a:tblGrid>
                <a:gridCol w="1140792">
                  <a:extLst>
                    <a:ext uri="{9D8B030D-6E8A-4147-A177-3AD203B41FA5}">
                      <a16:colId xmlns:a16="http://schemas.microsoft.com/office/drawing/2014/main" val="391686472"/>
                    </a:ext>
                  </a:extLst>
                </a:gridCol>
                <a:gridCol w="1140792">
                  <a:extLst>
                    <a:ext uri="{9D8B030D-6E8A-4147-A177-3AD203B41FA5}">
                      <a16:colId xmlns:a16="http://schemas.microsoft.com/office/drawing/2014/main" val="917334343"/>
                    </a:ext>
                  </a:extLst>
                </a:gridCol>
                <a:gridCol w="779954">
                  <a:extLst>
                    <a:ext uri="{9D8B030D-6E8A-4147-A177-3AD203B41FA5}">
                      <a16:colId xmlns:a16="http://schemas.microsoft.com/office/drawing/2014/main" val="479079931"/>
                    </a:ext>
                  </a:extLst>
                </a:gridCol>
                <a:gridCol w="1076448">
                  <a:extLst>
                    <a:ext uri="{9D8B030D-6E8A-4147-A177-3AD203B41FA5}">
                      <a16:colId xmlns:a16="http://schemas.microsoft.com/office/drawing/2014/main" val="1039538333"/>
                    </a:ext>
                  </a:extLst>
                </a:gridCol>
              </a:tblGrid>
              <a:tr h="370840">
                <a:tc>
                  <a:txBody>
                    <a:bodyPr/>
                    <a:lstStyle/>
                    <a:p>
                      <a:r>
                        <a:rPr lang="nl-NL" b="1" u="none" dirty="0" err="1"/>
                        <a:t>Bestelling_PK</a:t>
                      </a:r>
                      <a:endParaRPr lang="nl-NL" b="1" u="none" dirty="0"/>
                    </a:p>
                  </a:txBody>
                  <a:tcPr/>
                </a:tc>
                <a:tc>
                  <a:txBody>
                    <a:bodyPr/>
                    <a:lstStyle/>
                    <a:p>
                      <a:r>
                        <a:rPr lang="nl-NL" b="1" u="none" dirty="0"/>
                        <a:t>Datum</a:t>
                      </a:r>
                    </a:p>
                  </a:txBody>
                  <a:tcPr/>
                </a:tc>
                <a:tc>
                  <a:txBody>
                    <a:bodyPr/>
                    <a:lstStyle/>
                    <a:p>
                      <a:r>
                        <a:rPr lang="nl-NL" b="1" dirty="0" err="1"/>
                        <a:t>Totaal-prijs</a:t>
                      </a:r>
                      <a:endParaRPr lang="nl-NL" b="1" dirty="0"/>
                    </a:p>
                  </a:txBody>
                  <a:tcPr/>
                </a:tc>
                <a:tc>
                  <a:txBody>
                    <a:bodyPr/>
                    <a:lstStyle/>
                    <a:p>
                      <a:r>
                        <a:rPr lang="nl-NL" dirty="0" err="1"/>
                        <a:t>Klant_FK</a:t>
                      </a:r>
                      <a:endParaRPr lang="nl-NL" dirty="0"/>
                    </a:p>
                  </a:txBody>
                  <a:tcPr/>
                </a:tc>
                <a:extLst>
                  <a:ext uri="{0D108BD9-81ED-4DB2-BD59-A6C34878D82A}">
                    <a16:rowId xmlns:a16="http://schemas.microsoft.com/office/drawing/2014/main" val="1194861106"/>
                  </a:ext>
                </a:extLst>
              </a:tr>
              <a:tr h="370840">
                <a:tc>
                  <a:txBody>
                    <a:bodyPr/>
                    <a:lstStyle/>
                    <a:p>
                      <a:r>
                        <a:rPr lang="nl-NL" dirty="0"/>
                        <a:t>1</a:t>
                      </a:r>
                    </a:p>
                  </a:txBody>
                  <a:tcPr/>
                </a:tc>
                <a:tc>
                  <a:txBody>
                    <a:bodyPr/>
                    <a:lstStyle/>
                    <a:p>
                      <a:r>
                        <a:rPr lang="nl-NL" dirty="0"/>
                        <a:t>31-12-2025</a:t>
                      </a:r>
                    </a:p>
                  </a:txBody>
                  <a:tcPr/>
                </a:tc>
                <a:tc>
                  <a:txBody>
                    <a:bodyPr/>
                    <a:lstStyle/>
                    <a:p>
                      <a:r>
                        <a:rPr lang="nl-NL" dirty="0"/>
                        <a:t>30</a:t>
                      </a:r>
                    </a:p>
                  </a:txBody>
                  <a:tcPr/>
                </a:tc>
                <a:tc>
                  <a:txBody>
                    <a:bodyPr/>
                    <a:lstStyle/>
                    <a:p>
                      <a:r>
                        <a:rPr lang="nl-NL" dirty="0"/>
                        <a:t>1</a:t>
                      </a:r>
                    </a:p>
                  </a:txBody>
                  <a:tcPr/>
                </a:tc>
                <a:extLst>
                  <a:ext uri="{0D108BD9-81ED-4DB2-BD59-A6C34878D82A}">
                    <a16:rowId xmlns:a16="http://schemas.microsoft.com/office/drawing/2014/main" val="323268865"/>
                  </a:ext>
                </a:extLst>
              </a:tr>
              <a:tr h="281249">
                <a:tc>
                  <a:txBody>
                    <a:bodyPr/>
                    <a:lstStyle/>
                    <a:p>
                      <a:r>
                        <a:rPr lang="nl-NL" b="0" dirty="0">
                          <a:solidFill>
                            <a:schemeClr val="tx1"/>
                          </a:solidFill>
                        </a:rPr>
                        <a:t>2</a:t>
                      </a:r>
                    </a:p>
                  </a:txBody>
                  <a:tcPr/>
                </a:tc>
                <a:tc>
                  <a:txBody>
                    <a:bodyPr/>
                    <a:lstStyle/>
                    <a:p>
                      <a:r>
                        <a:rPr lang="nl-NL" b="0" dirty="0">
                          <a:solidFill>
                            <a:schemeClr val="tx1"/>
                          </a:solidFill>
                        </a:rPr>
                        <a:t>02-01-2026</a:t>
                      </a:r>
                    </a:p>
                  </a:txBody>
                  <a:tcPr/>
                </a:tc>
                <a:tc>
                  <a:txBody>
                    <a:bodyPr/>
                    <a:lstStyle/>
                    <a:p>
                      <a:r>
                        <a:rPr lang="nl-NL" dirty="0"/>
                        <a:t>50</a:t>
                      </a:r>
                    </a:p>
                  </a:txBody>
                  <a:tcPr/>
                </a:tc>
                <a:tc>
                  <a:txBody>
                    <a:bodyPr/>
                    <a:lstStyle/>
                    <a:p>
                      <a:r>
                        <a:rPr lang="nl-NL" dirty="0"/>
                        <a:t>1</a:t>
                      </a:r>
                    </a:p>
                  </a:txBody>
                  <a:tcPr/>
                </a:tc>
                <a:extLst>
                  <a:ext uri="{0D108BD9-81ED-4DB2-BD59-A6C34878D82A}">
                    <a16:rowId xmlns:a16="http://schemas.microsoft.com/office/drawing/2014/main" val="3486287211"/>
                  </a:ext>
                </a:extLst>
              </a:tr>
            </a:tbl>
          </a:graphicData>
        </a:graphic>
      </p:graphicFrame>
      <p:sp>
        <p:nvSpPr>
          <p:cNvPr id="12" name="TextBox 1">
            <a:extLst>
              <a:ext uri="{FF2B5EF4-FFF2-40B4-BE49-F238E27FC236}">
                <a16:creationId xmlns:a16="http://schemas.microsoft.com/office/drawing/2014/main" id="{F73EEE4A-4329-696E-34F5-48060691671F}"/>
              </a:ext>
            </a:extLst>
          </p:cNvPr>
          <p:cNvSpPr txBox="1"/>
          <p:nvPr/>
        </p:nvSpPr>
        <p:spPr>
          <a:xfrm>
            <a:off x="2394496" y="4159337"/>
            <a:ext cx="1787138" cy="369332"/>
          </a:xfrm>
          <a:prstGeom prst="rect">
            <a:avLst/>
          </a:prstGeom>
          <a:noFill/>
        </p:spPr>
        <p:txBody>
          <a:bodyPr wrap="square" rtlCol="0">
            <a:spAutoFit/>
          </a:bodyPr>
          <a:lstStyle/>
          <a:p>
            <a:r>
              <a:rPr lang="nl-NL" b="1" dirty="0"/>
              <a:t>Feit: Bestelling</a:t>
            </a:r>
          </a:p>
        </p:txBody>
      </p:sp>
      <p:sp>
        <p:nvSpPr>
          <p:cNvPr id="23" name="TextBox 1">
            <a:extLst>
              <a:ext uri="{FF2B5EF4-FFF2-40B4-BE49-F238E27FC236}">
                <a16:creationId xmlns:a16="http://schemas.microsoft.com/office/drawing/2014/main" id="{18ADCE76-251D-9601-E89C-C5932A956EF2}"/>
              </a:ext>
            </a:extLst>
          </p:cNvPr>
          <p:cNvSpPr txBox="1"/>
          <p:nvPr/>
        </p:nvSpPr>
        <p:spPr>
          <a:xfrm>
            <a:off x="2394496" y="1354907"/>
            <a:ext cx="1787138" cy="369332"/>
          </a:xfrm>
          <a:prstGeom prst="rect">
            <a:avLst/>
          </a:prstGeom>
          <a:noFill/>
        </p:spPr>
        <p:txBody>
          <a:bodyPr wrap="square" rtlCol="0">
            <a:spAutoFit/>
          </a:bodyPr>
          <a:lstStyle/>
          <a:p>
            <a:r>
              <a:rPr lang="nl-NL" b="1" dirty="0"/>
              <a:t>Dimensie: Klant</a:t>
            </a:r>
          </a:p>
        </p:txBody>
      </p:sp>
      <p:sp>
        <p:nvSpPr>
          <p:cNvPr id="2" name="TextBox 1">
            <a:extLst>
              <a:ext uri="{FF2B5EF4-FFF2-40B4-BE49-F238E27FC236}">
                <a16:creationId xmlns:a16="http://schemas.microsoft.com/office/drawing/2014/main" id="{C9BE7304-A408-8F85-81FA-E04FCA184A9B}"/>
              </a:ext>
            </a:extLst>
          </p:cNvPr>
          <p:cNvSpPr txBox="1"/>
          <p:nvPr/>
        </p:nvSpPr>
        <p:spPr>
          <a:xfrm>
            <a:off x="988290" y="0"/>
            <a:ext cx="11203710"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err="1">
                <a:solidFill>
                  <a:srgbClr val="829C30"/>
                </a:solidFill>
                <a:latin typeface="Arial"/>
                <a:ea typeface="MS PGothic" charset="0"/>
              </a:rPr>
              <a:t>Datawarehouses</a:t>
            </a:r>
            <a:r>
              <a:rPr lang="en-US" sz="3000" b="1" dirty="0">
                <a:solidFill>
                  <a:srgbClr val="829C30"/>
                </a:solidFill>
                <a:latin typeface="Arial"/>
                <a:ea typeface="MS PGothic" charset="0"/>
              </a:rPr>
              <a:t> </a:t>
            </a:r>
            <a:r>
              <a:rPr lang="en-US" sz="3000" b="1" dirty="0" err="1">
                <a:solidFill>
                  <a:srgbClr val="829C30"/>
                </a:solidFill>
                <a:latin typeface="Arial"/>
                <a:ea typeface="MS PGothic" charset="0"/>
              </a:rPr>
              <a:t>en</a:t>
            </a:r>
            <a:r>
              <a:rPr lang="en-US" sz="3000" b="1" dirty="0">
                <a:solidFill>
                  <a:srgbClr val="829C30"/>
                </a:solidFill>
                <a:latin typeface="Arial"/>
                <a:ea typeface="MS PGothic" charset="0"/>
              </a:rPr>
              <a:t> het </a:t>
            </a:r>
            <a:r>
              <a:rPr lang="en-US" sz="3000" b="1" dirty="0" err="1">
                <a:solidFill>
                  <a:srgbClr val="829C30"/>
                </a:solidFill>
                <a:latin typeface="Arial"/>
                <a:ea typeface="MS PGothic" charset="0"/>
              </a:rPr>
              <a:t>bijhouden</a:t>
            </a:r>
            <a:r>
              <a:rPr lang="en-US" sz="3000" b="1" dirty="0">
                <a:solidFill>
                  <a:srgbClr val="829C30"/>
                </a:solidFill>
                <a:latin typeface="Arial"/>
                <a:ea typeface="MS PGothic" charset="0"/>
              </a:rPr>
              <a:t> van </a:t>
            </a:r>
            <a:r>
              <a:rPr lang="en-US" sz="3000" b="1" dirty="0" err="1">
                <a:solidFill>
                  <a:srgbClr val="829C30"/>
                </a:solidFill>
                <a:latin typeface="Arial"/>
                <a:ea typeface="MS PGothic" charset="0"/>
              </a:rPr>
              <a:t>historie</a:t>
            </a:r>
            <a:endParaRPr lang="en-US" sz="3000" b="1" dirty="0">
              <a:solidFill>
                <a:srgbClr val="829C30"/>
              </a:solidFill>
              <a:latin typeface="Arial"/>
              <a:ea typeface="MS PGothic" charset="0"/>
            </a:endParaRPr>
          </a:p>
        </p:txBody>
      </p:sp>
      <p:graphicFrame>
        <p:nvGraphicFramePr>
          <p:cNvPr id="5" name="Tabel 8">
            <a:extLst>
              <a:ext uri="{FF2B5EF4-FFF2-40B4-BE49-F238E27FC236}">
                <a16:creationId xmlns:a16="http://schemas.microsoft.com/office/drawing/2014/main" id="{97DBCEDF-2F06-E9C8-CC92-1BD546ADAB7F}"/>
              </a:ext>
            </a:extLst>
          </p:cNvPr>
          <p:cNvGraphicFramePr>
            <a:graphicFrameLocks noGrp="1"/>
          </p:cNvGraphicFramePr>
          <p:nvPr>
            <p:extLst>
              <p:ext uri="{D42A27DB-BD31-4B8C-83A1-F6EECF244321}">
                <p14:modId xmlns:p14="http://schemas.microsoft.com/office/powerpoint/2010/main" val="2113779882"/>
              </p:ext>
            </p:extLst>
          </p:nvPr>
        </p:nvGraphicFramePr>
        <p:xfrm>
          <a:off x="1065346" y="1837476"/>
          <a:ext cx="4445439" cy="1112520"/>
        </p:xfrm>
        <a:graphic>
          <a:graphicData uri="http://schemas.openxmlformats.org/drawingml/2006/table">
            <a:tbl>
              <a:tblPr firstRow="1" bandRow="1">
                <a:tableStyleId>{93296810-A885-4BE3-A3E7-6D5BEEA58F35}</a:tableStyleId>
              </a:tblPr>
              <a:tblGrid>
                <a:gridCol w="1481813">
                  <a:extLst>
                    <a:ext uri="{9D8B030D-6E8A-4147-A177-3AD203B41FA5}">
                      <a16:colId xmlns:a16="http://schemas.microsoft.com/office/drawing/2014/main" val="391686472"/>
                    </a:ext>
                  </a:extLst>
                </a:gridCol>
                <a:gridCol w="1481813">
                  <a:extLst>
                    <a:ext uri="{9D8B030D-6E8A-4147-A177-3AD203B41FA5}">
                      <a16:colId xmlns:a16="http://schemas.microsoft.com/office/drawing/2014/main" val="479079931"/>
                    </a:ext>
                  </a:extLst>
                </a:gridCol>
                <a:gridCol w="1481813">
                  <a:extLst>
                    <a:ext uri="{9D8B030D-6E8A-4147-A177-3AD203B41FA5}">
                      <a16:colId xmlns:a16="http://schemas.microsoft.com/office/drawing/2014/main" val="1039538333"/>
                    </a:ext>
                  </a:extLst>
                </a:gridCol>
              </a:tblGrid>
              <a:tr h="370840">
                <a:tc>
                  <a:txBody>
                    <a:bodyPr/>
                    <a:lstStyle/>
                    <a:p>
                      <a:r>
                        <a:rPr lang="nl-NL" b="1" u="sng" dirty="0" err="1"/>
                        <a:t>Nummer_PK</a:t>
                      </a:r>
                      <a:endParaRPr lang="nl-NL" b="1" u="sng" dirty="0"/>
                    </a:p>
                  </a:txBody>
                  <a:tcPr/>
                </a:tc>
                <a:tc>
                  <a:txBody>
                    <a:bodyPr/>
                    <a:lstStyle/>
                    <a:p>
                      <a:r>
                        <a:rPr lang="nl-NL" b="1" dirty="0"/>
                        <a:t>Naam</a:t>
                      </a:r>
                    </a:p>
                  </a:txBody>
                  <a:tcPr/>
                </a:tc>
                <a:tc>
                  <a:txBody>
                    <a:bodyPr/>
                    <a:lstStyle/>
                    <a:p>
                      <a:r>
                        <a:rPr lang="nl-NL" dirty="0"/>
                        <a:t>Woonplaats</a:t>
                      </a:r>
                    </a:p>
                  </a:txBody>
                  <a:tcPr/>
                </a:tc>
                <a:extLst>
                  <a:ext uri="{0D108BD9-81ED-4DB2-BD59-A6C34878D82A}">
                    <a16:rowId xmlns:a16="http://schemas.microsoft.com/office/drawing/2014/main" val="1194861106"/>
                  </a:ext>
                </a:extLst>
              </a:tr>
              <a:tr h="370840">
                <a:tc>
                  <a:txBody>
                    <a:bodyPr/>
                    <a:lstStyle/>
                    <a:p>
                      <a:r>
                        <a:rPr lang="nl-NL" dirty="0"/>
                        <a:t>1</a:t>
                      </a:r>
                    </a:p>
                  </a:txBody>
                  <a:tcPr/>
                </a:tc>
                <a:tc>
                  <a:txBody>
                    <a:bodyPr/>
                    <a:lstStyle/>
                    <a:p>
                      <a:r>
                        <a:rPr lang="nl-NL" dirty="0"/>
                        <a:t>Henk</a:t>
                      </a:r>
                    </a:p>
                  </a:txBody>
                  <a:tcPr/>
                </a:tc>
                <a:tc>
                  <a:txBody>
                    <a:bodyPr/>
                    <a:lstStyle/>
                    <a:p>
                      <a:r>
                        <a:rPr lang="nl-NL" dirty="0"/>
                        <a:t>Lelystad</a:t>
                      </a:r>
                    </a:p>
                  </a:txBody>
                  <a:tcPr/>
                </a:tc>
                <a:extLst>
                  <a:ext uri="{0D108BD9-81ED-4DB2-BD59-A6C34878D82A}">
                    <a16:rowId xmlns:a16="http://schemas.microsoft.com/office/drawing/2014/main" val="323268865"/>
                  </a:ext>
                </a:extLst>
              </a:tr>
              <a:tr h="370840">
                <a:tc>
                  <a:txBody>
                    <a:bodyPr/>
                    <a:lstStyle/>
                    <a:p>
                      <a:r>
                        <a:rPr lang="nl-NL" b="0" dirty="0">
                          <a:solidFill>
                            <a:schemeClr val="tx1"/>
                          </a:solidFill>
                        </a:rPr>
                        <a:t>1</a:t>
                      </a:r>
                    </a:p>
                  </a:txBody>
                  <a:tcPr/>
                </a:tc>
                <a:tc>
                  <a:txBody>
                    <a:bodyPr/>
                    <a:lstStyle/>
                    <a:p>
                      <a:r>
                        <a:rPr lang="nl-NL" dirty="0"/>
                        <a:t>Henk</a:t>
                      </a:r>
                    </a:p>
                  </a:txBody>
                  <a:tcPr/>
                </a:tc>
                <a:tc>
                  <a:txBody>
                    <a:bodyPr/>
                    <a:lstStyle/>
                    <a:p>
                      <a:r>
                        <a:rPr lang="nl-NL" dirty="0"/>
                        <a:t>Den Haag</a:t>
                      </a:r>
                    </a:p>
                  </a:txBody>
                  <a:tcPr/>
                </a:tc>
                <a:extLst>
                  <a:ext uri="{0D108BD9-81ED-4DB2-BD59-A6C34878D82A}">
                    <a16:rowId xmlns:a16="http://schemas.microsoft.com/office/drawing/2014/main" val="3486287211"/>
                  </a:ext>
                </a:extLst>
              </a:tr>
            </a:tbl>
          </a:graphicData>
        </a:graphic>
      </p:graphicFrame>
      <p:sp>
        <p:nvSpPr>
          <p:cNvPr id="9" name="Rechthoek 13">
            <a:extLst>
              <a:ext uri="{FF2B5EF4-FFF2-40B4-BE49-F238E27FC236}">
                <a16:creationId xmlns:a16="http://schemas.microsoft.com/office/drawing/2014/main" id="{379F1AE9-A457-F3ED-2ABE-3B697127EA60}"/>
              </a:ext>
            </a:extLst>
          </p:cNvPr>
          <p:cNvSpPr/>
          <p:nvPr/>
        </p:nvSpPr>
        <p:spPr>
          <a:xfrm>
            <a:off x="1065346" y="2193681"/>
            <a:ext cx="4647738" cy="400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solidFill>
                  <a:schemeClr val="tx1"/>
                </a:solidFill>
              </a:rPr>
              <a:t>Verhuisd op 01-01-2026</a:t>
            </a:r>
          </a:p>
        </p:txBody>
      </p:sp>
      <p:sp>
        <p:nvSpPr>
          <p:cNvPr id="10" name="Rechthoek 13">
            <a:extLst>
              <a:ext uri="{FF2B5EF4-FFF2-40B4-BE49-F238E27FC236}">
                <a16:creationId xmlns:a16="http://schemas.microsoft.com/office/drawing/2014/main" id="{3F92BAAB-D9FC-5350-7707-A2762B0B1771}"/>
              </a:ext>
            </a:extLst>
          </p:cNvPr>
          <p:cNvSpPr/>
          <p:nvPr/>
        </p:nvSpPr>
        <p:spPr>
          <a:xfrm>
            <a:off x="1299463" y="5863427"/>
            <a:ext cx="4137986" cy="6541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chemeClr val="tx1"/>
              </a:solidFill>
            </a:endParaRPr>
          </a:p>
        </p:txBody>
      </p:sp>
      <p:sp>
        <p:nvSpPr>
          <p:cNvPr id="11" name="Rechthoek 13">
            <a:extLst>
              <a:ext uri="{FF2B5EF4-FFF2-40B4-BE49-F238E27FC236}">
                <a16:creationId xmlns:a16="http://schemas.microsoft.com/office/drawing/2014/main" id="{873A41AA-A063-7924-EF8E-3319C53C3900}"/>
              </a:ext>
            </a:extLst>
          </p:cNvPr>
          <p:cNvSpPr/>
          <p:nvPr/>
        </p:nvSpPr>
        <p:spPr>
          <a:xfrm>
            <a:off x="1065346" y="2593790"/>
            <a:ext cx="4445439" cy="6541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chemeClr val="tx1"/>
              </a:solidFill>
            </a:endParaRPr>
          </a:p>
        </p:txBody>
      </p:sp>
      <p:sp>
        <p:nvSpPr>
          <p:cNvPr id="13" name="TextBox 1">
            <a:extLst>
              <a:ext uri="{FF2B5EF4-FFF2-40B4-BE49-F238E27FC236}">
                <a16:creationId xmlns:a16="http://schemas.microsoft.com/office/drawing/2014/main" id="{B5DCA5BD-37DE-F23F-E1F1-2A2428D96A22}"/>
              </a:ext>
            </a:extLst>
          </p:cNvPr>
          <p:cNvSpPr txBox="1"/>
          <p:nvPr/>
        </p:nvSpPr>
        <p:spPr>
          <a:xfrm>
            <a:off x="6972301" y="981770"/>
            <a:ext cx="5143500" cy="5909310"/>
          </a:xfrm>
          <a:prstGeom prst="rect">
            <a:avLst/>
          </a:prstGeom>
          <a:noFill/>
        </p:spPr>
        <p:txBody>
          <a:bodyPr wrap="square" rtlCol="0">
            <a:spAutoFit/>
          </a:bodyPr>
          <a:lstStyle/>
          <a:p>
            <a:r>
              <a:rPr lang="nl-NL" dirty="0"/>
              <a:t>Bij deze historische verkoop “denkt” het DWH dat het gaat om een klant uit Den Haag, terwijl hij toen nog in Lelystad woonde!</a:t>
            </a:r>
          </a:p>
          <a:p>
            <a:endParaRPr lang="nl-NL" dirty="0"/>
          </a:p>
          <a:p>
            <a:r>
              <a:rPr lang="nl-NL" dirty="0"/>
              <a:t>Dit kan een integriteitsfout zijn: een geschiedenis is overschreven met de actualiteit, waardoor historische waarden minder accuraat worden weergegeven.</a:t>
            </a:r>
          </a:p>
          <a:p>
            <a:endParaRPr lang="nl-NL" dirty="0"/>
          </a:p>
          <a:p>
            <a:r>
              <a:rPr lang="nl-NL" dirty="0"/>
              <a:t>Stel: we meten (op een hoger abstractieniveau) de totaalprijs per woonplaats.</a:t>
            </a:r>
          </a:p>
          <a:p>
            <a:r>
              <a:rPr lang="nl-NL" dirty="0"/>
              <a:t>Dan…</a:t>
            </a:r>
          </a:p>
          <a:p>
            <a:pPr marL="285750" indent="-285750">
              <a:buFont typeface="Arial" panose="020B0604020202020204" pitchFamily="34" charset="0"/>
              <a:buChar char="•"/>
            </a:pPr>
            <a:r>
              <a:rPr lang="nl-NL" dirty="0"/>
              <a:t>Wordt in de nieuwe stad (Den Haag) 30 euro </a:t>
            </a:r>
            <a:r>
              <a:rPr lang="nl-NL" b="1" dirty="0"/>
              <a:t>hoger</a:t>
            </a:r>
            <a:r>
              <a:rPr lang="nl-NL" dirty="0"/>
              <a:t> gemeten dan de werkelijkheid.</a:t>
            </a:r>
          </a:p>
          <a:p>
            <a:pPr marL="285750" indent="-285750">
              <a:buFont typeface="Arial" panose="020B0604020202020204" pitchFamily="34" charset="0"/>
              <a:buChar char="•"/>
            </a:pPr>
            <a:r>
              <a:rPr lang="nl-NL" dirty="0"/>
              <a:t>Wordt in de oude stad (Lelystad) 30 euro </a:t>
            </a:r>
            <a:r>
              <a:rPr lang="nl-NL" b="1" dirty="0"/>
              <a:t>lager</a:t>
            </a:r>
            <a:r>
              <a:rPr lang="nl-NL" dirty="0"/>
              <a:t> gemeten dan de werkelijkheid.</a:t>
            </a:r>
          </a:p>
          <a:p>
            <a:endParaRPr lang="nl-NL" dirty="0"/>
          </a:p>
          <a:p>
            <a:r>
              <a:rPr lang="nl-NL" dirty="0"/>
              <a:t>Dit hoeft geen probleem te zijn, als </a:t>
            </a:r>
            <a:r>
              <a:rPr lang="nl-NL"/>
              <a:t>je je er </a:t>
            </a:r>
            <a:r>
              <a:rPr lang="nl-NL" dirty="0"/>
              <a:t>maar bewust van bent.</a:t>
            </a:r>
          </a:p>
          <a:p>
            <a:r>
              <a:rPr lang="nl-NL" dirty="0"/>
              <a:t>Hier kan je per dimensie op 4 verschillende manieren mee omgaan: </a:t>
            </a:r>
            <a:r>
              <a:rPr lang="nl-NL" u="sng" dirty="0" err="1"/>
              <a:t>Slowly</a:t>
            </a:r>
            <a:r>
              <a:rPr lang="nl-NL" u="sng" dirty="0"/>
              <a:t> </a:t>
            </a:r>
            <a:r>
              <a:rPr lang="nl-NL" u="sng" dirty="0" err="1"/>
              <a:t>Changing</a:t>
            </a:r>
            <a:r>
              <a:rPr lang="nl-NL" u="sng" dirty="0"/>
              <a:t> </a:t>
            </a:r>
            <a:r>
              <a:rPr lang="nl-NL" u="sng" dirty="0" err="1"/>
              <a:t>Dimensions</a:t>
            </a:r>
            <a:r>
              <a:rPr lang="nl-NL" u="sng" dirty="0"/>
              <a:t>.</a:t>
            </a:r>
            <a:endParaRPr lang="nl-NL" dirty="0"/>
          </a:p>
        </p:txBody>
      </p:sp>
      <p:sp>
        <p:nvSpPr>
          <p:cNvPr id="15" name="Rectangle 14">
            <a:extLst>
              <a:ext uri="{FF2B5EF4-FFF2-40B4-BE49-F238E27FC236}">
                <a16:creationId xmlns:a16="http://schemas.microsoft.com/office/drawing/2014/main" id="{DAB8C5EF-1A20-0376-24EA-E3DBB3CA83ED}"/>
              </a:ext>
            </a:extLst>
          </p:cNvPr>
          <p:cNvSpPr/>
          <p:nvPr/>
        </p:nvSpPr>
        <p:spPr>
          <a:xfrm>
            <a:off x="1326680" y="5236764"/>
            <a:ext cx="4110769" cy="65410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DF159E0-44BC-EA1C-CC88-5F15DB351AF4}"/>
              </a:ext>
            </a:extLst>
          </p:cNvPr>
          <p:cNvSpPr/>
          <p:nvPr/>
        </p:nvSpPr>
        <p:spPr>
          <a:xfrm>
            <a:off x="6972301" y="981770"/>
            <a:ext cx="4935681" cy="93517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698641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xit" presetSubtype="0" fill="hold" grpId="0" nodeType="withEffect">
                                  <p:stCondLst>
                                    <p:cond delay="0"/>
                                  </p:stCondLst>
                                  <p:childTnLst>
                                    <p:animEffect transition="out" filter="fade">
                                      <p:cBhvr>
                                        <p:cTn id="9" dur="500"/>
                                        <p:tgtEl>
                                          <p:spTgt spid="11"/>
                                        </p:tgtEl>
                                      </p:cBhvr>
                                    </p:animEffect>
                                    <p:set>
                                      <p:cBhvr>
                                        <p:cTn id="10" dur="1" fill="hold">
                                          <p:stCondLst>
                                            <p:cond delay="499"/>
                                          </p:stCondLst>
                                        </p:cTn>
                                        <p:tgtEl>
                                          <p:spTgt spid="1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0"/>
                                  </p:stCondLst>
                                  <p:childTnLst>
                                    <p:animEffect transition="out" filter="fade">
                                      <p:cBhvr>
                                        <p:cTn id="14" dur="500"/>
                                        <p:tgtEl>
                                          <p:spTgt spid="10"/>
                                        </p:tgtEl>
                                      </p:cBhvr>
                                    </p:animEffect>
                                    <p:set>
                                      <p:cBhvr>
                                        <p:cTn id="15" dur="1" fill="hold">
                                          <p:stCondLst>
                                            <p:cond delay="499"/>
                                          </p:stCondLst>
                                        </p:cTn>
                                        <p:tgtEl>
                                          <p:spTgt spid="10"/>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xEl>
                                              <p:pRg st="0" end="0"/>
                                            </p:txEl>
                                          </p:spTgt>
                                        </p:tgtEl>
                                        <p:attrNameLst>
                                          <p:attrName>style.visibility</p:attrName>
                                        </p:attrNameLst>
                                      </p:cBhvr>
                                      <p:to>
                                        <p:strVal val="visible"/>
                                      </p:to>
                                    </p:set>
                                    <p:animEffect transition="in" filter="fade">
                                      <p:cBhvr>
                                        <p:cTn id="26" dur="500"/>
                                        <p:tgtEl>
                                          <p:spTgt spid="13">
                                            <p:txEl>
                                              <p:pRg st="0" end="0"/>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3">
                                            <p:txEl>
                                              <p:pRg st="2" end="2"/>
                                            </p:txEl>
                                          </p:spTgt>
                                        </p:tgtEl>
                                        <p:attrNameLst>
                                          <p:attrName>style.visibility</p:attrName>
                                        </p:attrNameLst>
                                      </p:cBhvr>
                                      <p:to>
                                        <p:strVal val="visible"/>
                                      </p:to>
                                    </p:set>
                                    <p:animEffect transition="in" filter="fade">
                                      <p:cBhvr>
                                        <p:cTn id="29" dur="500"/>
                                        <p:tgtEl>
                                          <p:spTgt spid="13">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3">
                                            <p:txEl>
                                              <p:pRg st="4" end="4"/>
                                            </p:txEl>
                                          </p:spTgt>
                                        </p:tgtEl>
                                        <p:attrNameLst>
                                          <p:attrName>style.visibility</p:attrName>
                                        </p:attrNameLst>
                                      </p:cBhvr>
                                      <p:to>
                                        <p:strVal val="visible"/>
                                      </p:to>
                                    </p:set>
                                    <p:animEffect transition="in" filter="fade">
                                      <p:cBhvr>
                                        <p:cTn id="34" dur="500"/>
                                        <p:tgtEl>
                                          <p:spTgt spid="13">
                                            <p:txEl>
                                              <p:pRg st="4" end="4"/>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xEl>
                                              <p:pRg st="5" end="5"/>
                                            </p:txEl>
                                          </p:spTgt>
                                        </p:tgtEl>
                                        <p:attrNameLst>
                                          <p:attrName>style.visibility</p:attrName>
                                        </p:attrNameLst>
                                      </p:cBhvr>
                                      <p:to>
                                        <p:strVal val="visible"/>
                                      </p:to>
                                    </p:set>
                                    <p:animEffect transition="in" filter="fade">
                                      <p:cBhvr>
                                        <p:cTn id="37" dur="500"/>
                                        <p:tgtEl>
                                          <p:spTgt spid="13">
                                            <p:txEl>
                                              <p:pRg st="5" end="5"/>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13">
                                            <p:txEl>
                                              <p:pRg st="6" end="6"/>
                                            </p:txEl>
                                          </p:spTgt>
                                        </p:tgtEl>
                                        <p:attrNameLst>
                                          <p:attrName>style.visibility</p:attrName>
                                        </p:attrNameLst>
                                      </p:cBhvr>
                                      <p:to>
                                        <p:strVal val="visible"/>
                                      </p:to>
                                    </p:set>
                                    <p:animEffect transition="in" filter="fade">
                                      <p:cBhvr>
                                        <p:cTn id="40" dur="500"/>
                                        <p:tgtEl>
                                          <p:spTgt spid="13">
                                            <p:txEl>
                                              <p:pRg st="6" end="6"/>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13">
                                            <p:txEl>
                                              <p:pRg st="7" end="7"/>
                                            </p:txEl>
                                          </p:spTgt>
                                        </p:tgtEl>
                                        <p:attrNameLst>
                                          <p:attrName>style.visibility</p:attrName>
                                        </p:attrNameLst>
                                      </p:cBhvr>
                                      <p:to>
                                        <p:strVal val="visible"/>
                                      </p:to>
                                    </p:set>
                                    <p:animEffect transition="in" filter="fade">
                                      <p:cBhvr>
                                        <p:cTn id="43" dur="500"/>
                                        <p:tgtEl>
                                          <p:spTgt spid="13">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3">
                                            <p:txEl>
                                              <p:pRg st="9" end="9"/>
                                            </p:txEl>
                                          </p:spTgt>
                                        </p:tgtEl>
                                        <p:attrNameLst>
                                          <p:attrName>style.visibility</p:attrName>
                                        </p:attrNameLst>
                                      </p:cBhvr>
                                      <p:to>
                                        <p:strVal val="visible"/>
                                      </p:to>
                                    </p:set>
                                    <p:animEffect transition="in" filter="fade">
                                      <p:cBhvr>
                                        <p:cTn id="48" dur="500"/>
                                        <p:tgtEl>
                                          <p:spTgt spid="13">
                                            <p:txEl>
                                              <p:pRg st="9" end="9"/>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13">
                                            <p:txEl>
                                              <p:pRg st="10" end="10"/>
                                            </p:txEl>
                                          </p:spTgt>
                                        </p:tgtEl>
                                        <p:attrNameLst>
                                          <p:attrName>style.visibility</p:attrName>
                                        </p:attrNameLst>
                                      </p:cBhvr>
                                      <p:to>
                                        <p:strVal val="visible"/>
                                      </p:to>
                                    </p:set>
                                    <p:animEffect transition="in" filter="fade">
                                      <p:cBhvr>
                                        <p:cTn id="51" dur="500"/>
                                        <p:tgtEl>
                                          <p:spTgt spid="1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5"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kstvak 7">
            <a:extLst>
              <a:ext uri="{FF2B5EF4-FFF2-40B4-BE49-F238E27FC236}">
                <a16:creationId xmlns:a16="http://schemas.microsoft.com/office/drawing/2014/main" id="{15B34B80-DB18-DC4B-F6B5-D806B4726EAF}"/>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sp>
        <p:nvSpPr>
          <p:cNvPr id="4" name="TextBox 1">
            <a:extLst>
              <a:ext uri="{FF2B5EF4-FFF2-40B4-BE49-F238E27FC236}">
                <a16:creationId xmlns:a16="http://schemas.microsoft.com/office/drawing/2014/main" id="{F6C34FBA-6EA5-1D56-0B52-8B8F33FAFAC2}"/>
              </a:ext>
            </a:extLst>
          </p:cNvPr>
          <p:cNvSpPr txBox="1"/>
          <p:nvPr/>
        </p:nvSpPr>
        <p:spPr>
          <a:xfrm>
            <a:off x="2835163" y="0"/>
            <a:ext cx="7886300"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Slowly Changing Dimension (SCD) Type 0</a:t>
            </a:r>
          </a:p>
        </p:txBody>
      </p:sp>
      <p:cxnSp>
        <p:nvCxnSpPr>
          <p:cNvPr id="5" name="Straight Connector 10">
            <a:extLst>
              <a:ext uri="{FF2B5EF4-FFF2-40B4-BE49-F238E27FC236}">
                <a16:creationId xmlns:a16="http://schemas.microsoft.com/office/drawing/2014/main" id="{C469D0C6-A512-B6E8-DFC0-D02A47F82D81}"/>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pic>
        <p:nvPicPr>
          <p:cNvPr id="2050" name="Picture 2" descr="Nederland Kaart Fotobehang">
            <a:extLst>
              <a:ext uri="{FF2B5EF4-FFF2-40B4-BE49-F238E27FC236}">
                <a16:creationId xmlns:a16="http://schemas.microsoft.com/office/drawing/2014/main" id="{598C0251-924F-628F-665A-EBD48F8B92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5689" y="981771"/>
            <a:ext cx="4863961" cy="568028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Man - Free people icons">
            <a:extLst>
              <a:ext uri="{FF2B5EF4-FFF2-40B4-BE49-F238E27FC236}">
                <a16:creationId xmlns:a16="http://schemas.microsoft.com/office/drawing/2014/main" id="{5F5F1957-73CE-D78A-7086-474C427C5E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7669" y="2859487"/>
            <a:ext cx="783771" cy="67967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el 7">
            <a:extLst>
              <a:ext uri="{FF2B5EF4-FFF2-40B4-BE49-F238E27FC236}">
                <a16:creationId xmlns:a16="http://schemas.microsoft.com/office/drawing/2014/main" id="{77F031C8-724A-E5D4-8D74-646DCAA5C8E7}"/>
              </a:ext>
            </a:extLst>
          </p:cNvPr>
          <p:cNvGraphicFramePr>
            <a:graphicFrameLocks noGrp="1"/>
          </p:cNvGraphicFramePr>
          <p:nvPr>
            <p:extLst>
              <p:ext uri="{D42A27DB-BD31-4B8C-83A1-F6EECF244321}">
                <p14:modId xmlns:p14="http://schemas.microsoft.com/office/powerpoint/2010/main" val="2522224961"/>
              </p:ext>
            </p:extLst>
          </p:nvPr>
        </p:nvGraphicFramePr>
        <p:xfrm>
          <a:off x="7316237" y="1379271"/>
          <a:ext cx="4445439" cy="1112520"/>
        </p:xfrm>
        <a:graphic>
          <a:graphicData uri="http://schemas.openxmlformats.org/drawingml/2006/table">
            <a:tbl>
              <a:tblPr firstRow="1" bandRow="1">
                <a:tableStyleId>{5C22544A-7EE6-4342-B048-85BDC9FD1C3A}</a:tableStyleId>
              </a:tblPr>
              <a:tblGrid>
                <a:gridCol w="1481813">
                  <a:extLst>
                    <a:ext uri="{9D8B030D-6E8A-4147-A177-3AD203B41FA5}">
                      <a16:colId xmlns:a16="http://schemas.microsoft.com/office/drawing/2014/main" val="391686472"/>
                    </a:ext>
                  </a:extLst>
                </a:gridCol>
                <a:gridCol w="1481813">
                  <a:extLst>
                    <a:ext uri="{9D8B030D-6E8A-4147-A177-3AD203B41FA5}">
                      <a16:colId xmlns:a16="http://schemas.microsoft.com/office/drawing/2014/main" val="479079931"/>
                    </a:ext>
                  </a:extLst>
                </a:gridCol>
                <a:gridCol w="1481813">
                  <a:extLst>
                    <a:ext uri="{9D8B030D-6E8A-4147-A177-3AD203B41FA5}">
                      <a16:colId xmlns:a16="http://schemas.microsoft.com/office/drawing/2014/main" val="1039538333"/>
                    </a:ext>
                  </a:extLst>
                </a:gridCol>
              </a:tblGrid>
              <a:tr h="370840">
                <a:tc>
                  <a:txBody>
                    <a:bodyPr/>
                    <a:lstStyle/>
                    <a:p>
                      <a:r>
                        <a:rPr lang="nl-NL" b="1" u="sng" dirty="0" err="1"/>
                        <a:t>Nummer_PK</a:t>
                      </a:r>
                      <a:endParaRPr lang="nl-NL" b="1" u="sng" dirty="0"/>
                    </a:p>
                  </a:txBody>
                  <a:tcPr/>
                </a:tc>
                <a:tc>
                  <a:txBody>
                    <a:bodyPr/>
                    <a:lstStyle/>
                    <a:p>
                      <a:r>
                        <a:rPr lang="nl-NL" b="1" dirty="0"/>
                        <a:t>Naam</a:t>
                      </a:r>
                    </a:p>
                  </a:txBody>
                  <a:tcPr/>
                </a:tc>
                <a:tc>
                  <a:txBody>
                    <a:bodyPr/>
                    <a:lstStyle/>
                    <a:p>
                      <a:r>
                        <a:rPr lang="nl-NL" dirty="0"/>
                        <a:t>Woonplaats</a:t>
                      </a:r>
                    </a:p>
                  </a:txBody>
                  <a:tcPr/>
                </a:tc>
                <a:extLst>
                  <a:ext uri="{0D108BD9-81ED-4DB2-BD59-A6C34878D82A}">
                    <a16:rowId xmlns:a16="http://schemas.microsoft.com/office/drawing/2014/main" val="1194861106"/>
                  </a:ext>
                </a:extLst>
              </a:tr>
              <a:tr h="370840">
                <a:tc>
                  <a:txBody>
                    <a:bodyPr/>
                    <a:lstStyle/>
                    <a:p>
                      <a:r>
                        <a:rPr lang="nl-NL" dirty="0"/>
                        <a:t>1</a:t>
                      </a:r>
                    </a:p>
                  </a:txBody>
                  <a:tcPr/>
                </a:tc>
                <a:tc>
                  <a:txBody>
                    <a:bodyPr/>
                    <a:lstStyle/>
                    <a:p>
                      <a:r>
                        <a:rPr lang="nl-NL" dirty="0"/>
                        <a:t>Henk</a:t>
                      </a:r>
                    </a:p>
                  </a:txBody>
                  <a:tcPr/>
                </a:tc>
                <a:tc>
                  <a:txBody>
                    <a:bodyPr/>
                    <a:lstStyle/>
                    <a:p>
                      <a:r>
                        <a:rPr lang="nl-NL" dirty="0"/>
                        <a:t>Lelystad</a:t>
                      </a:r>
                    </a:p>
                  </a:txBody>
                  <a:tcPr/>
                </a:tc>
                <a:extLst>
                  <a:ext uri="{0D108BD9-81ED-4DB2-BD59-A6C34878D82A}">
                    <a16:rowId xmlns:a16="http://schemas.microsoft.com/office/drawing/2014/main" val="323268865"/>
                  </a:ext>
                </a:extLst>
              </a:tr>
              <a:tr h="370840">
                <a:tc>
                  <a:txBody>
                    <a:bodyPr/>
                    <a:lstStyle/>
                    <a:p>
                      <a:r>
                        <a:rPr lang="nl-NL" dirty="0"/>
                        <a:t>1</a:t>
                      </a:r>
                    </a:p>
                  </a:txBody>
                  <a:tcPr/>
                </a:tc>
                <a:tc>
                  <a:txBody>
                    <a:bodyPr/>
                    <a:lstStyle/>
                    <a:p>
                      <a:r>
                        <a:rPr lang="nl-NL" dirty="0"/>
                        <a:t>Henk</a:t>
                      </a:r>
                    </a:p>
                  </a:txBody>
                  <a:tcPr/>
                </a:tc>
                <a:tc>
                  <a:txBody>
                    <a:bodyPr/>
                    <a:lstStyle/>
                    <a:p>
                      <a:r>
                        <a:rPr lang="nl-NL" dirty="0"/>
                        <a:t>Den Haag</a:t>
                      </a:r>
                    </a:p>
                  </a:txBody>
                  <a:tcPr/>
                </a:tc>
                <a:extLst>
                  <a:ext uri="{0D108BD9-81ED-4DB2-BD59-A6C34878D82A}">
                    <a16:rowId xmlns:a16="http://schemas.microsoft.com/office/drawing/2014/main" val="3975630526"/>
                  </a:ext>
                </a:extLst>
              </a:tr>
            </a:tbl>
          </a:graphicData>
        </a:graphic>
      </p:graphicFrame>
      <p:graphicFrame>
        <p:nvGraphicFramePr>
          <p:cNvPr id="9" name="Tabel 8">
            <a:extLst>
              <a:ext uri="{FF2B5EF4-FFF2-40B4-BE49-F238E27FC236}">
                <a16:creationId xmlns:a16="http://schemas.microsoft.com/office/drawing/2014/main" id="{0C71EA52-F3C7-8FBF-65D8-0507BB215BE6}"/>
              </a:ext>
            </a:extLst>
          </p:cNvPr>
          <p:cNvGraphicFramePr>
            <a:graphicFrameLocks noGrp="1"/>
          </p:cNvGraphicFramePr>
          <p:nvPr>
            <p:extLst>
              <p:ext uri="{D42A27DB-BD31-4B8C-83A1-F6EECF244321}">
                <p14:modId xmlns:p14="http://schemas.microsoft.com/office/powerpoint/2010/main" val="3973416477"/>
              </p:ext>
            </p:extLst>
          </p:nvPr>
        </p:nvGraphicFramePr>
        <p:xfrm>
          <a:off x="7371674" y="3399379"/>
          <a:ext cx="4445439" cy="741680"/>
        </p:xfrm>
        <a:graphic>
          <a:graphicData uri="http://schemas.openxmlformats.org/drawingml/2006/table">
            <a:tbl>
              <a:tblPr firstRow="1" bandRow="1">
                <a:tableStyleId>{93296810-A885-4BE3-A3E7-6D5BEEA58F35}</a:tableStyleId>
              </a:tblPr>
              <a:tblGrid>
                <a:gridCol w="1481813">
                  <a:extLst>
                    <a:ext uri="{9D8B030D-6E8A-4147-A177-3AD203B41FA5}">
                      <a16:colId xmlns:a16="http://schemas.microsoft.com/office/drawing/2014/main" val="391686472"/>
                    </a:ext>
                  </a:extLst>
                </a:gridCol>
                <a:gridCol w="1481813">
                  <a:extLst>
                    <a:ext uri="{9D8B030D-6E8A-4147-A177-3AD203B41FA5}">
                      <a16:colId xmlns:a16="http://schemas.microsoft.com/office/drawing/2014/main" val="479079931"/>
                    </a:ext>
                  </a:extLst>
                </a:gridCol>
                <a:gridCol w="1481813">
                  <a:extLst>
                    <a:ext uri="{9D8B030D-6E8A-4147-A177-3AD203B41FA5}">
                      <a16:colId xmlns:a16="http://schemas.microsoft.com/office/drawing/2014/main" val="1039538333"/>
                    </a:ext>
                  </a:extLst>
                </a:gridCol>
              </a:tblGrid>
              <a:tr h="370840">
                <a:tc>
                  <a:txBody>
                    <a:bodyPr/>
                    <a:lstStyle/>
                    <a:p>
                      <a:r>
                        <a:rPr lang="nl-NL" b="1" u="sng" dirty="0" err="1"/>
                        <a:t>Nummer_PK</a:t>
                      </a:r>
                      <a:endParaRPr lang="nl-NL" b="1" u="sng" dirty="0"/>
                    </a:p>
                  </a:txBody>
                  <a:tcPr/>
                </a:tc>
                <a:tc>
                  <a:txBody>
                    <a:bodyPr/>
                    <a:lstStyle/>
                    <a:p>
                      <a:r>
                        <a:rPr lang="nl-NL" b="1" dirty="0"/>
                        <a:t>Naam</a:t>
                      </a:r>
                    </a:p>
                  </a:txBody>
                  <a:tcPr/>
                </a:tc>
                <a:tc>
                  <a:txBody>
                    <a:bodyPr/>
                    <a:lstStyle/>
                    <a:p>
                      <a:r>
                        <a:rPr lang="nl-NL" dirty="0"/>
                        <a:t>Woonplaats</a:t>
                      </a:r>
                    </a:p>
                  </a:txBody>
                  <a:tcPr/>
                </a:tc>
                <a:extLst>
                  <a:ext uri="{0D108BD9-81ED-4DB2-BD59-A6C34878D82A}">
                    <a16:rowId xmlns:a16="http://schemas.microsoft.com/office/drawing/2014/main" val="1194861106"/>
                  </a:ext>
                </a:extLst>
              </a:tr>
              <a:tr h="370840">
                <a:tc>
                  <a:txBody>
                    <a:bodyPr/>
                    <a:lstStyle/>
                    <a:p>
                      <a:r>
                        <a:rPr lang="nl-NL" dirty="0"/>
                        <a:t>1</a:t>
                      </a:r>
                    </a:p>
                  </a:txBody>
                  <a:tcPr/>
                </a:tc>
                <a:tc>
                  <a:txBody>
                    <a:bodyPr/>
                    <a:lstStyle/>
                    <a:p>
                      <a:r>
                        <a:rPr lang="nl-NL" dirty="0"/>
                        <a:t>Henk</a:t>
                      </a:r>
                    </a:p>
                  </a:txBody>
                  <a:tcPr/>
                </a:tc>
                <a:tc>
                  <a:txBody>
                    <a:bodyPr/>
                    <a:lstStyle/>
                    <a:p>
                      <a:r>
                        <a:rPr lang="nl-NL" dirty="0"/>
                        <a:t>Lelystad</a:t>
                      </a:r>
                    </a:p>
                  </a:txBody>
                  <a:tcPr/>
                </a:tc>
                <a:extLst>
                  <a:ext uri="{0D108BD9-81ED-4DB2-BD59-A6C34878D82A}">
                    <a16:rowId xmlns:a16="http://schemas.microsoft.com/office/drawing/2014/main" val="323268865"/>
                  </a:ext>
                </a:extLst>
              </a:tr>
            </a:tbl>
          </a:graphicData>
        </a:graphic>
      </p:graphicFrame>
      <p:sp>
        <p:nvSpPr>
          <p:cNvPr id="10" name="TextBox 1">
            <a:extLst>
              <a:ext uri="{FF2B5EF4-FFF2-40B4-BE49-F238E27FC236}">
                <a16:creationId xmlns:a16="http://schemas.microsoft.com/office/drawing/2014/main" id="{907AF0DF-01EB-C7B4-0286-30DE8A165502}"/>
              </a:ext>
            </a:extLst>
          </p:cNvPr>
          <p:cNvSpPr txBox="1"/>
          <p:nvPr/>
        </p:nvSpPr>
        <p:spPr>
          <a:xfrm>
            <a:off x="7714444" y="891696"/>
            <a:ext cx="3649024" cy="400110"/>
          </a:xfrm>
          <a:prstGeom prst="rect">
            <a:avLst/>
          </a:prstGeom>
          <a:noFill/>
        </p:spPr>
        <p:txBody>
          <a:bodyPr wrap="square" rtlCol="0">
            <a:spAutoFit/>
          </a:bodyPr>
          <a:lstStyle/>
          <a:p>
            <a:pPr algn="ctr"/>
            <a:r>
              <a:rPr lang="en-US" sz="2000" b="1" i="0" u="none" strike="noStrike" dirty="0" err="1">
                <a:solidFill>
                  <a:srgbClr val="000000"/>
                </a:solidFill>
                <a:effectLst/>
                <a:latin typeface="Arial" panose="020B0604020202020204" pitchFamily="34" charset="0"/>
              </a:rPr>
              <a:t>Operationele</a:t>
            </a:r>
            <a:r>
              <a:rPr lang="en-US" sz="2000" b="1" i="0" u="none" strike="noStrike" dirty="0">
                <a:solidFill>
                  <a:srgbClr val="000000"/>
                </a:solidFill>
                <a:effectLst/>
                <a:latin typeface="Arial" panose="020B0604020202020204" pitchFamily="34" charset="0"/>
              </a:rPr>
              <a:t> data</a:t>
            </a:r>
            <a:endParaRPr lang="nl-NL" sz="2000" b="1" dirty="0"/>
          </a:p>
        </p:txBody>
      </p:sp>
      <p:sp>
        <p:nvSpPr>
          <p:cNvPr id="11" name="TextBox 1">
            <a:extLst>
              <a:ext uri="{FF2B5EF4-FFF2-40B4-BE49-F238E27FC236}">
                <a16:creationId xmlns:a16="http://schemas.microsoft.com/office/drawing/2014/main" id="{4A963F4D-8854-7C66-40B0-DA9B70312825}"/>
              </a:ext>
            </a:extLst>
          </p:cNvPr>
          <p:cNvSpPr txBox="1"/>
          <p:nvPr/>
        </p:nvSpPr>
        <p:spPr>
          <a:xfrm>
            <a:off x="7769881" y="2999269"/>
            <a:ext cx="3649024" cy="400110"/>
          </a:xfrm>
          <a:prstGeom prst="rect">
            <a:avLst/>
          </a:prstGeom>
          <a:noFill/>
        </p:spPr>
        <p:txBody>
          <a:bodyPr wrap="square" rtlCol="0">
            <a:spAutoFit/>
          </a:bodyPr>
          <a:lstStyle/>
          <a:p>
            <a:pPr algn="ctr"/>
            <a:r>
              <a:rPr lang="en-US" sz="2000" b="1" i="0" u="none" strike="noStrike" dirty="0">
                <a:solidFill>
                  <a:srgbClr val="000000"/>
                </a:solidFill>
                <a:effectLst/>
                <a:latin typeface="Arial" panose="020B0604020202020204" pitchFamily="34" charset="0"/>
              </a:rPr>
              <a:t>Datawarehouse-data</a:t>
            </a:r>
            <a:endParaRPr lang="nl-NL" sz="2000" b="1" dirty="0"/>
          </a:p>
        </p:txBody>
      </p:sp>
      <p:sp>
        <p:nvSpPr>
          <p:cNvPr id="12" name="Rechthoek 11">
            <a:extLst>
              <a:ext uri="{FF2B5EF4-FFF2-40B4-BE49-F238E27FC236}">
                <a16:creationId xmlns:a16="http://schemas.microsoft.com/office/drawing/2014/main" id="{AC4A920F-0C13-78C9-C231-B5D0CC262AE1}"/>
              </a:ext>
            </a:extLst>
          </p:cNvPr>
          <p:cNvSpPr/>
          <p:nvPr/>
        </p:nvSpPr>
        <p:spPr>
          <a:xfrm>
            <a:off x="7270524" y="2091682"/>
            <a:ext cx="4647738" cy="400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rgbClr val="FF0000"/>
              </a:solidFill>
            </a:endParaRPr>
          </a:p>
        </p:txBody>
      </p:sp>
      <p:sp>
        <p:nvSpPr>
          <p:cNvPr id="13" name="Rechthoek 12">
            <a:extLst>
              <a:ext uri="{FF2B5EF4-FFF2-40B4-BE49-F238E27FC236}">
                <a16:creationId xmlns:a16="http://schemas.microsoft.com/office/drawing/2014/main" id="{C0F63843-7CC9-C27A-6A27-AEDC20EE3924}"/>
              </a:ext>
            </a:extLst>
          </p:cNvPr>
          <p:cNvSpPr/>
          <p:nvPr/>
        </p:nvSpPr>
        <p:spPr>
          <a:xfrm>
            <a:off x="7215087" y="1702459"/>
            <a:ext cx="4647738" cy="400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rgbClr val="FF0000"/>
              </a:solidFill>
            </a:endParaRPr>
          </a:p>
        </p:txBody>
      </p:sp>
      <p:sp>
        <p:nvSpPr>
          <p:cNvPr id="15" name="TextBox 1">
            <a:extLst>
              <a:ext uri="{FF2B5EF4-FFF2-40B4-BE49-F238E27FC236}">
                <a16:creationId xmlns:a16="http://schemas.microsoft.com/office/drawing/2014/main" id="{DCC81A3C-50A3-7373-7699-4E01B61747EC}"/>
              </a:ext>
            </a:extLst>
          </p:cNvPr>
          <p:cNvSpPr txBox="1"/>
          <p:nvPr/>
        </p:nvSpPr>
        <p:spPr>
          <a:xfrm>
            <a:off x="7270524" y="2404326"/>
            <a:ext cx="2154334" cy="423321"/>
          </a:xfrm>
          <a:prstGeom prst="rect">
            <a:avLst/>
          </a:prstGeom>
          <a:noFill/>
        </p:spPr>
        <p:txBody>
          <a:bodyPr wrap="square" rtlCol="0">
            <a:spAutoFit/>
          </a:bodyPr>
          <a:lstStyle/>
          <a:p>
            <a:pPr defTabSz="457200" eaLnBrk="0" fontAlgn="base" hangingPunct="0">
              <a:lnSpc>
                <a:spcPct val="134000"/>
              </a:lnSpc>
              <a:spcBef>
                <a:spcPct val="0"/>
              </a:spcBef>
              <a:spcAft>
                <a:spcPct val="0"/>
              </a:spcAft>
              <a:buClr>
                <a:srgbClr val="080808"/>
              </a:buClr>
              <a:buSzPct val="100000"/>
              <a:buFont typeface="Times New Roman" charset="0"/>
              <a:buNone/>
            </a:pPr>
            <a:r>
              <a:rPr lang="en-US" dirty="0">
                <a:latin typeface="Arial"/>
                <a:ea typeface="MS PGothic" charset="0"/>
              </a:rPr>
              <a:t>UPDATE </a:t>
            </a:r>
            <a:r>
              <a:rPr lang="en-US" dirty="0" err="1">
                <a:latin typeface="Arial"/>
                <a:ea typeface="MS PGothic" charset="0"/>
              </a:rPr>
              <a:t>Klant</a:t>
            </a:r>
            <a:r>
              <a:rPr lang="en-US" dirty="0">
                <a:latin typeface="Arial"/>
                <a:ea typeface="MS PGothic" charset="0"/>
              </a:rPr>
              <a:t> (…)</a:t>
            </a:r>
          </a:p>
        </p:txBody>
      </p:sp>
      <p:sp>
        <p:nvSpPr>
          <p:cNvPr id="2" name="TextBox 1">
            <a:extLst>
              <a:ext uri="{FF2B5EF4-FFF2-40B4-BE49-F238E27FC236}">
                <a16:creationId xmlns:a16="http://schemas.microsoft.com/office/drawing/2014/main" id="{4E4D5974-3ED3-04AA-5012-9F86DB1AD830}"/>
              </a:ext>
            </a:extLst>
          </p:cNvPr>
          <p:cNvSpPr txBox="1"/>
          <p:nvPr/>
        </p:nvSpPr>
        <p:spPr>
          <a:xfrm>
            <a:off x="5559136" y="4924218"/>
            <a:ext cx="6581149" cy="1908086"/>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dirty="0">
                <a:latin typeface="Arial"/>
                <a:ea typeface="MS PGothic" charset="0"/>
              </a:rPr>
              <a:t>Bij SCD-type 0 blijft de oude waarde in het DWH staan, deze wordt dan dus niet overschreven met de nieuwe waarde.</a:t>
            </a:r>
          </a:p>
          <a:p>
            <a:pPr defTabSz="457200" eaLnBrk="0" fontAlgn="base" hangingPunct="0">
              <a:lnSpc>
                <a:spcPct val="134000"/>
              </a:lnSpc>
              <a:spcBef>
                <a:spcPct val="0"/>
              </a:spcBef>
              <a:spcAft>
                <a:spcPct val="0"/>
              </a:spcAft>
              <a:buClr>
                <a:srgbClr val="080808"/>
              </a:buClr>
              <a:buSzPct val="100000"/>
              <a:buFont typeface="Times New Roman" charset="0"/>
              <a:buNone/>
            </a:pPr>
            <a:endParaRPr lang="nl-NL" dirty="0">
              <a:latin typeface="Arial"/>
              <a:ea typeface="MS PGothic" charset="0"/>
            </a:endParaRPr>
          </a:p>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dirty="0">
                <a:latin typeface="Arial"/>
                <a:ea typeface="MS PGothic" charset="0"/>
              </a:rPr>
              <a:t>Niet vaak gebruikt, omdat je voor de beste bedrijfsbeslissingen de meest actuele </a:t>
            </a:r>
            <a:r>
              <a:rPr lang="nl-NL">
                <a:latin typeface="Arial"/>
                <a:ea typeface="MS PGothic" charset="0"/>
              </a:rPr>
              <a:t>data wilt </a:t>
            </a:r>
            <a:r>
              <a:rPr lang="nl-NL" dirty="0">
                <a:latin typeface="Arial"/>
                <a:ea typeface="MS PGothic" charset="0"/>
              </a:rPr>
              <a:t>hebben.</a:t>
            </a:r>
            <a:endParaRPr lang="en-US" dirty="0">
              <a:latin typeface="Arial"/>
              <a:ea typeface="MS PGothic" charset="0"/>
            </a:endParaRPr>
          </a:p>
        </p:txBody>
      </p:sp>
    </p:spTree>
    <p:custDataLst>
      <p:tags r:id="rId1"/>
    </p:custDataLst>
    <p:extLst>
      <p:ext uri="{BB962C8B-B14F-4D97-AF65-F5344CB8AC3E}">
        <p14:creationId xmlns:p14="http://schemas.microsoft.com/office/powerpoint/2010/main" val="1764428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8.33333E-7 4.81481E-6 L -0.14062 0.09398 " pathEditMode="relative" rAng="0" ptsTypes="AA">
                                      <p:cBhvr>
                                        <p:cTn id="6" dur="2000" fill="hold"/>
                                        <p:tgtEl>
                                          <p:spTgt spid="3074"/>
                                        </p:tgtEl>
                                        <p:attrNameLst>
                                          <p:attrName>ppt_x</p:attrName>
                                          <p:attrName>ppt_y</p:attrName>
                                        </p:attrNameLst>
                                      </p:cBhvr>
                                      <p:rCtr x="-7031" y="4699"/>
                                    </p:animMotion>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0" nodeType="clickEffect">
                                  <p:stCondLst>
                                    <p:cond delay="0"/>
                                  </p:stCondLst>
                                  <p:childTnLst>
                                    <p:animEffect transition="out" filter="fade">
                                      <p:cBhvr>
                                        <p:cTn id="10" dur="500"/>
                                        <p:tgtEl>
                                          <p:spTgt spid="12"/>
                                        </p:tgtEl>
                                      </p:cBhvr>
                                    </p:animEffect>
                                    <p:set>
                                      <p:cBhvr>
                                        <p:cTn id="11" dur="1" fill="hold">
                                          <p:stCondLst>
                                            <p:cond delay="499"/>
                                          </p:stCondLst>
                                        </p:cTn>
                                        <p:tgtEl>
                                          <p:spTgt spid="12"/>
                                        </p:tgtEl>
                                        <p:attrNameLst>
                                          <p:attrName>style.visibility</p:attrName>
                                        </p:attrNameLst>
                                      </p:cBhvr>
                                      <p:to>
                                        <p:strVal val="hidden"/>
                                      </p:to>
                                    </p:se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95C71-370C-C5F2-DEBB-A962E8422189}"/>
            </a:ext>
          </a:extLst>
        </p:cNvPr>
        <p:cNvGrpSpPr/>
        <p:nvPr/>
      </p:nvGrpSpPr>
      <p:grpSpPr>
        <a:xfrm>
          <a:off x="0" y="0"/>
          <a:ext cx="0" cy="0"/>
          <a:chOff x="0" y="0"/>
          <a:chExt cx="0" cy="0"/>
        </a:xfrm>
      </p:grpSpPr>
      <p:sp>
        <p:nvSpPr>
          <p:cNvPr id="6" name="Tekstvak 7">
            <a:extLst>
              <a:ext uri="{FF2B5EF4-FFF2-40B4-BE49-F238E27FC236}">
                <a16:creationId xmlns:a16="http://schemas.microsoft.com/office/drawing/2014/main" id="{63DFA238-142B-2820-DB82-04999E06C7F1}"/>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sp>
        <p:nvSpPr>
          <p:cNvPr id="4" name="TextBox 1">
            <a:extLst>
              <a:ext uri="{FF2B5EF4-FFF2-40B4-BE49-F238E27FC236}">
                <a16:creationId xmlns:a16="http://schemas.microsoft.com/office/drawing/2014/main" id="{D028280C-427B-1F98-439C-0249A7F90EA8}"/>
              </a:ext>
            </a:extLst>
          </p:cNvPr>
          <p:cNvSpPr txBox="1"/>
          <p:nvPr/>
        </p:nvSpPr>
        <p:spPr>
          <a:xfrm>
            <a:off x="2835163" y="0"/>
            <a:ext cx="7886300"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Slowly Changing Dimension (SCD) Type 1</a:t>
            </a:r>
          </a:p>
        </p:txBody>
      </p:sp>
      <p:cxnSp>
        <p:nvCxnSpPr>
          <p:cNvPr id="5" name="Straight Connector 10">
            <a:extLst>
              <a:ext uri="{FF2B5EF4-FFF2-40B4-BE49-F238E27FC236}">
                <a16:creationId xmlns:a16="http://schemas.microsoft.com/office/drawing/2014/main" id="{C3E24AD4-40CD-8722-A8EF-B3422F2DB067}"/>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pic>
        <p:nvPicPr>
          <p:cNvPr id="2050" name="Picture 2" descr="Nederland Kaart Fotobehang">
            <a:extLst>
              <a:ext uri="{FF2B5EF4-FFF2-40B4-BE49-F238E27FC236}">
                <a16:creationId xmlns:a16="http://schemas.microsoft.com/office/drawing/2014/main" id="{69BFF077-3CD9-D1BC-68D6-CB8C0AD798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5689" y="981771"/>
            <a:ext cx="4863961" cy="568028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Man - Free people icons">
            <a:extLst>
              <a:ext uri="{FF2B5EF4-FFF2-40B4-BE49-F238E27FC236}">
                <a16:creationId xmlns:a16="http://schemas.microsoft.com/office/drawing/2014/main" id="{2E5FB3FD-EFAC-257E-1A8C-723BA314BD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7669" y="2859487"/>
            <a:ext cx="783771" cy="67967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el 7">
            <a:extLst>
              <a:ext uri="{FF2B5EF4-FFF2-40B4-BE49-F238E27FC236}">
                <a16:creationId xmlns:a16="http://schemas.microsoft.com/office/drawing/2014/main" id="{9F595C6D-E95D-C4AE-9D75-586161BB0039}"/>
              </a:ext>
            </a:extLst>
          </p:cNvPr>
          <p:cNvGraphicFramePr>
            <a:graphicFrameLocks noGrp="1"/>
          </p:cNvGraphicFramePr>
          <p:nvPr/>
        </p:nvGraphicFramePr>
        <p:xfrm>
          <a:off x="7316237" y="1379271"/>
          <a:ext cx="4445439" cy="1112520"/>
        </p:xfrm>
        <a:graphic>
          <a:graphicData uri="http://schemas.openxmlformats.org/drawingml/2006/table">
            <a:tbl>
              <a:tblPr firstRow="1" bandRow="1">
                <a:tableStyleId>{5C22544A-7EE6-4342-B048-85BDC9FD1C3A}</a:tableStyleId>
              </a:tblPr>
              <a:tblGrid>
                <a:gridCol w="1481813">
                  <a:extLst>
                    <a:ext uri="{9D8B030D-6E8A-4147-A177-3AD203B41FA5}">
                      <a16:colId xmlns:a16="http://schemas.microsoft.com/office/drawing/2014/main" val="391686472"/>
                    </a:ext>
                  </a:extLst>
                </a:gridCol>
                <a:gridCol w="1481813">
                  <a:extLst>
                    <a:ext uri="{9D8B030D-6E8A-4147-A177-3AD203B41FA5}">
                      <a16:colId xmlns:a16="http://schemas.microsoft.com/office/drawing/2014/main" val="479079931"/>
                    </a:ext>
                  </a:extLst>
                </a:gridCol>
                <a:gridCol w="1481813">
                  <a:extLst>
                    <a:ext uri="{9D8B030D-6E8A-4147-A177-3AD203B41FA5}">
                      <a16:colId xmlns:a16="http://schemas.microsoft.com/office/drawing/2014/main" val="1039538333"/>
                    </a:ext>
                  </a:extLst>
                </a:gridCol>
              </a:tblGrid>
              <a:tr h="370840">
                <a:tc>
                  <a:txBody>
                    <a:bodyPr/>
                    <a:lstStyle/>
                    <a:p>
                      <a:r>
                        <a:rPr lang="nl-NL" b="1" u="sng" dirty="0" err="1"/>
                        <a:t>Nummer_PK</a:t>
                      </a:r>
                      <a:endParaRPr lang="nl-NL" b="1" u="sng" dirty="0"/>
                    </a:p>
                  </a:txBody>
                  <a:tcPr/>
                </a:tc>
                <a:tc>
                  <a:txBody>
                    <a:bodyPr/>
                    <a:lstStyle/>
                    <a:p>
                      <a:r>
                        <a:rPr lang="nl-NL" b="1" dirty="0"/>
                        <a:t>Naam</a:t>
                      </a:r>
                    </a:p>
                  </a:txBody>
                  <a:tcPr/>
                </a:tc>
                <a:tc>
                  <a:txBody>
                    <a:bodyPr/>
                    <a:lstStyle/>
                    <a:p>
                      <a:r>
                        <a:rPr lang="nl-NL" dirty="0"/>
                        <a:t>Woonplaats</a:t>
                      </a:r>
                    </a:p>
                  </a:txBody>
                  <a:tcPr/>
                </a:tc>
                <a:extLst>
                  <a:ext uri="{0D108BD9-81ED-4DB2-BD59-A6C34878D82A}">
                    <a16:rowId xmlns:a16="http://schemas.microsoft.com/office/drawing/2014/main" val="1194861106"/>
                  </a:ext>
                </a:extLst>
              </a:tr>
              <a:tr h="370840">
                <a:tc>
                  <a:txBody>
                    <a:bodyPr/>
                    <a:lstStyle/>
                    <a:p>
                      <a:r>
                        <a:rPr lang="nl-NL" dirty="0"/>
                        <a:t>1</a:t>
                      </a:r>
                    </a:p>
                  </a:txBody>
                  <a:tcPr/>
                </a:tc>
                <a:tc>
                  <a:txBody>
                    <a:bodyPr/>
                    <a:lstStyle/>
                    <a:p>
                      <a:r>
                        <a:rPr lang="nl-NL" dirty="0"/>
                        <a:t>Henk</a:t>
                      </a:r>
                    </a:p>
                  </a:txBody>
                  <a:tcPr/>
                </a:tc>
                <a:tc>
                  <a:txBody>
                    <a:bodyPr/>
                    <a:lstStyle/>
                    <a:p>
                      <a:r>
                        <a:rPr lang="nl-NL" dirty="0"/>
                        <a:t>Lelystad</a:t>
                      </a:r>
                    </a:p>
                  </a:txBody>
                  <a:tcPr/>
                </a:tc>
                <a:extLst>
                  <a:ext uri="{0D108BD9-81ED-4DB2-BD59-A6C34878D82A}">
                    <a16:rowId xmlns:a16="http://schemas.microsoft.com/office/drawing/2014/main" val="323268865"/>
                  </a:ext>
                </a:extLst>
              </a:tr>
              <a:tr h="370840">
                <a:tc>
                  <a:txBody>
                    <a:bodyPr/>
                    <a:lstStyle/>
                    <a:p>
                      <a:r>
                        <a:rPr lang="nl-NL" dirty="0"/>
                        <a:t>1</a:t>
                      </a:r>
                    </a:p>
                  </a:txBody>
                  <a:tcPr/>
                </a:tc>
                <a:tc>
                  <a:txBody>
                    <a:bodyPr/>
                    <a:lstStyle/>
                    <a:p>
                      <a:r>
                        <a:rPr lang="nl-NL" dirty="0"/>
                        <a:t>Henk</a:t>
                      </a:r>
                    </a:p>
                  </a:txBody>
                  <a:tcPr/>
                </a:tc>
                <a:tc>
                  <a:txBody>
                    <a:bodyPr/>
                    <a:lstStyle/>
                    <a:p>
                      <a:r>
                        <a:rPr lang="nl-NL" dirty="0"/>
                        <a:t>Den Haag</a:t>
                      </a:r>
                    </a:p>
                  </a:txBody>
                  <a:tcPr/>
                </a:tc>
                <a:extLst>
                  <a:ext uri="{0D108BD9-81ED-4DB2-BD59-A6C34878D82A}">
                    <a16:rowId xmlns:a16="http://schemas.microsoft.com/office/drawing/2014/main" val="3975630526"/>
                  </a:ext>
                </a:extLst>
              </a:tr>
            </a:tbl>
          </a:graphicData>
        </a:graphic>
      </p:graphicFrame>
      <p:graphicFrame>
        <p:nvGraphicFramePr>
          <p:cNvPr id="9" name="Tabel 8">
            <a:extLst>
              <a:ext uri="{FF2B5EF4-FFF2-40B4-BE49-F238E27FC236}">
                <a16:creationId xmlns:a16="http://schemas.microsoft.com/office/drawing/2014/main" id="{16D47ADE-6358-FC79-DEB4-1169995C9D00}"/>
              </a:ext>
            </a:extLst>
          </p:cNvPr>
          <p:cNvGraphicFramePr>
            <a:graphicFrameLocks noGrp="1"/>
          </p:cNvGraphicFramePr>
          <p:nvPr>
            <p:extLst>
              <p:ext uri="{D42A27DB-BD31-4B8C-83A1-F6EECF244321}">
                <p14:modId xmlns:p14="http://schemas.microsoft.com/office/powerpoint/2010/main" val="1054879297"/>
              </p:ext>
            </p:extLst>
          </p:nvPr>
        </p:nvGraphicFramePr>
        <p:xfrm>
          <a:off x="7371674" y="3399379"/>
          <a:ext cx="4445439" cy="1112520"/>
        </p:xfrm>
        <a:graphic>
          <a:graphicData uri="http://schemas.openxmlformats.org/drawingml/2006/table">
            <a:tbl>
              <a:tblPr firstRow="1" bandRow="1">
                <a:tableStyleId>{93296810-A885-4BE3-A3E7-6D5BEEA58F35}</a:tableStyleId>
              </a:tblPr>
              <a:tblGrid>
                <a:gridCol w="1481813">
                  <a:extLst>
                    <a:ext uri="{9D8B030D-6E8A-4147-A177-3AD203B41FA5}">
                      <a16:colId xmlns:a16="http://schemas.microsoft.com/office/drawing/2014/main" val="391686472"/>
                    </a:ext>
                  </a:extLst>
                </a:gridCol>
                <a:gridCol w="1481813">
                  <a:extLst>
                    <a:ext uri="{9D8B030D-6E8A-4147-A177-3AD203B41FA5}">
                      <a16:colId xmlns:a16="http://schemas.microsoft.com/office/drawing/2014/main" val="479079931"/>
                    </a:ext>
                  </a:extLst>
                </a:gridCol>
                <a:gridCol w="1481813">
                  <a:extLst>
                    <a:ext uri="{9D8B030D-6E8A-4147-A177-3AD203B41FA5}">
                      <a16:colId xmlns:a16="http://schemas.microsoft.com/office/drawing/2014/main" val="1039538333"/>
                    </a:ext>
                  </a:extLst>
                </a:gridCol>
              </a:tblGrid>
              <a:tr h="370840">
                <a:tc>
                  <a:txBody>
                    <a:bodyPr/>
                    <a:lstStyle/>
                    <a:p>
                      <a:r>
                        <a:rPr lang="nl-NL" b="1" u="sng" dirty="0" err="1"/>
                        <a:t>Nummer_PK</a:t>
                      </a:r>
                      <a:endParaRPr lang="nl-NL" b="1" u="sng" dirty="0"/>
                    </a:p>
                  </a:txBody>
                  <a:tcPr/>
                </a:tc>
                <a:tc>
                  <a:txBody>
                    <a:bodyPr/>
                    <a:lstStyle/>
                    <a:p>
                      <a:r>
                        <a:rPr lang="nl-NL" b="1" dirty="0"/>
                        <a:t>Naam</a:t>
                      </a:r>
                    </a:p>
                  </a:txBody>
                  <a:tcPr/>
                </a:tc>
                <a:tc>
                  <a:txBody>
                    <a:bodyPr/>
                    <a:lstStyle/>
                    <a:p>
                      <a:r>
                        <a:rPr lang="nl-NL" dirty="0"/>
                        <a:t>Woonplaats</a:t>
                      </a:r>
                    </a:p>
                  </a:txBody>
                  <a:tcPr/>
                </a:tc>
                <a:extLst>
                  <a:ext uri="{0D108BD9-81ED-4DB2-BD59-A6C34878D82A}">
                    <a16:rowId xmlns:a16="http://schemas.microsoft.com/office/drawing/2014/main" val="1194861106"/>
                  </a:ext>
                </a:extLst>
              </a:tr>
              <a:tr h="370840">
                <a:tc>
                  <a:txBody>
                    <a:bodyPr/>
                    <a:lstStyle/>
                    <a:p>
                      <a:r>
                        <a:rPr lang="nl-NL" dirty="0"/>
                        <a:t>1</a:t>
                      </a:r>
                    </a:p>
                  </a:txBody>
                  <a:tcPr/>
                </a:tc>
                <a:tc>
                  <a:txBody>
                    <a:bodyPr/>
                    <a:lstStyle/>
                    <a:p>
                      <a:r>
                        <a:rPr lang="nl-NL" dirty="0"/>
                        <a:t>Henk</a:t>
                      </a:r>
                    </a:p>
                  </a:txBody>
                  <a:tcPr/>
                </a:tc>
                <a:tc>
                  <a:txBody>
                    <a:bodyPr/>
                    <a:lstStyle/>
                    <a:p>
                      <a:r>
                        <a:rPr lang="nl-NL" dirty="0"/>
                        <a:t>Lelystad</a:t>
                      </a:r>
                    </a:p>
                  </a:txBody>
                  <a:tcPr/>
                </a:tc>
                <a:extLst>
                  <a:ext uri="{0D108BD9-81ED-4DB2-BD59-A6C34878D82A}">
                    <a16:rowId xmlns:a16="http://schemas.microsoft.com/office/drawing/2014/main" val="323268865"/>
                  </a:ext>
                </a:extLst>
              </a:tr>
              <a:tr h="370840">
                <a:tc>
                  <a:txBody>
                    <a:bodyPr/>
                    <a:lstStyle/>
                    <a:p>
                      <a:r>
                        <a:rPr lang="nl-NL" dirty="0"/>
                        <a:t>1</a:t>
                      </a:r>
                    </a:p>
                  </a:txBody>
                  <a:tcPr/>
                </a:tc>
                <a:tc>
                  <a:txBody>
                    <a:bodyPr/>
                    <a:lstStyle/>
                    <a:p>
                      <a:r>
                        <a:rPr lang="nl-NL" dirty="0"/>
                        <a:t>Henk</a:t>
                      </a:r>
                    </a:p>
                  </a:txBody>
                  <a:tcPr/>
                </a:tc>
                <a:tc>
                  <a:txBody>
                    <a:bodyPr/>
                    <a:lstStyle/>
                    <a:p>
                      <a:r>
                        <a:rPr lang="nl-NL" dirty="0"/>
                        <a:t>Den Haag</a:t>
                      </a:r>
                    </a:p>
                  </a:txBody>
                  <a:tcPr/>
                </a:tc>
                <a:extLst>
                  <a:ext uri="{0D108BD9-81ED-4DB2-BD59-A6C34878D82A}">
                    <a16:rowId xmlns:a16="http://schemas.microsoft.com/office/drawing/2014/main" val="481159627"/>
                  </a:ext>
                </a:extLst>
              </a:tr>
            </a:tbl>
          </a:graphicData>
        </a:graphic>
      </p:graphicFrame>
      <p:sp>
        <p:nvSpPr>
          <p:cNvPr id="10" name="TextBox 1">
            <a:extLst>
              <a:ext uri="{FF2B5EF4-FFF2-40B4-BE49-F238E27FC236}">
                <a16:creationId xmlns:a16="http://schemas.microsoft.com/office/drawing/2014/main" id="{F2E6C4E4-2432-6F3D-AACE-5ECB6EA41865}"/>
              </a:ext>
            </a:extLst>
          </p:cNvPr>
          <p:cNvSpPr txBox="1"/>
          <p:nvPr/>
        </p:nvSpPr>
        <p:spPr>
          <a:xfrm>
            <a:off x="7714444" y="891696"/>
            <a:ext cx="3649024" cy="400110"/>
          </a:xfrm>
          <a:prstGeom prst="rect">
            <a:avLst/>
          </a:prstGeom>
          <a:noFill/>
        </p:spPr>
        <p:txBody>
          <a:bodyPr wrap="square" rtlCol="0">
            <a:spAutoFit/>
          </a:bodyPr>
          <a:lstStyle/>
          <a:p>
            <a:pPr algn="ctr"/>
            <a:r>
              <a:rPr lang="en-US" sz="2000" b="1" i="0" u="none" strike="noStrike" dirty="0" err="1">
                <a:solidFill>
                  <a:srgbClr val="000000"/>
                </a:solidFill>
                <a:effectLst/>
                <a:latin typeface="Arial" panose="020B0604020202020204" pitchFamily="34" charset="0"/>
              </a:rPr>
              <a:t>Operationele</a:t>
            </a:r>
            <a:r>
              <a:rPr lang="en-US" sz="2000" b="1" i="0" u="none" strike="noStrike" dirty="0">
                <a:solidFill>
                  <a:srgbClr val="000000"/>
                </a:solidFill>
                <a:effectLst/>
                <a:latin typeface="Arial" panose="020B0604020202020204" pitchFamily="34" charset="0"/>
              </a:rPr>
              <a:t> data</a:t>
            </a:r>
            <a:endParaRPr lang="nl-NL" sz="2000" b="1" dirty="0"/>
          </a:p>
        </p:txBody>
      </p:sp>
      <p:sp>
        <p:nvSpPr>
          <p:cNvPr id="11" name="TextBox 1">
            <a:extLst>
              <a:ext uri="{FF2B5EF4-FFF2-40B4-BE49-F238E27FC236}">
                <a16:creationId xmlns:a16="http://schemas.microsoft.com/office/drawing/2014/main" id="{BFB27830-05CF-1BDF-558F-DA2C34E484B9}"/>
              </a:ext>
            </a:extLst>
          </p:cNvPr>
          <p:cNvSpPr txBox="1"/>
          <p:nvPr/>
        </p:nvSpPr>
        <p:spPr>
          <a:xfrm>
            <a:off x="7769881" y="2999269"/>
            <a:ext cx="3649024" cy="400110"/>
          </a:xfrm>
          <a:prstGeom prst="rect">
            <a:avLst/>
          </a:prstGeom>
          <a:noFill/>
        </p:spPr>
        <p:txBody>
          <a:bodyPr wrap="square" rtlCol="0">
            <a:spAutoFit/>
          </a:bodyPr>
          <a:lstStyle/>
          <a:p>
            <a:pPr algn="ctr"/>
            <a:r>
              <a:rPr lang="en-US" sz="2000" b="1" i="0" u="none" strike="noStrike" dirty="0">
                <a:solidFill>
                  <a:srgbClr val="000000"/>
                </a:solidFill>
                <a:effectLst/>
                <a:latin typeface="Arial" panose="020B0604020202020204" pitchFamily="34" charset="0"/>
              </a:rPr>
              <a:t>Datawarehouse-data</a:t>
            </a:r>
            <a:endParaRPr lang="nl-NL" sz="2000" b="1" dirty="0"/>
          </a:p>
        </p:txBody>
      </p:sp>
      <p:sp>
        <p:nvSpPr>
          <p:cNvPr id="12" name="Rechthoek 11">
            <a:extLst>
              <a:ext uri="{FF2B5EF4-FFF2-40B4-BE49-F238E27FC236}">
                <a16:creationId xmlns:a16="http://schemas.microsoft.com/office/drawing/2014/main" id="{1EFC3F44-3602-A808-4324-6331648B6601}"/>
              </a:ext>
            </a:extLst>
          </p:cNvPr>
          <p:cNvSpPr/>
          <p:nvPr/>
        </p:nvSpPr>
        <p:spPr>
          <a:xfrm>
            <a:off x="7270524" y="2091682"/>
            <a:ext cx="4647738" cy="400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rgbClr val="FF0000"/>
              </a:solidFill>
            </a:endParaRPr>
          </a:p>
        </p:txBody>
      </p:sp>
      <p:sp>
        <p:nvSpPr>
          <p:cNvPr id="13" name="Rechthoek 12">
            <a:extLst>
              <a:ext uri="{FF2B5EF4-FFF2-40B4-BE49-F238E27FC236}">
                <a16:creationId xmlns:a16="http://schemas.microsoft.com/office/drawing/2014/main" id="{CACD8049-89CB-F7E9-787B-2222D681D944}"/>
              </a:ext>
            </a:extLst>
          </p:cNvPr>
          <p:cNvSpPr/>
          <p:nvPr/>
        </p:nvSpPr>
        <p:spPr>
          <a:xfrm>
            <a:off x="7215087" y="1702459"/>
            <a:ext cx="4647738" cy="400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rgbClr val="FF0000"/>
              </a:solidFill>
            </a:endParaRPr>
          </a:p>
        </p:txBody>
      </p:sp>
      <p:sp>
        <p:nvSpPr>
          <p:cNvPr id="15" name="TextBox 1">
            <a:extLst>
              <a:ext uri="{FF2B5EF4-FFF2-40B4-BE49-F238E27FC236}">
                <a16:creationId xmlns:a16="http://schemas.microsoft.com/office/drawing/2014/main" id="{C9226601-879C-DD46-37D5-6C32B9B6CAD7}"/>
              </a:ext>
            </a:extLst>
          </p:cNvPr>
          <p:cNvSpPr txBox="1"/>
          <p:nvPr/>
        </p:nvSpPr>
        <p:spPr>
          <a:xfrm>
            <a:off x="7270524" y="2404326"/>
            <a:ext cx="2154334" cy="423321"/>
          </a:xfrm>
          <a:prstGeom prst="rect">
            <a:avLst/>
          </a:prstGeom>
          <a:noFill/>
        </p:spPr>
        <p:txBody>
          <a:bodyPr wrap="square" rtlCol="0">
            <a:spAutoFit/>
          </a:bodyPr>
          <a:lstStyle/>
          <a:p>
            <a:pPr defTabSz="457200" eaLnBrk="0" fontAlgn="base" hangingPunct="0">
              <a:lnSpc>
                <a:spcPct val="134000"/>
              </a:lnSpc>
              <a:spcBef>
                <a:spcPct val="0"/>
              </a:spcBef>
              <a:spcAft>
                <a:spcPct val="0"/>
              </a:spcAft>
              <a:buClr>
                <a:srgbClr val="080808"/>
              </a:buClr>
              <a:buSzPct val="100000"/>
              <a:buFont typeface="Times New Roman" charset="0"/>
              <a:buNone/>
            </a:pPr>
            <a:r>
              <a:rPr lang="en-US" dirty="0">
                <a:latin typeface="Arial"/>
                <a:ea typeface="MS PGothic" charset="0"/>
              </a:rPr>
              <a:t>UPDATE </a:t>
            </a:r>
            <a:r>
              <a:rPr lang="en-US" dirty="0" err="1">
                <a:latin typeface="Arial"/>
                <a:ea typeface="MS PGothic" charset="0"/>
              </a:rPr>
              <a:t>Klant</a:t>
            </a:r>
            <a:r>
              <a:rPr lang="en-US" dirty="0">
                <a:latin typeface="Arial"/>
                <a:ea typeface="MS PGothic" charset="0"/>
              </a:rPr>
              <a:t> (…)</a:t>
            </a:r>
          </a:p>
        </p:txBody>
      </p:sp>
      <p:sp>
        <p:nvSpPr>
          <p:cNvPr id="2" name="TextBox 1">
            <a:extLst>
              <a:ext uri="{FF2B5EF4-FFF2-40B4-BE49-F238E27FC236}">
                <a16:creationId xmlns:a16="http://schemas.microsoft.com/office/drawing/2014/main" id="{8133C205-1B76-1FE5-5C90-9E5FBDDB1FFD}"/>
              </a:ext>
            </a:extLst>
          </p:cNvPr>
          <p:cNvSpPr txBox="1"/>
          <p:nvPr/>
        </p:nvSpPr>
        <p:spPr>
          <a:xfrm>
            <a:off x="5559136" y="4924218"/>
            <a:ext cx="6581149" cy="1908086"/>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dirty="0">
                <a:latin typeface="Arial"/>
                <a:ea typeface="MS PGothic" charset="0"/>
              </a:rPr>
              <a:t>Bij SCD-type 1 wordt de oude waarde in het DWH volledig overschreven door de nieuwe waarde.</a:t>
            </a:r>
          </a:p>
          <a:p>
            <a:pPr algn="ctr" defTabSz="457200" eaLnBrk="0" fontAlgn="base" hangingPunct="0">
              <a:lnSpc>
                <a:spcPct val="134000"/>
              </a:lnSpc>
              <a:spcBef>
                <a:spcPct val="0"/>
              </a:spcBef>
              <a:spcAft>
                <a:spcPct val="0"/>
              </a:spcAft>
              <a:buClr>
                <a:srgbClr val="080808"/>
              </a:buClr>
              <a:buSzPct val="100000"/>
              <a:buFont typeface="Times New Roman" charset="0"/>
              <a:buNone/>
            </a:pPr>
            <a:endParaRPr lang="nl-NL" dirty="0">
              <a:latin typeface="Arial"/>
              <a:ea typeface="MS PGothic" charset="0"/>
            </a:endParaRPr>
          </a:p>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dirty="0">
                <a:latin typeface="Arial"/>
                <a:ea typeface="MS PGothic" charset="0"/>
              </a:rPr>
              <a:t>Vaak gebruikt, opdrachtgevers accepteren kleine historische onnauwkeurigheden.</a:t>
            </a:r>
            <a:endParaRPr lang="en-US" dirty="0">
              <a:latin typeface="Arial"/>
              <a:ea typeface="MS PGothic" charset="0"/>
            </a:endParaRPr>
          </a:p>
        </p:txBody>
      </p:sp>
      <p:sp>
        <p:nvSpPr>
          <p:cNvPr id="3" name="Rechthoek 12">
            <a:extLst>
              <a:ext uri="{FF2B5EF4-FFF2-40B4-BE49-F238E27FC236}">
                <a16:creationId xmlns:a16="http://schemas.microsoft.com/office/drawing/2014/main" id="{3FAA1C8B-5D88-C877-76F6-9A3CB89DAE58}"/>
              </a:ext>
            </a:extLst>
          </p:cNvPr>
          <p:cNvSpPr/>
          <p:nvPr/>
        </p:nvSpPr>
        <p:spPr>
          <a:xfrm>
            <a:off x="7371674" y="3784172"/>
            <a:ext cx="4647738" cy="400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rgbClr val="FF0000"/>
              </a:solidFill>
            </a:endParaRPr>
          </a:p>
        </p:txBody>
      </p:sp>
      <p:sp>
        <p:nvSpPr>
          <p:cNvPr id="14" name="Rechthoek 12">
            <a:extLst>
              <a:ext uri="{FF2B5EF4-FFF2-40B4-BE49-F238E27FC236}">
                <a16:creationId xmlns:a16="http://schemas.microsoft.com/office/drawing/2014/main" id="{F48DB186-7591-DD7F-8E97-CB67F115821E}"/>
              </a:ext>
            </a:extLst>
          </p:cNvPr>
          <p:cNvSpPr/>
          <p:nvPr/>
        </p:nvSpPr>
        <p:spPr>
          <a:xfrm>
            <a:off x="7169375" y="4196491"/>
            <a:ext cx="4647738" cy="400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rgbClr val="FF0000"/>
              </a:solidFill>
            </a:endParaRPr>
          </a:p>
        </p:txBody>
      </p:sp>
    </p:spTree>
    <p:custDataLst>
      <p:tags r:id="rId1"/>
    </p:custDataLst>
    <p:extLst>
      <p:ext uri="{BB962C8B-B14F-4D97-AF65-F5344CB8AC3E}">
        <p14:creationId xmlns:p14="http://schemas.microsoft.com/office/powerpoint/2010/main" val="3146074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8.33333E-7 4.81481E-6 L -0.14062 0.09398 " pathEditMode="relative" rAng="0" ptsTypes="AA">
                                      <p:cBhvr>
                                        <p:cTn id="6" dur="2000" fill="hold"/>
                                        <p:tgtEl>
                                          <p:spTgt spid="3074"/>
                                        </p:tgtEl>
                                        <p:attrNameLst>
                                          <p:attrName>ppt_x</p:attrName>
                                          <p:attrName>ppt_y</p:attrName>
                                        </p:attrNameLst>
                                      </p:cBhvr>
                                      <p:rCtr x="-7031" y="4699"/>
                                    </p:animMotion>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0" nodeType="clickEffect">
                                  <p:stCondLst>
                                    <p:cond delay="0"/>
                                  </p:stCondLst>
                                  <p:childTnLst>
                                    <p:animEffect transition="out" filter="fade">
                                      <p:cBhvr>
                                        <p:cTn id="10" dur="500"/>
                                        <p:tgtEl>
                                          <p:spTgt spid="12"/>
                                        </p:tgtEl>
                                      </p:cBhvr>
                                    </p:animEffect>
                                    <p:set>
                                      <p:cBhvr>
                                        <p:cTn id="11" dur="1" fill="hold">
                                          <p:stCondLst>
                                            <p:cond delay="499"/>
                                          </p:stCondLst>
                                        </p:cTn>
                                        <p:tgtEl>
                                          <p:spTgt spid="12"/>
                                        </p:tgtEl>
                                        <p:attrNameLst>
                                          <p:attrName>style.visibility</p:attrName>
                                        </p:attrNameLst>
                                      </p:cBhvr>
                                      <p:to>
                                        <p:strVal val="hidden"/>
                                      </p:to>
                                    </p:se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par>
                                <p:cTn id="23" presetID="10" presetClass="exit" presetSubtype="0" fill="hold" grpId="0" nodeType="withEffect">
                                  <p:stCondLst>
                                    <p:cond delay="0"/>
                                  </p:stCondLst>
                                  <p:childTnLst>
                                    <p:animEffect transition="out" filter="fade">
                                      <p:cBhvr>
                                        <p:cTn id="24" dur="500"/>
                                        <p:tgtEl>
                                          <p:spTgt spid="14"/>
                                        </p:tgtEl>
                                      </p:cBhvr>
                                    </p:animEffect>
                                    <p:set>
                                      <p:cBhvr>
                                        <p:cTn id="25" dur="1" fill="hold">
                                          <p:stCondLst>
                                            <p:cond delay="499"/>
                                          </p:stCondLst>
                                        </p:cTn>
                                        <p:tgtEl>
                                          <p:spTgt spid="1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p:bldP spid="2" grpId="0"/>
      <p:bldP spid="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1E910-70FB-E2EC-60AA-9F90E7086B8F}"/>
            </a:ext>
          </a:extLst>
        </p:cNvPr>
        <p:cNvGrpSpPr/>
        <p:nvPr/>
      </p:nvGrpSpPr>
      <p:grpSpPr>
        <a:xfrm>
          <a:off x="0" y="0"/>
          <a:ext cx="0" cy="0"/>
          <a:chOff x="0" y="0"/>
          <a:chExt cx="0" cy="0"/>
        </a:xfrm>
      </p:grpSpPr>
      <p:sp>
        <p:nvSpPr>
          <p:cNvPr id="6" name="Tekstvak 7">
            <a:extLst>
              <a:ext uri="{FF2B5EF4-FFF2-40B4-BE49-F238E27FC236}">
                <a16:creationId xmlns:a16="http://schemas.microsoft.com/office/drawing/2014/main" id="{34F6DD13-DA49-75C3-737F-75B6DA41865F}"/>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sp>
        <p:nvSpPr>
          <p:cNvPr id="4" name="TextBox 1">
            <a:extLst>
              <a:ext uri="{FF2B5EF4-FFF2-40B4-BE49-F238E27FC236}">
                <a16:creationId xmlns:a16="http://schemas.microsoft.com/office/drawing/2014/main" id="{814E6BFE-2C20-706A-F547-0C80985F79F0}"/>
              </a:ext>
            </a:extLst>
          </p:cNvPr>
          <p:cNvSpPr txBox="1"/>
          <p:nvPr/>
        </p:nvSpPr>
        <p:spPr>
          <a:xfrm>
            <a:off x="2835163" y="0"/>
            <a:ext cx="7886300"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Slowly Changing Dimension (SCD) Type 2</a:t>
            </a:r>
          </a:p>
        </p:txBody>
      </p:sp>
      <p:cxnSp>
        <p:nvCxnSpPr>
          <p:cNvPr id="5" name="Straight Connector 10">
            <a:extLst>
              <a:ext uri="{FF2B5EF4-FFF2-40B4-BE49-F238E27FC236}">
                <a16:creationId xmlns:a16="http://schemas.microsoft.com/office/drawing/2014/main" id="{FA16F89D-569D-F0C0-5AA0-9C3F733E5FA9}"/>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pic>
        <p:nvPicPr>
          <p:cNvPr id="2050" name="Picture 2" descr="Nederland Kaart Fotobehang">
            <a:extLst>
              <a:ext uri="{FF2B5EF4-FFF2-40B4-BE49-F238E27FC236}">
                <a16:creationId xmlns:a16="http://schemas.microsoft.com/office/drawing/2014/main" id="{71CC0F4D-C7BF-F84A-565F-DFD0DEF9D1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5689" y="981771"/>
            <a:ext cx="4863961" cy="568028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Man - Free people icons">
            <a:extLst>
              <a:ext uri="{FF2B5EF4-FFF2-40B4-BE49-F238E27FC236}">
                <a16:creationId xmlns:a16="http://schemas.microsoft.com/office/drawing/2014/main" id="{0D89A657-D422-FBB5-3ABC-CE16E1CB04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7669" y="2859487"/>
            <a:ext cx="783771" cy="67967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el 7">
            <a:extLst>
              <a:ext uri="{FF2B5EF4-FFF2-40B4-BE49-F238E27FC236}">
                <a16:creationId xmlns:a16="http://schemas.microsoft.com/office/drawing/2014/main" id="{D64E3AC8-2309-EF33-2EBD-5F27D4D1A9AC}"/>
              </a:ext>
            </a:extLst>
          </p:cNvPr>
          <p:cNvGraphicFramePr>
            <a:graphicFrameLocks noGrp="1"/>
          </p:cNvGraphicFramePr>
          <p:nvPr/>
        </p:nvGraphicFramePr>
        <p:xfrm>
          <a:off x="7316237" y="1379271"/>
          <a:ext cx="4445439" cy="1112520"/>
        </p:xfrm>
        <a:graphic>
          <a:graphicData uri="http://schemas.openxmlformats.org/drawingml/2006/table">
            <a:tbl>
              <a:tblPr firstRow="1" bandRow="1">
                <a:tableStyleId>{5C22544A-7EE6-4342-B048-85BDC9FD1C3A}</a:tableStyleId>
              </a:tblPr>
              <a:tblGrid>
                <a:gridCol w="1481813">
                  <a:extLst>
                    <a:ext uri="{9D8B030D-6E8A-4147-A177-3AD203B41FA5}">
                      <a16:colId xmlns:a16="http://schemas.microsoft.com/office/drawing/2014/main" val="391686472"/>
                    </a:ext>
                  </a:extLst>
                </a:gridCol>
                <a:gridCol w="1481813">
                  <a:extLst>
                    <a:ext uri="{9D8B030D-6E8A-4147-A177-3AD203B41FA5}">
                      <a16:colId xmlns:a16="http://schemas.microsoft.com/office/drawing/2014/main" val="479079931"/>
                    </a:ext>
                  </a:extLst>
                </a:gridCol>
                <a:gridCol w="1481813">
                  <a:extLst>
                    <a:ext uri="{9D8B030D-6E8A-4147-A177-3AD203B41FA5}">
                      <a16:colId xmlns:a16="http://schemas.microsoft.com/office/drawing/2014/main" val="1039538333"/>
                    </a:ext>
                  </a:extLst>
                </a:gridCol>
              </a:tblGrid>
              <a:tr h="370840">
                <a:tc>
                  <a:txBody>
                    <a:bodyPr/>
                    <a:lstStyle/>
                    <a:p>
                      <a:r>
                        <a:rPr lang="nl-NL" b="1" u="sng" dirty="0" err="1"/>
                        <a:t>Nummer_PK</a:t>
                      </a:r>
                      <a:endParaRPr lang="nl-NL" b="1" u="sng" dirty="0"/>
                    </a:p>
                  </a:txBody>
                  <a:tcPr/>
                </a:tc>
                <a:tc>
                  <a:txBody>
                    <a:bodyPr/>
                    <a:lstStyle/>
                    <a:p>
                      <a:r>
                        <a:rPr lang="nl-NL" b="1" dirty="0"/>
                        <a:t>Naam</a:t>
                      </a:r>
                    </a:p>
                  </a:txBody>
                  <a:tcPr/>
                </a:tc>
                <a:tc>
                  <a:txBody>
                    <a:bodyPr/>
                    <a:lstStyle/>
                    <a:p>
                      <a:r>
                        <a:rPr lang="nl-NL" dirty="0"/>
                        <a:t>Woonplaats</a:t>
                      </a:r>
                    </a:p>
                  </a:txBody>
                  <a:tcPr/>
                </a:tc>
                <a:extLst>
                  <a:ext uri="{0D108BD9-81ED-4DB2-BD59-A6C34878D82A}">
                    <a16:rowId xmlns:a16="http://schemas.microsoft.com/office/drawing/2014/main" val="1194861106"/>
                  </a:ext>
                </a:extLst>
              </a:tr>
              <a:tr h="370840">
                <a:tc>
                  <a:txBody>
                    <a:bodyPr/>
                    <a:lstStyle/>
                    <a:p>
                      <a:r>
                        <a:rPr lang="nl-NL" dirty="0"/>
                        <a:t>1</a:t>
                      </a:r>
                    </a:p>
                  </a:txBody>
                  <a:tcPr/>
                </a:tc>
                <a:tc>
                  <a:txBody>
                    <a:bodyPr/>
                    <a:lstStyle/>
                    <a:p>
                      <a:r>
                        <a:rPr lang="nl-NL" dirty="0"/>
                        <a:t>Henk</a:t>
                      </a:r>
                    </a:p>
                  </a:txBody>
                  <a:tcPr/>
                </a:tc>
                <a:tc>
                  <a:txBody>
                    <a:bodyPr/>
                    <a:lstStyle/>
                    <a:p>
                      <a:r>
                        <a:rPr lang="nl-NL" dirty="0"/>
                        <a:t>Lelystad</a:t>
                      </a:r>
                    </a:p>
                  </a:txBody>
                  <a:tcPr/>
                </a:tc>
                <a:extLst>
                  <a:ext uri="{0D108BD9-81ED-4DB2-BD59-A6C34878D82A}">
                    <a16:rowId xmlns:a16="http://schemas.microsoft.com/office/drawing/2014/main" val="323268865"/>
                  </a:ext>
                </a:extLst>
              </a:tr>
              <a:tr h="370840">
                <a:tc>
                  <a:txBody>
                    <a:bodyPr/>
                    <a:lstStyle/>
                    <a:p>
                      <a:r>
                        <a:rPr lang="nl-NL" dirty="0"/>
                        <a:t>1</a:t>
                      </a:r>
                    </a:p>
                  </a:txBody>
                  <a:tcPr/>
                </a:tc>
                <a:tc>
                  <a:txBody>
                    <a:bodyPr/>
                    <a:lstStyle/>
                    <a:p>
                      <a:r>
                        <a:rPr lang="nl-NL" dirty="0"/>
                        <a:t>Henk</a:t>
                      </a:r>
                    </a:p>
                  </a:txBody>
                  <a:tcPr/>
                </a:tc>
                <a:tc>
                  <a:txBody>
                    <a:bodyPr/>
                    <a:lstStyle/>
                    <a:p>
                      <a:r>
                        <a:rPr lang="nl-NL" dirty="0"/>
                        <a:t>Den Haag</a:t>
                      </a:r>
                    </a:p>
                  </a:txBody>
                  <a:tcPr/>
                </a:tc>
                <a:extLst>
                  <a:ext uri="{0D108BD9-81ED-4DB2-BD59-A6C34878D82A}">
                    <a16:rowId xmlns:a16="http://schemas.microsoft.com/office/drawing/2014/main" val="3975630526"/>
                  </a:ext>
                </a:extLst>
              </a:tr>
            </a:tbl>
          </a:graphicData>
        </a:graphic>
      </p:graphicFrame>
      <p:graphicFrame>
        <p:nvGraphicFramePr>
          <p:cNvPr id="9" name="Tabel 8">
            <a:extLst>
              <a:ext uri="{FF2B5EF4-FFF2-40B4-BE49-F238E27FC236}">
                <a16:creationId xmlns:a16="http://schemas.microsoft.com/office/drawing/2014/main" id="{967A9A1A-BEB9-9FAE-2469-3BB25A1B9B95}"/>
              </a:ext>
            </a:extLst>
          </p:cNvPr>
          <p:cNvGraphicFramePr>
            <a:graphicFrameLocks noGrp="1"/>
          </p:cNvGraphicFramePr>
          <p:nvPr/>
        </p:nvGraphicFramePr>
        <p:xfrm>
          <a:off x="7371674" y="3399379"/>
          <a:ext cx="4445439" cy="1112520"/>
        </p:xfrm>
        <a:graphic>
          <a:graphicData uri="http://schemas.openxmlformats.org/drawingml/2006/table">
            <a:tbl>
              <a:tblPr firstRow="1" bandRow="1">
                <a:tableStyleId>{93296810-A885-4BE3-A3E7-6D5BEEA58F35}</a:tableStyleId>
              </a:tblPr>
              <a:tblGrid>
                <a:gridCol w="1481813">
                  <a:extLst>
                    <a:ext uri="{9D8B030D-6E8A-4147-A177-3AD203B41FA5}">
                      <a16:colId xmlns:a16="http://schemas.microsoft.com/office/drawing/2014/main" val="391686472"/>
                    </a:ext>
                  </a:extLst>
                </a:gridCol>
                <a:gridCol w="1481813">
                  <a:extLst>
                    <a:ext uri="{9D8B030D-6E8A-4147-A177-3AD203B41FA5}">
                      <a16:colId xmlns:a16="http://schemas.microsoft.com/office/drawing/2014/main" val="479079931"/>
                    </a:ext>
                  </a:extLst>
                </a:gridCol>
                <a:gridCol w="1481813">
                  <a:extLst>
                    <a:ext uri="{9D8B030D-6E8A-4147-A177-3AD203B41FA5}">
                      <a16:colId xmlns:a16="http://schemas.microsoft.com/office/drawing/2014/main" val="1039538333"/>
                    </a:ext>
                  </a:extLst>
                </a:gridCol>
              </a:tblGrid>
              <a:tr h="370840">
                <a:tc>
                  <a:txBody>
                    <a:bodyPr/>
                    <a:lstStyle/>
                    <a:p>
                      <a:r>
                        <a:rPr lang="nl-NL" b="1" u="sng" dirty="0" err="1"/>
                        <a:t>Nummer_PK</a:t>
                      </a:r>
                      <a:endParaRPr lang="nl-NL" b="1" u="sng" dirty="0"/>
                    </a:p>
                  </a:txBody>
                  <a:tcPr/>
                </a:tc>
                <a:tc>
                  <a:txBody>
                    <a:bodyPr/>
                    <a:lstStyle/>
                    <a:p>
                      <a:r>
                        <a:rPr lang="nl-NL" b="1" dirty="0"/>
                        <a:t>Naam</a:t>
                      </a:r>
                    </a:p>
                  </a:txBody>
                  <a:tcPr/>
                </a:tc>
                <a:tc>
                  <a:txBody>
                    <a:bodyPr/>
                    <a:lstStyle/>
                    <a:p>
                      <a:r>
                        <a:rPr lang="nl-NL" dirty="0"/>
                        <a:t>Woonplaats</a:t>
                      </a:r>
                    </a:p>
                  </a:txBody>
                  <a:tcPr/>
                </a:tc>
                <a:extLst>
                  <a:ext uri="{0D108BD9-81ED-4DB2-BD59-A6C34878D82A}">
                    <a16:rowId xmlns:a16="http://schemas.microsoft.com/office/drawing/2014/main" val="1194861106"/>
                  </a:ext>
                </a:extLst>
              </a:tr>
              <a:tr h="370840">
                <a:tc>
                  <a:txBody>
                    <a:bodyPr/>
                    <a:lstStyle/>
                    <a:p>
                      <a:r>
                        <a:rPr lang="nl-NL" dirty="0"/>
                        <a:t>1</a:t>
                      </a:r>
                    </a:p>
                  </a:txBody>
                  <a:tcPr/>
                </a:tc>
                <a:tc>
                  <a:txBody>
                    <a:bodyPr/>
                    <a:lstStyle/>
                    <a:p>
                      <a:r>
                        <a:rPr lang="nl-NL" dirty="0"/>
                        <a:t>Henk</a:t>
                      </a:r>
                    </a:p>
                  </a:txBody>
                  <a:tcPr/>
                </a:tc>
                <a:tc>
                  <a:txBody>
                    <a:bodyPr/>
                    <a:lstStyle/>
                    <a:p>
                      <a:r>
                        <a:rPr lang="nl-NL" dirty="0"/>
                        <a:t>Lelystad</a:t>
                      </a:r>
                    </a:p>
                  </a:txBody>
                  <a:tcPr/>
                </a:tc>
                <a:extLst>
                  <a:ext uri="{0D108BD9-81ED-4DB2-BD59-A6C34878D82A}">
                    <a16:rowId xmlns:a16="http://schemas.microsoft.com/office/drawing/2014/main" val="323268865"/>
                  </a:ext>
                </a:extLst>
              </a:tr>
              <a:tr h="370840">
                <a:tc>
                  <a:txBody>
                    <a:bodyPr/>
                    <a:lstStyle/>
                    <a:p>
                      <a:r>
                        <a:rPr lang="nl-NL" dirty="0"/>
                        <a:t>1</a:t>
                      </a:r>
                    </a:p>
                  </a:txBody>
                  <a:tcPr/>
                </a:tc>
                <a:tc>
                  <a:txBody>
                    <a:bodyPr/>
                    <a:lstStyle/>
                    <a:p>
                      <a:r>
                        <a:rPr lang="nl-NL" dirty="0"/>
                        <a:t>Henk</a:t>
                      </a:r>
                    </a:p>
                  </a:txBody>
                  <a:tcPr/>
                </a:tc>
                <a:tc>
                  <a:txBody>
                    <a:bodyPr/>
                    <a:lstStyle/>
                    <a:p>
                      <a:r>
                        <a:rPr lang="nl-NL" dirty="0"/>
                        <a:t>Den Haag</a:t>
                      </a:r>
                    </a:p>
                  </a:txBody>
                  <a:tcPr/>
                </a:tc>
                <a:extLst>
                  <a:ext uri="{0D108BD9-81ED-4DB2-BD59-A6C34878D82A}">
                    <a16:rowId xmlns:a16="http://schemas.microsoft.com/office/drawing/2014/main" val="481159627"/>
                  </a:ext>
                </a:extLst>
              </a:tr>
            </a:tbl>
          </a:graphicData>
        </a:graphic>
      </p:graphicFrame>
      <p:sp>
        <p:nvSpPr>
          <p:cNvPr id="10" name="TextBox 1">
            <a:extLst>
              <a:ext uri="{FF2B5EF4-FFF2-40B4-BE49-F238E27FC236}">
                <a16:creationId xmlns:a16="http://schemas.microsoft.com/office/drawing/2014/main" id="{B6CE8B00-4696-08BE-F29C-028122805BAF}"/>
              </a:ext>
            </a:extLst>
          </p:cNvPr>
          <p:cNvSpPr txBox="1"/>
          <p:nvPr/>
        </p:nvSpPr>
        <p:spPr>
          <a:xfrm>
            <a:off x="7714444" y="891696"/>
            <a:ext cx="3649024" cy="400110"/>
          </a:xfrm>
          <a:prstGeom prst="rect">
            <a:avLst/>
          </a:prstGeom>
          <a:noFill/>
        </p:spPr>
        <p:txBody>
          <a:bodyPr wrap="square" rtlCol="0">
            <a:spAutoFit/>
          </a:bodyPr>
          <a:lstStyle/>
          <a:p>
            <a:pPr algn="ctr"/>
            <a:r>
              <a:rPr lang="en-US" sz="2000" b="1" i="0" u="none" strike="noStrike" dirty="0" err="1">
                <a:solidFill>
                  <a:srgbClr val="000000"/>
                </a:solidFill>
                <a:effectLst/>
                <a:latin typeface="Arial" panose="020B0604020202020204" pitchFamily="34" charset="0"/>
              </a:rPr>
              <a:t>Operationele</a:t>
            </a:r>
            <a:r>
              <a:rPr lang="en-US" sz="2000" b="1" i="0" u="none" strike="noStrike" dirty="0">
                <a:solidFill>
                  <a:srgbClr val="000000"/>
                </a:solidFill>
                <a:effectLst/>
                <a:latin typeface="Arial" panose="020B0604020202020204" pitchFamily="34" charset="0"/>
              </a:rPr>
              <a:t> data</a:t>
            </a:r>
            <a:endParaRPr lang="nl-NL" sz="2000" b="1" dirty="0"/>
          </a:p>
        </p:txBody>
      </p:sp>
      <p:sp>
        <p:nvSpPr>
          <p:cNvPr id="11" name="TextBox 1">
            <a:extLst>
              <a:ext uri="{FF2B5EF4-FFF2-40B4-BE49-F238E27FC236}">
                <a16:creationId xmlns:a16="http://schemas.microsoft.com/office/drawing/2014/main" id="{87CA0714-080B-2202-341E-36656D39F7E6}"/>
              </a:ext>
            </a:extLst>
          </p:cNvPr>
          <p:cNvSpPr txBox="1"/>
          <p:nvPr/>
        </p:nvSpPr>
        <p:spPr>
          <a:xfrm>
            <a:off x="7769881" y="2999269"/>
            <a:ext cx="3649024" cy="400110"/>
          </a:xfrm>
          <a:prstGeom prst="rect">
            <a:avLst/>
          </a:prstGeom>
          <a:noFill/>
        </p:spPr>
        <p:txBody>
          <a:bodyPr wrap="square" rtlCol="0">
            <a:spAutoFit/>
          </a:bodyPr>
          <a:lstStyle/>
          <a:p>
            <a:pPr algn="ctr"/>
            <a:r>
              <a:rPr lang="en-US" sz="2000" b="1" i="0" u="none" strike="noStrike" dirty="0">
                <a:solidFill>
                  <a:srgbClr val="000000"/>
                </a:solidFill>
                <a:effectLst/>
                <a:latin typeface="Arial" panose="020B0604020202020204" pitchFamily="34" charset="0"/>
              </a:rPr>
              <a:t>Datawarehouse-data</a:t>
            </a:r>
            <a:endParaRPr lang="nl-NL" sz="2000" b="1" dirty="0"/>
          </a:p>
        </p:txBody>
      </p:sp>
      <p:sp>
        <p:nvSpPr>
          <p:cNvPr id="12" name="Rechthoek 11">
            <a:extLst>
              <a:ext uri="{FF2B5EF4-FFF2-40B4-BE49-F238E27FC236}">
                <a16:creationId xmlns:a16="http://schemas.microsoft.com/office/drawing/2014/main" id="{E502A3F7-DAE7-347F-590C-121FA5181C12}"/>
              </a:ext>
            </a:extLst>
          </p:cNvPr>
          <p:cNvSpPr/>
          <p:nvPr/>
        </p:nvSpPr>
        <p:spPr>
          <a:xfrm>
            <a:off x="7270524" y="2091682"/>
            <a:ext cx="4647738" cy="400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rgbClr val="FF0000"/>
              </a:solidFill>
            </a:endParaRPr>
          </a:p>
        </p:txBody>
      </p:sp>
      <p:sp>
        <p:nvSpPr>
          <p:cNvPr id="13" name="Rechthoek 12">
            <a:extLst>
              <a:ext uri="{FF2B5EF4-FFF2-40B4-BE49-F238E27FC236}">
                <a16:creationId xmlns:a16="http://schemas.microsoft.com/office/drawing/2014/main" id="{2E784EB5-FE08-5AA6-9695-D3349F35C800}"/>
              </a:ext>
            </a:extLst>
          </p:cNvPr>
          <p:cNvSpPr/>
          <p:nvPr/>
        </p:nvSpPr>
        <p:spPr>
          <a:xfrm>
            <a:off x="7215087" y="1702459"/>
            <a:ext cx="4647738" cy="400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rgbClr val="FF0000"/>
              </a:solidFill>
            </a:endParaRPr>
          </a:p>
        </p:txBody>
      </p:sp>
      <p:sp>
        <p:nvSpPr>
          <p:cNvPr id="15" name="TextBox 1">
            <a:extLst>
              <a:ext uri="{FF2B5EF4-FFF2-40B4-BE49-F238E27FC236}">
                <a16:creationId xmlns:a16="http://schemas.microsoft.com/office/drawing/2014/main" id="{AF315BF6-534A-FF35-4278-AD2D78BF8340}"/>
              </a:ext>
            </a:extLst>
          </p:cNvPr>
          <p:cNvSpPr txBox="1"/>
          <p:nvPr/>
        </p:nvSpPr>
        <p:spPr>
          <a:xfrm>
            <a:off x="7270524" y="2404326"/>
            <a:ext cx="2154334" cy="423321"/>
          </a:xfrm>
          <a:prstGeom prst="rect">
            <a:avLst/>
          </a:prstGeom>
          <a:noFill/>
        </p:spPr>
        <p:txBody>
          <a:bodyPr wrap="square" rtlCol="0">
            <a:spAutoFit/>
          </a:bodyPr>
          <a:lstStyle/>
          <a:p>
            <a:pPr defTabSz="457200" eaLnBrk="0" fontAlgn="base" hangingPunct="0">
              <a:lnSpc>
                <a:spcPct val="134000"/>
              </a:lnSpc>
              <a:spcBef>
                <a:spcPct val="0"/>
              </a:spcBef>
              <a:spcAft>
                <a:spcPct val="0"/>
              </a:spcAft>
              <a:buClr>
                <a:srgbClr val="080808"/>
              </a:buClr>
              <a:buSzPct val="100000"/>
              <a:buFont typeface="Times New Roman" charset="0"/>
              <a:buNone/>
            </a:pPr>
            <a:r>
              <a:rPr lang="en-US" dirty="0">
                <a:latin typeface="Arial"/>
                <a:ea typeface="MS PGothic" charset="0"/>
              </a:rPr>
              <a:t>UPDATE </a:t>
            </a:r>
            <a:r>
              <a:rPr lang="en-US" dirty="0" err="1">
                <a:latin typeface="Arial"/>
                <a:ea typeface="MS PGothic" charset="0"/>
              </a:rPr>
              <a:t>Klant</a:t>
            </a:r>
            <a:r>
              <a:rPr lang="en-US" dirty="0">
                <a:latin typeface="Arial"/>
                <a:ea typeface="MS PGothic" charset="0"/>
              </a:rPr>
              <a:t> (…)</a:t>
            </a:r>
          </a:p>
        </p:txBody>
      </p:sp>
      <p:sp>
        <p:nvSpPr>
          <p:cNvPr id="2" name="TextBox 1">
            <a:extLst>
              <a:ext uri="{FF2B5EF4-FFF2-40B4-BE49-F238E27FC236}">
                <a16:creationId xmlns:a16="http://schemas.microsoft.com/office/drawing/2014/main" id="{1A87FE9B-DA91-5D85-3D1F-F5CC1FBE5D34}"/>
              </a:ext>
            </a:extLst>
          </p:cNvPr>
          <p:cNvSpPr txBox="1"/>
          <p:nvPr/>
        </p:nvSpPr>
        <p:spPr>
          <a:xfrm>
            <a:off x="5611154" y="4765513"/>
            <a:ext cx="6581149" cy="1908086"/>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dirty="0">
                <a:latin typeface="Arial"/>
                <a:ea typeface="MS PGothic" charset="0"/>
              </a:rPr>
              <a:t>Bij SCD-type 2 komt er per wijziging in de brondata (UPDATE) een nieuwe rij bij in het Datawarehouse (INSERT)</a:t>
            </a:r>
          </a:p>
          <a:p>
            <a:pPr algn="ctr" defTabSz="457200" eaLnBrk="0" fontAlgn="base" hangingPunct="0">
              <a:lnSpc>
                <a:spcPct val="134000"/>
              </a:lnSpc>
              <a:spcBef>
                <a:spcPct val="0"/>
              </a:spcBef>
              <a:spcAft>
                <a:spcPct val="0"/>
              </a:spcAft>
              <a:buClr>
                <a:srgbClr val="080808"/>
              </a:buClr>
              <a:buSzPct val="100000"/>
              <a:buFont typeface="Times New Roman" charset="0"/>
              <a:buNone/>
            </a:pPr>
            <a:endParaRPr lang="nl-NL" dirty="0">
              <a:latin typeface="Arial"/>
              <a:ea typeface="MS PGothic" charset="0"/>
            </a:endParaRPr>
          </a:p>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dirty="0">
                <a:latin typeface="Arial"/>
                <a:ea typeface="MS PGothic" charset="0"/>
              </a:rPr>
              <a:t>Vaak gebruikt, dit type biedt namelijk het meest volledige en accurate beeld van de bedrijfshistorie.</a:t>
            </a:r>
            <a:endParaRPr lang="en-US" dirty="0">
              <a:latin typeface="Arial"/>
              <a:ea typeface="MS PGothic" charset="0"/>
            </a:endParaRPr>
          </a:p>
        </p:txBody>
      </p:sp>
      <p:sp>
        <p:nvSpPr>
          <p:cNvPr id="3" name="Rechthoek 12">
            <a:extLst>
              <a:ext uri="{FF2B5EF4-FFF2-40B4-BE49-F238E27FC236}">
                <a16:creationId xmlns:a16="http://schemas.microsoft.com/office/drawing/2014/main" id="{6E68E3C1-E221-08AD-D3F7-A324767ED834}"/>
              </a:ext>
            </a:extLst>
          </p:cNvPr>
          <p:cNvSpPr/>
          <p:nvPr/>
        </p:nvSpPr>
        <p:spPr>
          <a:xfrm>
            <a:off x="7371674" y="4134886"/>
            <a:ext cx="4647738" cy="400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rgbClr val="FF0000"/>
              </a:solidFill>
            </a:endParaRPr>
          </a:p>
        </p:txBody>
      </p:sp>
    </p:spTree>
    <p:custDataLst>
      <p:tags r:id="rId1"/>
    </p:custDataLst>
    <p:extLst>
      <p:ext uri="{BB962C8B-B14F-4D97-AF65-F5344CB8AC3E}">
        <p14:creationId xmlns:p14="http://schemas.microsoft.com/office/powerpoint/2010/main" val="346781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8.33333E-7 4.81481E-6 L -0.14062 0.09398 " pathEditMode="relative" rAng="0" ptsTypes="AA">
                                      <p:cBhvr>
                                        <p:cTn id="6" dur="2000" fill="hold"/>
                                        <p:tgtEl>
                                          <p:spTgt spid="3074"/>
                                        </p:tgtEl>
                                        <p:attrNameLst>
                                          <p:attrName>ppt_x</p:attrName>
                                          <p:attrName>ppt_y</p:attrName>
                                        </p:attrNameLst>
                                      </p:cBhvr>
                                      <p:rCtr x="-7031" y="4699"/>
                                    </p:animMotion>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0" nodeType="clickEffect">
                                  <p:stCondLst>
                                    <p:cond delay="0"/>
                                  </p:stCondLst>
                                  <p:childTnLst>
                                    <p:animEffect transition="out" filter="fade">
                                      <p:cBhvr>
                                        <p:cTn id="10" dur="500"/>
                                        <p:tgtEl>
                                          <p:spTgt spid="12"/>
                                        </p:tgtEl>
                                      </p:cBhvr>
                                    </p:animEffect>
                                    <p:set>
                                      <p:cBhvr>
                                        <p:cTn id="11" dur="1" fill="hold">
                                          <p:stCondLst>
                                            <p:cond delay="499"/>
                                          </p:stCondLst>
                                        </p:cTn>
                                        <p:tgtEl>
                                          <p:spTgt spid="12"/>
                                        </p:tgtEl>
                                        <p:attrNameLst>
                                          <p:attrName>style.visibility</p:attrName>
                                        </p:attrNameLst>
                                      </p:cBhvr>
                                      <p:to>
                                        <p:strVal val="hidden"/>
                                      </p:to>
                                    </p:se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500"/>
                                        <p:tgtEl>
                                          <p:spTgt spid="3"/>
                                        </p:tgtEl>
                                      </p:cBhvr>
                                    </p:animEffect>
                                    <p:set>
                                      <p:cBhvr>
                                        <p:cTn id="22" dur="1" fill="hold">
                                          <p:stCondLst>
                                            <p:cond delay="499"/>
                                          </p:stCondLst>
                                        </p:cTn>
                                        <p:tgtEl>
                                          <p:spTgt spid="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p:bldP spid="2" grpId="0"/>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00E5A-1BE0-6923-9333-09E9F95DC8DD}"/>
            </a:ext>
          </a:extLst>
        </p:cNvPr>
        <p:cNvGrpSpPr/>
        <p:nvPr/>
      </p:nvGrpSpPr>
      <p:grpSpPr>
        <a:xfrm>
          <a:off x="0" y="0"/>
          <a:ext cx="0" cy="0"/>
          <a:chOff x="0" y="0"/>
          <a:chExt cx="0" cy="0"/>
        </a:xfrm>
      </p:grpSpPr>
      <p:sp>
        <p:nvSpPr>
          <p:cNvPr id="6" name="Tekstvak 7">
            <a:extLst>
              <a:ext uri="{FF2B5EF4-FFF2-40B4-BE49-F238E27FC236}">
                <a16:creationId xmlns:a16="http://schemas.microsoft.com/office/drawing/2014/main" id="{8A884560-C9AC-8BD9-6E4B-BBA312054C6F}"/>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sp>
        <p:nvSpPr>
          <p:cNvPr id="4" name="TextBox 1">
            <a:extLst>
              <a:ext uri="{FF2B5EF4-FFF2-40B4-BE49-F238E27FC236}">
                <a16:creationId xmlns:a16="http://schemas.microsoft.com/office/drawing/2014/main" id="{EB4D3F66-C7C2-BC97-FBEC-327ECB22448E}"/>
              </a:ext>
            </a:extLst>
          </p:cNvPr>
          <p:cNvSpPr txBox="1"/>
          <p:nvPr/>
        </p:nvSpPr>
        <p:spPr>
          <a:xfrm>
            <a:off x="2835163" y="0"/>
            <a:ext cx="7886300"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Slowly Changing Dimension (SCD) Type 3</a:t>
            </a:r>
          </a:p>
        </p:txBody>
      </p:sp>
      <p:cxnSp>
        <p:nvCxnSpPr>
          <p:cNvPr id="5" name="Straight Connector 10">
            <a:extLst>
              <a:ext uri="{FF2B5EF4-FFF2-40B4-BE49-F238E27FC236}">
                <a16:creationId xmlns:a16="http://schemas.microsoft.com/office/drawing/2014/main" id="{D8FE85BC-80B5-4A95-E3D8-5A30C3E400AC}"/>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pic>
        <p:nvPicPr>
          <p:cNvPr id="2050" name="Picture 2" descr="Nederland Kaart Fotobehang">
            <a:extLst>
              <a:ext uri="{FF2B5EF4-FFF2-40B4-BE49-F238E27FC236}">
                <a16:creationId xmlns:a16="http://schemas.microsoft.com/office/drawing/2014/main" id="{FA594316-EF93-FBAC-D85D-B8FDF3865C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5689" y="981771"/>
            <a:ext cx="4863961" cy="568028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Man - Free people icons">
            <a:extLst>
              <a:ext uri="{FF2B5EF4-FFF2-40B4-BE49-F238E27FC236}">
                <a16:creationId xmlns:a16="http://schemas.microsoft.com/office/drawing/2014/main" id="{84405CB8-A063-7389-0483-88D01F9F38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7669" y="2859487"/>
            <a:ext cx="783771" cy="67967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el 7">
            <a:extLst>
              <a:ext uri="{FF2B5EF4-FFF2-40B4-BE49-F238E27FC236}">
                <a16:creationId xmlns:a16="http://schemas.microsoft.com/office/drawing/2014/main" id="{B6D64360-10A7-2944-E5E2-369DF489D9EB}"/>
              </a:ext>
            </a:extLst>
          </p:cNvPr>
          <p:cNvGraphicFramePr>
            <a:graphicFrameLocks noGrp="1"/>
          </p:cNvGraphicFramePr>
          <p:nvPr/>
        </p:nvGraphicFramePr>
        <p:xfrm>
          <a:off x="7316237" y="1379271"/>
          <a:ext cx="4445439" cy="1112520"/>
        </p:xfrm>
        <a:graphic>
          <a:graphicData uri="http://schemas.openxmlformats.org/drawingml/2006/table">
            <a:tbl>
              <a:tblPr firstRow="1" bandRow="1">
                <a:tableStyleId>{5C22544A-7EE6-4342-B048-85BDC9FD1C3A}</a:tableStyleId>
              </a:tblPr>
              <a:tblGrid>
                <a:gridCol w="1481813">
                  <a:extLst>
                    <a:ext uri="{9D8B030D-6E8A-4147-A177-3AD203B41FA5}">
                      <a16:colId xmlns:a16="http://schemas.microsoft.com/office/drawing/2014/main" val="391686472"/>
                    </a:ext>
                  </a:extLst>
                </a:gridCol>
                <a:gridCol w="1481813">
                  <a:extLst>
                    <a:ext uri="{9D8B030D-6E8A-4147-A177-3AD203B41FA5}">
                      <a16:colId xmlns:a16="http://schemas.microsoft.com/office/drawing/2014/main" val="479079931"/>
                    </a:ext>
                  </a:extLst>
                </a:gridCol>
                <a:gridCol w="1481813">
                  <a:extLst>
                    <a:ext uri="{9D8B030D-6E8A-4147-A177-3AD203B41FA5}">
                      <a16:colId xmlns:a16="http://schemas.microsoft.com/office/drawing/2014/main" val="1039538333"/>
                    </a:ext>
                  </a:extLst>
                </a:gridCol>
              </a:tblGrid>
              <a:tr h="370840">
                <a:tc>
                  <a:txBody>
                    <a:bodyPr/>
                    <a:lstStyle/>
                    <a:p>
                      <a:r>
                        <a:rPr lang="nl-NL" b="1" u="sng" dirty="0" err="1"/>
                        <a:t>Nummer_PK</a:t>
                      </a:r>
                      <a:endParaRPr lang="nl-NL" b="1" u="sng" dirty="0"/>
                    </a:p>
                  </a:txBody>
                  <a:tcPr/>
                </a:tc>
                <a:tc>
                  <a:txBody>
                    <a:bodyPr/>
                    <a:lstStyle/>
                    <a:p>
                      <a:r>
                        <a:rPr lang="nl-NL" b="1" dirty="0"/>
                        <a:t>Naam</a:t>
                      </a:r>
                    </a:p>
                  </a:txBody>
                  <a:tcPr/>
                </a:tc>
                <a:tc>
                  <a:txBody>
                    <a:bodyPr/>
                    <a:lstStyle/>
                    <a:p>
                      <a:r>
                        <a:rPr lang="nl-NL" dirty="0"/>
                        <a:t>Woonplaats</a:t>
                      </a:r>
                    </a:p>
                  </a:txBody>
                  <a:tcPr/>
                </a:tc>
                <a:extLst>
                  <a:ext uri="{0D108BD9-81ED-4DB2-BD59-A6C34878D82A}">
                    <a16:rowId xmlns:a16="http://schemas.microsoft.com/office/drawing/2014/main" val="1194861106"/>
                  </a:ext>
                </a:extLst>
              </a:tr>
              <a:tr h="370840">
                <a:tc>
                  <a:txBody>
                    <a:bodyPr/>
                    <a:lstStyle/>
                    <a:p>
                      <a:r>
                        <a:rPr lang="nl-NL" dirty="0"/>
                        <a:t>1</a:t>
                      </a:r>
                    </a:p>
                  </a:txBody>
                  <a:tcPr/>
                </a:tc>
                <a:tc>
                  <a:txBody>
                    <a:bodyPr/>
                    <a:lstStyle/>
                    <a:p>
                      <a:r>
                        <a:rPr lang="nl-NL" dirty="0"/>
                        <a:t>Henk</a:t>
                      </a:r>
                    </a:p>
                  </a:txBody>
                  <a:tcPr/>
                </a:tc>
                <a:tc>
                  <a:txBody>
                    <a:bodyPr/>
                    <a:lstStyle/>
                    <a:p>
                      <a:r>
                        <a:rPr lang="nl-NL" dirty="0"/>
                        <a:t>Lelystad</a:t>
                      </a:r>
                    </a:p>
                  </a:txBody>
                  <a:tcPr/>
                </a:tc>
                <a:extLst>
                  <a:ext uri="{0D108BD9-81ED-4DB2-BD59-A6C34878D82A}">
                    <a16:rowId xmlns:a16="http://schemas.microsoft.com/office/drawing/2014/main" val="323268865"/>
                  </a:ext>
                </a:extLst>
              </a:tr>
              <a:tr h="370840">
                <a:tc>
                  <a:txBody>
                    <a:bodyPr/>
                    <a:lstStyle/>
                    <a:p>
                      <a:r>
                        <a:rPr lang="nl-NL" dirty="0"/>
                        <a:t>1</a:t>
                      </a:r>
                    </a:p>
                  </a:txBody>
                  <a:tcPr/>
                </a:tc>
                <a:tc>
                  <a:txBody>
                    <a:bodyPr/>
                    <a:lstStyle/>
                    <a:p>
                      <a:r>
                        <a:rPr lang="nl-NL" dirty="0"/>
                        <a:t>Henk</a:t>
                      </a:r>
                    </a:p>
                  </a:txBody>
                  <a:tcPr/>
                </a:tc>
                <a:tc>
                  <a:txBody>
                    <a:bodyPr/>
                    <a:lstStyle/>
                    <a:p>
                      <a:r>
                        <a:rPr lang="nl-NL" dirty="0"/>
                        <a:t>Den Haag</a:t>
                      </a:r>
                    </a:p>
                  </a:txBody>
                  <a:tcPr/>
                </a:tc>
                <a:extLst>
                  <a:ext uri="{0D108BD9-81ED-4DB2-BD59-A6C34878D82A}">
                    <a16:rowId xmlns:a16="http://schemas.microsoft.com/office/drawing/2014/main" val="3975630526"/>
                  </a:ext>
                </a:extLst>
              </a:tr>
            </a:tbl>
          </a:graphicData>
        </a:graphic>
      </p:graphicFrame>
      <p:graphicFrame>
        <p:nvGraphicFramePr>
          <p:cNvPr id="9" name="Tabel 8">
            <a:extLst>
              <a:ext uri="{FF2B5EF4-FFF2-40B4-BE49-F238E27FC236}">
                <a16:creationId xmlns:a16="http://schemas.microsoft.com/office/drawing/2014/main" id="{609703FD-E383-C0A3-C190-2579FB7C8CCF}"/>
              </a:ext>
            </a:extLst>
          </p:cNvPr>
          <p:cNvGraphicFramePr>
            <a:graphicFrameLocks noGrp="1"/>
          </p:cNvGraphicFramePr>
          <p:nvPr>
            <p:extLst>
              <p:ext uri="{D42A27DB-BD31-4B8C-83A1-F6EECF244321}">
                <p14:modId xmlns:p14="http://schemas.microsoft.com/office/powerpoint/2010/main" val="3416912812"/>
              </p:ext>
            </p:extLst>
          </p:nvPr>
        </p:nvGraphicFramePr>
        <p:xfrm>
          <a:off x="6218910" y="3442729"/>
          <a:ext cx="5699352" cy="1381760"/>
        </p:xfrm>
        <a:graphic>
          <a:graphicData uri="http://schemas.openxmlformats.org/drawingml/2006/table">
            <a:tbl>
              <a:tblPr firstRow="1" bandRow="1">
                <a:tableStyleId>{93296810-A885-4BE3-A3E7-6D5BEEA58F35}</a:tableStyleId>
              </a:tblPr>
              <a:tblGrid>
                <a:gridCol w="1424838">
                  <a:extLst>
                    <a:ext uri="{9D8B030D-6E8A-4147-A177-3AD203B41FA5}">
                      <a16:colId xmlns:a16="http://schemas.microsoft.com/office/drawing/2014/main" val="391686472"/>
                    </a:ext>
                  </a:extLst>
                </a:gridCol>
                <a:gridCol w="1424838">
                  <a:extLst>
                    <a:ext uri="{9D8B030D-6E8A-4147-A177-3AD203B41FA5}">
                      <a16:colId xmlns:a16="http://schemas.microsoft.com/office/drawing/2014/main" val="479079931"/>
                    </a:ext>
                  </a:extLst>
                </a:gridCol>
                <a:gridCol w="1424838">
                  <a:extLst>
                    <a:ext uri="{9D8B030D-6E8A-4147-A177-3AD203B41FA5}">
                      <a16:colId xmlns:a16="http://schemas.microsoft.com/office/drawing/2014/main" val="1039538333"/>
                    </a:ext>
                  </a:extLst>
                </a:gridCol>
                <a:gridCol w="1424838">
                  <a:extLst>
                    <a:ext uri="{9D8B030D-6E8A-4147-A177-3AD203B41FA5}">
                      <a16:colId xmlns:a16="http://schemas.microsoft.com/office/drawing/2014/main" val="2845214611"/>
                    </a:ext>
                  </a:extLst>
                </a:gridCol>
              </a:tblGrid>
              <a:tr h="370840">
                <a:tc>
                  <a:txBody>
                    <a:bodyPr/>
                    <a:lstStyle/>
                    <a:p>
                      <a:r>
                        <a:rPr lang="nl-NL" b="1" u="sng" dirty="0" err="1"/>
                        <a:t>Nummer_PK</a:t>
                      </a:r>
                      <a:endParaRPr lang="nl-NL" b="1" u="sng" dirty="0"/>
                    </a:p>
                  </a:txBody>
                  <a:tcPr/>
                </a:tc>
                <a:tc>
                  <a:txBody>
                    <a:bodyPr/>
                    <a:lstStyle/>
                    <a:p>
                      <a:r>
                        <a:rPr lang="nl-NL" b="1" dirty="0"/>
                        <a:t>Naam</a:t>
                      </a:r>
                    </a:p>
                  </a:txBody>
                  <a:tcPr/>
                </a:tc>
                <a:tc>
                  <a:txBody>
                    <a:bodyPr/>
                    <a:lstStyle/>
                    <a:p>
                      <a:r>
                        <a:rPr lang="nl-NL" dirty="0"/>
                        <a:t>Woonplaats</a:t>
                      </a:r>
                    </a:p>
                  </a:txBody>
                  <a:tcPr/>
                </a:tc>
                <a:tc>
                  <a:txBody>
                    <a:bodyPr/>
                    <a:lstStyle/>
                    <a:p>
                      <a:r>
                        <a:rPr lang="nl-NL" dirty="0" err="1"/>
                        <a:t>VorigeWoonplaats</a:t>
                      </a:r>
                      <a:endParaRPr lang="nl-NL" dirty="0"/>
                    </a:p>
                  </a:txBody>
                  <a:tcPr/>
                </a:tc>
                <a:extLst>
                  <a:ext uri="{0D108BD9-81ED-4DB2-BD59-A6C34878D82A}">
                    <a16:rowId xmlns:a16="http://schemas.microsoft.com/office/drawing/2014/main" val="1194861106"/>
                  </a:ext>
                </a:extLst>
              </a:tr>
              <a:tr h="370840">
                <a:tc>
                  <a:txBody>
                    <a:bodyPr/>
                    <a:lstStyle/>
                    <a:p>
                      <a:r>
                        <a:rPr lang="nl-NL" dirty="0"/>
                        <a:t>1</a:t>
                      </a:r>
                    </a:p>
                  </a:txBody>
                  <a:tcPr/>
                </a:tc>
                <a:tc>
                  <a:txBody>
                    <a:bodyPr/>
                    <a:lstStyle/>
                    <a:p>
                      <a:r>
                        <a:rPr lang="nl-NL" dirty="0"/>
                        <a:t>Henk</a:t>
                      </a:r>
                    </a:p>
                  </a:txBody>
                  <a:tcPr/>
                </a:tc>
                <a:tc>
                  <a:txBody>
                    <a:bodyPr/>
                    <a:lstStyle/>
                    <a:p>
                      <a:r>
                        <a:rPr lang="nl-NL" dirty="0"/>
                        <a:t>Lelystad</a:t>
                      </a:r>
                    </a:p>
                  </a:txBody>
                  <a:tcPr/>
                </a:tc>
                <a:tc>
                  <a:txBody>
                    <a:bodyPr/>
                    <a:lstStyle/>
                    <a:p>
                      <a:r>
                        <a:rPr lang="nl-NL" dirty="0"/>
                        <a:t>-</a:t>
                      </a:r>
                    </a:p>
                  </a:txBody>
                  <a:tcPr/>
                </a:tc>
                <a:extLst>
                  <a:ext uri="{0D108BD9-81ED-4DB2-BD59-A6C34878D82A}">
                    <a16:rowId xmlns:a16="http://schemas.microsoft.com/office/drawing/2014/main" val="323268865"/>
                  </a:ext>
                </a:extLst>
              </a:tr>
              <a:tr h="370840">
                <a:tc>
                  <a:txBody>
                    <a:bodyPr/>
                    <a:lstStyle/>
                    <a:p>
                      <a:r>
                        <a:rPr lang="nl-NL" dirty="0"/>
                        <a:t>1</a:t>
                      </a:r>
                    </a:p>
                  </a:txBody>
                  <a:tcPr/>
                </a:tc>
                <a:tc>
                  <a:txBody>
                    <a:bodyPr/>
                    <a:lstStyle/>
                    <a:p>
                      <a:r>
                        <a:rPr lang="nl-NL" dirty="0"/>
                        <a:t>Henk</a:t>
                      </a:r>
                    </a:p>
                  </a:txBody>
                  <a:tcPr/>
                </a:tc>
                <a:tc>
                  <a:txBody>
                    <a:bodyPr/>
                    <a:lstStyle/>
                    <a:p>
                      <a:r>
                        <a:rPr lang="nl-NL" dirty="0"/>
                        <a:t>Den Haag</a:t>
                      </a:r>
                    </a:p>
                  </a:txBody>
                  <a:tcPr/>
                </a:tc>
                <a:tc>
                  <a:txBody>
                    <a:bodyPr/>
                    <a:lstStyle/>
                    <a:p>
                      <a:r>
                        <a:rPr lang="nl-NL" dirty="0"/>
                        <a:t>Lelystad</a:t>
                      </a:r>
                    </a:p>
                  </a:txBody>
                  <a:tcPr/>
                </a:tc>
                <a:extLst>
                  <a:ext uri="{0D108BD9-81ED-4DB2-BD59-A6C34878D82A}">
                    <a16:rowId xmlns:a16="http://schemas.microsoft.com/office/drawing/2014/main" val="481159627"/>
                  </a:ext>
                </a:extLst>
              </a:tr>
            </a:tbl>
          </a:graphicData>
        </a:graphic>
      </p:graphicFrame>
      <p:sp>
        <p:nvSpPr>
          <p:cNvPr id="10" name="TextBox 1">
            <a:extLst>
              <a:ext uri="{FF2B5EF4-FFF2-40B4-BE49-F238E27FC236}">
                <a16:creationId xmlns:a16="http://schemas.microsoft.com/office/drawing/2014/main" id="{A32243E8-0C8B-CBCF-84BD-08CEEB4614B6}"/>
              </a:ext>
            </a:extLst>
          </p:cNvPr>
          <p:cNvSpPr txBox="1"/>
          <p:nvPr/>
        </p:nvSpPr>
        <p:spPr>
          <a:xfrm>
            <a:off x="7714444" y="891696"/>
            <a:ext cx="3649024" cy="400110"/>
          </a:xfrm>
          <a:prstGeom prst="rect">
            <a:avLst/>
          </a:prstGeom>
          <a:noFill/>
        </p:spPr>
        <p:txBody>
          <a:bodyPr wrap="square" rtlCol="0">
            <a:spAutoFit/>
          </a:bodyPr>
          <a:lstStyle/>
          <a:p>
            <a:pPr algn="ctr"/>
            <a:r>
              <a:rPr lang="en-US" sz="2000" b="1" i="0" u="none" strike="noStrike" dirty="0" err="1">
                <a:solidFill>
                  <a:srgbClr val="000000"/>
                </a:solidFill>
                <a:effectLst/>
                <a:latin typeface="Arial" panose="020B0604020202020204" pitchFamily="34" charset="0"/>
              </a:rPr>
              <a:t>Operationele</a:t>
            </a:r>
            <a:r>
              <a:rPr lang="en-US" sz="2000" b="1" i="0" u="none" strike="noStrike" dirty="0">
                <a:solidFill>
                  <a:srgbClr val="000000"/>
                </a:solidFill>
                <a:effectLst/>
                <a:latin typeface="Arial" panose="020B0604020202020204" pitchFamily="34" charset="0"/>
              </a:rPr>
              <a:t> data</a:t>
            </a:r>
            <a:endParaRPr lang="nl-NL" sz="2000" b="1" dirty="0"/>
          </a:p>
        </p:txBody>
      </p:sp>
      <p:sp>
        <p:nvSpPr>
          <p:cNvPr id="11" name="TextBox 1">
            <a:extLst>
              <a:ext uri="{FF2B5EF4-FFF2-40B4-BE49-F238E27FC236}">
                <a16:creationId xmlns:a16="http://schemas.microsoft.com/office/drawing/2014/main" id="{C135D349-54F0-36E9-F293-2861A2A21FBC}"/>
              </a:ext>
            </a:extLst>
          </p:cNvPr>
          <p:cNvSpPr txBox="1"/>
          <p:nvPr/>
        </p:nvSpPr>
        <p:spPr>
          <a:xfrm>
            <a:off x="7769881" y="2999269"/>
            <a:ext cx="3649024" cy="400110"/>
          </a:xfrm>
          <a:prstGeom prst="rect">
            <a:avLst/>
          </a:prstGeom>
          <a:noFill/>
        </p:spPr>
        <p:txBody>
          <a:bodyPr wrap="square" rtlCol="0">
            <a:spAutoFit/>
          </a:bodyPr>
          <a:lstStyle/>
          <a:p>
            <a:pPr algn="ctr"/>
            <a:r>
              <a:rPr lang="en-US" sz="2000" b="1" i="0" u="none" strike="noStrike" dirty="0">
                <a:solidFill>
                  <a:srgbClr val="000000"/>
                </a:solidFill>
                <a:effectLst/>
                <a:latin typeface="Arial" panose="020B0604020202020204" pitchFamily="34" charset="0"/>
              </a:rPr>
              <a:t>Datawarehouse-data</a:t>
            </a:r>
            <a:endParaRPr lang="nl-NL" sz="2000" b="1" dirty="0"/>
          </a:p>
        </p:txBody>
      </p:sp>
      <p:sp>
        <p:nvSpPr>
          <p:cNvPr id="12" name="Rechthoek 11">
            <a:extLst>
              <a:ext uri="{FF2B5EF4-FFF2-40B4-BE49-F238E27FC236}">
                <a16:creationId xmlns:a16="http://schemas.microsoft.com/office/drawing/2014/main" id="{6C3327F3-07E9-A128-1BFA-6050CE29BB85}"/>
              </a:ext>
            </a:extLst>
          </p:cNvPr>
          <p:cNvSpPr/>
          <p:nvPr/>
        </p:nvSpPr>
        <p:spPr>
          <a:xfrm>
            <a:off x="7270524" y="2091682"/>
            <a:ext cx="4647738" cy="400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rgbClr val="FF0000"/>
              </a:solidFill>
            </a:endParaRPr>
          </a:p>
        </p:txBody>
      </p:sp>
      <p:sp>
        <p:nvSpPr>
          <p:cNvPr id="13" name="Rechthoek 12">
            <a:extLst>
              <a:ext uri="{FF2B5EF4-FFF2-40B4-BE49-F238E27FC236}">
                <a16:creationId xmlns:a16="http://schemas.microsoft.com/office/drawing/2014/main" id="{B0EE2055-6E66-CE5D-1499-CEDD04A3C9BB}"/>
              </a:ext>
            </a:extLst>
          </p:cNvPr>
          <p:cNvSpPr/>
          <p:nvPr/>
        </p:nvSpPr>
        <p:spPr>
          <a:xfrm>
            <a:off x="7215087" y="1702459"/>
            <a:ext cx="4647738" cy="400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rgbClr val="FF0000"/>
              </a:solidFill>
            </a:endParaRPr>
          </a:p>
        </p:txBody>
      </p:sp>
      <p:sp>
        <p:nvSpPr>
          <p:cNvPr id="15" name="TextBox 1">
            <a:extLst>
              <a:ext uri="{FF2B5EF4-FFF2-40B4-BE49-F238E27FC236}">
                <a16:creationId xmlns:a16="http://schemas.microsoft.com/office/drawing/2014/main" id="{6A652B55-0011-5BF0-12DF-15CD282FDD40}"/>
              </a:ext>
            </a:extLst>
          </p:cNvPr>
          <p:cNvSpPr txBox="1"/>
          <p:nvPr/>
        </p:nvSpPr>
        <p:spPr>
          <a:xfrm>
            <a:off x="7270524" y="2404326"/>
            <a:ext cx="2154334" cy="423321"/>
          </a:xfrm>
          <a:prstGeom prst="rect">
            <a:avLst/>
          </a:prstGeom>
          <a:noFill/>
        </p:spPr>
        <p:txBody>
          <a:bodyPr wrap="square" rtlCol="0">
            <a:spAutoFit/>
          </a:bodyPr>
          <a:lstStyle/>
          <a:p>
            <a:pPr defTabSz="457200" eaLnBrk="0" fontAlgn="base" hangingPunct="0">
              <a:lnSpc>
                <a:spcPct val="134000"/>
              </a:lnSpc>
              <a:spcBef>
                <a:spcPct val="0"/>
              </a:spcBef>
              <a:spcAft>
                <a:spcPct val="0"/>
              </a:spcAft>
              <a:buClr>
                <a:srgbClr val="080808"/>
              </a:buClr>
              <a:buSzPct val="100000"/>
              <a:buFont typeface="Times New Roman" charset="0"/>
              <a:buNone/>
            </a:pPr>
            <a:r>
              <a:rPr lang="en-US" dirty="0">
                <a:latin typeface="Arial"/>
                <a:ea typeface="MS PGothic" charset="0"/>
              </a:rPr>
              <a:t>UPDATE </a:t>
            </a:r>
            <a:r>
              <a:rPr lang="en-US" dirty="0" err="1">
                <a:latin typeface="Arial"/>
                <a:ea typeface="MS PGothic" charset="0"/>
              </a:rPr>
              <a:t>Klant</a:t>
            </a:r>
            <a:r>
              <a:rPr lang="en-US" dirty="0">
                <a:latin typeface="Arial"/>
                <a:ea typeface="MS PGothic" charset="0"/>
              </a:rPr>
              <a:t> (…)</a:t>
            </a:r>
          </a:p>
        </p:txBody>
      </p:sp>
      <p:sp>
        <p:nvSpPr>
          <p:cNvPr id="2" name="TextBox 1">
            <a:extLst>
              <a:ext uri="{FF2B5EF4-FFF2-40B4-BE49-F238E27FC236}">
                <a16:creationId xmlns:a16="http://schemas.microsoft.com/office/drawing/2014/main" id="{FE210287-FDD3-4767-0AFB-B6C225A2B2DC}"/>
              </a:ext>
            </a:extLst>
          </p:cNvPr>
          <p:cNvSpPr txBox="1"/>
          <p:nvPr/>
        </p:nvSpPr>
        <p:spPr>
          <a:xfrm>
            <a:off x="5610851" y="4867839"/>
            <a:ext cx="6581149" cy="1908086"/>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dirty="0">
                <a:latin typeface="Arial"/>
                <a:ea typeface="MS PGothic" charset="0"/>
              </a:rPr>
              <a:t>Bij SCD-type 3 wordt per wijziging in de brondata de “vorige”-kolom gevuld met de oude waarden.</a:t>
            </a:r>
          </a:p>
          <a:p>
            <a:pPr algn="ctr" defTabSz="457200" eaLnBrk="0" fontAlgn="base" hangingPunct="0">
              <a:lnSpc>
                <a:spcPct val="134000"/>
              </a:lnSpc>
              <a:spcBef>
                <a:spcPct val="0"/>
              </a:spcBef>
              <a:spcAft>
                <a:spcPct val="0"/>
              </a:spcAft>
              <a:buClr>
                <a:srgbClr val="080808"/>
              </a:buClr>
              <a:buSzPct val="100000"/>
              <a:buFont typeface="Times New Roman" charset="0"/>
              <a:buNone/>
            </a:pPr>
            <a:endParaRPr lang="nl-NL" dirty="0">
              <a:latin typeface="Arial"/>
              <a:ea typeface="MS PGothic" charset="0"/>
            </a:endParaRPr>
          </a:p>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dirty="0">
                <a:latin typeface="Arial"/>
                <a:ea typeface="MS PGothic" charset="0"/>
              </a:rPr>
              <a:t>Niet vaak gebruikt, vereist heel veel kolommen (per kolom een “vorige”) voor slechts een beperkt beeld op de historie.</a:t>
            </a:r>
            <a:endParaRPr lang="en-US" dirty="0">
              <a:latin typeface="Arial"/>
              <a:ea typeface="MS PGothic" charset="0"/>
            </a:endParaRPr>
          </a:p>
        </p:txBody>
      </p:sp>
      <p:sp>
        <p:nvSpPr>
          <p:cNvPr id="3" name="Rechthoek 12">
            <a:extLst>
              <a:ext uri="{FF2B5EF4-FFF2-40B4-BE49-F238E27FC236}">
                <a16:creationId xmlns:a16="http://schemas.microsoft.com/office/drawing/2014/main" id="{254C1BF2-25CD-9CFA-6878-B714515F9946}"/>
              </a:ext>
            </a:extLst>
          </p:cNvPr>
          <p:cNvSpPr/>
          <p:nvPr/>
        </p:nvSpPr>
        <p:spPr>
          <a:xfrm>
            <a:off x="6218909" y="4446005"/>
            <a:ext cx="5699351" cy="400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rgbClr val="FF0000"/>
              </a:solidFill>
            </a:endParaRPr>
          </a:p>
        </p:txBody>
      </p:sp>
      <p:sp>
        <p:nvSpPr>
          <p:cNvPr id="7" name="Rechthoek 12">
            <a:extLst>
              <a:ext uri="{FF2B5EF4-FFF2-40B4-BE49-F238E27FC236}">
                <a16:creationId xmlns:a16="http://schemas.microsoft.com/office/drawing/2014/main" id="{8588B296-44EF-DA41-B180-3C9C5BA8017A}"/>
              </a:ext>
            </a:extLst>
          </p:cNvPr>
          <p:cNvSpPr/>
          <p:nvPr/>
        </p:nvSpPr>
        <p:spPr>
          <a:xfrm>
            <a:off x="6218908" y="4072892"/>
            <a:ext cx="5699352" cy="400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rgbClr val="FF0000"/>
              </a:solidFill>
            </a:endParaRPr>
          </a:p>
        </p:txBody>
      </p:sp>
    </p:spTree>
    <p:custDataLst>
      <p:tags r:id="rId1"/>
    </p:custDataLst>
    <p:extLst>
      <p:ext uri="{BB962C8B-B14F-4D97-AF65-F5344CB8AC3E}">
        <p14:creationId xmlns:p14="http://schemas.microsoft.com/office/powerpoint/2010/main" val="3170130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8.33333E-7 4.81481E-6 L -0.14062 0.09398 " pathEditMode="relative" rAng="0" ptsTypes="AA">
                                      <p:cBhvr>
                                        <p:cTn id="6" dur="2000" fill="hold"/>
                                        <p:tgtEl>
                                          <p:spTgt spid="3074"/>
                                        </p:tgtEl>
                                        <p:attrNameLst>
                                          <p:attrName>ppt_x</p:attrName>
                                          <p:attrName>ppt_y</p:attrName>
                                        </p:attrNameLst>
                                      </p:cBhvr>
                                      <p:rCtr x="-7031" y="4699"/>
                                    </p:animMotion>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0" nodeType="clickEffect">
                                  <p:stCondLst>
                                    <p:cond delay="0"/>
                                  </p:stCondLst>
                                  <p:childTnLst>
                                    <p:animEffect transition="out" filter="fade">
                                      <p:cBhvr>
                                        <p:cTn id="10" dur="500"/>
                                        <p:tgtEl>
                                          <p:spTgt spid="12"/>
                                        </p:tgtEl>
                                      </p:cBhvr>
                                    </p:animEffect>
                                    <p:set>
                                      <p:cBhvr>
                                        <p:cTn id="11" dur="1" fill="hold">
                                          <p:stCondLst>
                                            <p:cond delay="499"/>
                                          </p:stCondLst>
                                        </p:cTn>
                                        <p:tgtEl>
                                          <p:spTgt spid="12"/>
                                        </p:tgtEl>
                                        <p:attrNameLst>
                                          <p:attrName>style.visibility</p:attrName>
                                        </p:attrNameLst>
                                      </p:cBhvr>
                                      <p:to>
                                        <p:strVal val="hidden"/>
                                      </p:to>
                                    </p:se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xit" presetSubtype="0" fill="hold" grpId="0" nodeType="withEffect">
                                  <p:stCondLst>
                                    <p:cond delay="0"/>
                                  </p:stCondLst>
                                  <p:childTnLst>
                                    <p:animEffect transition="out" filter="fade">
                                      <p:cBhvr>
                                        <p:cTn id="24" dur="500"/>
                                        <p:tgtEl>
                                          <p:spTgt spid="3"/>
                                        </p:tgtEl>
                                      </p:cBhvr>
                                    </p:animEffect>
                                    <p:set>
                                      <p:cBhvr>
                                        <p:cTn id="25" dur="1" fill="hold">
                                          <p:stCondLst>
                                            <p:cond delay="499"/>
                                          </p:stCondLst>
                                        </p:cTn>
                                        <p:tgtEl>
                                          <p:spTgt spid="3"/>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p:bldP spid="2" grpId="0"/>
      <p:bldP spid="3"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EEAA6-E85B-6906-E069-AA03E5920EBB}"/>
            </a:ext>
          </a:extLst>
        </p:cNvPr>
        <p:cNvGrpSpPr/>
        <p:nvPr/>
      </p:nvGrpSpPr>
      <p:grpSpPr>
        <a:xfrm>
          <a:off x="0" y="0"/>
          <a:ext cx="0" cy="0"/>
          <a:chOff x="0" y="0"/>
          <a:chExt cx="0" cy="0"/>
        </a:xfrm>
      </p:grpSpPr>
      <p:sp>
        <p:nvSpPr>
          <p:cNvPr id="6" name="Tekstvak 7">
            <a:extLst>
              <a:ext uri="{FF2B5EF4-FFF2-40B4-BE49-F238E27FC236}">
                <a16:creationId xmlns:a16="http://schemas.microsoft.com/office/drawing/2014/main" id="{5CD79B15-DFBE-EA83-6D2A-98714DB01618}"/>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sp>
        <p:nvSpPr>
          <p:cNvPr id="4" name="TextBox 1">
            <a:extLst>
              <a:ext uri="{FF2B5EF4-FFF2-40B4-BE49-F238E27FC236}">
                <a16:creationId xmlns:a16="http://schemas.microsoft.com/office/drawing/2014/main" id="{C20BEE86-3AD5-D9A0-B71E-1C97A9D156A9}"/>
              </a:ext>
            </a:extLst>
          </p:cNvPr>
          <p:cNvSpPr txBox="1"/>
          <p:nvPr/>
        </p:nvSpPr>
        <p:spPr>
          <a:xfrm>
            <a:off x="988290" y="0"/>
            <a:ext cx="11203710"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err="1">
                <a:solidFill>
                  <a:srgbClr val="829C30"/>
                </a:solidFill>
                <a:latin typeface="Arial"/>
                <a:ea typeface="MS PGothic" charset="0"/>
              </a:rPr>
              <a:t>Benodigde</a:t>
            </a:r>
            <a:r>
              <a:rPr lang="en-US" sz="3000" b="1" dirty="0">
                <a:solidFill>
                  <a:srgbClr val="829C30"/>
                </a:solidFill>
                <a:latin typeface="Arial"/>
                <a:ea typeface="MS PGothic" charset="0"/>
              </a:rPr>
              <a:t> extra </a:t>
            </a:r>
            <a:r>
              <a:rPr lang="en-US" sz="3000" b="1" dirty="0" err="1">
                <a:solidFill>
                  <a:srgbClr val="829C30"/>
                </a:solidFill>
                <a:latin typeface="Arial"/>
                <a:ea typeface="MS PGothic" charset="0"/>
              </a:rPr>
              <a:t>technieken</a:t>
            </a:r>
            <a:r>
              <a:rPr lang="en-US" sz="3000" b="1" dirty="0">
                <a:solidFill>
                  <a:srgbClr val="829C30"/>
                </a:solidFill>
                <a:latin typeface="Arial"/>
                <a:ea typeface="MS PGothic" charset="0"/>
              </a:rPr>
              <a:t> </a:t>
            </a:r>
            <a:r>
              <a:rPr lang="en-US" sz="3000" b="1" dirty="0" err="1">
                <a:solidFill>
                  <a:srgbClr val="829C30"/>
                </a:solidFill>
                <a:latin typeface="Arial"/>
                <a:ea typeface="MS PGothic" charset="0"/>
              </a:rPr>
              <a:t>bij</a:t>
            </a:r>
            <a:r>
              <a:rPr lang="en-US" sz="3000" b="1" dirty="0">
                <a:solidFill>
                  <a:srgbClr val="829C30"/>
                </a:solidFill>
                <a:latin typeface="Arial"/>
                <a:ea typeface="MS PGothic" charset="0"/>
              </a:rPr>
              <a:t> SCD-type 2</a:t>
            </a:r>
          </a:p>
        </p:txBody>
      </p:sp>
      <p:cxnSp>
        <p:nvCxnSpPr>
          <p:cNvPr id="5" name="Straight Connector 10">
            <a:extLst>
              <a:ext uri="{FF2B5EF4-FFF2-40B4-BE49-F238E27FC236}">
                <a16:creationId xmlns:a16="http://schemas.microsoft.com/office/drawing/2014/main" id="{5597AB96-8B22-35EB-C3BC-3A5576B15148}"/>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pic>
        <p:nvPicPr>
          <p:cNvPr id="2050" name="Picture 2" descr="Nederland Kaart Fotobehang">
            <a:extLst>
              <a:ext uri="{FF2B5EF4-FFF2-40B4-BE49-F238E27FC236}">
                <a16:creationId xmlns:a16="http://schemas.microsoft.com/office/drawing/2014/main" id="{9275DFA6-7056-5F7B-E7A0-2C6E6F2E26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5689" y="981771"/>
            <a:ext cx="4863961" cy="568028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Man - Free people icons">
            <a:extLst>
              <a:ext uri="{FF2B5EF4-FFF2-40B4-BE49-F238E27FC236}">
                <a16:creationId xmlns:a16="http://schemas.microsoft.com/office/drawing/2014/main" id="{AD95182D-0E6F-8963-1B21-2D68424B67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44960" y="3399379"/>
            <a:ext cx="783771" cy="67967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el 7">
            <a:extLst>
              <a:ext uri="{FF2B5EF4-FFF2-40B4-BE49-F238E27FC236}">
                <a16:creationId xmlns:a16="http://schemas.microsoft.com/office/drawing/2014/main" id="{AD259F25-6571-371C-1C91-F97A65DF7A0F}"/>
              </a:ext>
            </a:extLst>
          </p:cNvPr>
          <p:cNvGraphicFramePr>
            <a:graphicFrameLocks noGrp="1"/>
          </p:cNvGraphicFramePr>
          <p:nvPr/>
        </p:nvGraphicFramePr>
        <p:xfrm>
          <a:off x="7316237" y="1379271"/>
          <a:ext cx="4445439" cy="1112520"/>
        </p:xfrm>
        <a:graphic>
          <a:graphicData uri="http://schemas.openxmlformats.org/drawingml/2006/table">
            <a:tbl>
              <a:tblPr firstRow="1" bandRow="1">
                <a:tableStyleId>{5C22544A-7EE6-4342-B048-85BDC9FD1C3A}</a:tableStyleId>
              </a:tblPr>
              <a:tblGrid>
                <a:gridCol w="1481813">
                  <a:extLst>
                    <a:ext uri="{9D8B030D-6E8A-4147-A177-3AD203B41FA5}">
                      <a16:colId xmlns:a16="http://schemas.microsoft.com/office/drawing/2014/main" val="391686472"/>
                    </a:ext>
                  </a:extLst>
                </a:gridCol>
                <a:gridCol w="1481813">
                  <a:extLst>
                    <a:ext uri="{9D8B030D-6E8A-4147-A177-3AD203B41FA5}">
                      <a16:colId xmlns:a16="http://schemas.microsoft.com/office/drawing/2014/main" val="479079931"/>
                    </a:ext>
                  </a:extLst>
                </a:gridCol>
                <a:gridCol w="1481813">
                  <a:extLst>
                    <a:ext uri="{9D8B030D-6E8A-4147-A177-3AD203B41FA5}">
                      <a16:colId xmlns:a16="http://schemas.microsoft.com/office/drawing/2014/main" val="1039538333"/>
                    </a:ext>
                  </a:extLst>
                </a:gridCol>
              </a:tblGrid>
              <a:tr h="370840">
                <a:tc>
                  <a:txBody>
                    <a:bodyPr/>
                    <a:lstStyle/>
                    <a:p>
                      <a:r>
                        <a:rPr lang="nl-NL" b="1" u="sng" dirty="0" err="1"/>
                        <a:t>Nummer_PK</a:t>
                      </a:r>
                      <a:endParaRPr lang="nl-NL" b="1" u="sng" dirty="0"/>
                    </a:p>
                  </a:txBody>
                  <a:tcPr/>
                </a:tc>
                <a:tc>
                  <a:txBody>
                    <a:bodyPr/>
                    <a:lstStyle/>
                    <a:p>
                      <a:r>
                        <a:rPr lang="nl-NL" b="1" dirty="0"/>
                        <a:t>Naam</a:t>
                      </a:r>
                    </a:p>
                  </a:txBody>
                  <a:tcPr/>
                </a:tc>
                <a:tc>
                  <a:txBody>
                    <a:bodyPr/>
                    <a:lstStyle/>
                    <a:p>
                      <a:r>
                        <a:rPr lang="nl-NL" dirty="0"/>
                        <a:t>Woonplaats</a:t>
                      </a:r>
                    </a:p>
                  </a:txBody>
                  <a:tcPr/>
                </a:tc>
                <a:extLst>
                  <a:ext uri="{0D108BD9-81ED-4DB2-BD59-A6C34878D82A}">
                    <a16:rowId xmlns:a16="http://schemas.microsoft.com/office/drawing/2014/main" val="1194861106"/>
                  </a:ext>
                </a:extLst>
              </a:tr>
              <a:tr h="370840">
                <a:tc>
                  <a:txBody>
                    <a:bodyPr/>
                    <a:lstStyle/>
                    <a:p>
                      <a:r>
                        <a:rPr lang="nl-NL" dirty="0"/>
                        <a:t>1</a:t>
                      </a:r>
                    </a:p>
                  </a:txBody>
                  <a:tcPr/>
                </a:tc>
                <a:tc>
                  <a:txBody>
                    <a:bodyPr/>
                    <a:lstStyle/>
                    <a:p>
                      <a:r>
                        <a:rPr lang="nl-NL" dirty="0"/>
                        <a:t>Henk</a:t>
                      </a:r>
                    </a:p>
                  </a:txBody>
                  <a:tcPr/>
                </a:tc>
                <a:tc>
                  <a:txBody>
                    <a:bodyPr/>
                    <a:lstStyle/>
                    <a:p>
                      <a:r>
                        <a:rPr lang="nl-NL" dirty="0"/>
                        <a:t>Lelystad</a:t>
                      </a:r>
                    </a:p>
                  </a:txBody>
                  <a:tcPr/>
                </a:tc>
                <a:extLst>
                  <a:ext uri="{0D108BD9-81ED-4DB2-BD59-A6C34878D82A}">
                    <a16:rowId xmlns:a16="http://schemas.microsoft.com/office/drawing/2014/main" val="323268865"/>
                  </a:ext>
                </a:extLst>
              </a:tr>
              <a:tr h="370840">
                <a:tc>
                  <a:txBody>
                    <a:bodyPr/>
                    <a:lstStyle/>
                    <a:p>
                      <a:r>
                        <a:rPr lang="nl-NL" dirty="0"/>
                        <a:t>1</a:t>
                      </a:r>
                    </a:p>
                  </a:txBody>
                  <a:tcPr/>
                </a:tc>
                <a:tc>
                  <a:txBody>
                    <a:bodyPr/>
                    <a:lstStyle/>
                    <a:p>
                      <a:r>
                        <a:rPr lang="nl-NL" dirty="0"/>
                        <a:t>Henk</a:t>
                      </a:r>
                    </a:p>
                  </a:txBody>
                  <a:tcPr/>
                </a:tc>
                <a:tc>
                  <a:txBody>
                    <a:bodyPr/>
                    <a:lstStyle/>
                    <a:p>
                      <a:r>
                        <a:rPr lang="nl-NL" dirty="0"/>
                        <a:t>Den Haag</a:t>
                      </a:r>
                    </a:p>
                  </a:txBody>
                  <a:tcPr/>
                </a:tc>
                <a:extLst>
                  <a:ext uri="{0D108BD9-81ED-4DB2-BD59-A6C34878D82A}">
                    <a16:rowId xmlns:a16="http://schemas.microsoft.com/office/drawing/2014/main" val="3975630526"/>
                  </a:ext>
                </a:extLst>
              </a:tr>
            </a:tbl>
          </a:graphicData>
        </a:graphic>
      </p:graphicFrame>
      <p:graphicFrame>
        <p:nvGraphicFramePr>
          <p:cNvPr id="9" name="Tabel 8">
            <a:extLst>
              <a:ext uri="{FF2B5EF4-FFF2-40B4-BE49-F238E27FC236}">
                <a16:creationId xmlns:a16="http://schemas.microsoft.com/office/drawing/2014/main" id="{F7196203-2E05-700B-53DC-565812BBF990}"/>
              </a:ext>
            </a:extLst>
          </p:cNvPr>
          <p:cNvGraphicFramePr>
            <a:graphicFrameLocks noGrp="1"/>
          </p:cNvGraphicFramePr>
          <p:nvPr/>
        </p:nvGraphicFramePr>
        <p:xfrm>
          <a:off x="7371674" y="3399379"/>
          <a:ext cx="4445439" cy="1112520"/>
        </p:xfrm>
        <a:graphic>
          <a:graphicData uri="http://schemas.openxmlformats.org/drawingml/2006/table">
            <a:tbl>
              <a:tblPr firstRow="1" bandRow="1">
                <a:tableStyleId>{93296810-A885-4BE3-A3E7-6D5BEEA58F35}</a:tableStyleId>
              </a:tblPr>
              <a:tblGrid>
                <a:gridCol w="1481813">
                  <a:extLst>
                    <a:ext uri="{9D8B030D-6E8A-4147-A177-3AD203B41FA5}">
                      <a16:colId xmlns:a16="http://schemas.microsoft.com/office/drawing/2014/main" val="391686472"/>
                    </a:ext>
                  </a:extLst>
                </a:gridCol>
                <a:gridCol w="1481813">
                  <a:extLst>
                    <a:ext uri="{9D8B030D-6E8A-4147-A177-3AD203B41FA5}">
                      <a16:colId xmlns:a16="http://schemas.microsoft.com/office/drawing/2014/main" val="479079931"/>
                    </a:ext>
                  </a:extLst>
                </a:gridCol>
                <a:gridCol w="1481813">
                  <a:extLst>
                    <a:ext uri="{9D8B030D-6E8A-4147-A177-3AD203B41FA5}">
                      <a16:colId xmlns:a16="http://schemas.microsoft.com/office/drawing/2014/main" val="1039538333"/>
                    </a:ext>
                  </a:extLst>
                </a:gridCol>
              </a:tblGrid>
              <a:tr h="370840">
                <a:tc>
                  <a:txBody>
                    <a:bodyPr/>
                    <a:lstStyle/>
                    <a:p>
                      <a:r>
                        <a:rPr lang="nl-NL" b="1" u="sng" dirty="0" err="1"/>
                        <a:t>Nummer_PK</a:t>
                      </a:r>
                      <a:endParaRPr lang="nl-NL" b="1" u="sng" dirty="0"/>
                    </a:p>
                  </a:txBody>
                  <a:tcPr/>
                </a:tc>
                <a:tc>
                  <a:txBody>
                    <a:bodyPr/>
                    <a:lstStyle/>
                    <a:p>
                      <a:r>
                        <a:rPr lang="nl-NL" b="1" dirty="0"/>
                        <a:t>Naam</a:t>
                      </a:r>
                    </a:p>
                  </a:txBody>
                  <a:tcPr/>
                </a:tc>
                <a:tc>
                  <a:txBody>
                    <a:bodyPr/>
                    <a:lstStyle/>
                    <a:p>
                      <a:r>
                        <a:rPr lang="nl-NL" dirty="0"/>
                        <a:t>Woonplaats</a:t>
                      </a:r>
                    </a:p>
                  </a:txBody>
                  <a:tcPr/>
                </a:tc>
                <a:extLst>
                  <a:ext uri="{0D108BD9-81ED-4DB2-BD59-A6C34878D82A}">
                    <a16:rowId xmlns:a16="http://schemas.microsoft.com/office/drawing/2014/main" val="1194861106"/>
                  </a:ext>
                </a:extLst>
              </a:tr>
              <a:tr h="370840">
                <a:tc>
                  <a:txBody>
                    <a:bodyPr/>
                    <a:lstStyle/>
                    <a:p>
                      <a:r>
                        <a:rPr lang="nl-NL" dirty="0"/>
                        <a:t>1</a:t>
                      </a:r>
                    </a:p>
                  </a:txBody>
                  <a:tcPr/>
                </a:tc>
                <a:tc>
                  <a:txBody>
                    <a:bodyPr/>
                    <a:lstStyle/>
                    <a:p>
                      <a:r>
                        <a:rPr lang="nl-NL" dirty="0"/>
                        <a:t>Henk</a:t>
                      </a:r>
                    </a:p>
                  </a:txBody>
                  <a:tcPr/>
                </a:tc>
                <a:tc>
                  <a:txBody>
                    <a:bodyPr/>
                    <a:lstStyle/>
                    <a:p>
                      <a:r>
                        <a:rPr lang="nl-NL" dirty="0"/>
                        <a:t>Lelystad</a:t>
                      </a:r>
                    </a:p>
                  </a:txBody>
                  <a:tcPr/>
                </a:tc>
                <a:extLst>
                  <a:ext uri="{0D108BD9-81ED-4DB2-BD59-A6C34878D82A}">
                    <a16:rowId xmlns:a16="http://schemas.microsoft.com/office/drawing/2014/main" val="323268865"/>
                  </a:ext>
                </a:extLst>
              </a:tr>
              <a:tr h="370840">
                <a:tc>
                  <a:txBody>
                    <a:bodyPr/>
                    <a:lstStyle/>
                    <a:p>
                      <a:r>
                        <a:rPr lang="nl-NL" dirty="0"/>
                        <a:t>1</a:t>
                      </a:r>
                    </a:p>
                  </a:txBody>
                  <a:tcPr/>
                </a:tc>
                <a:tc>
                  <a:txBody>
                    <a:bodyPr/>
                    <a:lstStyle/>
                    <a:p>
                      <a:r>
                        <a:rPr lang="nl-NL" dirty="0"/>
                        <a:t>Henk</a:t>
                      </a:r>
                    </a:p>
                  </a:txBody>
                  <a:tcPr/>
                </a:tc>
                <a:tc>
                  <a:txBody>
                    <a:bodyPr/>
                    <a:lstStyle/>
                    <a:p>
                      <a:r>
                        <a:rPr lang="nl-NL" dirty="0"/>
                        <a:t>Den Haag</a:t>
                      </a:r>
                    </a:p>
                  </a:txBody>
                  <a:tcPr/>
                </a:tc>
                <a:extLst>
                  <a:ext uri="{0D108BD9-81ED-4DB2-BD59-A6C34878D82A}">
                    <a16:rowId xmlns:a16="http://schemas.microsoft.com/office/drawing/2014/main" val="481159627"/>
                  </a:ext>
                </a:extLst>
              </a:tr>
            </a:tbl>
          </a:graphicData>
        </a:graphic>
      </p:graphicFrame>
      <p:sp>
        <p:nvSpPr>
          <p:cNvPr id="10" name="TextBox 1">
            <a:extLst>
              <a:ext uri="{FF2B5EF4-FFF2-40B4-BE49-F238E27FC236}">
                <a16:creationId xmlns:a16="http://schemas.microsoft.com/office/drawing/2014/main" id="{454BD536-69E3-7AC5-F9B4-AD18A9BF4E3D}"/>
              </a:ext>
            </a:extLst>
          </p:cNvPr>
          <p:cNvSpPr txBox="1"/>
          <p:nvPr/>
        </p:nvSpPr>
        <p:spPr>
          <a:xfrm>
            <a:off x="7714444" y="891696"/>
            <a:ext cx="3649024" cy="400110"/>
          </a:xfrm>
          <a:prstGeom prst="rect">
            <a:avLst/>
          </a:prstGeom>
          <a:noFill/>
        </p:spPr>
        <p:txBody>
          <a:bodyPr wrap="square" rtlCol="0">
            <a:spAutoFit/>
          </a:bodyPr>
          <a:lstStyle/>
          <a:p>
            <a:pPr algn="ctr"/>
            <a:r>
              <a:rPr lang="en-US" sz="2000" b="1" i="0" u="none" strike="noStrike" dirty="0" err="1">
                <a:solidFill>
                  <a:srgbClr val="000000"/>
                </a:solidFill>
                <a:effectLst/>
                <a:latin typeface="Arial" panose="020B0604020202020204" pitchFamily="34" charset="0"/>
              </a:rPr>
              <a:t>Operationele</a:t>
            </a:r>
            <a:r>
              <a:rPr lang="en-US" sz="2000" b="1" i="0" u="none" strike="noStrike" dirty="0">
                <a:solidFill>
                  <a:srgbClr val="000000"/>
                </a:solidFill>
                <a:effectLst/>
                <a:latin typeface="Arial" panose="020B0604020202020204" pitchFamily="34" charset="0"/>
              </a:rPr>
              <a:t> data</a:t>
            </a:r>
            <a:endParaRPr lang="nl-NL" sz="2000" b="1" dirty="0"/>
          </a:p>
        </p:txBody>
      </p:sp>
      <p:sp>
        <p:nvSpPr>
          <p:cNvPr id="11" name="TextBox 1">
            <a:extLst>
              <a:ext uri="{FF2B5EF4-FFF2-40B4-BE49-F238E27FC236}">
                <a16:creationId xmlns:a16="http://schemas.microsoft.com/office/drawing/2014/main" id="{748CE969-6419-08EC-EFEF-4D8C9B2D55B3}"/>
              </a:ext>
            </a:extLst>
          </p:cNvPr>
          <p:cNvSpPr txBox="1"/>
          <p:nvPr/>
        </p:nvSpPr>
        <p:spPr>
          <a:xfrm>
            <a:off x="7769881" y="2999269"/>
            <a:ext cx="3649024" cy="400110"/>
          </a:xfrm>
          <a:prstGeom prst="rect">
            <a:avLst/>
          </a:prstGeom>
          <a:noFill/>
        </p:spPr>
        <p:txBody>
          <a:bodyPr wrap="square" rtlCol="0">
            <a:spAutoFit/>
          </a:bodyPr>
          <a:lstStyle/>
          <a:p>
            <a:pPr algn="ctr"/>
            <a:r>
              <a:rPr lang="en-US" sz="2000" b="1" i="0" u="none" strike="noStrike" dirty="0">
                <a:solidFill>
                  <a:srgbClr val="000000"/>
                </a:solidFill>
                <a:effectLst/>
                <a:latin typeface="Arial" panose="020B0604020202020204" pitchFamily="34" charset="0"/>
              </a:rPr>
              <a:t>Datawarehouse-data</a:t>
            </a:r>
            <a:endParaRPr lang="nl-NL" sz="2000" b="1" dirty="0"/>
          </a:p>
        </p:txBody>
      </p:sp>
      <p:sp>
        <p:nvSpPr>
          <p:cNvPr id="13" name="Rechthoek 12">
            <a:extLst>
              <a:ext uri="{FF2B5EF4-FFF2-40B4-BE49-F238E27FC236}">
                <a16:creationId xmlns:a16="http://schemas.microsoft.com/office/drawing/2014/main" id="{4575B842-C081-020E-ABAE-2B9F12CC4101}"/>
              </a:ext>
            </a:extLst>
          </p:cNvPr>
          <p:cNvSpPr/>
          <p:nvPr/>
        </p:nvSpPr>
        <p:spPr>
          <a:xfrm>
            <a:off x="7215087" y="1702459"/>
            <a:ext cx="4647738" cy="400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rgbClr val="FF0000"/>
              </a:solidFill>
            </a:endParaRPr>
          </a:p>
        </p:txBody>
      </p:sp>
      <p:sp>
        <p:nvSpPr>
          <p:cNvPr id="2" name="TextBox 1">
            <a:extLst>
              <a:ext uri="{FF2B5EF4-FFF2-40B4-BE49-F238E27FC236}">
                <a16:creationId xmlns:a16="http://schemas.microsoft.com/office/drawing/2014/main" id="{2A50D4D4-4117-B2FF-FD14-CA28AFA79106}"/>
              </a:ext>
            </a:extLst>
          </p:cNvPr>
          <p:cNvSpPr txBox="1"/>
          <p:nvPr/>
        </p:nvSpPr>
        <p:spPr>
          <a:xfrm>
            <a:off x="5486097" y="4578722"/>
            <a:ext cx="6705903" cy="2279278"/>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dirty="0">
                <a:latin typeface="Arial"/>
                <a:ea typeface="MS PGothic" charset="0"/>
              </a:rPr>
              <a:t>Dit is technisch niet mogelijk, elke PK-waarde moet namelijk uniek zijn!</a:t>
            </a:r>
          </a:p>
          <a:p>
            <a:pPr algn="ctr" defTabSz="457200" eaLnBrk="0" fontAlgn="base" hangingPunct="0">
              <a:lnSpc>
                <a:spcPct val="134000"/>
              </a:lnSpc>
              <a:spcBef>
                <a:spcPct val="0"/>
              </a:spcBef>
              <a:spcAft>
                <a:spcPct val="0"/>
              </a:spcAft>
              <a:buClr>
                <a:srgbClr val="080808"/>
              </a:buClr>
              <a:buSzPct val="100000"/>
              <a:buFont typeface="Times New Roman" charset="0"/>
              <a:buNone/>
            </a:pPr>
            <a:endParaRPr lang="nl-NL" dirty="0">
              <a:latin typeface="Arial"/>
              <a:ea typeface="MS PGothic" charset="0"/>
            </a:endParaRPr>
          </a:p>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b="1" dirty="0">
                <a:latin typeface="Arial"/>
                <a:ea typeface="MS PGothic" charset="0"/>
              </a:rPr>
              <a:t>Hoe op te lossen?</a:t>
            </a:r>
          </a:p>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dirty="0">
                <a:latin typeface="Arial"/>
                <a:ea typeface="MS PGothic" charset="0"/>
              </a:rPr>
              <a:t>Met een extra primaire sleutel die niet uit de operationele data komt, de zogeheten </a:t>
            </a:r>
            <a:r>
              <a:rPr lang="nl-NL" u="sng" dirty="0">
                <a:latin typeface="Arial"/>
                <a:ea typeface="MS PGothic" charset="0"/>
              </a:rPr>
              <a:t>surrogaatsleutel.</a:t>
            </a:r>
            <a:endParaRPr lang="nl-NL" dirty="0">
              <a:latin typeface="Arial"/>
              <a:ea typeface="MS PGothic" charset="0"/>
            </a:endParaRPr>
          </a:p>
        </p:txBody>
      </p:sp>
      <p:sp>
        <p:nvSpPr>
          <p:cNvPr id="7" name="Rectangle 6">
            <a:extLst>
              <a:ext uri="{FF2B5EF4-FFF2-40B4-BE49-F238E27FC236}">
                <a16:creationId xmlns:a16="http://schemas.microsoft.com/office/drawing/2014/main" id="{B5D8DD71-8B69-5299-AA94-8FFE22A9EF95}"/>
              </a:ext>
            </a:extLst>
          </p:cNvPr>
          <p:cNvSpPr/>
          <p:nvPr/>
        </p:nvSpPr>
        <p:spPr>
          <a:xfrm>
            <a:off x="7371675" y="3399379"/>
            <a:ext cx="1470990" cy="11125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96D16B6-3700-355B-7A00-3216CD31C26E}"/>
              </a:ext>
            </a:extLst>
          </p:cNvPr>
          <p:cNvSpPr/>
          <p:nvPr/>
        </p:nvSpPr>
        <p:spPr>
          <a:xfrm>
            <a:off x="5754487" y="4659613"/>
            <a:ext cx="6330139" cy="75987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686510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500"/>
                                        <p:tgtEl>
                                          <p:spTgt spid="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xEl>
                                              <p:pRg st="2" end="2"/>
                                            </p:txEl>
                                          </p:spTgt>
                                        </p:tgtEl>
                                        <p:attrNameLst>
                                          <p:attrName>style.visibility</p:attrName>
                                        </p:attrNameLst>
                                      </p:cBhvr>
                                      <p:to>
                                        <p:strVal val="visible"/>
                                      </p:to>
                                    </p:set>
                                    <p:animEffect transition="in" filter="fade">
                                      <p:cBhvr>
                                        <p:cTn id="18" dur="500"/>
                                        <p:tgtEl>
                                          <p:spTgt spid="2">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fade">
                                      <p:cBhvr>
                                        <p:cTn id="21"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B8F20-813D-7EE5-A91A-846847C856C1}"/>
            </a:ext>
          </a:extLst>
        </p:cNvPr>
        <p:cNvGrpSpPr/>
        <p:nvPr/>
      </p:nvGrpSpPr>
      <p:grpSpPr>
        <a:xfrm>
          <a:off x="0" y="0"/>
          <a:ext cx="0" cy="0"/>
          <a:chOff x="0" y="0"/>
          <a:chExt cx="0" cy="0"/>
        </a:xfrm>
      </p:grpSpPr>
      <p:sp>
        <p:nvSpPr>
          <p:cNvPr id="7" name="Tekstvak 7">
            <a:extLst>
              <a:ext uri="{FF2B5EF4-FFF2-40B4-BE49-F238E27FC236}">
                <a16:creationId xmlns:a16="http://schemas.microsoft.com/office/drawing/2014/main" id="{87BE501F-B656-F258-935D-03D6E346C98A}"/>
              </a:ext>
            </a:extLst>
          </p:cNvPr>
          <p:cNvSpPr txBox="1"/>
          <p:nvPr/>
        </p:nvSpPr>
        <p:spPr>
          <a:xfrm rot="16200000">
            <a:off x="-760560" y="982747"/>
            <a:ext cx="2192786" cy="369332"/>
          </a:xfrm>
          <a:prstGeom prst="rect">
            <a:avLst/>
          </a:prstGeom>
          <a:noFill/>
        </p:spPr>
        <p:txBody>
          <a:bodyPr wrap="square" rtlCol="0">
            <a:spAutoFit/>
          </a:bodyPr>
          <a:lstStyle/>
          <a:p>
            <a:r>
              <a:rPr lang="nl-NL" sz="1800">
                <a:solidFill>
                  <a:schemeClr val="bg1"/>
                </a:solidFill>
                <a:latin typeface="+mn-lt"/>
              </a:rPr>
              <a:t>Jelle van Barneveld</a:t>
            </a:r>
          </a:p>
        </p:txBody>
      </p:sp>
      <p:sp>
        <p:nvSpPr>
          <p:cNvPr id="2" name="TextBox 1">
            <a:extLst>
              <a:ext uri="{FF2B5EF4-FFF2-40B4-BE49-F238E27FC236}">
                <a16:creationId xmlns:a16="http://schemas.microsoft.com/office/drawing/2014/main" id="{24F7C030-D75E-3A8A-CAC0-46ED5C4EE10A}"/>
              </a:ext>
            </a:extLst>
          </p:cNvPr>
          <p:cNvSpPr txBox="1"/>
          <p:nvPr/>
        </p:nvSpPr>
        <p:spPr>
          <a:xfrm>
            <a:off x="988290" y="-990"/>
            <a:ext cx="11203710"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2 </a:t>
            </a:r>
            <a:r>
              <a:rPr lang="en-US" sz="3000" b="1" dirty="0" err="1">
                <a:solidFill>
                  <a:srgbClr val="829C30"/>
                </a:solidFill>
                <a:latin typeface="Arial"/>
                <a:ea typeface="MS PGothic" charset="0"/>
              </a:rPr>
              <a:t>soorten</a:t>
            </a:r>
            <a:r>
              <a:rPr lang="en-US" sz="3000" b="1" dirty="0">
                <a:solidFill>
                  <a:srgbClr val="829C30"/>
                </a:solidFill>
                <a:latin typeface="Arial"/>
                <a:ea typeface="MS PGothic" charset="0"/>
              </a:rPr>
              <a:t> </a:t>
            </a:r>
            <a:r>
              <a:rPr lang="en-US" sz="3000" b="1" dirty="0" err="1">
                <a:solidFill>
                  <a:srgbClr val="829C30"/>
                </a:solidFill>
                <a:latin typeface="Arial"/>
                <a:ea typeface="MS PGothic" charset="0"/>
              </a:rPr>
              <a:t>identificerende</a:t>
            </a:r>
            <a:r>
              <a:rPr lang="en-US" sz="3000" b="1" dirty="0">
                <a:solidFill>
                  <a:srgbClr val="829C30"/>
                </a:solidFill>
                <a:latin typeface="Arial"/>
                <a:ea typeface="MS PGothic" charset="0"/>
              </a:rPr>
              <a:t> </a:t>
            </a:r>
            <a:r>
              <a:rPr lang="en-US" sz="3000" b="1" dirty="0" err="1">
                <a:solidFill>
                  <a:srgbClr val="829C30"/>
                </a:solidFill>
                <a:latin typeface="Arial"/>
                <a:ea typeface="MS PGothic" charset="0"/>
              </a:rPr>
              <a:t>sleutels</a:t>
            </a:r>
            <a:r>
              <a:rPr lang="en-US" sz="3000" b="1" dirty="0">
                <a:solidFill>
                  <a:srgbClr val="829C30"/>
                </a:solidFill>
                <a:latin typeface="Arial"/>
                <a:ea typeface="MS PGothic" charset="0"/>
              </a:rPr>
              <a:t> in het Datawarehouse</a:t>
            </a:r>
          </a:p>
        </p:txBody>
      </p:sp>
      <p:cxnSp>
        <p:nvCxnSpPr>
          <p:cNvPr id="3" name="Straight Connector 10">
            <a:extLst>
              <a:ext uri="{FF2B5EF4-FFF2-40B4-BE49-F238E27FC236}">
                <a16:creationId xmlns:a16="http://schemas.microsoft.com/office/drawing/2014/main" id="{52AC93EA-7C13-EABA-11A5-94DFCDA478C5}"/>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cxnSp>
        <p:nvCxnSpPr>
          <p:cNvPr id="8" name="Straight Connector 10">
            <a:extLst>
              <a:ext uri="{FF2B5EF4-FFF2-40B4-BE49-F238E27FC236}">
                <a16:creationId xmlns:a16="http://schemas.microsoft.com/office/drawing/2014/main" id="{7F76AD5A-26FB-9827-17A6-ADFD8DFF8BF3}"/>
              </a:ext>
            </a:extLst>
          </p:cNvPr>
          <p:cNvCxnSpPr>
            <a:cxnSpLocks/>
          </p:cNvCxnSpPr>
          <p:nvPr/>
        </p:nvCxnSpPr>
        <p:spPr>
          <a:xfrm flipV="1">
            <a:off x="6590145" y="812800"/>
            <a:ext cx="0" cy="3310357"/>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15" name="TextBox 1">
            <a:extLst>
              <a:ext uri="{FF2B5EF4-FFF2-40B4-BE49-F238E27FC236}">
                <a16:creationId xmlns:a16="http://schemas.microsoft.com/office/drawing/2014/main" id="{99ED6508-1935-6B82-C13F-33515949A1CD}"/>
              </a:ext>
            </a:extLst>
          </p:cNvPr>
          <p:cNvSpPr txBox="1"/>
          <p:nvPr/>
        </p:nvSpPr>
        <p:spPr>
          <a:xfrm>
            <a:off x="1166326" y="837429"/>
            <a:ext cx="5281121" cy="400110"/>
          </a:xfrm>
          <a:prstGeom prst="rect">
            <a:avLst/>
          </a:prstGeom>
          <a:noFill/>
        </p:spPr>
        <p:txBody>
          <a:bodyPr wrap="square" rtlCol="0">
            <a:spAutoFit/>
          </a:bodyPr>
          <a:lstStyle/>
          <a:p>
            <a:pPr algn="ctr"/>
            <a:r>
              <a:rPr lang="en-US" sz="2000" b="0" i="0" u="none" strike="noStrike" dirty="0">
                <a:solidFill>
                  <a:srgbClr val="000000"/>
                </a:solidFill>
                <a:effectLst/>
                <a:latin typeface="Arial" panose="020B0604020202020204" pitchFamily="34" charset="0"/>
              </a:rPr>
              <a:t>Business Keys op </a:t>
            </a:r>
            <a:r>
              <a:rPr lang="en-US" sz="2000" b="0" i="0" u="none" strike="noStrike" dirty="0" err="1">
                <a:solidFill>
                  <a:srgbClr val="000000"/>
                </a:solidFill>
                <a:effectLst/>
                <a:latin typeface="Arial" panose="020B0604020202020204" pitchFamily="34" charset="0"/>
              </a:rPr>
              <a:t>operationeel</a:t>
            </a:r>
            <a:r>
              <a:rPr lang="en-US" sz="2000" b="0" i="0" u="none" strike="noStrike" dirty="0">
                <a:solidFill>
                  <a:srgbClr val="000000"/>
                </a:solidFill>
                <a:effectLst/>
                <a:latin typeface="Arial" panose="020B0604020202020204" pitchFamily="34" charset="0"/>
              </a:rPr>
              <a:t> </a:t>
            </a:r>
            <a:r>
              <a:rPr lang="en-US" sz="2000" b="0" i="0" u="none" strike="noStrike" dirty="0" err="1">
                <a:solidFill>
                  <a:srgbClr val="000000"/>
                </a:solidFill>
                <a:effectLst/>
                <a:latin typeface="Arial" panose="020B0604020202020204" pitchFamily="34" charset="0"/>
              </a:rPr>
              <a:t>niveau</a:t>
            </a:r>
            <a:endParaRPr lang="nl-NL" sz="2000" dirty="0"/>
          </a:p>
        </p:txBody>
      </p:sp>
      <p:sp>
        <p:nvSpPr>
          <p:cNvPr id="19" name="TextBox 1">
            <a:extLst>
              <a:ext uri="{FF2B5EF4-FFF2-40B4-BE49-F238E27FC236}">
                <a16:creationId xmlns:a16="http://schemas.microsoft.com/office/drawing/2014/main" id="{5DCB5DFD-EE31-CCE2-BFA8-11DE8CC820E9}"/>
              </a:ext>
            </a:extLst>
          </p:cNvPr>
          <p:cNvSpPr txBox="1"/>
          <p:nvPr/>
        </p:nvSpPr>
        <p:spPr>
          <a:xfrm>
            <a:off x="6647042" y="879137"/>
            <a:ext cx="5544958" cy="400110"/>
          </a:xfrm>
          <a:prstGeom prst="rect">
            <a:avLst/>
          </a:prstGeom>
          <a:noFill/>
        </p:spPr>
        <p:txBody>
          <a:bodyPr wrap="square" rtlCol="0">
            <a:spAutoFit/>
          </a:bodyPr>
          <a:lstStyle/>
          <a:p>
            <a:pPr algn="ctr"/>
            <a:r>
              <a:rPr lang="en-US" sz="2000" dirty="0" err="1">
                <a:solidFill>
                  <a:srgbClr val="000000"/>
                </a:solidFill>
                <a:latin typeface="Arial" panose="020B0604020202020204" pitchFamily="34" charset="0"/>
              </a:rPr>
              <a:t>Surrogaatsleutels</a:t>
            </a:r>
            <a:r>
              <a:rPr lang="en-US" sz="2000" dirty="0">
                <a:solidFill>
                  <a:srgbClr val="000000"/>
                </a:solidFill>
                <a:latin typeface="Arial" panose="020B0604020202020204" pitchFamily="34" charset="0"/>
              </a:rPr>
              <a:t> op Datawarehouse-</a:t>
            </a:r>
            <a:r>
              <a:rPr lang="en-US" sz="2000" dirty="0" err="1">
                <a:solidFill>
                  <a:srgbClr val="000000"/>
                </a:solidFill>
                <a:latin typeface="Arial" panose="020B0604020202020204" pitchFamily="34" charset="0"/>
              </a:rPr>
              <a:t>niveau</a:t>
            </a:r>
            <a:endParaRPr lang="nl-NL" sz="2000" dirty="0"/>
          </a:p>
        </p:txBody>
      </p:sp>
      <p:cxnSp>
        <p:nvCxnSpPr>
          <p:cNvPr id="5" name="Straight Connector 10">
            <a:extLst>
              <a:ext uri="{FF2B5EF4-FFF2-40B4-BE49-F238E27FC236}">
                <a16:creationId xmlns:a16="http://schemas.microsoft.com/office/drawing/2014/main" id="{AF3341A4-BCF4-13C7-33DB-184565F112EE}"/>
              </a:ext>
            </a:extLst>
          </p:cNvPr>
          <p:cNvCxnSpPr>
            <a:cxnSpLocks/>
          </p:cNvCxnSpPr>
          <p:nvPr/>
        </p:nvCxnSpPr>
        <p:spPr>
          <a:xfrm>
            <a:off x="988290" y="4123157"/>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graphicFrame>
        <p:nvGraphicFramePr>
          <p:cNvPr id="9" name="Tabel 8">
            <a:extLst>
              <a:ext uri="{FF2B5EF4-FFF2-40B4-BE49-F238E27FC236}">
                <a16:creationId xmlns:a16="http://schemas.microsoft.com/office/drawing/2014/main" id="{AEC78E42-1D39-EDEC-A476-967728A6DD90}"/>
              </a:ext>
            </a:extLst>
          </p:cNvPr>
          <p:cNvGraphicFramePr>
            <a:graphicFrameLocks noGrp="1"/>
          </p:cNvGraphicFramePr>
          <p:nvPr>
            <p:extLst>
              <p:ext uri="{D42A27DB-BD31-4B8C-83A1-F6EECF244321}">
                <p14:modId xmlns:p14="http://schemas.microsoft.com/office/powerpoint/2010/main" val="3074998720"/>
              </p:ext>
            </p:extLst>
          </p:nvPr>
        </p:nvGraphicFramePr>
        <p:xfrm>
          <a:off x="4214553" y="4189493"/>
          <a:ext cx="7912333" cy="1651000"/>
        </p:xfrm>
        <a:graphic>
          <a:graphicData uri="http://schemas.openxmlformats.org/drawingml/2006/table">
            <a:tbl>
              <a:tblPr firstRow="1" bandRow="1">
                <a:tableStyleId>{93296810-A885-4BE3-A3E7-6D5BEEA58F35}</a:tableStyleId>
              </a:tblPr>
              <a:tblGrid>
                <a:gridCol w="1371600">
                  <a:extLst>
                    <a:ext uri="{9D8B030D-6E8A-4147-A177-3AD203B41FA5}">
                      <a16:colId xmlns:a16="http://schemas.microsoft.com/office/drawing/2014/main" val="1431493050"/>
                    </a:ext>
                  </a:extLst>
                </a:gridCol>
                <a:gridCol w="1265844">
                  <a:extLst>
                    <a:ext uri="{9D8B030D-6E8A-4147-A177-3AD203B41FA5}">
                      <a16:colId xmlns:a16="http://schemas.microsoft.com/office/drawing/2014/main" val="2435750171"/>
                    </a:ext>
                  </a:extLst>
                </a:gridCol>
                <a:gridCol w="1318723">
                  <a:extLst>
                    <a:ext uri="{9D8B030D-6E8A-4147-A177-3AD203B41FA5}">
                      <a16:colId xmlns:a16="http://schemas.microsoft.com/office/drawing/2014/main" val="3182901196"/>
                    </a:ext>
                  </a:extLst>
                </a:gridCol>
                <a:gridCol w="1395152">
                  <a:extLst>
                    <a:ext uri="{9D8B030D-6E8A-4147-A177-3AD203B41FA5}">
                      <a16:colId xmlns:a16="http://schemas.microsoft.com/office/drawing/2014/main" val="391686472"/>
                    </a:ext>
                  </a:extLst>
                </a:gridCol>
                <a:gridCol w="825173">
                  <a:extLst>
                    <a:ext uri="{9D8B030D-6E8A-4147-A177-3AD203B41FA5}">
                      <a16:colId xmlns:a16="http://schemas.microsoft.com/office/drawing/2014/main" val="479079931"/>
                    </a:ext>
                  </a:extLst>
                </a:gridCol>
                <a:gridCol w="1735841">
                  <a:extLst>
                    <a:ext uri="{9D8B030D-6E8A-4147-A177-3AD203B41FA5}">
                      <a16:colId xmlns:a16="http://schemas.microsoft.com/office/drawing/2014/main" val="1039538333"/>
                    </a:ext>
                  </a:extLst>
                </a:gridCol>
              </a:tblGrid>
              <a:tr h="370840">
                <a:tc>
                  <a:txBody>
                    <a:bodyPr/>
                    <a:lstStyle/>
                    <a:p>
                      <a:r>
                        <a:rPr lang="nl-NL" b="1" u="sng" dirty="0" err="1"/>
                        <a:t>Nummer_SK</a:t>
                      </a:r>
                      <a:endParaRPr lang="nl-NL" b="1" u="sng" dirty="0"/>
                    </a:p>
                  </a:txBody>
                  <a:tcPr/>
                </a:tc>
                <a:tc>
                  <a:txBody>
                    <a:bodyPr/>
                    <a:lstStyle/>
                    <a:p>
                      <a:r>
                        <a:rPr lang="nl-NL" b="1" u="none" dirty="0"/>
                        <a:t>Begintijd</a:t>
                      </a:r>
                    </a:p>
                  </a:txBody>
                  <a:tcPr/>
                </a:tc>
                <a:tc>
                  <a:txBody>
                    <a:bodyPr/>
                    <a:lstStyle/>
                    <a:p>
                      <a:r>
                        <a:rPr lang="nl-NL" b="1" u="none" dirty="0"/>
                        <a:t>Eindtijd</a:t>
                      </a:r>
                    </a:p>
                  </a:txBody>
                  <a:tcPr/>
                </a:tc>
                <a:tc>
                  <a:txBody>
                    <a:bodyPr/>
                    <a:lstStyle/>
                    <a:p>
                      <a:r>
                        <a:rPr lang="nl-NL" b="1" u="none" dirty="0" err="1"/>
                        <a:t>Nummer_PK</a:t>
                      </a:r>
                      <a:endParaRPr lang="nl-NL" b="1" u="none" dirty="0"/>
                    </a:p>
                  </a:txBody>
                  <a:tcPr/>
                </a:tc>
                <a:tc>
                  <a:txBody>
                    <a:bodyPr/>
                    <a:lstStyle/>
                    <a:p>
                      <a:r>
                        <a:rPr lang="nl-NL" b="1" dirty="0"/>
                        <a:t>Naam</a:t>
                      </a:r>
                    </a:p>
                  </a:txBody>
                  <a:tcPr/>
                </a:tc>
                <a:tc>
                  <a:txBody>
                    <a:bodyPr/>
                    <a:lstStyle/>
                    <a:p>
                      <a:r>
                        <a:rPr lang="nl-NL" dirty="0"/>
                        <a:t>Woonplaats</a:t>
                      </a:r>
                    </a:p>
                  </a:txBody>
                  <a:tcPr/>
                </a:tc>
                <a:extLst>
                  <a:ext uri="{0D108BD9-81ED-4DB2-BD59-A6C34878D82A}">
                    <a16:rowId xmlns:a16="http://schemas.microsoft.com/office/drawing/2014/main" val="1194861106"/>
                  </a:ext>
                </a:extLst>
              </a:tr>
              <a:tr h="370840">
                <a:tc>
                  <a:txBody>
                    <a:bodyPr/>
                    <a:lstStyle/>
                    <a:p>
                      <a:r>
                        <a:rPr lang="nl-NL" dirty="0"/>
                        <a:t>1</a:t>
                      </a:r>
                    </a:p>
                  </a:txBody>
                  <a:tcPr/>
                </a:tc>
                <a:tc>
                  <a:txBody>
                    <a:bodyPr/>
                    <a:lstStyle/>
                    <a:p>
                      <a:r>
                        <a:rPr lang="nl-NL" dirty="0"/>
                        <a:t>01-01-2025 00:00 AM</a:t>
                      </a:r>
                    </a:p>
                  </a:txBody>
                  <a:tcPr/>
                </a:tc>
                <a:tc>
                  <a:txBody>
                    <a:bodyPr/>
                    <a:lstStyle/>
                    <a:p>
                      <a:r>
                        <a:rPr lang="nl-NL" dirty="0"/>
                        <a:t>01-01-2026 12:00 PM</a:t>
                      </a:r>
                    </a:p>
                  </a:txBody>
                  <a:tcPr/>
                </a:tc>
                <a:tc>
                  <a:txBody>
                    <a:bodyPr/>
                    <a:lstStyle/>
                    <a:p>
                      <a:r>
                        <a:rPr lang="nl-NL" dirty="0"/>
                        <a:t>1</a:t>
                      </a:r>
                    </a:p>
                  </a:txBody>
                  <a:tcPr/>
                </a:tc>
                <a:tc>
                  <a:txBody>
                    <a:bodyPr/>
                    <a:lstStyle/>
                    <a:p>
                      <a:r>
                        <a:rPr lang="nl-NL" dirty="0"/>
                        <a:t>Henk</a:t>
                      </a:r>
                    </a:p>
                  </a:txBody>
                  <a:tcPr/>
                </a:tc>
                <a:tc>
                  <a:txBody>
                    <a:bodyPr/>
                    <a:lstStyle/>
                    <a:p>
                      <a:r>
                        <a:rPr lang="nl-NL" dirty="0"/>
                        <a:t>Lelystad</a:t>
                      </a:r>
                    </a:p>
                  </a:txBody>
                  <a:tcPr/>
                </a:tc>
                <a:extLst>
                  <a:ext uri="{0D108BD9-81ED-4DB2-BD59-A6C34878D82A}">
                    <a16:rowId xmlns:a16="http://schemas.microsoft.com/office/drawing/2014/main" val="323268865"/>
                  </a:ext>
                </a:extLst>
              </a:tr>
              <a:tr h="370840">
                <a:tc>
                  <a:txBody>
                    <a:bodyPr/>
                    <a:lstStyle/>
                    <a:p>
                      <a:r>
                        <a:rPr lang="nl-NL" b="0" dirty="0">
                          <a:solidFill>
                            <a:schemeClr val="tx1"/>
                          </a:solidFill>
                        </a:rPr>
                        <a:t>2</a:t>
                      </a:r>
                    </a:p>
                  </a:txBody>
                  <a:tcPr/>
                </a:tc>
                <a:tc>
                  <a:txBody>
                    <a:bodyPr/>
                    <a:lstStyle/>
                    <a:p>
                      <a:r>
                        <a:rPr lang="nl-NL" dirty="0"/>
                        <a:t>01-01-2026 12:00 PM</a:t>
                      </a:r>
                    </a:p>
                  </a:txBody>
                  <a:tcPr/>
                </a:tc>
                <a:tc>
                  <a:txBody>
                    <a:bodyPr/>
                    <a:lstStyle/>
                    <a:p>
                      <a:r>
                        <a:rPr lang="nl-NL" b="0" dirty="0">
                          <a:solidFill>
                            <a:schemeClr val="tx1"/>
                          </a:solidFill>
                        </a:rPr>
                        <a:t>NULL</a:t>
                      </a:r>
                    </a:p>
                  </a:txBody>
                  <a:tcPr/>
                </a:tc>
                <a:tc>
                  <a:txBody>
                    <a:bodyPr/>
                    <a:lstStyle/>
                    <a:p>
                      <a:r>
                        <a:rPr lang="nl-NL" b="0" dirty="0">
                          <a:solidFill>
                            <a:schemeClr val="tx1"/>
                          </a:solidFill>
                        </a:rPr>
                        <a:t>1</a:t>
                      </a:r>
                    </a:p>
                  </a:txBody>
                  <a:tcPr/>
                </a:tc>
                <a:tc>
                  <a:txBody>
                    <a:bodyPr/>
                    <a:lstStyle/>
                    <a:p>
                      <a:r>
                        <a:rPr lang="nl-NL" dirty="0"/>
                        <a:t>Henk</a:t>
                      </a:r>
                    </a:p>
                  </a:txBody>
                  <a:tcPr/>
                </a:tc>
                <a:tc>
                  <a:txBody>
                    <a:bodyPr/>
                    <a:lstStyle/>
                    <a:p>
                      <a:r>
                        <a:rPr lang="nl-NL" dirty="0"/>
                        <a:t>Den Haag</a:t>
                      </a:r>
                    </a:p>
                  </a:txBody>
                  <a:tcPr/>
                </a:tc>
                <a:extLst>
                  <a:ext uri="{0D108BD9-81ED-4DB2-BD59-A6C34878D82A}">
                    <a16:rowId xmlns:a16="http://schemas.microsoft.com/office/drawing/2014/main" val="3486287211"/>
                  </a:ext>
                </a:extLst>
              </a:tr>
            </a:tbl>
          </a:graphicData>
        </a:graphic>
      </p:graphicFrame>
      <p:sp>
        <p:nvSpPr>
          <p:cNvPr id="12" name="TextBox 1">
            <a:extLst>
              <a:ext uri="{FF2B5EF4-FFF2-40B4-BE49-F238E27FC236}">
                <a16:creationId xmlns:a16="http://schemas.microsoft.com/office/drawing/2014/main" id="{0340B771-087B-079C-3BCC-86F3DEA2C417}"/>
              </a:ext>
            </a:extLst>
          </p:cNvPr>
          <p:cNvSpPr txBox="1"/>
          <p:nvPr/>
        </p:nvSpPr>
        <p:spPr>
          <a:xfrm>
            <a:off x="988290" y="4189493"/>
            <a:ext cx="3032992" cy="2585323"/>
          </a:xfrm>
          <a:prstGeom prst="rect">
            <a:avLst/>
          </a:prstGeom>
          <a:noFill/>
        </p:spPr>
        <p:txBody>
          <a:bodyPr wrap="square" rtlCol="0">
            <a:spAutoFit/>
          </a:bodyPr>
          <a:lstStyle/>
          <a:p>
            <a:r>
              <a:rPr lang="en-US" b="0" i="0" u="none" strike="noStrike" dirty="0">
                <a:solidFill>
                  <a:srgbClr val="000000"/>
                </a:solidFill>
                <a:effectLst/>
                <a:latin typeface="Arial" panose="020B0604020202020204" pitchFamily="34" charset="0"/>
              </a:rPr>
              <a:t>Elke regel in </a:t>
            </a:r>
            <a:r>
              <a:rPr lang="en-US" b="0" i="0" u="none" strike="noStrike" dirty="0" err="1">
                <a:solidFill>
                  <a:srgbClr val="000000"/>
                </a:solidFill>
                <a:effectLst/>
                <a:latin typeface="Arial" panose="020B0604020202020204" pitchFamily="34" charset="0"/>
              </a:rPr>
              <a:t>een</a:t>
            </a:r>
            <a:r>
              <a:rPr lang="en-US" b="0" i="0" u="none" strike="noStrike" dirty="0">
                <a:solidFill>
                  <a:srgbClr val="000000"/>
                </a:solidFill>
                <a:effectLst/>
                <a:latin typeface="Arial" panose="020B0604020202020204" pitchFamily="34" charset="0"/>
              </a:rPr>
              <a:t> SCD-type 2 </a:t>
            </a:r>
            <a:r>
              <a:rPr lang="en-US" b="0" i="0" u="none" strike="noStrike" dirty="0" err="1">
                <a:solidFill>
                  <a:srgbClr val="000000"/>
                </a:solidFill>
                <a:effectLst/>
                <a:latin typeface="Arial" panose="020B0604020202020204" pitchFamily="34" charset="0"/>
              </a:rPr>
              <a:t>staat</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voor</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elke</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keer</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dat</a:t>
            </a:r>
            <a:r>
              <a:rPr lang="en-US" b="0" i="0" u="none" strike="noStrike" dirty="0">
                <a:solidFill>
                  <a:srgbClr val="000000"/>
                </a:solidFill>
                <a:effectLst/>
                <a:latin typeface="Arial" panose="020B0604020202020204" pitchFamily="34" charset="0"/>
              </a:rPr>
              <a:t> er in </a:t>
            </a:r>
            <a:r>
              <a:rPr lang="en-US" b="0" i="0" u="none" strike="noStrike" dirty="0" err="1">
                <a:solidFill>
                  <a:srgbClr val="000000"/>
                </a:solidFill>
                <a:effectLst/>
                <a:latin typeface="Arial" panose="020B0604020202020204" pitchFamily="34" charset="0"/>
              </a:rPr>
              <a:t>een</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operationele</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rij</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minstens</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één</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datamutatie</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heeft</a:t>
            </a:r>
            <a:r>
              <a:rPr lang="en-US" b="0" i="0" u="none" strike="noStrike" dirty="0">
                <a:solidFill>
                  <a:srgbClr val="000000"/>
                </a:solidFill>
                <a:effectLst/>
                <a:latin typeface="Arial" panose="020B0604020202020204" pitchFamily="34" charset="0"/>
              </a:rPr>
              <a:t> </a:t>
            </a:r>
            <a:r>
              <a:rPr lang="en-US" b="0" i="0" u="none" strike="noStrike" dirty="0" err="1">
                <a:solidFill>
                  <a:srgbClr val="000000"/>
                </a:solidFill>
                <a:effectLst/>
                <a:latin typeface="Arial" panose="020B0604020202020204" pitchFamily="34" charset="0"/>
              </a:rPr>
              <a:t>plaatsgevonden</a:t>
            </a:r>
            <a:r>
              <a:rPr lang="en-US" b="0" i="0" u="none" strike="noStrike" dirty="0">
                <a:solidFill>
                  <a:srgbClr val="000000"/>
                </a:solidFill>
                <a:effectLst/>
                <a:latin typeface="Arial" panose="020B0604020202020204" pitchFamily="34" charset="0"/>
              </a:rPr>
              <a:t>.</a:t>
            </a:r>
          </a:p>
          <a:p>
            <a:endParaRPr lang="en-US" dirty="0">
              <a:solidFill>
                <a:srgbClr val="000000"/>
              </a:solidFill>
              <a:latin typeface="Arial" panose="020B0604020202020204" pitchFamily="34" charset="0"/>
            </a:endParaRPr>
          </a:p>
          <a:p>
            <a:r>
              <a:rPr lang="en-US" dirty="0">
                <a:solidFill>
                  <a:srgbClr val="000000"/>
                </a:solidFill>
                <a:latin typeface="Arial" panose="020B0604020202020204" pitchFamily="34" charset="0"/>
              </a:rPr>
              <a:t>Het </a:t>
            </a:r>
            <a:r>
              <a:rPr lang="en-US" dirty="0" err="1">
                <a:solidFill>
                  <a:srgbClr val="000000"/>
                </a:solidFill>
                <a:latin typeface="Arial" panose="020B0604020202020204" pitchFamily="34" charset="0"/>
              </a:rPr>
              <a:t>betreffende</a:t>
            </a:r>
            <a:r>
              <a:rPr lang="en-US" dirty="0">
                <a:solidFill>
                  <a:srgbClr val="000000"/>
                </a:solidFill>
                <a:latin typeface="Arial" panose="020B0604020202020204" pitchFamily="34" charset="0"/>
              </a:rPr>
              <a:t> begin- </a:t>
            </a:r>
            <a:r>
              <a:rPr lang="en-US" dirty="0" err="1">
                <a:solidFill>
                  <a:srgbClr val="000000"/>
                </a:solidFill>
                <a:latin typeface="Arial" panose="020B0604020202020204" pitchFamily="34" charset="0"/>
              </a:rPr>
              <a:t>en</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eindtijdstip</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dient</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óók</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bijgehouden</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te</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worden</a:t>
            </a:r>
            <a:r>
              <a:rPr lang="en-US" dirty="0">
                <a:solidFill>
                  <a:srgbClr val="000000"/>
                </a:solidFill>
                <a:latin typeface="Arial" panose="020B0604020202020204" pitchFamily="34" charset="0"/>
              </a:rPr>
              <a:t>!</a:t>
            </a:r>
            <a:endParaRPr lang="nl-NL" dirty="0"/>
          </a:p>
        </p:txBody>
      </p:sp>
      <p:pic>
        <p:nvPicPr>
          <p:cNvPr id="17" name="Afbeelding 16">
            <a:extLst>
              <a:ext uri="{FF2B5EF4-FFF2-40B4-BE49-F238E27FC236}">
                <a16:creationId xmlns:a16="http://schemas.microsoft.com/office/drawing/2014/main" id="{903BCCB1-6B7B-3EB7-3452-AFA20DD193A3}"/>
              </a:ext>
            </a:extLst>
          </p:cNvPr>
          <p:cNvPicPr>
            <a:picLocks noChangeAspect="1"/>
          </p:cNvPicPr>
          <p:nvPr/>
        </p:nvPicPr>
        <p:blipFill>
          <a:blip r:embed="rId3"/>
          <a:stretch>
            <a:fillRect/>
          </a:stretch>
        </p:blipFill>
        <p:spPr>
          <a:xfrm>
            <a:off x="1106106" y="1301836"/>
            <a:ext cx="1994136" cy="2651361"/>
          </a:xfrm>
          <a:prstGeom prst="rect">
            <a:avLst/>
          </a:prstGeom>
        </p:spPr>
      </p:pic>
      <p:sp>
        <p:nvSpPr>
          <p:cNvPr id="18" name="TextBox 1">
            <a:extLst>
              <a:ext uri="{FF2B5EF4-FFF2-40B4-BE49-F238E27FC236}">
                <a16:creationId xmlns:a16="http://schemas.microsoft.com/office/drawing/2014/main" id="{2FD02C6B-04C1-CA57-DB7B-0D5A2381116A}"/>
              </a:ext>
            </a:extLst>
          </p:cNvPr>
          <p:cNvSpPr txBox="1"/>
          <p:nvPr/>
        </p:nvSpPr>
        <p:spPr>
          <a:xfrm>
            <a:off x="3242940" y="1334854"/>
            <a:ext cx="3151011" cy="2585323"/>
          </a:xfrm>
          <a:prstGeom prst="rect">
            <a:avLst/>
          </a:prstGeom>
          <a:noFill/>
        </p:spPr>
        <p:txBody>
          <a:bodyPr wrap="square" rtlCol="0">
            <a:spAutoFit/>
          </a:bodyPr>
          <a:lstStyle/>
          <a:p>
            <a:pPr marL="285750" indent="-285750">
              <a:buFont typeface="Arial" panose="020B0604020202020204" pitchFamily="34" charset="0"/>
              <a:buChar char="•"/>
            </a:pPr>
            <a:r>
              <a:rPr lang="nl-NL" dirty="0"/>
              <a:t>Hetzelfde als </a:t>
            </a:r>
            <a:r>
              <a:rPr lang="nl-NL" dirty="0" err="1"/>
              <a:t>primary</a:t>
            </a:r>
            <a:r>
              <a:rPr lang="nl-NL" dirty="0"/>
              <a:t> </a:t>
            </a:r>
            <a:r>
              <a:rPr lang="nl-NL" dirty="0" err="1"/>
              <a:t>keys</a:t>
            </a:r>
            <a:r>
              <a:rPr lang="nl-NL" dirty="0"/>
              <a:t> in OLTP-databases</a:t>
            </a:r>
          </a:p>
          <a:p>
            <a:pPr marL="285750" indent="-285750">
              <a:buFont typeface="Arial" panose="020B0604020202020204" pitchFamily="34" charset="0"/>
              <a:buChar char="•"/>
            </a:pPr>
            <a:r>
              <a:rPr lang="nl-NL" dirty="0"/>
              <a:t>Kunnen samengesteld zijn</a:t>
            </a:r>
          </a:p>
          <a:p>
            <a:pPr marL="285750" indent="-285750">
              <a:buFont typeface="Arial" panose="020B0604020202020204" pitchFamily="34" charset="0"/>
              <a:buChar char="•"/>
            </a:pPr>
            <a:r>
              <a:rPr lang="nl-NL" dirty="0"/>
              <a:t>Bestaan uit (combinaties van) nummers, codes en </a:t>
            </a:r>
            <a:r>
              <a:rPr lang="nl-NL" dirty="0" err="1"/>
              <a:t>ID’s</a:t>
            </a:r>
            <a:endParaRPr lang="nl-NL" dirty="0"/>
          </a:p>
          <a:p>
            <a:pPr marL="285750" indent="-285750">
              <a:buFont typeface="Arial" panose="020B0604020202020204" pitchFamily="34" charset="0"/>
              <a:buChar char="•"/>
            </a:pPr>
            <a:r>
              <a:rPr lang="nl-NL" dirty="0"/>
              <a:t>Hiernaar wordt verwezen door </a:t>
            </a:r>
            <a:r>
              <a:rPr lang="nl-NL" b="1" dirty="0" err="1"/>
              <a:t>Foreign</a:t>
            </a:r>
            <a:r>
              <a:rPr lang="nl-NL" b="1" dirty="0"/>
              <a:t> Keys op operationeel niveau</a:t>
            </a:r>
          </a:p>
          <a:p>
            <a:pPr marL="285750" indent="-285750">
              <a:buFont typeface="Arial" panose="020B0604020202020204" pitchFamily="34" charset="0"/>
              <a:buChar char="•"/>
            </a:pPr>
            <a:r>
              <a:rPr lang="nl-NL" dirty="0" err="1"/>
              <a:t>Nummer_PK</a:t>
            </a:r>
            <a:endParaRPr lang="nl-NL" dirty="0"/>
          </a:p>
        </p:txBody>
      </p:sp>
      <p:sp>
        <p:nvSpPr>
          <p:cNvPr id="20" name="TextBox 1">
            <a:extLst>
              <a:ext uri="{FF2B5EF4-FFF2-40B4-BE49-F238E27FC236}">
                <a16:creationId xmlns:a16="http://schemas.microsoft.com/office/drawing/2014/main" id="{48F21D77-11FA-D78C-A5E0-A66E02850D1F}"/>
              </a:ext>
            </a:extLst>
          </p:cNvPr>
          <p:cNvSpPr txBox="1"/>
          <p:nvPr/>
        </p:nvSpPr>
        <p:spPr>
          <a:xfrm>
            <a:off x="6667020" y="1732425"/>
            <a:ext cx="3151011" cy="1754326"/>
          </a:xfrm>
          <a:prstGeom prst="rect">
            <a:avLst/>
          </a:prstGeom>
          <a:noFill/>
        </p:spPr>
        <p:txBody>
          <a:bodyPr wrap="square" rtlCol="0">
            <a:spAutoFit/>
          </a:bodyPr>
          <a:lstStyle/>
          <a:p>
            <a:pPr marL="285750" indent="-285750">
              <a:buFont typeface="Arial" panose="020B0604020202020204" pitchFamily="34" charset="0"/>
              <a:buChar char="•"/>
            </a:pPr>
            <a:r>
              <a:rPr lang="nl-NL" dirty="0"/>
              <a:t>Zijn niet samengesteld</a:t>
            </a:r>
          </a:p>
          <a:p>
            <a:pPr marL="285750" indent="-285750">
              <a:buFont typeface="Arial" panose="020B0604020202020204" pitchFamily="34" charset="0"/>
              <a:buChar char="•"/>
            </a:pPr>
            <a:r>
              <a:rPr lang="nl-NL" dirty="0"/>
              <a:t>Bestaan slechts uit nummers</a:t>
            </a:r>
          </a:p>
          <a:p>
            <a:pPr marL="285750" indent="-285750">
              <a:buFont typeface="Arial" panose="020B0604020202020204" pitchFamily="34" charset="0"/>
              <a:buChar char="•"/>
            </a:pPr>
            <a:r>
              <a:rPr lang="nl-NL" dirty="0"/>
              <a:t>Hiernaar wordt verwezen door </a:t>
            </a:r>
            <a:r>
              <a:rPr lang="nl-NL" b="1" dirty="0" err="1"/>
              <a:t>Foreign</a:t>
            </a:r>
            <a:r>
              <a:rPr lang="nl-NL" b="1" dirty="0"/>
              <a:t> Keys op Datawarehouse-niveau</a:t>
            </a:r>
          </a:p>
          <a:p>
            <a:pPr marL="285750" indent="-285750">
              <a:buFont typeface="Arial" panose="020B0604020202020204" pitchFamily="34" charset="0"/>
              <a:buChar char="•"/>
            </a:pPr>
            <a:r>
              <a:rPr lang="nl-NL" dirty="0" err="1"/>
              <a:t>Nummer_SK</a:t>
            </a:r>
            <a:endParaRPr lang="nl-NL" dirty="0"/>
          </a:p>
        </p:txBody>
      </p:sp>
      <p:pic>
        <p:nvPicPr>
          <p:cNvPr id="4098" name="Picture 2" descr="Natural versus Surrogate Primary Keys in a Distributed SQL Database |  Yugabyte">
            <a:extLst>
              <a:ext uri="{FF2B5EF4-FFF2-40B4-BE49-F238E27FC236}">
                <a16:creationId xmlns:a16="http://schemas.microsoft.com/office/drawing/2014/main" id="{8848683C-3521-723A-4EC9-75E7B96E5C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26515" y="1301840"/>
            <a:ext cx="1994135" cy="265135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7FBD417-9394-F386-499D-F8417C46C316}"/>
              </a:ext>
            </a:extLst>
          </p:cNvPr>
          <p:cNvSpPr txBox="1"/>
          <p:nvPr/>
        </p:nvSpPr>
        <p:spPr>
          <a:xfrm>
            <a:off x="8428900" y="6045200"/>
            <a:ext cx="3395229" cy="369332"/>
          </a:xfrm>
          <a:prstGeom prst="rect">
            <a:avLst/>
          </a:prstGeom>
          <a:noFill/>
        </p:spPr>
        <p:txBody>
          <a:bodyPr wrap="square">
            <a:spAutoFit/>
          </a:bodyPr>
          <a:lstStyle/>
          <a:p>
            <a:r>
              <a:rPr lang="en-US" dirty="0" err="1">
                <a:solidFill>
                  <a:srgbClr val="000000"/>
                </a:solidFill>
                <a:latin typeface="Arial" panose="020B0604020202020204" pitchFamily="34" charset="0"/>
              </a:rPr>
              <a:t>Eindtijd</a:t>
            </a:r>
            <a:r>
              <a:rPr lang="en-US" dirty="0">
                <a:solidFill>
                  <a:srgbClr val="000000"/>
                </a:solidFill>
                <a:latin typeface="Arial" panose="020B0604020202020204" pitchFamily="34" charset="0"/>
              </a:rPr>
              <a:t> IS NULL, </a:t>
            </a:r>
            <a:r>
              <a:rPr lang="en-US" dirty="0" err="1">
                <a:solidFill>
                  <a:srgbClr val="000000"/>
                </a:solidFill>
                <a:latin typeface="Arial" panose="020B0604020202020204" pitchFamily="34" charset="0"/>
              </a:rPr>
              <a:t>actuele</a:t>
            </a:r>
            <a:r>
              <a:rPr lang="en-US" dirty="0">
                <a:solidFill>
                  <a:srgbClr val="000000"/>
                </a:solidFill>
                <a:latin typeface="Arial" panose="020B0604020202020204" pitchFamily="34" charset="0"/>
              </a:rPr>
              <a:t> regel!</a:t>
            </a:r>
            <a:endParaRPr lang="nl-NL" dirty="0"/>
          </a:p>
        </p:txBody>
      </p:sp>
      <p:cxnSp>
        <p:nvCxnSpPr>
          <p:cNvPr id="13" name="Connector: Elbow 12">
            <a:extLst>
              <a:ext uri="{FF2B5EF4-FFF2-40B4-BE49-F238E27FC236}">
                <a16:creationId xmlns:a16="http://schemas.microsoft.com/office/drawing/2014/main" id="{793DE3BE-7645-14A2-EF4A-CD367AA37BC7}"/>
              </a:ext>
            </a:extLst>
          </p:cNvPr>
          <p:cNvCxnSpPr>
            <a:cxnSpLocks/>
            <a:stCxn id="10" idx="1"/>
          </p:cNvCxnSpPr>
          <p:nvPr/>
        </p:nvCxnSpPr>
        <p:spPr>
          <a:xfrm rot="10800000">
            <a:off x="7335982" y="5579918"/>
            <a:ext cx="1092918" cy="649948"/>
          </a:xfrm>
          <a:prstGeom prst="bentConnector3">
            <a:avLst>
              <a:gd name="adj1" fmla="val 100390"/>
            </a:avLst>
          </a:prstGeom>
          <a:ln w="57150">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814570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4098"/>
                                        </p:tgtEl>
                                        <p:attrNameLst>
                                          <p:attrName>style.visibility</p:attrName>
                                        </p:attrNameLst>
                                      </p:cBhvr>
                                      <p:to>
                                        <p:strVal val="visible"/>
                                      </p:to>
                                    </p:set>
                                    <p:animEffect transition="in" filter="fade">
                                      <p:cBhvr>
                                        <p:cTn id="10" dur="500"/>
                                        <p:tgtEl>
                                          <p:spTgt spid="409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2" grpId="0"/>
      <p:bldP spid="20"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118B4-B5BB-5C7D-77BA-2EB49774A406}"/>
            </a:ext>
          </a:extLst>
        </p:cNvPr>
        <p:cNvGrpSpPr/>
        <p:nvPr/>
      </p:nvGrpSpPr>
      <p:grpSpPr>
        <a:xfrm>
          <a:off x="0" y="0"/>
          <a:ext cx="0" cy="0"/>
          <a:chOff x="0" y="0"/>
          <a:chExt cx="0" cy="0"/>
        </a:xfrm>
      </p:grpSpPr>
      <p:sp>
        <p:nvSpPr>
          <p:cNvPr id="6" name="Tekstvak 7">
            <a:extLst>
              <a:ext uri="{FF2B5EF4-FFF2-40B4-BE49-F238E27FC236}">
                <a16:creationId xmlns:a16="http://schemas.microsoft.com/office/drawing/2014/main" id="{50E76B0D-A763-2B7E-0585-AE58C8AE5616}"/>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sp>
        <p:nvSpPr>
          <p:cNvPr id="7" name="TextBox 1">
            <a:extLst>
              <a:ext uri="{FF2B5EF4-FFF2-40B4-BE49-F238E27FC236}">
                <a16:creationId xmlns:a16="http://schemas.microsoft.com/office/drawing/2014/main" id="{DCD6D0FF-820D-1C00-3EE2-F441967666A4}"/>
              </a:ext>
            </a:extLst>
          </p:cNvPr>
          <p:cNvSpPr txBox="1"/>
          <p:nvPr/>
        </p:nvSpPr>
        <p:spPr>
          <a:xfrm>
            <a:off x="988290" y="-10754"/>
            <a:ext cx="11203710"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Per </a:t>
            </a:r>
            <a:r>
              <a:rPr lang="en-US" sz="3000" b="1" dirty="0" err="1">
                <a:solidFill>
                  <a:srgbClr val="829C30"/>
                </a:solidFill>
                <a:latin typeface="Arial"/>
                <a:ea typeface="MS PGothic" charset="0"/>
              </a:rPr>
              <a:t>Sterschema-tabel</a:t>
            </a:r>
            <a:r>
              <a:rPr lang="en-US" sz="3000" b="1" dirty="0">
                <a:solidFill>
                  <a:srgbClr val="829C30"/>
                </a:solidFill>
                <a:latin typeface="Arial"/>
                <a:ea typeface="MS PGothic" charset="0"/>
              </a:rPr>
              <a:t> </a:t>
            </a:r>
            <a:r>
              <a:rPr lang="en-US" sz="3000" b="1" dirty="0" err="1">
                <a:solidFill>
                  <a:srgbClr val="829C30"/>
                </a:solidFill>
                <a:latin typeface="Arial"/>
                <a:ea typeface="MS PGothic" charset="0"/>
              </a:rPr>
              <a:t>een</a:t>
            </a:r>
            <a:r>
              <a:rPr lang="en-US" sz="3000" b="1" dirty="0">
                <a:solidFill>
                  <a:srgbClr val="829C30"/>
                </a:solidFill>
                <a:latin typeface="Arial"/>
                <a:ea typeface="MS PGothic" charset="0"/>
              </a:rPr>
              <a:t> </a:t>
            </a:r>
            <a:r>
              <a:rPr lang="en-US" sz="3000" b="1" dirty="0" err="1">
                <a:solidFill>
                  <a:srgbClr val="829C30"/>
                </a:solidFill>
                <a:latin typeface="Arial"/>
                <a:ea typeface="MS PGothic" charset="0"/>
              </a:rPr>
              <a:t>tabel</a:t>
            </a:r>
            <a:r>
              <a:rPr lang="en-US" sz="3000" b="1" dirty="0">
                <a:solidFill>
                  <a:srgbClr val="829C30"/>
                </a:solidFill>
                <a:latin typeface="Arial"/>
                <a:ea typeface="MS PGothic" charset="0"/>
              </a:rPr>
              <a:t> </a:t>
            </a:r>
            <a:r>
              <a:rPr lang="en-US" sz="3000" b="1" dirty="0" err="1">
                <a:solidFill>
                  <a:srgbClr val="829C30"/>
                </a:solidFill>
                <a:latin typeface="Arial"/>
                <a:ea typeface="MS PGothic" charset="0"/>
              </a:rPr>
              <a:t>aanmaken</a:t>
            </a:r>
            <a:r>
              <a:rPr lang="en-US" sz="3000" b="1" dirty="0">
                <a:solidFill>
                  <a:srgbClr val="829C30"/>
                </a:solidFill>
                <a:latin typeface="Arial"/>
                <a:ea typeface="MS PGothic" charset="0"/>
              </a:rPr>
              <a:t> in SQLite</a:t>
            </a:r>
          </a:p>
        </p:txBody>
      </p:sp>
      <p:cxnSp>
        <p:nvCxnSpPr>
          <p:cNvPr id="8" name="Straight Connector 10">
            <a:extLst>
              <a:ext uri="{FF2B5EF4-FFF2-40B4-BE49-F238E27FC236}">
                <a16:creationId xmlns:a16="http://schemas.microsoft.com/office/drawing/2014/main" id="{65DCBB01-DBD8-00E4-EFBF-BB31914DA35C}"/>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DD21E34-2225-0835-EC5D-E3EC96BB6297}"/>
              </a:ext>
            </a:extLst>
          </p:cNvPr>
          <p:cNvSpPr txBox="1"/>
          <p:nvPr/>
        </p:nvSpPr>
        <p:spPr>
          <a:xfrm>
            <a:off x="988290" y="1359564"/>
            <a:ext cx="3937001" cy="4524315"/>
          </a:xfrm>
          <a:prstGeom prst="rect">
            <a:avLst/>
          </a:prstGeom>
          <a:noFill/>
        </p:spPr>
        <p:txBody>
          <a:bodyPr wrap="square">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Sales_Order_Item</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id </a:t>
            </a:r>
            <a:r>
              <a:rPr lang="en-US" sz="1800" dirty="0">
                <a:solidFill>
                  <a:srgbClr val="0000FF"/>
                </a:solidFill>
                <a:latin typeface="Consolas" panose="020B0609020204030204" pitchFamily="49" charset="0"/>
              </a:rPr>
              <a:t>INTEGER</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dirty="0" err="1">
                <a:solidFill>
                  <a:srgbClr val="000000"/>
                </a:solidFill>
                <a:latin typeface="Consolas" panose="020B0609020204030204" pitchFamily="49" charset="0"/>
              </a:rPr>
              <a:t>l</a:t>
            </a:r>
            <a:r>
              <a:rPr lang="en-US" sz="1800" dirty="0" err="1">
                <a:solidFill>
                  <a:srgbClr val="000000"/>
                </a:solidFill>
                <a:latin typeface="Consolas" panose="020B0609020204030204" pitchFamily="49" charset="0"/>
              </a:rPr>
              <a:t>ine_id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INTEGER</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prod_id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INTEGER</a:t>
            </a:r>
            <a:r>
              <a:rPr lang="en-US" sz="1800" dirty="0">
                <a:solidFill>
                  <a:srgbClr val="808080"/>
                </a:solidFill>
                <a:latin typeface="Consolas" panose="020B0609020204030204" pitchFamily="49" charset="0"/>
              </a:rPr>
              <a:t>,</a:t>
            </a:r>
            <a:endParaRPr lang="en-US" sz="1800" dirty="0">
              <a:solidFill>
                <a:srgbClr val="0000FF"/>
              </a:solidFill>
              <a:latin typeface="Consolas" panose="020B0609020204030204" pitchFamily="49" charset="0"/>
            </a:endParaRPr>
          </a:p>
          <a:p>
            <a:r>
              <a:rPr lang="en-US" dirty="0">
                <a:solidFill>
                  <a:srgbClr val="000000"/>
                </a:solidFill>
                <a:latin typeface="Consolas" panose="020B0609020204030204" pitchFamily="49" charset="0"/>
              </a:rPr>
              <a:t>q</a:t>
            </a:r>
            <a:r>
              <a:rPr lang="en-US" sz="1800" dirty="0">
                <a:solidFill>
                  <a:srgbClr val="000000"/>
                </a:solidFill>
                <a:latin typeface="Consolas" panose="020B0609020204030204" pitchFamily="49" charset="0"/>
              </a:rPr>
              <a:t>uantity </a:t>
            </a:r>
            <a:r>
              <a:rPr lang="en-US" sz="1800" dirty="0">
                <a:solidFill>
                  <a:srgbClr val="0000FF"/>
                </a:solidFill>
                <a:latin typeface="Consolas" panose="020B0609020204030204" pitchFamily="49" charset="0"/>
              </a:rPr>
              <a:t>INTEGER</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dirty="0" err="1">
                <a:solidFill>
                  <a:srgbClr val="000000"/>
                </a:solidFill>
                <a:latin typeface="Consolas" panose="020B0609020204030204" pitchFamily="49" charset="0"/>
              </a:rPr>
              <a:t>order</a:t>
            </a:r>
            <a:r>
              <a:rPr lang="en-US" sz="1800" dirty="0" err="1">
                <a:solidFill>
                  <a:srgbClr val="000000"/>
                </a:solidFill>
                <a:latin typeface="Consolas" panose="020B0609020204030204" pitchFamily="49" charset="0"/>
              </a:rPr>
              <a:t>_date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DATE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a:t>
            </a:r>
          </a:p>
          <a:p>
            <a:r>
              <a:rPr lang="en-US" dirty="0" err="1">
                <a:solidFill>
                  <a:srgbClr val="000000"/>
                </a:solidFill>
                <a:latin typeface="Consolas" panose="020B0609020204030204" pitchFamily="49" charset="0"/>
              </a:rPr>
              <a:t>unit_prize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FLOAT</a:t>
            </a:r>
            <a:r>
              <a:rPr lang="en-US" sz="1800" dirty="0">
                <a:solidFill>
                  <a:srgbClr val="808080"/>
                </a:solidFill>
                <a:latin typeface="Consolas" panose="020B0609020204030204" pitchFamily="49" charset="0"/>
              </a:rPr>
              <a:t>,</a:t>
            </a:r>
          </a:p>
          <a:p>
            <a:r>
              <a:rPr lang="en-US" dirty="0">
                <a:solidFill>
                  <a:srgbClr val="000000"/>
                </a:solidFill>
                <a:latin typeface="Consolas" panose="020B0609020204030204" pitchFamily="49" charset="0"/>
              </a:rPr>
              <a:t>turnover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FLOAT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PRIMARY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KEY</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id, </a:t>
            </a:r>
            <a:r>
              <a:rPr lang="en-US" sz="1800" dirty="0" err="1">
                <a:solidFill>
                  <a:srgbClr val="000000"/>
                </a:solidFill>
                <a:latin typeface="Consolas" panose="020B0609020204030204" pitchFamily="49" charset="0"/>
              </a:rPr>
              <a:t>line_id</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FOREIGN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KEY</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prod_id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REFERENCES</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product</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product_sk</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p:txBody>
      </p:sp>
      <p:cxnSp>
        <p:nvCxnSpPr>
          <p:cNvPr id="2" name="Straight Connector 10">
            <a:extLst>
              <a:ext uri="{FF2B5EF4-FFF2-40B4-BE49-F238E27FC236}">
                <a16:creationId xmlns:a16="http://schemas.microsoft.com/office/drawing/2014/main" id="{AEB55FC3-1772-5736-4442-084F4DF37CE3}"/>
              </a:ext>
            </a:extLst>
          </p:cNvPr>
          <p:cNvCxnSpPr>
            <a:cxnSpLocks/>
          </p:cNvCxnSpPr>
          <p:nvPr/>
        </p:nvCxnSpPr>
        <p:spPr>
          <a:xfrm flipV="1">
            <a:off x="5010727" y="812800"/>
            <a:ext cx="0" cy="604520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10" name="TextBox 1">
            <a:extLst>
              <a:ext uri="{FF2B5EF4-FFF2-40B4-BE49-F238E27FC236}">
                <a16:creationId xmlns:a16="http://schemas.microsoft.com/office/drawing/2014/main" id="{B58F19EF-01DF-AE05-0312-4237A7964EA4}"/>
              </a:ext>
            </a:extLst>
          </p:cNvPr>
          <p:cNvSpPr txBox="1"/>
          <p:nvPr/>
        </p:nvSpPr>
        <p:spPr>
          <a:xfrm>
            <a:off x="988290" y="812800"/>
            <a:ext cx="4022437" cy="460062"/>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2000" dirty="0" err="1">
                <a:latin typeface="Arial"/>
                <a:ea typeface="MS PGothic" charset="0"/>
              </a:rPr>
              <a:t>Tabelstructuren</a:t>
            </a:r>
            <a:r>
              <a:rPr lang="en-US" sz="2000" dirty="0">
                <a:latin typeface="Arial"/>
                <a:ea typeface="MS PGothic" charset="0"/>
              </a:rPr>
              <a:t> </a:t>
            </a:r>
            <a:r>
              <a:rPr lang="en-US" sz="2000" dirty="0" err="1">
                <a:latin typeface="Arial"/>
                <a:ea typeface="MS PGothic" charset="0"/>
              </a:rPr>
              <a:t>creëren</a:t>
            </a:r>
            <a:endParaRPr lang="en-US" sz="2000" dirty="0">
              <a:latin typeface="Arial"/>
              <a:ea typeface="MS PGothic" charset="0"/>
            </a:endParaRPr>
          </a:p>
        </p:txBody>
      </p:sp>
      <p:cxnSp>
        <p:nvCxnSpPr>
          <p:cNvPr id="12" name="Straight Connector 10">
            <a:extLst>
              <a:ext uri="{FF2B5EF4-FFF2-40B4-BE49-F238E27FC236}">
                <a16:creationId xmlns:a16="http://schemas.microsoft.com/office/drawing/2014/main" id="{A998A55E-9739-D199-C715-8D854DFA535F}"/>
              </a:ext>
            </a:extLst>
          </p:cNvPr>
          <p:cNvCxnSpPr>
            <a:cxnSpLocks/>
          </p:cNvCxnSpPr>
          <p:nvPr/>
        </p:nvCxnSpPr>
        <p:spPr>
          <a:xfrm flipV="1">
            <a:off x="8363527" y="812800"/>
            <a:ext cx="0" cy="604520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15" name="TextBox 1">
            <a:extLst>
              <a:ext uri="{FF2B5EF4-FFF2-40B4-BE49-F238E27FC236}">
                <a16:creationId xmlns:a16="http://schemas.microsoft.com/office/drawing/2014/main" id="{BE51FB0E-8DCD-7DD4-C489-34D1A6930353}"/>
              </a:ext>
            </a:extLst>
          </p:cNvPr>
          <p:cNvSpPr txBox="1"/>
          <p:nvPr/>
        </p:nvSpPr>
        <p:spPr>
          <a:xfrm>
            <a:off x="5146007" y="812799"/>
            <a:ext cx="3217519" cy="460062"/>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2000" dirty="0" err="1">
                <a:latin typeface="Arial"/>
                <a:ea typeface="MS PGothic" charset="0"/>
              </a:rPr>
              <a:t>Tabelstructuren</a:t>
            </a:r>
            <a:r>
              <a:rPr lang="en-US" sz="2000" dirty="0">
                <a:latin typeface="Arial"/>
                <a:ea typeface="MS PGothic" charset="0"/>
              </a:rPr>
              <a:t> </a:t>
            </a:r>
            <a:r>
              <a:rPr lang="en-US" sz="2000" dirty="0" err="1">
                <a:latin typeface="Arial"/>
                <a:ea typeface="MS PGothic" charset="0"/>
              </a:rPr>
              <a:t>bewerken</a:t>
            </a:r>
            <a:endParaRPr lang="en-US" sz="2000" dirty="0">
              <a:latin typeface="Arial"/>
              <a:ea typeface="MS PGothic" charset="0"/>
            </a:endParaRPr>
          </a:p>
        </p:txBody>
      </p:sp>
      <p:sp>
        <p:nvSpPr>
          <p:cNvPr id="16" name="TextBox 1">
            <a:extLst>
              <a:ext uri="{FF2B5EF4-FFF2-40B4-BE49-F238E27FC236}">
                <a16:creationId xmlns:a16="http://schemas.microsoft.com/office/drawing/2014/main" id="{FFAD4A21-1A5F-DFFF-7663-8ABF278252D6}"/>
              </a:ext>
            </a:extLst>
          </p:cNvPr>
          <p:cNvSpPr txBox="1"/>
          <p:nvPr/>
        </p:nvSpPr>
        <p:spPr>
          <a:xfrm>
            <a:off x="8498806" y="812799"/>
            <a:ext cx="3693194" cy="460062"/>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2000" dirty="0" err="1">
                <a:latin typeface="Arial"/>
                <a:ea typeface="MS PGothic" charset="0"/>
              </a:rPr>
              <a:t>Tabelstructuren</a:t>
            </a:r>
            <a:r>
              <a:rPr lang="en-US" sz="2000" dirty="0">
                <a:latin typeface="Arial"/>
                <a:ea typeface="MS PGothic" charset="0"/>
              </a:rPr>
              <a:t> </a:t>
            </a:r>
            <a:r>
              <a:rPr lang="en-US" sz="2000" dirty="0" err="1">
                <a:latin typeface="Arial"/>
                <a:ea typeface="MS PGothic" charset="0"/>
              </a:rPr>
              <a:t>verwijderen</a:t>
            </a:r>
            <a:endParaRPr lang="en-US" sz="2000" dirty="0">
              <a:latin typeface="Arial"/>
              <a:ea typeface="MS PGothic" charset="0"/>
            </a:endParaRPr>
          </a:p>
        </p:txBody>
      </p:sp>
      <p:sp>
        <p:nvSpPr>
          <p:cNvPr id="18" name="TextBox 17">
            <a:extLst>
              <a:ext uri="{FF2B5EF4-FFF2-40B4-BE49-F238E27FC236}">
                <a16:creationId xmlns:a16="http://schemas.microsoft.com/office/drawing/2014/main" id="{6504F705-7B9A-9736-1702-7F8A4EF546A4}"/>
              </a:ext>
            </a:extLst>
          </p:cNvPr>
          <p:cNvSpPr txBox="1"/>
          <p:nvPr/>
        </p:nvSpPr>
        <p:spPr>
          <a:xfrm>
            <a:off x="5441279" y="2243142"/>
            <a:ext cx="2922247" cy="923330"/>
          </a:xfrm>
          <a:prstGeom prst="rect">
            <a:avLst/>
          </a:prstGeom>
          <a:noFill/>
        </p:spPr>
        <p:txBody>
          <a:bodyPr wrap="square">
            <a:spAutoFit/>
          </a:bodyPr>
          <a:lstStyle/>
          <a:p>
            <a:r>
              <a:rPr lang="en-US" sz="1800" dirty="0">
                <a:solidFill>
                  <a:srgbClr val="0000FF"/>
                </a:solidFill>
                <a:latin typeface="Consolas" panose="020B0609020204030204" pitchFamily="49" charset="0"/>
              </a:rPr>
              <a:t>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Sales_Order_Item</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ADD</a:t>
            </a:r>
            <a:r>
              <a:rPr lang="en-US" sz="1800" dirty="0">
                <a:solidFill>
                  <a:srgbClr val="000000"/>
                </a:solidFill>
                <a:latin typeface="Consolas" panose="020B0609020204030204" pitchFamily="49" charset="0"/>
              </a:rPr>
              <a:t> quantity </a:t>
            </a:r>
            <a:r>
              <a:rPr lang="en-US" sz="1800" dirty="0">
                <a:solidFill>
                  <a:srgbClr val="0000FF"/>
                </a:solidFill>
                <a:latin typeface="Consolas" panose="020B0609020204030204" pitchFamily="49" charset="0"/>
              </a:rPr>
              <a:t>INTEGER</a:t>
            </a:r>
            <a:r>
              <a:rPr lang="en-US" sz="1800" dirty="0">
                <a:solidFill>
                  <a:srgbClr val="808080"/>
                </a:solidFill>
                <a:latin typeface="Consolas" panose="020B0609020204030204" pitchFamily="49" charset="0"/>
              </a:rPr>
              <a:t>;</a:t>
            </a:r>
            <a:endParaRPr lang="en-US" dirty="0"/>
          </a:p>
        </p:txBody>
      </p:sp>
      <p:cxnSp>
        <p:nvCxnSpPr>
          <p:cNvPr id="19" name="Straight Connector 10">
            <a:extLst>
              <a:ext uri="{FF2B5EF4-FFF2-40B4-BE49-F238E27FC236}">
                <a16:creationId xmlns:a16="http://schemas.microsoft.com/office/drawing/2014/main" id="{62356C52-35DB-BC03-A0A9-F9B66F2A026F}"/>
              </a:ext>
            </a:extLst>
          </p:cNvPr>
          <p:cNvCxnSpPr>
            <a:cxnSpLocks/>
          </p:cNvCxnSpPr>
          <p:nvPr/>
        </p:nvCxnSpPr>
        <p:spPr>
          <a:xfrm>
            <a:off x="5010727" y="3713189"/>
            <a:ext cx="3352799"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21" name="Tekstvak 14">
            <a:extLst>
              <a:ext uri="{FF2B5EF4-FFF2-40B4-BE49-F238E27FC236}">
                <a16:creationId xmlns:a16="http://schemas.microsoft.com/office/drawing/2014/main" id="{C0514D4C-C7A0-12DF-6F84-DD95B3988D85}"/>
              </a:ext>
            </a:extLst>
          </p:cNvPr>
          <p:cNvSpPr txBox="1"/>
          <p:nvPr/>
        </p:nvSpPr>
        <p:spPr>
          <a:xfrm>
            <a:off x="5259808" y="1415709"/>
            <a:ext cx="2837642" cy="646331"/>
          </a:xfrm>
          <a:prstGeom prst="rect">
            <a:avLst/>
          </a:prstGeom>
          <a:solidFill>
            <a:schemeClr val="bg1"/>
          </a:solidFill>
          <a:ln w="57150">
            <a:noFill/>
          </a:ln>
        </p:spPr>
        <p:txBody>
          <a:bodyPr wrap="square">
            <a:spAutoFit/>
          </a:bodyPr>
          <a:lstStyle/>
          <a:p>
            <a:pPr algn="ctr"/>
            <a:r>
              <a:rPr lang="nl-NL" dirty="0" err="1"/>
              <a:t>Quantity</a:t>
            </a:r>
            <a:r>
              <a:rPr lang="nl-NL" dirty="0"/>
              <a:t> vergeten toe te voegen?</a:t>
            </a:r>
          </a:p>
        </p:txBody>
      </p:sp>
      <p:cxnSp>
        <p:nvCxnSpPr>
          <p:cNvPr id="22" name="Straight Connector 10">
            <a:extLst>
              <a:ext uri="{FF2B5EF4-FFF2-40B4-BE49-F238E27FC236}">
                <a16:creationId xmlns:a16="http://schemas.microsoft.com/office/drawing/2014/main" id="{E71582AA-293A-DEC5-E10E-BAE0C729126F}"/>
              </a:ext>
            </a:extLst>
          </p:cNvPr>
          <p:cNvCxnSpPr>
            <a:cxnSpLocks/>
          </p:cNvCxnSpPr>
          <p:nvPr/>
        </p:nvCxnSpPr>
        <p:spPr>
          <a:xfrm>
            <a:off x="5010727" y="1382161"/>
            <a:ext cx="3352799"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23" name="Tekstvak 14">
            <a:extLst>
              <a:ext uri="{FF2B5EF4-FFF2-40B4-BE49-F238E27FC236}">
                <a16:creationId xmlns:a16="http://schemas.microsoft.com/office/drawing/2014/main" id="{4510C7C1-0311-6298-B055-77B163F29ED7}"/>
              </a:ext>
            </a:extLst>
          </p:cNvPr>
          <p:cNvSpPr txBox="1"/>
          <p:nvPr/>
        </p:nvSpPr>
        <p:spPr>
          <a:xfrm>
            <a:off x="5191368" y="3796502"/>
            <a:ext cx="2837642" cy="646331"/>
          </a:xfrm>
          <a:prstGeom prst="rect">
            <a:avLst/>
          </a:prstGeom>
          <a:solidFill>
            <a:schemeClr val="bg1"/>
          </a:solidFill>
          <a:ln w="57150">
            <a:noFill/>
          </a:ln>
        </p:spPr>
        <p:txBody>
          <a:bodyPr wrap="square">
            <a:spAutoFit/>
          </a:bodyPr>
          <a:lstStyle/>
          <a:p>
            <a:pPr algn="ctr"/>
            <a:r>
              <a:rPr lang="nl-NL" dirty="0"/>
              <a:t>Toewijzing primaire sleutel vergeten?</a:t>
            </a:r>
          </a:p>
        </p:txBody>
      </p:sp>
      <p:sp>
        <p:nvSpPr>
          <p:cNvPr id="25" name="TextBox 24">
            <a:extLst>
              <a:ext uri="{FF2B5EF4-FFF2-40B4-BE49-F238E27FC236}">
                <a16:creationId xmlns:a16="http://schemas.microsoft.com/office/drawing/2014/main" id="{A727046C-AED2-8D18-EDA4-C6D57419224B}"/>
              </a:ext>
            </a:extLst>
          </p:cNvPr>
          <p:cNvSpPr txBox="1"/>
          <p:nvPr/>
        </p:nvSpPr>
        <p:spPr>
          <a:xfrm>
            <a:off x="5525015" y="4875674"/>
            <a:ext cx="2459502" cy="1200329"/>
          </a:xfrm>
          <a:prstGeom prst="rect">
            <a:avLst/>
          </a:prstGeom>
          <a:noFill/>
        </p:spPr>
        <p:txBody>
          <a:bodyPr wrap="square">
            <a:spAutoFit/>
          </a:bodyPr>
          <a:lstStyle/>
          <a:p>
            <a:r>
              <a:rPr lang="en-US" sz="1800" dirty="0">
                <a:solidFill>
                  <a:srgbClr val="0000FF"/>
                </a:solidFill>
                <a:latin typeface="Consolas" panose="020B0609020204030204" pitchFamily="49" charset="0"/>
              </a:rPr>
              <a:t>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Sales_Order_Item</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ADD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PRIMARY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KEY</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line_id</a:t>
            </a:r>
            <a:r>
              <a:rPr lang="en-US" sz="1800" dirty="0">
                <a:solidFill>
                  <a:srgbClr val="808080"/>
                </a:solidFill>
                <a:latin typeface="Consolas" panose="020B0609020204030204" pitchFamily="49" charset="0"/>
              </a:rPr>
              <a:t>);</a:t>
            </a:r>
            <a:endParaRPr lang="en-US" dirty="0"/>
          </a:p>
        </p:txBody>
      </p:sp>
      <p:sp>
        <p:nvSpPr>
          <p:cNvPr id="27" name="TextBox 26">
            <a:extLst>
              <a:ext uri="{FF2B5EF4-FFF2-40B4-BE49-F238E27FC236}">
                <a16:creationId xmlns:a16="http://schemas.microsoft.com/office/drawing/2014/main" id="{13CE61C7-42C1-C1C4-A458-D03A22319EB7}"/>
              </a:ext>
            </a:extLst>
          </p:cNvPr>
          <p:cNvSpPr txBox="1"/>
          <p:nvPr/>
        </p:nvSpPr>
        <p:spPr>
          <a:xfrm>
            <a:off x="8530811" y="5475838"/>
            <a:ext cx="3839484" cy="369332"/>
          </a:xfrm>
          <a:prstGeom prst="rect">
            <a:avLst/>
          </a:prstGeom>
          <a:noFill/>
        </p:spPr>
        <p:txBody>
          <a:bodyPr wrap="square">
            <a:spAutoFit/>
          </a:bodyPr>
          <a:lstStyle/>
          <a:p>
            <a:r>
              <a:rPr lang="en-US" sz="1800" dirty="0">
                <a:solidFill>
                  <a:srgbClr val="0000FF"/>
                </a:solidFill>
                <a:latin typeface="Consolas" panose="020B0609020204030204" pitchFamily="49" charset="0"/>
              </a:rPr>
              <a:t>DROP</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Sales_Order_Item</a:t>
            </a:r>
            <a:r>
              <a:rPr lang="en-US" sz="1800" dirty="0">
                <a:solidFill>
                  <a:srgbClr val="808080"/>
                </a:solidFill>
                <a:latin typeface="Consolas" panose="020B0609020204030204" pitchFamily="49" charset="0"/>
              </a:rPr>
              <a:t>;</a:t>
            </a:r>
            <a:endParaRPr lang="en-US" dirty="0"/>
          </a:p>
        </p:txBody>
      </p:sp>
      <p:cxnSp>
        <p:nvCxnSpPr>
          <p:cNvPr id="28" name="Straight Connector 10">
            <a:extLst>
              <a:ext uri="{FF2B5EF4-FFF2-40B4-BE49-F238E27FC236}">
                <a16:creationId xmlns:a16="http://schemas.microsoft.com/office/drawing/2014/main" id="{62B55916-3739-3E7C-AFF3-68981C0F3265}"/>
              </a:ext>
            </a:extLst>
          </p:cNvPr>
          <p:cNvCxnSpPr>
            <a:cxnSpLocks/>
          </p:cNvCxnSpPr>
          <p:nvPr/>
        </p:nvCxnSpPr>
        <p:spPr>
          <a:xfrm>
            <a:off x="8363526" y="1378867"/>
            <a:ext cx="3828474" cy="3294"/>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30" name="Tekstvak 14">
            <a:extLst>
              <a:ext uri="{FF2B5EF4-FFF2-40B4-BE49-F238E27FC236}">
                <a16:creationId xmlns:a16="http://schemas.microsoft.com/office/drawing/2014/main" id="{DFC6CEF2-6015-73C4-37CE-753333C36534}"/>
              </a:ext>
            </a:extLst>
          </p:cNvPr>
          <p:cNvSpPr txBox="1"/>
          <p:nvPr/>
        </p:nvSpPr>
        <p:spPr>
          <a:xfrm>
            <a:off x="8858943" y="1415708"/>
            <a:ext cx="2837642" cy="369332"/>
          </a:xfrm>
          <a:prstGeom prst="rect">
            <a:avLst/>
          </a:prstGeom>
          <a:solidFill>
            <a:schemeClr val="bg1"/>
          </a:solidFill>
          <a:ln w="57150">
            <a:noFill/>
          </a:ln>
        </p:spPr>
        <p:txBody>
          <a:bodyPr wrap="square">
            <a:spAutoFit/>
          </a:bodyPr>
          <a:lstStyle/>
          <a:p>
            <a:pPr algn="ctr"/>
            <a:r>
              <a:rPr lang="nl-NL" dirty="0" err="1"/>
              <a:t>Één</a:t>
            </a:r>
            <a:r>
              <a:rPr lang="nl-NL" dirty="0"/>
              <a:t> kolom verwijderen?</a:t>
            </a:r>
          </a:p>
        </p:txBody>
      </p:sp>
      <p:cxnSp>
        <p:nvCxnSpPr>
          <p:cNvPr id="31" name="Straight Connector 10">
            <a:extLst>
              <a:ext uri="{FF2B5EF4-FFF2-40B4-BE49-F238E27FC236}">
                <a16:creationId xmlns:a16="http://schemas.microsoft.com/office/drawing/2014/main" id="{6F6166F7-C95E-084E-A478-1D7C281B421F}"/>
              </a:ext>
            </a:extLst>
          </p:cNvPr>
          <p:cNvCxnSpPr>
            <a:cxnSpLocks/>
          </p:cNvCxnSpPr>
          <p:nvPr/>
        </p:nvCxnSpPr>
        <p:spPr>
          <a:xfrm>
            <a:off x="8363526" y="3713189"/>
            <a:ext cx="3828474"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33" name="Tekstvak 14">
            <a:extLst>
              <a:ext uri="{FF2B5EF4-FFF2-40B4-BE49-F238E27FC236}">
                <a16:creationId xmlns:a16="http://schemas.microsoft.com/office/drawing/2014/main" id="{13BD3332-9484-21CC-E8AF-3C5EAB9A86B7}"/>
              </a:ext>
            </a:extLst>
          </p:cNvPr>
          <p:cNvSpPr txBox="1"/>
          <p:nvPr/>
        </p:nvSpPr>
        <p:spPr>
          <a:xfrm>
            <a:off x="9031732" y="3792671"/>
            <a:ext cx="2837642" cy="369332"/>
          </a:xfrm>
          <a:prstGeom prst="rect">
            <a:avLst/>
          </a:prstGeom>
          <a:solidFill>
            <a:schemeClr val="bg1"/>
          </a:solidFill>
          <a:ln w="57150">
            <a:noFill/>
          </a:ln>
        </p:spPr>
        <p:txBody>
          <a:bodyPr wrap="square">
            <a:spAutoFit/>
          </a:bodyPr>
          <a:lstStyle/>
          <a:p>
            <a:pPr algn="ctr"/>
            <a:r>
              <a:rPr lang="nl-NL" dirty="0"/>
              <a:t>Hele tabel verwijderen?</a:t>
            </a:r>
          </a:p>
        </p:txBody>
      </p:sp>
      <p:sp>
        <p:nvSpPr>
          <p:cNvPr id="35" name="TextBox 34">
            <a:extLst>
              <a:ext uri="{FF2B5EF4-FFF2-40B4-BE49-F238E27FC236}">
                <a16:creationId xmlns:a16="http://schemas.microsoft.com/office/drawing/2014/main" id="{5C893CDB-2B57-86FC-C0A0-F61852743AEA}"/>
              </a:ext>
            </a:extLst>
          </p:cNvPr>
          <p:cNvSpPr txBox="1"/>
          <p:nvPr/>
        </p:nvSpPr>
        <p:spPr>
          <a:xfrm>
            <a:off x="8698043" y="2243142"/>
            <a:ext cx="3427379" cy="923330"/>
          </a:xfrm>
          <a:prstGeom prst="rect">
            <a:avLst/>
          </a:prstGeom>
          <a:noFill/>
        </p:spPr>
        <p:txBody>
          <a:bodyPr wrap="square">
            <a:spAutoFit/>
          </a:bodyPr>
          <a:lstStyle/>
          <a:p>
            <a:r>
              <a:rPr lang="en-US" sz="1800" dirty="0">
                <a:solidFill>
                  <a:srgbClr val="0000FF"/>
                </a:solidFill>
                <a:latin typeface="Consolas" panose="020B0609020204030204" pitchFamily="49" charset="0"/>
              </a:rPr>
              <a:t>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Sales_Order_Item</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DROP</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COLUMN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nutteloos</a:t>
            </a:r>
            <a:r>
              <a:rPr lang="en-US" sz="1800" dirty="0">
                <a:solidFill>
                  <a:srgbClr val="808080"/>
                </a:solidFill>
                <a:latin typeface="Consolas" panose="020B0609020204030204" pitchFamily="49" charset="0"/>
              </a:rPr>
              <a:t>;</a:t>
            </a:r>
            <a:endParaRPr lang="en-US" dirty="0"/>
          </a:p>
        </p:txBody>
      </p:sp>
      <p:sp>
        <p:nvSpPr>
          <p:cNvPr id="36" name="Tekstvak 14">
            <a:extLst>
              <a:ext uri="{FF2B5EF4-FFF2-40B4-BE49-F238E27FC236}">
                <a16:creationId xmlns:a16="http://schemas.microsoft.com/office/drawing/2014/main" id="{07A2F9CD-11D1-D9C4-4F6D-EAB608119E3B}"/>
              </a:ext>
            </a:extLst>
          </p:cNvPr>
          <p:cNvSpPr txBox="1"/>
          <p:nvPr/>
        </p:nvSpPr>
        <p:spPr>
          <a:xfrm>
            <a:off x="1407416" y="5865722"/>
            <a:ext cx="3354231" cy="923330"/>
          </a:xfrm>
          <a:prstGeom prst="rect">
            <a:avLst/>
          </a:prstGeom>
          <a:solidFill>
            <a:schemeClr val="bg1"/>
          </a:solidFill>
          <a:ln w="57150">
            <a:noFill/>
          </a:ln>
        </p:spPr>
        <p:txBody>
          <a:bodyPr wrap="square">
            <a:spAutoFit/>
          </a:bodyPr>
          <a:lstStyle/>
          <a:p>
            <a:pPr algn="ctr"/>
            <a:r>
              <a:rPr lang="nl-NL" dirty="0"/>
              <a:t>Let erop dat elke </a:t>
            </a:r>
            <a:r>
              <a:rPr lang="nl-NL" dirty="0" err="1"/>
              <a:t>foreign</a:t>
            </a:r>
            <a:r>
              <a:rPr lang="nl-NL" dirty="0"/>
              <a:t> </a:t>
            </a:r>
            <a:r>
              <a:rPr lang="nl-NL" dirty="0" err="1"/>
              <a:t>key</a:t>
            </a:r>
            <a:r>
              <a:rPr lang="nl-NL" dirty="0"/>
              <a:t> van een feit verwijst naar de </a:t>
            </a:r>
            <a:r>
              <a:rPr lang="nl-NL" dirty="0" err="1"/>
              <a:t>surrogate</a:t>
            </a:r>
            <a:r>
              <a:rPr lang="nl-NL" dirty="0"/>
              <a:t> </a:t>
            </a:r>
            <a:r>
              <a:rPr lang="nl-NL" dirty="0" err="1"/>
              <a:t>key</a:t>
            </a:r>
            <a:r>
              <a:rPr lang="nl-NL" dirty="0"/>
              <a:t> van een dimensie.</a:t>
            </a:r>
          </a:p>
        </p:txBody>
      </p:sp>
    </p:spTree>
    <p:extLst>
      <p:ext uri="{BB962C8B-B14F-4D97-AF65-F5344CB8AC3E}">
        <p14:creationId xmlns:p14="http://schemas.microsoft.com/office/powerpoint/2010/main" val="3246254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8" grpId="0"/>
      <p:bldP spid="21" grpId="0" animBg="1"/>
      <p:bldP spid="23" grpId="0" animBg="1"/>
      <p:bldP spid="25" grpId="0"/>
      <p:bldP spid="27" grpId="0"/>
      <p:bldP spid="30" grpId="0" animBg="1"/>
      <p:bldP spid="33" grpId="0" animBg="1"/>
      <p:bldP spid="3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14551-8553-C89B-0C0A-3231753FE856}"/>
            </a:ext>
          </a:extLst>
        </p:cNvPr>
        <p:cNvGrpSpPr/>
        <p:nvPr/>
      </p:nvGrpSpPr>
      <p:grpSpPr>
        <a:xfrm>
          <a:off x="0" y="0"/>
          <a:ext cx="0" cy="0"/>
          <a:chOff x="0" y="0"/>
          <a:chExt cx="0" cy="0"/>
        </a:xfrm>
      </p:grpSpPr>
      <p:sp>
        <p:nvSpPr>
          <p:cNvPr id="7" name="Tekstvak 7">
            <a:extLst>
              <a:ext uri="{FF2B5EF4-FFF2-40B4-BE49-F238E27FC236}">
                <a16:creationId xmlns:a16="http://schemas.microsoft.com/office/drawing/2014/main" id="{851031F0-7EBA-EBE2-E078-9786A75575D3}"/>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sp>
        <p:nvSpPr>
          <p:cNvPr id="2" name="TextBox 1">
            <a:extLst>
              <a:ext uri="{FF2B5EF4-FFF2-40B4-BE49-F238E27FC236}">
                <a16:creationId xmlns:a16="http://schemas.microsoft.com/office/drawing/2014/main" id="{BB51E386-430A-C608-BB38-385B63F41226}"/>
              </a:ext>
            </a:extLst>
          </p:cNvPr>
          <p:cNvSpPr txBox="1"/>
          <p:nvPr/>
        </p:nvSpPr>
        <p:spPr>
          <a:xfrm>
            <a:off x="988290" y="-10754"/>
            <a:ext cx="11203710"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err="1">
                <a:solidFill>
                  <a:srgbClr val="829C30"/>
                </a:solidFill>
                <a:latin typeface="Arial"/>
                <a:ea typeface="MS PGothic" charset="0"/>
              </a:rPr>
              <a:t>Nieuwe</a:t>
            </a:r>
            <a:r>
              <a:rPr lang="en-US" sz="3000" b="1" dirty="0">
                <a:solidFill>
                  <a:srgbClr val="829C30"/>
                </a:solidFill>
                <a:latin typeface="Arial"/>
                <a:ea typeface="MS PGothic" charset="0"/>
              </a:rPr>
              <a:t> </a:t>
            </a:r>
            <a:r>
              <a:rPr lang="en-US" sz="3000" b="1" dirty="0" err="1">
                <a:solidFill>
                  <a:srgbClr val="829C30"/>
                </a:solidFill>
                <a:latin typeface="Arial"/>
                <a:ea typeface="MS PGothic" charset="0"/>
              </a:rPr>
              <a:t>connecties</a:t>
            </a:r>
            <a:r>
              <a:rPr lang="en-US" sz="3000" b="1" dirty="0">
                <a:solidFill>
                  <a:srgbClr val="829C30"/>
                </a:solidFill>
                <a:latin typeface="Arial"/>
                <a:ea typeface="MS PGothic" charset="0"/>
              </a:rPr>
              <a:t> </a:t>
            </a:r>
            <a:r>
              <a:rPr lang="en-US" sz="3000" b="1" dirty="0" err="1">
                <a:solidFill>
                  <a:srgbClr val="829C30"/>
                </a:solidFill>
                <a:latin typeface="Arial"/>
                <a:ea typeface="MS PGothic" charset="0"/>
              </a:rPr>
              <a:t>leggen</a:t>
            </a:r>
            <a:endParaRPr lang="en-US" sz="3000" b="1" dirty="0">
              <a:solidFill>
                <a:srgbClr val="829C30"/>
              </a:solidFill>
              <a:latin typeface="Arial"/>
              <a:ea typeface="MS PGothic" charset="0"/>
            </a:endParaRPr>
          </a:p>
        </p:txBody>
      </p:sp>
      <p:cxnSp>
        <p:nvCxnSpPr>
          <p:cNvPr id="21" name="Straight Connector 10">
            <a:extLst>
              <a:ext uri="{FF2B5EF4-FFF2-40B4-BE49-F238E27FC236}">
                <a16:creationId xmlns:a16="http://schemas.microsoft.com/office/drawing/2014/main" id="{11D1708A-29E7-D64F-E2E3-4F54897160D2}"/>
              </a:ext>
            </a:extLst>
          </p:cNvPr>
          <p:cNvCxnSpPr>
            <a:cxnSpLocks/>
          </p:cNvCxnSpPr>
          <p:nvPr/>
        </p:nvCxnSpPr>
        <p:spPr>
          <a:xfrm>
            <a:off x="988290" y="702275"/>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3" name="TextBox 1">
            <a:extLst>
              <a:ext uri="{FF2B5EF4-FFF2-40B4-BE49-F238E27FC236}">
                <a16:creationId xmlns:a16="http://schemas.microsoft.com/office/drawing/2014/main" id="{7DA9B411-4010-7682-69D6-2ED058ABCE39}"/>
              </a:ext>
            </a:extLst>
          </p:cNvPr>
          <p:cNvSpPr txBox="1"/>
          <p:nvPr/>
        </p:nvSpPr>
        <p:spPr>
          <a:xfrm>
            <a:off x="7288283" y="1321714"/>
            <a:ext cx="4666164" cy="1165704"/>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dirty="0">
                <a:latin typeface="Arial"/>
                <a:ea typeface="MS PGothic" charset="0"/>
              </a:rPr>
              <a:t>Vorige keer consulteerden we meerdere operationele databases met </a:t>
            </a:r>
            <a:r>
              <a:rPr lang="nl-NL" dirty="0" err="1">
                <a:latin typeface="Arial"/>
                <a:ea typeface="MS PGothic" charset="0"/>
              </a:rPr>
              <a:t>pandas.read_sql</a:t>
            </a:r>
            <a:r>
              <a:rPr lang="nl-NL" dirty="0">
                <a:latin typeface="Arial"/>
                <a:ea typeface="MS PGothic" charset="0"/>
              </a:rPr>
              <a:t>(…) </a:t>
            </a:r>
          </a:p>
        </p:txBody>
      </p:sp>
      <p:sp>
        <p:nvSpPr>
          <p:cNvPr id="9" name="TextBox 1">
            <a:extLst>
              <a:ext uri="{FF2B5EF4-FFF2-40B4-BE49-F238E27FC236}">
                <a16:creationId xmlns:a16="http://schemas.microsoft.com/office/drawing/2014/main" id="{AE41CD86-5EF6-CFD5-612C-EE557762264F}"/>
              </a:ext>
            </a:extLst>
          </p:cNvPr>
          <p:cNvSpPr txBox="1"/>
          <p:nvPr/>
        </p:nvSpPr>
        <p:spPr>
          <a:xfrm>
            <a:off x="7050730" y="3423441"/>
            <a:ext cx="5141270" cy="2279278"/>
          </a:xfrm>
          <a:prstGeom prst="rect">
            <a:avLst/>
          </a:prstGeom>
          <a:noFill/>
        </p:spPr>
        <p:txBody>
          <a:bodyPr wrap="square" rtlCol="0">
            <a:spAutoFit/>
          </a:bodyPr>
          <a:lstStyle/>
          <a:p>
            <a:pPr defTabSz="457200" eaLnBrk="0" fontAlgn="base" hangingPunct="0">
              <a:lnSpc>
                <a:spcPct val="134000"/>
              </a:lnSpc>
              <a:spcBef>
                <a:spcPct val="0"/>
              </a:spcBef>
              <a:spcAft>
                <a:spcPct val="0"/>
              </a:spcAft>
              <a:buClr>
                <a:srgbClr val="080808"/>
              </a:buClr>
              <a:buSzPct val="100000"/>
              <a:buFont typeface="Times New Roman" charset="0"/>
              <a:buNone/>
            </a:pPr>
            <a:r>
              <a:rPr lang="nl-NL" dirty="0">
                <a:latin typeface="Arial"/>
                <a:ea typeface="MS PGothic" charset="0"/>
              </a:rPr>
              <a:t>Nu hoeven we slechts 2 connecties te leggen:</a:t>
            </a:r>
          </a:p>
          <a:p>
            <a:pPr marL="285750" indent="-285750" defTabSz="457200" eaLnBrk="0" fontAlgn="base" hangingPunct="0">
              <a:lnSpc>
                <a:spcPct val="134000"/>
              </a:lnSpc>
              <a:spcBef>
                <a:spcPct val="0"/>
              </a:spcBef>
              <a:spcAft>
                <a:spcPct val="0"/>
              </a:spcAft>
              <a:buClr>
                <a:srgbClr val="080808"/>
              </a:buClr>
              <a:buSzPct val="100000"/>
              <a:buFont typeface="Arial" panose="020B0604020202020204" pitchFamily="34" charset="0"/>
              <a:buChar char="•"/>
            </a:pPr>
            <a:r>
              <a:rPr lang="nl-NL" dirty="0">
                <a:latin typeface="Arial"/>
                <a:ea typeface="MS PGothic" charset="0"/>
              </a:rPr>
              <a:t>1 met het SDM, waar de in te laden data vandaan komt.</a:t>
            </a:r>
          </a:p>
          <a:p>
            <a:pPr marL="285750" indent="-285750" defTabSz="457200" eaLnBrk="0" fontAlgn="base" hangingPunct="0">
              <a:lnSpc>
                <a:spcPct val="134000"/>
              </a:lnSpc>
              <a:spcBef>
                <a:spcPct val="0"/>
              </a:spcBef>
              <a:spcAft>
                <a:spcPct val="0"/>
              </a:spcAft>
              <a:buClr>
                <a:srgbClr val="080808"/>
              </a:buClr>
              <a:buSzPct val="100000"/>
              <a:buFont typeface="Arial" panose="020B0604020202020204" pitchFamily="34" charset="0"/>
              <a:buChar char="•"/>
            </a:pPr>
            <a:r>
              <a:rPr lang="nl-NL" dirty="0">
                <a:latin typeface="Arial"/>
                <a:ea typeface="MS PGothic" charset="0"/>
              </a:rPr>
              <a:t>1 met het Datawarehouse, waar de in te laden data naartoe moet, volgens de stappen uit de gemodelleerde ETL-schema’s.</a:t>
            </a:r>
          </a:p>
        </p:txBody>
      </p:sp>
      <p:pic>
        <p:nvPicPr>
          <p:cNvPr id="6" name="Picture 5" descr="A black background with white text&#10;&#10;AI-generated content may be incorrect.">
            <a:extLst>
              <a:ext uri="{FF2B5EF4-FFF2-40B4-BE49-F238E27FC236}">
                <a16:creationId xmlns:a16="http://schemas.microsoft.com/office/drawing/2014/main" id="{3C375BF8-804D-6180-85B5-4FBEC6F5DDBD}"/>
              </a:ext>
            </a:extLst>
          </p:cNvPr>
          <p:cNvPicPr>
            <a:picLocks noChangeAspect="1"/>
          </p:cNvPicPr>
          <p:nvPr/>
        </p:nvPicPr>
        <p:blipFill>
          <a:blip r:embed="rId3"/>
          <a:stretch>
            <a:fillRect/>
          </a:stretch>
        </p:blipFill>
        <p:spPr>
          <a:xfrm>
            <a:off x="1256178" y="3886145"/>
            <a:ext cx="5167341" cy="904719"/>
          </a:xfrm>
          <a:prstGeom prst="rect">
            <a:avLst/>
          </a:prstGeom>
        </p:spPr>
      </p:pic>
      <p:sp>
        <p:nvSpPr>
          <p:cNvPr id="8" name="TextBox 7">
            <a:extLst>
              <a:ext uri="{FF2B5EF4-FFF2-40B4-BE49-F238E27FC236}">
                <a16:creationId xmlns:a16="http://schemas.microsoft.com/office/drawing/2014/main" id="{56A98A75-8F09-CB47-162A-31EBF8B4791B}"/>
              </a:ext>
            </a:extLst>
          </p:cNvPr>
          <p:cNvSpPr txBox="1"/>
          <p:nvPr/>
        </p:nvSpPr>
        <p:spPr>
          <a:xfrm>
            <a:off x="5137244" y="864121"/>
            <a:ext cx="1439222" cy="369332"/>
          </a:xfrm>
          <a:prstGeom prst="rect">
            <a:avLst/>
          </a:prstGeom>
          <a:noFill/>
        </p:spPr>
        <p:txBody>
          <a:bodyPr wrap="square">
            <a:spAutoFit/>
          </a:bodyPr>
          <a:lstStyle/>
          <a:p>
            <a:pPr algn="ctr"/>
            <a:r>
              <a:rPr lang="nl-NL" dirty="0"/>
              <a:t>DWH</a:t>
            </a:r>
            <a:endParaRPr lang="en-US" dirty="0"/>
          </a:p>
        </p:txBody>
      </p:sp>
      <p:sp>
        <p:nvSpPr>
          <p:cNvPr id="10" name="Flowchart: Magnetic Disk 9">
            <a:extLst>
              <a:ext uri="{FF2B5EF4-FFF2-40B4-BE49-F238E27FC236}">
                <a16:creationId xmlns:a16="http://schemas.microsoft.com/office/drawing/2014/main" id="{4CDF01E6-242B-E7DE-FCFD-0F3C96D7BD65}"/>
              </a:ext>
            </a:extLst>
          </p:cNvPr>
          <p:cNvSpPr/>
          <p:nvPr/>
        </p:nvSpPr>
        <p:spPr>
          <a:xfrm>
            <a:off x="1279354" y="1321714"/>
            <a:ext cx="951170" cy="1379516"/>
          </a:xfrm>
          <a:prstGeom prst="flowChartMagneticDisk">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FFDA799-3236-402C-F0A5-59B2702C9329}"/>
              </a:ext>
            </a:extLst>
          </p:cNvPr>
          <p:cNvSpPr txBox="1"/>
          <p:nvPr/>
        </p:nvSpPr>
        <p:spPr>
          <a:xfrm>
            <a:off x="988290" y="864121"/>
            <a:ext cx="1439222" cy="369332"/>
          </a:xfrm>
          <a:prstGeom prst="rect">
            <a:avLst/>
          </a:prstGeom>
          <a:noFill/>
        </p:spPr>
        <p:txBody>
          <a:bodyPr wrap="square">
            <a:spAutoFit/>
          </a:bodyPr>
          <a:lstStyle/>
          <a:p>
            <a:pPr algn="ctr"/>
            <a:r>
              <a:rPr lang="nl-NL" dirty="0"/>
              <a:t>SDM</a:t>
            </a:r>
            <a:endParaRPr lang="en-US" dirty="0"/>
          </a:p>
        </p:txBody>
      </p:sp>
      <p:sp>
        <p:nvSpPr>
          <p:cNvPr id="12" name="Flowchart: Magnetic Disk 11">
            <a:extLst>
              <a:ext uri="{FF2B5EF4-FFF2-40B4-BE49-F238E27FC236}">
                <a16:creationId xmlns:a16="http://schemas.microsoft.com/office/drawing/2014/main" id="{F141B9EC-1042-35BC-2824-DA0AA2AB0BED}"/>
              </a:ext>
            </a:extLst>
          </p:cNvPr>
          <p:cNvSpPr/>
          <p:nvPr/>
        </p:nvSpPr>
        <p:spPr>
          <a:xfrm>
            <a:off x="5378904" y="1284235"/>
            <a:ext cx="951170" cy="1415142"/>
          </a:xfrm>
          <a:prstGeom prst="flowChartMagneticDisk">
            <a:avLst/>
          </a:prstGeom>
          <a:solidFill>
            <a:srgbClr val="FF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Free Document SVG, PNG Icon, Symbol. Download Image.">
            <a:extLst>
              <a:ext uri="{FF2B5EF4-FFF2-40B4-BE49-F238E27FC236}">
                <a16:creationId xmlns:a16="http://schemas.microsoft.com/office/drawing/2014/main" id="{BC52575E-8404-3B7F-7BD8-03286AB133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5028" y="1167413"/>
            <a:ext cx="1839372" cy="1839372"/>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BAC52D72-3E42-1932-B9DC-1A638C99DC8A}"/>
              </a:ext>
            </a:extLst>
          </p:cNvPr>
          <p:cNvCxnSpPr>
            <a:cxnSpLocks/>
            <a:endCxn id="10" idx="4"/>
          </p:cNvCxnSpPr>
          <p:nvPr/>
        </p:nvCxnSpPr>
        <p:spPr>
          <a:xfrm flipH="1">
            <a:off x="2230524" y="2011472"/>
            <a:ext cx="980267"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25FA048-15CA-F919-DB7C-EED906AE09E8}"/>
              </a:ext>
            </a:extLst>
          </p:cNvPr>
          <p:cNvCxnSpPr>
            <a:cxnSpLocks/>
            <a:endCxn id="12" idx="2"/>
          </p:cNvCxnSpPr>
          <p:nvPr/>
        </p:nvCxnSpPr>
        <p:spPr>
          <a:xfrm>
            <a:off x="4403379" y="1989953"/>
            <a:ext cx="975525" cy="185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30D402E-72F2-912D-8A35-AF1C223ED466}"/>
              </a:ext>
            </a:extLst>
          </p:cNvPr>
          <p:cNvSpPr txBox="1"/>
          <p:nvPr/>
        </p:nvSpPr>
        <p:spPr>
          <a:xfrm>
            <a:off x="2643368" y="856351"/>
            <a:ext cx="2209187" cy="369332"/>
          </a:xfrm>
          <a:prstGeom prst="rect">
            <a:avLst/>
          </a:prstGeom>
          <a:noFill/>
        </p:spPr>
        <p:txBody>
          <a:bodyPr wrap="square">
            <a:spAutoFit/>
          </a:bodyPr>
          <a:lstStyle/>
          <a:p>
            <a:pPr algn="ctr"/>
            <a:r>
              <a:rPr lang="nl-NL" dirty="0" err="1"/>
              <a:t>Jupyter</a:t>
            </a:r>
            <a:r>
              <a:rPr lang="nl-NL" dirty="0"/>
              <a:t> Notebook</a:t>
            </a:r>
            <a:endParaRPr lang="en-US" dirty="0"/>
          </a:p>
        </p:txBody>
      </p:sp>
      <p:sp>
        <p:nvSpPr>
          <p:cNvPr id="4" name="TextBox 1">
            <a:extLst>
              <a:ext uri="{FF2B5EF4-FFF2-40B4-BE49-F238E27FC236}">
                <a16:creationId xmlns:a16="http://schemas.microsoft.com/office/drawing/2014/main" id="{C27A4B65-6436-3068-CD12-923164B72426}"/>
              </a:ext>
            </a:extLst>
          </p:cNvPr>
          <p:cNvSpPr txBox="1"/>
          <p:nvPr/>
        </p:nvSpPr>
        <p:spPr>
          <a:xfrm>
            <a:off x="835253" y="2684736"/>
            <a:ext cx="1839372" cy="794513"/>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dirty="0">
                <a:latin typeface="Arial"/>
                <a:ea typeface="MS PGothic" charset="0"/>
              </a:rPr>
              <a:t>De nieuwste data</a:t>
            </a:r>
          </a:p>
        </p:txBody>
      </p:sp>
      <p:sp>
        <p:nvSpPr>
          <p:cNvPr id="13" name="TextBox 1">
            <a:extLst>
              <a:ext uri="{FF2B5EF4-FFF2-40B4-BE49-F238E27FC236}">
                <a16:creationId xmlns:a16="http://schemas.microsoft.com/office/drawing/2014/main" id="{6E9C96E6-0C12-4611-8ACA-F5CBDBB6B4BC}"/>
              </a:ext>
            </a:extLst>
          </p:cNvPr>
          <p:cNvSpPr txBox="1"/>
          <p:nvPr/>
        </p:nvSpPr>
        <p:spPr>
          <a:xfrm>
            <a:off x="4966060" y="2767935"/>
            <a:ext cx="2084670" cy="42332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dirty="0">
                <a:latin typeface="Arial"/>
                <a:ea typeface="MS PGothic" charset="0"/>
              </a:rPr>
              <a:t>Alle geschiedenis</a:t>
            </a:r>
          </a:p>
        </p:txBody>
      </p:sp>
    </p:spTree>
    <p:extLst>
      <p:ext uri="{BB962C8B-B14F-4D97-AF65-F5344CB8AC3E}">
        <p14:creationId xmlns:p14="http://schemas.microsoft.com/office/powerpoint/2010/main" val="2173639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FC0FE-7F9D-ECC3-54A7-201E557D2D9A}"/>
            </a:ext>
          </a:extLst>
        </p:cNvPr>
        <p:cNvGrpSpPr/>
        <p:nvPr/>
      </p:nvGrpSpPr>
      <p:grpSpPr>
        <a:xfrm>
          <a:off x="0" y="0"/>
          <a:ext cx="0" cy="0"/>
          <a:chOff x="0" y="0"/>
          <a:chExt cx="0" cy="0"/>
        </a:xfrm>
      </p:grpSpPr>
      <p:sp>
        <p:nvSpPr>
          <p:cNvPr id="7" name="Tekstvak 7">
            <a:extLst>
              <a:ext uri="{FF2B5EF4-FFF2-40B4-BE49-F238E27FC236}">
                <a16:creationId xmlns:a16="http://schemas.microsoft.com/office/drawing/2014/main" id="{D111E409-0853-439E-3802-DFECB55CFFEF}"/>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sp>
        <p:nvSpPr>
          <p:cNvPr id="2" name="TextBox 1">
            <a:extLst>
              <a:ext uri="{FF2B5EF4-FFF2-40B4-BE49-F238E27FC236}">
                <a16:creationId xmlns:a16="http://schemas.microsoft.com/office/drawing/2014/main" id="{774D35D6-30E8-B403-996A-663F8640A8CE}"/>
              </a:ext>
            </a:extLst>
          </p:cNvPr>
          <p:cNvSpPr txBox="1"/>
          <p:nvPr/>
        </p:nvSpPr>
        <p:spPr>
          <a:xfrm>
            <a:off x="988290" y="-10754"/>
            <a:ext cx="11203710"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sz="3000" b="1" dirty="0">
                <a:solidFill>
                  <a:srgbClr val="829C30"/>
                </a:solidFill>
                <a:latin typeface="Arial"/>
                <a:ea typeface="MS PGothic" charset="0"/>
              </a:rPr>
              <a:t>Van operationele- naar dimensietabellen d.m.v. </a:t>
            </a:r>
            <a:r>
              <a:rPr lang="nl-NL" sz="3000" b="1" dirty="0" err="1">
                <a:solidFill>
                  <a:srgbClr val="829C30"/>
                </a:solidFill>
                <a:latin typeface="Arial"/>
                <a:ea typeface="MS PGothic" charset="0"/>
              </a:rPr>
              <a:t>merging</a:t>
            </a:r>
            <a:endParaRPr lang="en-US" sz="3000" b="1" dirty="0">
              <a:solidFill>
                <a:srgbClr val="829C30"/>
              </a:solidFill>
              <a:latin typeface="Arial"/>
              <a:ea typeface="MS PGothic" charset="0"/>
            </a:endParaRPr>
          </a:p>
        </p:txBody>
      </p:sp>
      <p:cxnSp>
        <p:nvCxnSpPr>
          <p:cNvPr id="21" name="Straight Connector 10">
            <a:extLst>
              <a:ext uri="{FF2B5EF4-FFF2-40B4-BE49-F238E27FC236}">
                <a16:creationId xmlns:a16="http://schemas.microsoft.com/office/drawing/2014/main" id="{4408664A-79F7-4F8F-7820-5E17891FA68E}"/>
              </a:ext>
            </a:extLst>
          </p:cNvPr>
          <p:cNvCxnSpPr>
            <a:cxnSpLocks/>
          </p:cNvCxnSpPr>
          <p:nvPr/>
        </p:nvCxnSpPr>
        <p:spPr>
          <a:xfrm>
            <a:off x="988290" y="702275"/>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FD9B80B5-7C45-1EBF-8AFE-425C83BEA252}"/>
              </a:ext>
            </a:extLst>
          </p:cNvPr>
          <p:cNvPicPr>
            <a:picLocks noChangeAspect="1"/>
          </p:cNvPicPr>
          <p:nvPr/>
        </p:nvPicPr>
        <p:blipFill>
          <a:blip r:embed="rId3"/>
          <a:stretch>
            <a:fillRect/>
          </a:stretch>
        </p:blipFill>
        <p:spPr>
          <a:xfrm>
            <a:off x="9354253" y="1383386"/>
            <a:ext cx="1284006" cy="3384014"/>
          </a:xfrm>
          <a:prstGeom prst="rect">
            <a:avLst/>
          </a:prstGeom>
        </p:spPr>
      </p:pic>
      <p:pic>
        <p:nvPicPr>
          <p:cNvPr id="6" name="Picture 5">
            <a:extLst>
              <a:ext uri="{FF2B5EF4-FFF2-40B4-BE49-F238E27FC236}">
                <a16:creationId xmlns:a16="http://schemas.microsoft.com/office/drawing/2014/main" id="{CE5AB067-7BE1-FC26-3D95-0D32DA3968F1}"/>
              </a:ext>
            </a:extLst>
          </p:cNvPr>
          <p:cNvPicPr>
            <a:picLocks noChangeAspect="1"/>
          </p:cNvPicPr>
          <p:nvPr/>
        </p:nvPicPr>
        <p:blipFill>
          <a:blip r:embed="rId4"/>
          <a:stretch>
            <a:fillRect/>
          </a:stretch>
        </p:blipFill>
        <p:spPr>
          <a:xfrm>
            <a:off x="1073728" y="1736993"/>
            <a:ext cx="5417218" cy="3209080"/>
          </a:xfrm>
          <a:prstGeom prst="rect">
            <a:avLst/>
          </a:prstGeom>
        </p:spPr>
      </p:pic>
      <p:sp>
        <p:nvSpPr>
          <p:cNvPr id="11" name="TextBox 1">
            <a:extLst>
              <a:ext uri="{FF2B5EF4-FFF2-40B4-BE49-F238E27FC236}">
                <a16:creationId xmlns:a16="http://schemas.microsoft.com/office/drawing/2014/main" id="{021C6A19-567F-F9BF-3AAA-022B49F688AC}"/>
              </a:ext>
            </a:extLst>
          </p:cNvPr>
          <p:cNvSpPr txBox="1"/>
          <p:nvPr/>
        </p:nvSpPr>
        <p:spPr>
          <a:xfrm>
            <a:off x="1351972" y="730442"/>
            <a:ext cx="5417218" cy="460062"/>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2000" dirty="0" err="1">
                <a:latin typeface="Arial"/>
                <a:ea typeface="MS PGothic" charset="0"/>
              </a:rPr>
              <a:t>Genormaliseerde</a:t>
            </a:r>
            <a:r>
              <a:rPr lang="en-US" sz="2000" dirty="0">
                <a:latin typeface="Arial"/>
                <a:ea typeface="MS PGothic" charset="0"/>
              </a:rPr>
              <a:t> </a:t>
            </a:r>
            <a:r>
              <a:rPr lang="en-US" sz="2000" dirty="0" err="1">
                <a:latin typeface="Arial"/>
                <a:ea typeface="MS PGothic" charset="0"/>
              </a:rPr>
              <a:t>operationele</a:t>
            </a:r>
            <a:r>
              <a:rPr lang="en-US" sz="2000" dirty="0">
                <a:latin typeface="Arial"/>
                <a:ea typeface="MS PGothic" charset="0"/>
              </a:rPr>
              <a:t> </a:t>
            </a:r>
            <a:r>
              <a:rPr lang="en-US" sz="2000" dirty="0" err="1">
                <a:latin typeface="Arial"/>
                <a:ea typeface="MS PGothic" charset="0"/>
              </a:rPr>
              <a:t>tabellen</a:t>
            </a:r>
            <a:endParaRPr lang="en-US" sz="2000" dirty="0">
              <a:latin typeface="Arial"/>
              <a:ea typeface="MS PGothic" charset="0"/>
            </a:endParaRPr>
          </a:p>
        </p:txBody>
      </p:sp>
      <p:sp>
        <p:nvSpPr>
          <p:cNvPr id="12" name="TextBox 1">
            <a:extLst>
              <a:ext uri="{FF2B5EF4-FFF2-40B4-BE49-F238E27FC236}">
                <a16:creationId xmlns:a16="http://schemas.microsoft.com/office/drawing/2014/main" id="{12E6A152-1216-87A6-EBE1-FD0546F81FFB}"/>
              </a:ext>
            </a:extLst>
          </p:cNvPr>
          <p:cNvSpPr txBox="1"/>
          <p:nvPr/>
        </p:nvSpPr>
        <p:spPr>
          <a:xfrm>
            <a:off x="7907483" y="707351"/>
            <a:ext cx="4177546" cy="460062"/>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2000" dirty="0" err="1">
                <a:latin typeface="Arial"/>
                <a:ea typeface="MS PGothic" charset="0"/>
              </a:rPr>
              <a:t>Gedenormaliseerde</a:t>
            </a:r>
            <a:r>
              <a:rPr lang="en-US" sz="2000" dirty="0">
                <a:latin typeface="Arial"/>
                <a:ea typeface="MS PGothic" charset="0"/>
              </a:rPr>
              <a:t> </a:t>
            </a:r>
            <a:r>
              <a:rPr lang="en-US" sz="2000" dirty="0" err="1">
                <a:latin typeface="Arial"/>
                <a:ea typeface="MS PGothic" charset="0"/>
              </a:rPr>
              <a:t>dimensietabel</a:t>
            </a:r>
            <a:endParaRPr lang="en-US" sz="2000" dirty="0">
              <a:latin typeface="Arial"/>
              <a:ea typeface="MS PGothic" charset="0"/>
            </a:endParaRPr>
          </a:p>
        </p:txBody>
      </p:sp>
      <p:sp>
        <p:nvSpPr>
          <p:cNvPr id="13" name="TextBox 1">
            <a:extLst>
              <a:ext uri="{FF2B5EF4-FFF2-40B4-BE49-F238E27FC236}">
                <a16:creationId xmlns:a16="http://schemas.microsoft.com/office/drawing/2014/main" id="{C9489C00-6D3F-FECD-1C7B-C8D2D54973BC}"/>
              </a:ext>
            </a:extLst>
          </p:cNvPr>
          <p:cNvSpPr txBox="1"/>
          <p:nvPr/>
        </p:nvSpPr>
        <p:spPr>
          <a:xfrm>
            <a:off x="1073728" y="5533586"/>
            <a:ext cx="11118272" cy="1284904"/>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sz="2000" dirty="0">
                <a:latin typeface="Arial"/>
                <a:ea typeface="MS PGothic" charset="0"/>
              </a:rPr>
              <a:t>Data is eerst </a:t>
            </a:r>
            <a:r>
              <a:rPr lang="nl-NL" sz="2000" u="sng" dirty="0">
                <a:latin typeface="Arial"/>
                <a:ea typeface="MS PGothic" charset="0"/>
              </a:rPr>
              <a:t>genormaliseerd:</a:t>
            </a:r>
            <a:r>
              <a:rPr lang="nl-NL" sz="2000" dirty="0">
                <a:latin typeface="Arial"/>
                <a:ea typeface="MS PGothic" charset="0"/>
              </a:rPr>
              <a:t> verspreid over meerdere tabellen.</a:t>
            </a:r>
          </a:p>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sz="2000" dirty="0">
                <a:latin typeface="Arial"/>
                <a:ea typeface="MS PGothic" charset="0"/>
              </a:rPr>
              <a:t>Maar… bij Datawarehouse Engineering gaan we </a:t>
            </a:r>
            <a:r>
              <a:rPr lang="nl-NL" sz="2000" u="sng" dirty="0" err="1">
                <a:latin typeface="Arial"/>
                <a:ea typeface="MS PGothic" charset="0"/>
              </a:rPr>
              <a:t>denormaliseren</a:t>
            </a:r>
            <a:r>
              <a:rPr lang="nl-NL" sz="2000" u="sng" dirty="0">
                <a:latin typeface="Arial"/>
                <a:ea typeface="MS PGothic" charset="0"/>
              </a:rPr>
              <a:t>.</a:t>
            </a:r>
          </a:p>
          <a:p>
            <a:pPr algn="ctr" defTabSz="457200" eaLnBrk="0" fontAlgn="base" hangingPunct="0">
              <a:lnSpc>
                <a:spcPct val="134000"/>
              </a:lnSpc>
              <a:spcBef>
                <a:spcPct val="0"/>
              </a:spcBef>
              <a:spcAft>
                <a:spcPct val="0"/>
              </a:spcAft>
              <a:buClr>
                <a:srgbClr val="080808"/>
              </a:buClr>
              <a:buSzPct val="100000"/>
              <a:buFont typeface="Times New Roman" charset="0"/>
              <a:buNone/>
            </a:pPr>
            <a:r>
              <a:rPr lang="nl-NL" sz="2000" dirty="0">
                <a:latin typeface="Arial"/>
                <a:ea typeface="MS PGothic" charset="0"/>
              </a:rPr>
              <a:t>We voegen data dus samen in één tabel, dit moet ook blijken uit je ETL-schema’s (“JOIN”).</a:t>
            </a:r>
            <a:endParaRPr lang="en-US" sz="2000" dirty="0">
              <a:latin typeface="Arial"/>
              <a:ea typeface="MS PGothic" charset="0"/>
            </a:endParaRPr>
          </a:p>
        </p:txBody>
      </p:sp>
      <p:sp>
        <p:nvSpPr>
          <p:cNvPr id="15" name="Arrow: Right 14">
            <a:extLst>
              <a:ext uri="{FF2B5EF4-FFF2-40B4-BE49-F238E27FC236}">
                <a16:creationId xmlns:a16="http://schemas.microsoft.com/office/drawing/2014/main" id="{C37FDFB1-9048-7418-81A5-36DEB31093A2}"/>
              </a:ext>
            </a:extLst>
          </p:cNvPr>
          <p:cNvSpPr/>
          <p:nvPr/>
        </p:nvSpPr>
        <p:spPr>
          <a:xfrm>
            <a:off x="6930735" y="2663610"/>
            <a:ext cx="2109355" cy="11118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err="1"/>
              <a:t>Denormalisatie</a:t>
            </a:r>
            <a:endParaRPr lang="en-US" dirty="0"/>
          </a:p>
        </p:txBody>
      </p:sp>
    </p:spTree>
    <p:extLst>
      <p:ext uri="{BB962C8B-B14F-4D97-AF65-F5344CB8AC3E}">
        <p14:creationId xmlns:p14="http://schemas.microsoft.com/office/powerpoint/2010/main" val="426592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xEl>
                                              <p:pRg st="1" end="1"/>
                                            </p:txEl>
                                          </p:spTgt>
                                        </p:tgtEl>
                                        <p:attrNameLst>
                                          <p:attrName>style.visibility</p:attrName>
                                        </p:attrNameLst>
                                      </p:cBhvr>
                                      <p:to>
                                        <p:strVal val="visible"/>
                                      </p:to>
                                    </p:set>
                                    <p:animEffect transition="in" filter="fade">
                                      <p:cBhvr>
                                        <p:cTn id="18" dur="500"/>
                                        <p:tgtEl>
                                          <p:spTgt spid="13">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3">
                                            <p:txEl>
                                              <p:pRg st="2" end="2"/>
                                            </p:txEl>
                                          </p:spTgt>
                                        </p:tgtEl>
                                        <p:attrNameLst>
                                          <p:attrName>style.visibility</p:attrName>
                                        </p:attrNameLst>
                                      </p:cBhvr>
                                      <p:to>
                                        <p:strVal val="visible"/>
                                      </p:to>
                                    </p:set>
                                    <p:animEffect transition="in" filter="fade">
                                      <p:cBhvr>
                                        <p:cTn id="21"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A67752CA-7972-0264-2431-18F4202258C4}"/>
              </a:ext>
            </a:extLst>
          </p:cNvPr>
          <p:cNvGraphicFramePr>
            <a:graphicFrameLocks noGrp="1"/>
          </p:cNvGraphicFramePr>
          <p:nvPr>
            <p:extLst>
              <p:ext uri="{D42A27DB-BD31-4B8C-83A1-F6EECF244321}">
                <p14:modId xmlns:p14="http://schemas.microsoft.com/office/powerpoint/2010/main" val="711642201"/>
              </p:ext>
            </p:extLst>
          </p:nvPr>
        </p:nvGraphicFramePr>
        <p:xfrm>
          <a:off x="1956980" y="1391427"/>
          <a:ext cx="9467220" cy="3571240"/>
        </p:xfrm>
        <a:graphic>
          <a:graphicData uri="http://schemas.openxmlformats.org/drawingml/2006/table">
            <a:tbl>
              <a:tblPr firstRow="1" bandRow="1">
                <a:tableStyleId>{5940675A-B579-460E-94D1-54222C63F5DA}</a:tableStyleId>
              </a:tblPr>
              <a:tblGrid>
                <a:gridCol w="1368248">
                  <a:extLst>
                    <a:ext uri="{9D8B030D-6E8A-4147-A177-3AD203B41FA5}">
                      <a16:colId xmlns:a16="http://schemas.microsoft.com/office/drawing/2014/main" val="4282995978"/>
                    </a:ext>
                  </a:extLst>
                </a:gridCol>
                <a:gridCol w="3766457">
                  <a:extLst>
                    <a:ext uri="{9D8B030D-6E8A-4147-A177-3AD203B41FA5}">
                      <a16:colId xmlns:a16="http://schemas.microsoft.com/office/drawing/2014/main" val="4043020364"/>
                    </a:ext>
                  </a:extLst>
                </a:gridCol>
                <a:gridCol w="4332515">
                  <a:extLst>
                    <a:ext uri="{9D8B030D-6E8A-4147-A177-3AD203B41FA5}">
                      <a16:colId xmlns:a16="http://schemas.microsoft.com/office/drawing/2014/main" val="3122478771"/>
                    </a:ext>
                  </a:extLst>
                </a:gridCol>
              </a:tblGrid>
              <a:tr h="370840">
                <a:tc>
                  <a:txBody>
                    <a:bodyPr/>
                    <a:lstStyle/>
                    <a:p>
                      <a:endParaRPr lang="en-US" dirty="0"/>
                    </a:p>
                  </a:txBody>
                  <a:tcPr/>
                </a:tc>
                <a:tc>
                  <a:txBody>
                    <a:bodyPr/>
                    <a:lstStyle/>
                    <a:p>
                      <a:r>
                        <a:rPr lang="nl-NL" b="1" dirty="0"/>
                        <a:t>String-built SQL</a:t>
                      </a:r>
                      <a:endParaRPr lang="en-US" b="1" dirty="0"/>
                    </a:p>
                  </a:txBody>
                  <a:tcPr/>
                </a:tc>
                <a:tc>
                  <a:txBody>
                    <a:bodyPr/>
                    <a:lstStyle/>
                    <a:p>
                      <a:r>
                        <a:rPr lang="nl-NL" b="1" dirty="0"/>
                        <a:t>Schema-</a:t>
                      </a:r>
                      <a:r>
                        <a:rPr lang="nl-NL" b="1" dirty="0" err="1"/>
                        <a:t>driven</a:t>
                      </a:r>
                      <a:r>
                        <a:rPr lang="nl-NL" b="1" dirty="0"/>
                        <a:t> Bulk </a:t>
                      </a:r>
                      <a:r>
                        <a:rPr lang="nl-NL" b="1" dirty="0" err="1"/>
                        <a:t>Loading</a:t>
                      </a:r>
                      <a:endParaRPr lang="en-US" b="1" dirty="0"/>
                    </a:p>
                  </a:txBody>
                  <a:tcPr/>
                </a:tc>
                <a:extLst>
                  <a:ext uri="{0D108BD9-81ED-4DB2-BD59-A6C34878D82A}">
                    <a16:rowId xmlns:a16="http://schemas.microsoft.com/office/drawing/2014/main" val="2570947982"/>
                  </a:ext>
                </a:extLst>
              </a:tr>
              <a:tr h="370840">
                <a:tc>
                  <a:txBody>
                    <a:bodyPr/>
                    <a:lstStyle/>
                    <a:p>
                      <a:pPr rtl="0"/>
                      <a:r>
                        <a:rPr lang="nl-NL" b="1" dirty="0"/>
                        <a:t>Full </a:t>
                      </a:r>
                      <a:r>
                        <a:rPr lang="nl-NL" b="1" dirty="0" err="1"/>
                        <a:t>Refresh</a:t>
                      </a:r>
                      <a:endParaRPr lang="en-US" b="1"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nl-NL" dirty="0">
                          <a:solidFill>
                            <a:srgbClr val="00B050"/>
                          </a:solidFill>
                        </a:rPr>
                        <a:t>Eenvoud: makkelijk te debuggen</a:t>
                      </a:r>
                    </a:p>
                    <a:p>
                      <a:pPr marL="285750" indent="-285750">
                        <a:buFontTx/>
                        <a:buChar char="-"/>
                      </a:pPr>
                      <a:r>
                        <a:rPr lang="nl-NL" dirty="0">
                          <a:solidFill>
                            <a:srgbClr val="FF0000"/>
                          </a:solidFill>
                        </a:rPr>
                        <a:t>Snelheid: heel langzaam. Onveranderde data wordt telkens opnieuw ingeladen én dit gebeurt rij voor rij.</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nl-NL" dirty="0">
                          <a:solidFill>
                            <a:srgbClr val="00B050"/>
                          </a:solidFill>
                        </a:rPr>
                        <a:t>Eenvoud: makkelijk te debuggen</a:t>
                      </a:r>
                    </a:p>
                    <a:p>
                      <a:pPr marL="285750" indent="-285750">
                        <a:buFontTx/>
                        <a:buChar char="-"/>
                      </a:pPr>
                      <a:r>
                        <a:rPr lang="nl-NL" dirty="0">
                          <a:solidFill>
                            <a:srgbClr val="FF0000"/>
                          </a:solidFill>
                        </a:rPr>
                        <a:t>Snelheid: langzaam. Onveranderde data wordt nog steeds (overbodig opnieuw) ingeladen, maar nu met 1 1 SQL-query per batch, i.p.v. per individuele rij.</a:t>
                      </a:r>
                    </a:p>
                  </a:txBody>
                  <a:tcPr/>
                </a:tc>
                <a:extLst>
                  <a:ext uri="{0D108BD9-81ED-4DB2-BD59-A6C34878D82A}">
                    <a16:rowId xmlns:a16="http://schemas.microsoft.com/office/drawing/2014/main" val="1511164279"/>
                  </a:ext>
                </a:extLst>
              </a:tr>
              <a:tr h="370840">
                <a:tc>
                  <a:txBody>
                    <a:bodyPr/>
                    <a:lstStyle/>
                    <a:p>
                      <a:r>
                        <a:rPr lang="nl-NL" b="1" dirty="0" err="1"/>
                        <a:t>Incremental</a:t>
                      </a:r>
                      <a:r>
                        <a:rPr lang="nl-NL" b="1" dirty="0"/>
                        <a:t> Data </a:t>
                      </a:r>
                      <a:r>
                        <a:rPr lang="nl-NL" b="1" dirty="0" err="1"/>
                        <a:t>Loading</a:t>
                      </a:r>
                      <a:endParaRPr lang="en-US" b="1" dirty="0"/>
                    </a:p>
                  </a:txBody>
                  <a:tcPr/>
                </a:tc>
                <a:tc>
                  <a:txBody>
                    <a:bodyPr/>
                    <a:lstStyle/>
                    <a:p>
                      <a:pPr marL="285750" indent="-285750">
                        <a:buFontTx/>
                        <a:buChar char="-"/>
                      </a:pPr>
                      <a:r>
                        <a:rPr lang="nl-NL" dirty="0">
                          <a:solidFill>
                            <a:srgbClr val="FF0000"/>
                          </a:solidFill>
                        </a:rPr>
                        <a:t>Eenvoud: moeilijk te debuggen. Je ziet lastiger welke individuele rijen misgaan.</a:t>
                      </a:r>
                    </a:p>
                    <a:p>
                      <a:pPr marL="285750" indent="-285750">
                        <a:buFontTx/>
                        <a:buChar char="-"/>
                      </a:pPr>
                      <a:r>
                        <a:rPr lang="nl-NL" dirty="0">
                          <a:solidFill>
                            <a:srgbClr val="00B050"/>
                          </a:solidFill>
                        </a:rPr>
                        <a:t>Snelheid: snel, omdat er alléén naar gewijzigde data gekeken wordt.</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nl-NL" dirty="0">
                          <a:solidFill>
                            <a:srgbClr val="FF0000"/>
                          </a:solidFill>
                        </a:rPr>
                        <a:t>Eenvoud: moeilijk te debuggen. Je ziet lastiger welke individuele rijen misgaan.</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nl-NL" dirty="0">
                          <a:solidFill>
                            <a:srgbClr val="00B050"/>
                          </a:solidFill>
                        </a:rPr>
                        <a:t>Snelheid: heel snel, omdat er alléén naar gewijzigde data gekeken wordt én er 1 SQL-query per batch is, i.p.v. per individuele rij.</a:t>
                      </a:r>
                      <a:endParaRPr lang="en-US" dirty="0">
                        <a:solidFill>
                          <a:srgbClr val="00B050"/>
                        </a:solidFill>
                      </a:endParaRPr>
                    </a:p>
                  </a:txBody>
                  <a:tcPr/>
                </a:tc>
                <a:extLst>
                  <a:ext uri="{0D108BD9-81ED-4DB2-BD59-A6C34878D82A}">
                    <a16:rowId xmlns:a16="http://schemas.microsoft.com/office/drawing/2014/main" val="3314771513"/>
                  </a:ext>
                </a:extLst>
              </a:tr>
            </a:tbl>
          </a:graphicData>
        </a:graphic>
      </p:graphicFrame>
      <p:sp>
        <p:nvSpPr>
          <p:cNvPr id="7" name="TextBox 6">
            <a:extLst>
              <a:ext uri="{FF2B5EF4-FFF2-40B4-BE49-F238E27FC236}">
                <a16:creationId xmlns:a16="http://schemas.microsoft.com/office/drawing/2014/main" id="{149550A9-4ACB-E4E6-3901-2AC0F008D440}"/>
              </a:ext>
            </a:extLst>
          </p:cNvPr>
          <p:cNvSpPr txBox="1"/>
          <p:nvPr/>
        </p:nvSpPr>
        <p:spPr>
          <a:xfrm>
            <a:off x="988290" y="-10754"/>
            <a:ext cx="11203710" cy="643831"/>
          </a:xfrm>
          <a:prstGeom prst="rect">
            <a:avLst/>
          </a:prstGeom>
          <a:noFill/>
        </p:spPr>
        <p:txBody>
          <a:bodyPr wrap="square" rtlCol="0">
            <a:spAutoFit/>
          </a:bodyPr>
          <a:lstStyle/>
          <a:p>
            <a:pPr lvl="0" algn="ctr" defTabSz="457200" eaLnBrk="0" fontAlgn="base" hangingPunct="0">
              <a:lnSpc>
                <a:spcPct val="134000"/>
              </a:lnSpc>
              <a:spcBef>
                <a:spcPct val="0"/>
              </a:spcBef>
              <a:spcAft>
                <a:spcPct val="0"/>
              </a:spcAft>
              <a:buClr>
                <a:srgbClr val="080808"/>
              </a:buClr>
              <a:buSzPct val="100000"/>
              <a:defRPr/>
            </a:pPr>
            <a:r>
              <a:rPr lang="nl-NL" sz="3000" b="1" dirty="0">
                <a:solidFill>
                  <a:srgbClr val="829C30"/>
                </a:solidFill>
                <a:latin typeface="Arial"/>
                <a:ea typeface="MS PGothic" charset="0"/>
              </a:rPr>
              <a:t>Inlaadstrategieën en </a:t>
            </a:r>
            <a:r>
              <a:rPr lang="nl-NL" sz="3000" b="1" dirty="0" err="1">
                <a:solidFill>
                  <a:srgbClr val="829C30"/>
                </a:solidFill>
                <a:latin typeface="Arial"/>
                <a:ea typeface="MS PGothic" charset="0"/>
              </a:rPr>
              <a:t>Slowly</a:t>
            </a:r>
            <a:r>
              <a:rPr lang="nl-NL" sz="3000" b="1" dirty="0">
                <a:solidFill>
                  <a:srgbClr val="829C30"/>
                </a:solidFill>
                <a:latin typeface="Arial"/>
                <a:ea typeface="MS PGothic" charset="0"/>
              </a:rPr>
              <a:t> </a:t>
            </a:r>
            <a:r>
              <a:rPr lang="nl-NL" sz="3000" b="1" dirty="0" err="1">
                <a:solidFill>
                  <a:srgbClr val="829C30"/>
                </a:solidFill>
                <a:latin typeface="Arial"/>
                <a:ea typeface="MS PGothic" charset="0"/>
              </a:rPr>
              <a:t>Changing</a:t>
            </a:r>
            <a:r>
              <a:rPr lang="nl-NL" sz="3000" b="1" dirty="0">
                <a:solidFill>
                  <a:srgbClr val="829C30"/>
                </a:solidFill>
                <a:latin typeface="Arial"/>
                <a:ea typeface="MS PGothic" charset="0"/>
              </a:rPr>
              <a:t> </a:t>
            </a:r>
            <a:r>
              <a:rPr lang="nl-NL" sz="3000" b="1" dirty="0" err="1">
                <a:solidFill>
                  <a:srgbClr val="829C30"/>
                </a:solidFill>
                <a:latin typeface="Arial"/>
                <a:ea typeface="MS PGothic" charset="0"/>
              </a:rPr>
              <a:t>Dimensions</a:t>
            </a:r>
            <a:endParaRPr kumimoji="0" lang="en-US" sz="3000" b="1" i="0" u="none" strike="noStrike" kern="1200" cap="none" spc="0" normalizeH="0" baseline="0" noProof="0" dirty="0">
              <a:ln>
                <a:noFill/>
              </a:ln>
              <a:solidFill>
                <a:srgbClr val="829C30"/>
              </a:solidFill>
              <a:effectLst/>
              <a:uLnTx/>
              <a:uFillTx/>
              <a:latin typeface="Arial"/>
              <a:ea typeface="MS PGothic" charset="0"/>
              <a:cs typeface="+mn-cs"/>
            </a:endParaRPr>
          </a:p>
        </p:txBody>
      </p:sp>
      <p:sp>
        <p:nvSpPr>
          <p:cNvPr id="8" name="Tekstvak 7">
            <a:extLst>
              <a:ext uri="{FF2B5EF4-FFF2-40B4-BE49-F238E27FC236}">
                <a16:creationId xmlns:a16="http://schemas.microsoft.com/office/drawing/2014/main" id="{848F9265-B16D-1439-11CD-FFBCCF2DF1E8}"/>
              </a:ext>
            </a:extLst>
          </p:cNvPr>
          <p:cNvSpPr txBox="1"/>
          <p:nvPr/>
        </p:nvSpPr>
        <p:spPr>
          <a:xfrm rot="16200000">
            <a:off x="-760560" y="982747"/>
            <a:ext cx="21927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800" b="0" i="0" u="none" strike="noStrike" kern="1200" cap="none" spc="0" normalizeH="0" baseline="0" noProof="0" dirty="0">
                <a:ln>
                  <a:noFill/>
                </a:ln>
                <a:solidFill>
                  <a:prstClr val="white"/>
                </a:solidFill>
                <a:effectLst/>
                <a:uLnTx/>
                <a:uFillTx/>
                <a:latin typeface="Calibri" panose="020F0502020204030204"/>
                <a:ea typeface="+mn-ea"/>
                <a:cs typeface="+mn-cs"/>
              </a:rPr>
              <a:t>Jelle van Barneveld</a:t>
            </a:r>
          </a:p>
        </p:txBody>
      </p:sp>
      <p:sp>
        <p:nvSpPr>
          <p:cNvPr id="5" name="TextBox 4">
            <a:extLst>
              <a:ext uri="{FF2B5EF4-FFF2-40B4-BE49-F238E27FC236}">
                <a16:creationId xmlns:a16="http://schemas.microsoft.com/office/drawing/2014/main" id="{B565A8F7-1A9F-A0D7-75D0-2BC35A2494EA}"/>
              </a:ext>
            </a:extLst>
          </p:cNvPr>
          <p:cNvSpPr txBox="1"/>
          <p:nvPr/>
        </p:nvSpPr>
        <p:spPr>
          <a:xfrm>
            <a:off x="1189181" y="5278627"/>
            <a:ext cx="11002819" cy="1477328"/>
          </a:xfrm>
          <a:prstGeom prst="rect">
            <a:avLst/>
          </a:prstGeom>
          <a:noFill/>
        </p:spPr>
        <p:txBody>
          <a:bodyPr wrap="square">
            <a:spAutoFit/>
          </a:bodyPr>
          <a:lstStyle/>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800" b="0" i="0" u="none" strike="noStrike" kern="1200" cap="none" spc="0" normalizeH="0" baseline="0" noProof="0" dirty="0">
                <a:ln>
                  <a:noFill/>
                </a:ln>
                <a:solidFill>
                  <a:prstClr val="black"/>
                </a:solidFill>
                <a:effectLst/>
                <a:uLnTx/>
                <a:uFillTx/>
                <a:latin typeface="Calibri" panose="020F0502020204030204"/>
                <a:ea typeface="+mn-ea"/>
                <a:cs typeface="+mn-cs"/>
              </a:rPr>
              <a:t>Voor SCD-type 1 kan je “Full </a:t>
            </a:r>
            <a:r>
              <a:rPr kumimoji="0" lang="nl-NL" sz="1800" b="0" i="0" u="none" strike="noStrike" kern="1200" cap="none" spc="0" normalizeH="0" baseline="0" noProof="0" dirty="0" err="1">
                <a:ln>
                  <a:noFill/>
                </a:ln>
                <a:solidFill>
                  <a:prstClr val="black"/>
                </a:solidFill>
                <a:effectLst/>
                <a:uLnTx/>
                <a:uFillTx/>
                <a:latin typeface="Calibri" panose="020F0502020204030204"/>
                <a:ea typeface="+mn-ea"/>
                <a:cs typeface="+mn-cs"/>
              </a:rPr>
              <a:t>Refresh</a:t>
            </a:r>
            <a:r>
              <a:rPr lang="nl-NL" dirty="0">
                <a:solidFill>
                  <a:prstClr val="black"/>
                </a:solidFill>
                <a:latin typeface="Calibri" panose="020F0502020204030204"/>
              </a:rPr>
              <a:t>” én “</a:t>
            </a:r>
            <a:r>
              <a:rPr lang="nl-NL" dirty="0" err="1">
                <a:solidFill>
                  <a:prstClr val="black"/>
                </a:solidFill>
                <a:latin typeface="Calibri" panose="020F0502020204030204"/>
              </a:rPr>
              <a:t>Incremental</a:t>
            </a:r>
            <a:r>
              <a:rPr lang="nl-NL" dirty="0">
                <a:solidFill>
                  <a:prstClr val="black"/>
                </a:solidFill>
                <a:latin typeface="Calibri" panose="020F0502020204030204"/>
              </a:rPr>
              <a:t> Data </a:t>
            </a:r>
            <a:r>
              <a:rPr lang="nl-NL" dirty="0" err="1">
                <a:solidFill>
                  <a:prstClr val="black"/>
                </a:solidFill>
                <a:latin typeface="Calibri" panose="020F0502020204030204"/>
              </a:rPr>
              <a:t>Loading</a:t>
            </a:r>
            <a:r>
              <a:rPr lang="nl-NL" dirty="0">
                <a:solidFill>
                  <a:prstClr val="black"/>
                </a:solidFill>
                <a:latin typeface="Calibri" panose="020F0502020204030204"/>
              </a:rPr>
              <a:t>” gebruiken: met beide methoden kan je namelijk de meest actuele data overhouden.</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800" b="0" i="0" u="none" strike="noStrike" kern="1200" cap="none" spc="0" normalizeH="0" baseline="0" noProof="0" dirty="0">
                <a:ln>
                  <a:noFill/>
                </a:ln>
                <a:solidFill>
                  <a:prstClr val="black"/>
                </a:solidFill>
                <a:effectLst/>
                <a:uLnTx/>
                <a:uFillTx/>
                <a:latin typeface="Calibri" panose="020F0502020204030204"/>
                <a:ea typeface="+mn-ea"/>
                <a:cs typeface="+mn-cs"/>
              </a:rPr>
              <a:t>Voor SCD-type 2 ka</a:t>
            </a:r>
            <a:r>
              <a:rPr lang="nl-NL" dirty="0">
                <a:solidFill>
                  <a:prstClr val="black"/>
                </a:solidFill>
                <a:latin typeface="Calibri" panose="020F0502020204030204"/>
              </a:rPr>
              <a:t>n je alleen </a:t>
            </a:r>
            <a:r>
              <a:rPr kumimoji="0" lang="nl-NL" sz="1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nl-NL" sz="1800" b="0" i="0" u="none" strike="noStrike" kern="1200" cap="none" spc="0" normalizeH="0" baseline="0" noProof="0" dirty="0" err="1">
                <a:ln>
                  <a:noFill/>
                </a:ln>
                <a:solidFill>
                  <a:prstClr val="black"/>
                </a:solidFill>
                <a:effectLst/>
                <a:uLnTx/>
                <a:uFillTx/>
                <a:latin typeface="Calibri" panose="020F0502020204030204"/>
                <a:ea typeface="+mn-ea"/>
                <a:cs typeface="+mn-cs"/>
              </a:rPr>
              <a:t>Incremental</a:t>
            </a:r>
            <a:r>
              <a:rPr kumimoji="0" lang="nl-NL" sz="1800" b="0" i="0" u="none" strike="noStrike" kern="1200" cap="none" spc="0" normalizeH="0" baseline="0" noProof="0" dirty="0">
                <a:ln>
                  <a:noFill/>
                </a:ln>
                <a:solidFill>
                  <a:prstClr val="black"/>
                </a:solidFill>
                <a:effectLst/>
                <a:uLnTx/>
                <a:uFillTx/>
                <a:latin typeface="Calibri" panose="020F0502020204030204"/>
                <a:ea typeface="+mn-ea"/>
                <a:cs typeface="+mn-cs"/>
              </a:rPr>
              <a:t> Data </a:t>
            </a:r>
            <a:r>
              <a:rPr kumimoji="0" lang="nl-NL" sz="1800" b="0" i="0" u="none" strike="noStrike" kern="1200" cap="none" spc="0" normalizeH="0" baseline="0" noProof="0" dirty="0" err="1">
                <a:ln>
                  <a:noFill/>
                </a:ln>
                <a:solidFill>
                  <a:prstClr val="black"/>
                </a:solidFill>
                <a:effectLst/>
                <a:uLnTx/>
                <a:uFillTx/>
                <a:latin typeface="Calibri" panose="020F0502020204030204"/>
                <a:ea typeface="+mn-ea"/>
                <a:cs typeface="+mn-cs"/>
              </a:rPr>
              <a:t>Loading</a:t>
            </a:r>
            <a:r>
              <a:rPr kumimoji="0" lang="nl-NL" sz="1800" b="0" i="0" u="none" strike="noStrike" kern="1200" cap="none" spc="0" normalizeH="0" baseline="0" noProof="0" dirty="0">
                <a:ln>
                  <a:noFill/>
                </a:ln>
                <a:solidFill>
                  <a:prstClr val="black"/>
                </a:solidFill>
                <a:effectLst/>
                <a:uLnTx/>
                <a:uFillTx/>
                <a:latin typeface="Calibri" panose="020F0502020204030204"/>
                <a:ea typeface="+mn-ea"/>
                <a:cs typeface="+mn-cs"/>
              </a:rPr>
              <a:t>” gebruiken, omdat je bij “Full </a:t>
            </a:r>
            <a:r>
              <a:rPr kumimoji="0" lang="nl-NL" sz="1800" b="0" i="0" u="none" strike="noStrike" kern="1200" cap="none" spc="0" normalizeH="0" baseline="0" noProof="0" dirty="0" err="1">
                <a:ln>
                  <a:noFill/>
                </a:ln>
                <a:solidFill>
                  <a:prstClr val="black"/>
                </a:solidFill>
                <a:effectLst/>
                <a:uLnTx/>
                <a:uFillTx/>
                <a:latin typeface="Calibri" panose="020F0502020204030204"/>
                <a:ea typeface="+mn-ea"/>
                <a:cs typeface="+mn-cs"/>
              </a:rPr>
              <a:t>Refresh</a:t>
            </a:r>
            <a:r>
              <a:rPr kumimoji="0" lang="nl-NL" sz="1800" b="0" i="0" u="none" strike="noStrike" kern="1200" cap="none" spc="0" normalizeH="0" baseline="0" noProof="0" dirty="0">
                <a:ln>
                  <a:noFill/>
                </a:ln>
                <a:solidFill>
                  <a:prstClr val="black"/>
                </a:solidFill>
                <a:effectLst/>
                <a:uLnTx/>
                <a:uFillTx/>
                <a:latin typeface="Calibri" panose="020F0502020204030204"/>
                <a:ea typeface="+mn-ea"/>
                <a:cs typeface="+mn-cs"/>
              </a:rPr>
              <a:t>” altijd je hele geschiedenis weggooit, terwijl je die juist analyseerbaar wil maken.</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dirty="0">
                <a:solidFill>
                  <a:prstClr val="black"/>
                </a:solidFill>
                <a:latin typeface="Calibri" panose="020F0502020204030204"/>
              </a:rPr>
              <a:t>Voor de keuze tussen “String-built SQL” of “Schema-</a:t>
            </a:r>
            <a:r>
              <a:rPr lang="nl-NL" dirty="0" err="1">
                <a:solidFill>
                  <a:prstClr val="black"/>
                </a:solidFill>
                <a:latin typeface="Calibri" panose="020F0502020204030204"/>
              </a:rPr>
              <a:t>driven</a:t>
            </a:r>
            <a:r>
              <a:rPr lang="nl-NL" dirty="0">
                <a:solidFill>
                  <a:prstClr val="black"/>
                </a:solidFill>
                <a:latin typeface="Calibri" panose="020F0502020204030204"/>
              </a:rPr>
              <a:t> Bulk </a:t>
            </a:r>
            <a:r>
              <a:rPr lang="nl-NL" dirty="0" err="1">
                <a:solidFill>
                  <a:prstClr val="black"/>
                </a:solidFill>
                <a:latin typeface="Calibri" panose="020F0502020204030204"/>
              </a:rPr>
              <a:t>Loading</a:t>
            </a:r>
            <a:r>
              <a:rPr lang="nl-NL" dirty="0">
                <a:solidFill>
                  <a:prstClr val="black"/>
                </a:solidFill>
                <a:latin typeface="Calibri" panose="020F0502020204030204"/>
              </a:rPr>
              <a:t>” maakt het SCD-type niet uit.</a:t>
            </a:r>
            <a:endParaRPr kumimoji="0" lang="nl-N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4269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7AFBD-1AA5-E299-C7FC-514466B59DCC}"/>
            </a:ext>
          </a:extLst>
        </p:cNvPr>
        <p:cNvGrpSpPr/>
        <p:nvPr/>
      </p:nvGrpSpPr>
      <p:grpSpPr>
        <a:xfrm>
          <a:off x="0" y="0"/>
          <a:ext cx="0" cy="0"/>
          <a:chOff x="0" y="0"/>
          <a:chExt cx="0" cy="0"/>
        </a:xfrm>
      </p:grpSpPr>
      <p:sp>
        <p:nvSpPr>
          <p:cNvPr id="6" name="Tekstvak 7">
            <a:extLst>
              <a:ext uri="{FF2B5EF4-FFF2-40B4-BE49-F238E27FC236}">
                <a16:creationId xmlns:a16="http://schemas.microsoft.com/office/drawing/2014/main" id="{52EF8448-57B4-7651-78FF-06F50D5E8782}"/>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sp>
        <p:nvSpPr>
          <p:cNvPr id="7" name="TextBox 1">
            <a:extLst>
              <a:ext uri="{FF2B5EF4-FFF2-40B4-BE49-F238E27FC236}">
                <a16:creationId xmlns:a16="http://schemas.microsoft.com/office/drawing/2014/main" id="{68DE682A-2734-501C-ECD8-87DB8F41134F}"/>
              </a:ext>
            </a:extLst>
          </p:cNvPr>
          <p:cNvSpPr txBox="1"/>
          <p:nvPr/>
        </p:nvSpPr>
        <p:spPr>
          <a:xfrm>
            <a:off x="1019768" y="-10754"/>
            <a:ext cx="11021066"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SCD-type 2 </a:t>
            </a:r>
            <a:r>
              <a:rPr lang="en-US" sz="3000" b="1" dirty="0" err="1">
                <a:solidFill>
                  <a:srgbClr val="829C30"/>
                </a:solidFill>
                <a:latin typeface="Arial"/>
                <a:ea typeface="MS PGothic" charset="0"/>
              </a:rPr>
              <a:t>uitvoeren</a:t>
            </a:r>
            <a:r>
              <a:rPr lang="en-US" sz="3000" b="1" dirty="0">
                <a:solidFill>
                  <a:srgbClr val="829C30"/>
                </a:solidFill>
                <a:latin typeface="Arial"/>
                <a:ea typeface="MS PGothic" charset="0"/>
              </a:rPr>
              <a:t> met de UPSERT-</a:t>
            </a:r>
            <a:r>
              <a:rPr lang="en-US" sz="3000" b="1" dirty="0" err="1">
                <a:solidFill>
                  <a:srgbClr val="829C30"/>
                </a:solidFill>
                <a:latin typeface="Arial"/>
                <a:ea typeface="MS PGothic" charset="0"/>
              </a:rPr>
              <a:t>strategie</a:t>
            </a:r>
            <a:endParaRPr lang="en-US" sz="3000" b="1" dirty="0">
              <a:solidFill>
                <a:srgbClr val="829C30"/>
              </a:solidFill>
              <a:latin typeface="Arial"/>
              <a:ea typeface="MS PGothic" charset="0"/>
            </a:endParaRPr>
          </a:p>
        </p:txBody>
      </p:sp>
      <p:cxnSp>
        <p:nvCxnSpPr>
          <p:cNvPr id="8" name="Straight Connector 10">
            <a:extLst>
              <a:ext uri="{FF2B5EF4-FFF2-40B4-BE49-F238E27FC236}">
                <a16:creationId xmlns:a16="http://schemas.microsoft.com/office/drawing/2014/main" id="{F9713AFA-1A6E-D748-A55B-46961006AE90}"/>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graphicFrame>
        <p:nvGraphicFramePr>
          <p:cNvPr id="3" name="Tabel 2">
            <a:extLst>
              <a:ext uri="{FF2B5EF4-FFF2-40B4-BE49-F238E27FC236}">
                <a16:creationId xmlns:a16="http://schemas.microsoft.com/office/drawing/2014/main" id="{6FBC0514-D003-211E-5222-DC19D5C902A6}"/>
              </a:ext>
            </a:extLst>
          </p:cNvPr>
          <p:cNvGraphicFramePr>
            <a:graphicFrameLocks noGrp="1"/>
          </p:cNvGraphicFramePr>
          <p:nvPr>
            <p:extLst>
              <p:ext uri="{D42A27DB-BD31-4B8C-83A1-F6EECF244321}">
                <p14:modId xmlns:p14="http://schemas.microsoft.com/office/powerpoint/2010/main" val="3465321093"/>
              </p:ext>
            </p:extLst>
          </p:nvPr>
        </p:nvGraphicFramePr>
        <p:xfrm>
          <a:off x="1019768" y="1660695"/>
          <a:ext cx="2667243" cy="1948916"/>
        </p:xfrm>
        <a:graphic>
          <a:graphicData uri="http://schemas.openxmlformats.org/drawingml/2006/table">
            <a:tbl>
              <a:tblPr firstRow="1" bandRow="1">
                <a:tableStyleId>{93296810-A885-4BE3-A3E7-6D5BEEA58F35}</a:tableStyleId>
              </a:tblPr>
              <a:tblGrid>
                <a:gridCol w="516324">
                  <a:extLst>
                    <a:ext uri="{9D8B030D-6E8A-4147-A177-3AD203B41FA5}">
                      <a16:colId xmlns:a16="http://schemas.microsoft.com/office/drawing/2014/main" val="391686472"/>
                    </a:ext>
                  </a:extLst>
                </a:gridCol>
                <a:gridCol w="768928">
                  <a:extLst>
                    <a:ext uri="{9D8B030D-6E8A-4147-A177-3AD203B41FA5}">
                      <a16:colId xmlns:a16="http://schemas.microsoft.com/office/drawing/2014/main" val="479079931"/>
                    </a:ext>
                  </a:extLst>
                </a:gridCol>
                <a:gridCol w="1381991">
                  <a:extLst>
                    <a:ext uri="{9D8B030D-6E8A-4147-A177-3AD203B41FA5}">
                      <a16:colId xmlns:a16="http://schemas.microsoft.com/office/drawing/2014/main" val="1039538333"/>
                    </a:ext>
                  </a:extLst>
                </a:gridCol>
              </a:tblGrid>
              <a:tr h="487229">
                <a:tc>
                  <a:txBody>
                    <a:bodyPr/>
                    <a:lstStyle/>
                    <a:p>
                      <a:r>
                        <a:rPr lang="nl-NL" b="1" u="none" dirty="0"/>
                        <a:t>PK</a:t>
                      </a:r>
                    </a:p>
                  </a:txBody>
                  <a:tcPr/>
                </a:tc>
                <a:tc>
                  <a:txBody>
                    <a:bodyPr/>
                    <a:lstStyle/>
                    <a:p>
                      <a:r>
                        <a:rPr lang="nl-NL" b="1" dirty="0"/>
                        <a:t>Naam</a:t>
                      </a:r>
                    </a:p>
                  </a:txBody>
                  <a:tcPr/>
                </a:tc>
                <a:tc>
                  <a:txBody>
                    <a:bodyPr/>
                    <a:lstStyle/>
                    <a:p>
                      <a:r>
                        <a:rPr lang="nl-NL" dirty="0"/>
                        <a:t>Woonplaats</a:t>
                      </a:r>
                    </a:p>
                  </a:txBody>
                  <a:tcPr/>
                </a:tc>
                <a:extLst>
                  <a:ext uri="{0D108BD9-81ED-4DB2-BD59-A6C34878D82A}">
                    <a16:rowId xmlns:a16="http://schemas.microsoft.com/office/drawing/2014/main" val="1194861106"/>
                  </a:ext>
                </a:extLst>
              </a:tr>
              <a:tr h="487229">
                <a:tc>
                  <a:txBody>
                    <a:bodyPr/>
                    <a:lstStyle/>
                    <a:p>
                      <a:r>
                        <a:rPr lang="nl-NL" dirty="0"/>
                        <a:t>1</a:t>
                      </a:r>
                    </a:p>
                  </a:txBody>
                  <a:tcPr/>
                </a:tc>
                <a:tc>
                  <a:txBody>
                    <a:bodyPr/>
                    <a:lstStyle/>
                    <a:p>
                      <a:r>
                        <a:rPr lang="nl-NL" dirty="0"/>
                        <a:t>Piet</a:t>
                      </a:r>
                    </a:p>
                  </a:txBody>
                  <a:tcPr/>
                </a:tc>
                <a:tc>
                  <a:txBody>
                    <a:bodyPr/>
                    <a:lstStyle/>
                    <a:p>
                      <a:r>
                        <a:rPr lang="nl-NL" dirty="0"/>
                        <a:t>Leimuiden</a:t>
                      </a:r>
                    </a:p>
                  </a:txBody>
                  <a:tcPr/>
                </a:tc>
                <a:extLst>
                  <a:ext uri="{0D108BD9-81ED-4DB2-BD59-A6C34878D82A}">
                    <a16:rowId xmlns:a16="http://schemas.microsoft.com/office/drawing/2014/main" val="323268865"/>
                  </a:ext>
                </a:extLst>
              </a:tr>
              <a:tr h="487229">
                <a:tc>
                  <a:txBody>
                    <a:bodyPr/>
                    <a:lstStyle/>
                    <a:p>
                      <a:r>
                        <a:rPr lang="nl-NL" b="0" dirty="0">
                          <a:solidFill>
                            <a:schemeClr val="tx1"/>
                          </a:solidFill>
                        </a:rPr>
                        <a:t>2</a:t>
                      </a:r>
                    </a:p>
                  </a:txBody>
                  <a:tcPr/>
                </a:tc>
                <a:tc>
                  <a:txBody>
                    <a:bodyPr/>
                    <a:lstStyle/>
                    <a:p>
                      <a:r>
                        <a:rPr lang="nl-NL" dirty="0"/>
                        <a:t>Elske</a:t>
                      </a:r>
                    </a:p>
                  </a:txBody>
                  <a:tcPr/>
                </a:tc>
                <a:tc>
                  <a:txBody>
                    <a:bodyPr/>
                    <a:lstStyle/>
                    <a:p>
                      <a:r>
                        <a:rPr lang="nl-NL" dirty="0"/>
                        <a:t>Leiden</a:t>
                      </a:r>
                    </a:p>
                  </a:txBody>
                  <a:tcPr/>
                </a:tc>
                <a:extLst>
                  <a:ext uri="{0D108BD9-81ED-4DB2-BD59-A6C34878D82A}">
                    <a16:rowId xmlns:a16="http://schemas.microsoft.com/office/drawing/2014/main" val="267217733"/>
                  </a:ext>
                </a:extLst>
              </a:tr>
              <a:tr h="487229">
                <a:tc>
                  <a:txBody>
                    <a:bodyPr/>
                    <a:lstStyle/>
                    <a:p>
                      <a:r>
                        <a:rPr lang="nl-NL" b="0" dirty="0">
                          <a:solidFill>
                            <a:schemeClr val="tx1"/>
                          </a:solidFill>
                        </a:rPr>
                        <a:t>3</a:t>
                      </a:r>
                    </a:p>
                  </a:txBody>
                  <a:tcPr/>
                </a:tc>
                <a:tc>
                  <a:txBody>
                    <a:bodyPr/>
                    <a:lstStyle/>
                    <a:p>
                      <a:r>
                        <a:rPr lang="nl-NL" dirty="0"/>
                        <a:t>Jan</a:t>
                      </a:r>
                    </a:p>
                  </a:txBody>
                  <a:tcPr/>
                </a:tc>
                <a:tc>
                  <a:txBody>
                    <a:bodyPr/>
                    <a:lstStyle/>
                    <a:p>
                      <a:r>
                        <a:rPr lang="nl-NL" dirty="0"/>
                        <a:t>Lisse</a:t>
                      </a:r>
                    </a:p>
                  </a:txBody>
                  <a:tcPr/>
                </a:tc>
                <a:extLst>
                  <a:ext uri="{0D108BD9-81ED-4DB2-BD59-A6C34878D82A}">
                    <a16:rowId xmlns:a16="http://schemas.microsoft.com/office/drawing/2014/main" val="1937839361"/>
                  </a:ext>
                </a:extLst>
              </a:tr>
            </a:tbl>
          </a:graphicData>
        </a:graphic>
      </p:graphicFrame>
      <p:sp>
        <p:nvSpPr>
          <p:cNvPr id="2" name="TextBox 16">
            <a:extLst>
              <a:ext uri="{FF2B5EF4-FFF2-40B4-BE49-F238E27FC236}">
                <a16:creationId xmlns:a16="http://schemas.microsoft.com/office/drawing/2014/main" id="{6B86E8AA-8E3E-DB11-72FA-638094AE9FE8}"/>
              </a:ext>
            </a:extLst>
          </p:cNvPr>
          <p:cNvSpPr txBox="1"/>
          <p:nvPr/>
        </p:nvSpPr>
        <p:spPr>
          <a:xfrm>
            <a:off x="988290" y="855284"/>
            <a:ext cx="11203710" cy="369332"/>
          </a:xfrm>
          <a:prstGeom prst="rect">
            <a:avLst/>
          </a:prstGeom>
          <a:noFill/>
        </p:spPr>
        <p:txBody>
          <a:bodyPr wrap="square" rtlCol="0">
            <a:spAutoFit/>
          </a:bodyPr>
          <a:lstStyle/>
          <a:p>
            <a:pPr algn="ctr"/>
            <a:r>
              <a:rPr lang="en-US" dirty="0">
                <a:solidFill>
                  <a:srgbClr val="213343"/>
                </a:solidFill>
                <a:latin typeface="Arial" panose="020B0604020202020204" pitchFamily="34" charset="0"/>
                <a:cs typeface="Arial" panose="020B0604020202020204" pitchFamily="34" charset="0"/>
              </a:rPr>
              <a:t>“merge” </a:t>
            </a:r>
            <a:r>
              <a:rPr lang="en-US" dirty="0" err="1">
                <a:solidFill>
                  <a:srgbClr val="213343"/>
                </a:solidFill>
                <a:latin typeface="Arial" panose="020B0604020202020204" pitchFamily="34" charset="0"/>
                <a:cs typeface="Arial" panose="020B0604020202020204" pitchFamily="34" charset="0"/>
              </a:rPr>
              <a:t>elke</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tabel</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uit</a:t>
            </a:r>
            <a:r>
              <a:rPr lang="en-US" dirty="0">
                <a:solidFill>
                  <a:srgbClr val="213343"/>
                </a:solidFill>
                <a:latin typeface="Arial" panose="020B0604020202020204" pitchFamily="34" charset="0"/>
                <a:cs typeface="Arial" panose="020B0604020202020204" pitchFamily="34" charset="0"/>
              </a:rPr>
              <a:t> het SDM met </a:t>
            </a:r>
            <a:r>
              <a:rPr lang="en-US" dirty="0" err="1">
                <a:solidFill>
                  <a:srgbClr val="213343"/>
                </a:solidFill>
                <a:latin typeface="Arial" panose="020B0604020202020204" pitchFamily="34" charset="0"/>
                <a:cs typeface="Arial" panose="020B0604020202020204" pitchFamily="34" charset="0"/>
              </a:rPr>
              <a:t>zijn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tegenhanger</a:t>
            </a:r>
            <a:r>
              <a:rPr lang="en-US" dirty="0">
                <a:solidFill>
                  <a:srgbClr val="213343"/>
                </a:solidFill>
                <a:latin typeface="Arial" panose="020B0604020202020204" pitchFamily="34" charset="0"/>
                <a:cs typeface="Arial" panose="020B0604020202020204" pitchFamily="34" charset="0"/>
              </a:rPr>
              <a:t> in het DWH.</a:t>
            </a:r>
          </a:p>
        </p:txBody>
      </p:sp>
      <p:sp>
        <p:nvSpPr>
          <p:cNvPr id="10" name="TextBox 16">
            <a:extLst>
              <a:ext uri="{FF2B5EF4-FFF2-40B4-BE49-F238E27FC236}">
                <a16:creationId xmlns:a16="http://schemas.microsoft.com/office/drawing/2014/main" id="{BFBD72E7-C064-8126-1E11-1A98A8A62212}"/>
              </a:ext>
            </a:extLst>
          </p:cNvPr>
          <p:cNvSpPr txBox="1"/>
          <p:nvPr/>
        </p:nvSpPr>
        <p:spPr>
          <a:xfrm>
            <a:off x="736144" y="1248880"/>
            <a:ext cx="3293919" cy="369332"/>
          </a:xfrm>
          <a:prstGeom prst="rect">
            <a:avLst/>
          </a:prstGeom>
          <a:noFill/>
        </p:spPr>
        <p:txBody>
          <a:bodyPr wrap="square" rtlCol="0">
            <a:spAutoFit/>
          </a:bodyPr>
          <a:lstStyle/>
          <a:p>
            <a:pPr algn="ctr"/>
            <a:r>
              <a:rPr lang="en-US" b="1" dirty="0">
                <a:solidFill>
                  <a:srgbClr val="213343"/>
                </a:solidFill>
                <a:latin typeface="Arial" panose="020B0604020202020204" pitchFamily="34" charset="0"/>
                <a:cs typeface="Arial" panose="020B0604020202020204" pitchFamily="34" charset="0"/>
              </a:rPr>
              <a:t>SDM (de </a:t>
            </a:r>
            <a:r>
              <a:rPr lang="en-US" b="1" dirty="0" err="1">
                <a:solidFill>
                  <a:srgbClr val="213343"/>
                </a:solidFill>
                <a:latin typeface="Arial" panose="020B0604020202020204" pitchFamily="34" charset="0"/>
                <a:cs typeface="Arial" panose="020B0604020202020204" pitchFamily="34" charset="0"/>
              </a:rPr>
              <a:t>nieuwste</a:t>
            </a:r>
            <a:r>
              <a:rPr lang="en-US" b="1" dirty="0">
                <a:solidFill>
                  <a:srgbClr val="213343"/>
                </a:solidFill>
                <a:latin typeface="Arial" panose="020B0604020202020204" pitchFamily="34" charset="0"/>
                <a:cs typeface="Arial" panose="020B0604020202020204" pitchFamily="34" charset="0"/>
              </a:rPr>
              <a:t> data)</a:t>
            </a:r>
          </a:p>
        </p:txBody>
      </p:sp>
      <p:sp>
        <p:nvSpPr>
          <p:cNvPr id="15" name="TextBox 16">
            <a:extLst>
              <a:ext uri="{FF2B5EF4-FFF2-40B4-BE49-F238E27FC236}">
                <a16:creationId xmlns:a16="http://schemas.microsoft.com/office/drawing/2014/main" id="{DE2DDE79-B021-FA39-B196-0BE1AE2B2418}"/>
              </a:ext>
            </a:extLst>
          </p:cNvPr>
          <p:cNvSpPr txBox="1"/>
          <p:nvPr/>
        </p:nvSpPr>
        <p:spPr>
          <a:xfrm>
            <a:off x="1063873" y="3652094"/>
            <a:ext cx="11052544" cy="3139321"/>
          </a:xfrm>
          <a:prstGeom prst="rect">
            <a:avLst/>
          </a:prstGeom>
          <a:noFill/>
        </p:spPr>
        <p:txBody>
          <a:bodyPr wrap="square" rtlCol="0">
            <a:spAutoFit/>
          </a:bodyPr>
          <a:lstStyle/>
          <a:p>
            <a:pPr algn="ctr"/>
            <a:r>
              <a:rPr lang="nl-NL" dirty="0">
                <a:solidFill>
                  <a:srgbClr val="213343"/>
                </a:solidFill>
                <a:latin typeface="Arial" panose="020B0604020202020204" pitchFamily="34" charset="0"/>
                <a:cs typeface="Arial" panose="020B0604020202020204" pitchFamily="34" charset="0"/>
              </a:rPr>
              <a:t>Kennelijk is Piet verhuisd van Leiden naar Leimuiden!</a:t>
            </a:r>
          </a:p>
          <a:p>
            <a:pPr algn="ctr"/>
            <a:r>
              <a:rPr lang="nl-NL" dirty="0">
                <a:solidFill>
                  <a:srgbClr val="213343"/>
                </a:solidFill>
                <a:latin typeface="Arial" panose="020B0604020202020204" pitchFamily="34" charset="0"/>
                <a:cs typeface="Arial" panose="020B0604020202020204" pitchFamily="34" charset="0"/>
              </a:rPr>
              <a:t>Je Pythonscript moet bij elke SCD-type 2 dergelijke veranderingen detecteren en afhandelen met een UPSERT-strategie: per </a:t>
            </a:r>
            <a:r>
              <a:rPr lang="nl-NL" dirty="0" err="1">
                <a:solidFill>
                  <a:srgbClr val="213343"/>
                </a:solidFill>
                <a:latin typeface="Arial" panose="020B0604020202020204" pitchFamily="34" charset="0"/>
                <a:cs typeface="Arial" panose="020B0604020202020204" pitchFamily="34" charset="0"/>
              </a:rPr>
              <a:t>geüpdate</a:t>
            </a:r>
            <a:r>
              <a:rPr lang="nl-NL" dirty="0">
                <a:solidFill>
                  <a:srgbClr val="213343"/>
                </a:solidFill>
                <a:latin typeface="Arial" panose="020B0604020202020204" pitchFamily="34" charset="0"/>
                <a:cs typeface="Arial" panose="020B0604020202020204" pitchFamily="34" charset="0"/>
              </a:rPr>
              <a:t> rij in het SDM een INSERT in het DWH.</a:t>
            </a:r>
          </a:p>
          <a:p>
            <a:pPr algn="ctr"/>
            <a:endParaRPr lang="nl-NL" dirty="0">
              <a:solidFill>
                <a:srgbClr val="213343"/>
              </a:solidFill>
              <a:latin typeface="Arial" panose="020B0604020202020204" pitchFamily="34" charset="0"/>
              <a:cs typeface="Arial" panose="020B0604020202020204" pitchFamily="34" charset="0"/>
            </a:endParaRPr>
          </a:p>
          <a:p>
            <a:pPr algn="ctr"/>
            <a:r>
              <a:rPr lang="nl-NL" dirty="0">
                <a:solidFill>
                  <a:srgbClr val="213343"/>
                </a:solidFill>
                <a:latin typeface="Arial" panose="020B0604020202020204" pitchFamily="34" charset="0"/>
                <a:cs typeface="Arial" panose="020B0604020202020204" pitchFamily="34" charset="0"/>
              </a:rPr>
              <a:t>Loop alle rijen uit het SDM langs en vergelijk deze met de DWH-inhoud</a:t>
            </a:r>
          </a:p>
          <a:p>
            <a:pPr marL="285750" indent="-285750" algn="ctr">
              <a:buFontTx/>
              <a:buChar char="-"/>
            </a:pPr>
            <a:r>
              <a:rPr lang="nl-NL" dirty="0">
                <a:solidFill>
                  <a:srgbClr val="213343"/>
                </a:solidFill>
                <a:latin typeface="Arial" panose="020B0604020202020204" pitchFamily="34" charset="0"/>
                <a:cs typeface="Arial" panose="020B0604020202020204" pitchFamily="34" charset="0"/>
              </a:rPr>
              <a:t>Is de rij uit het SDM anders of bestaat deze nog niet in het DWH? Extra </a:t>
            </a:r>
            <a:r>
              <a:rPr lang="nl-NL" dirty="0" err="1">
                <a:solidFill>
                  <a:srgbClr val="213343"/>
                </a:solidFill>
                <a:latin typeface="Arial" panose="020B0604020202020204" pitchFamily="34" charset="0"/>
                <a:cs typeface="Arial" panose="020B0604020202020204" pitchFamily="34" charset="0"/>
              </a:rPr>
              <a:t>insert</a:t>
            </a:r>
            <a:endParaRPr lang="nl-NL" dirty="0">
              <a:solidFill>
                <a:srgbClr val="213343"/>
              </a:solidFill>
              <a:latin typeface="Arial" panose="020B0604020202020204" pitchFamily="34" charset="0"/>
              <a:cs typeface="Arial" panose="020B0604020202020204" pitchFamily="34" charset="0"/>
            </a:endParaRPr>
          </a:p>
          <a:p>
            <a:pPr marL="285750" indent="-285750" algn="ctr">
              <a:buFontTx/>
              <a:buChar char="-"/>
            </a:pPr>
            <a:r>
              <a:rPr lang="nl-NL" dirty="0">
                <a:solidFill>
                  <a:srgbClr val="213343"/>
                </a:solidFill>
                <a:latin typeface="Arial" panose="020B0604020202020204" pitchFamily="34" charset="0"/>
                <a:cs typeface="Arial" panose="020B0604020202020204" pitchFamily="34" charset="0"/>
              </a:rPr>
              <a:t>Anders: niks, ga naar volgende rij.</a:t>
            </a:r>
          </a:p>
          <a:p>
            <a:pPr algn="ctr"/>
            <a:endParaRPr lang="nl-NL" dirty="0">
              <a:solidFill>
                <a:srgbClr val="213343"/>
              </a:solidFill>
              <a:latin typeface="Arial" panose="020B0604020202020204" pitchFamily="34" charset="0"/>
              <a:cs typeface="Arial" panose="020B0604020202020204" pitchFamily="34" charset="0"/>
            </a:endParaRPr>
          </a:p>
          <a:p>
            <a:pPr algn="ctr"/>
            <a:r>
              <a:rPr lang="nl-NL" dirty="0">
                <a:solidFill>
                  <a:srgbClr val="213343"/>
                </a:solidFill>
                <a:latin typeface="Arial" panose="020B0604020202020204" pitchFamily="34" charset="0"/>
                <a:cs typeface="Arial" panose="020B0604020202020204" pitchFamily="34" charset="0"/>
              </a:rPr>
              <a:t>Rijen die niet meer bestaan, bijvoorbeeld voormalige klanten, moeten wél in het DWH blijven staan (met bekende eindtijd), maar niet (meer) in het SDM.</a:t>
            </a:r>
          </a:p>
          <a:p>
            <a:pPr algn="ctr"/>
            <a:r>
              <a:rPr lang="nl-NL" dirty="0">
                <a:solidFill>
                  <a:srgbClr val="213343"/>
                </a:solidFill>
                <a:latin typeface="Arial" panose="020B0604020202020204" pitchFamily="34" charset="0"/>
                <a:cs typeface="Arial" panose="020B0604020202020204" pitchFamily="34" charset="0"/>
              </a:rPr>
              <a:t>De geschiedenis moet intact en volledig blijven, ongeacht nieuwe actuele data!</a:t>
            </a:r>
          </a:p>
        </p:txBody>
      </p:sp>
      <p:graphicFrame>
        <p:nvGraphicFramePr>
          <p:cNvPr id="4" name="Tabel 2">
            <a:extLst>
              <a:ext uri="{FF2B5EF4-FFF2-40B4-BE49-F238E27FC236}">
                <a16:creationId xmlns:a16="http://schemas.microsoft.com/office/drawing/2014/main" id="{703A50C8-792F-6BA7-F884-BE1BF0498291}"/>
              </a:ext>
            </a:extLst>
          </p:cNvPr>
          <p:cNvGraphicFramePr>
            <a:graphicFrameLocks noGrp="1"/>
          </p:cNvGraphicFramePr>
          <p:nvPr>
            <p:extLst>
              <p:ext uri="{D42A27DB-BD31-4B8C-83A1-F6EECF244321}">
                <p14:modId xmlns:p14="http://schemas.microsoft.com/office/powerpoint/2010/main" val="3763073119"/>
              </p:ext>
            </p:extLst>
          </p:nvPr>
        </p:nvGraphicFramePr>
        <p:xfrm>
          <a:off x="6346615" y="1660695"/>
          <a:ext cx="5694219" cy="1948916"/>
        </p:xfrm>
        <a:graphic>
          <a:graphicData uri="http://schemas.openxmlformats.org/drawingml/2006/table">
            <a:tbl>
              <a:tblPr firstRow="1" bandRow="1">
                <a:tableStyleId>{93296810-A885-4BE3-A3E7-6D5BEEA58F35}</a:tableStyleId>
              </a:tblPr>
              <a:tblGrid>
                <a:gridCol w="477982">
                  <a:extLst>
                    <a:ext uri="{9D8B030D-6E8A-4147-A177-3AD203B41FA5}">
                      <a16:colId xmlns:a16="http://schemas.microsoft.com/office/drawing/2014/main" val="3289618088"/>
                    </a:ext>
                  </a:extLst>
                </a:gridCol>
                <a:gridCol w="1257300">
                  <a:extLst>
                    <a:ext uri="{9D8B030D-6E8A-4147-A177-3AD203B41FA5}">
                      <a16:colId xmlns:a16="http://schemas.microsoft.com/office/drawing/2014/main" val="3867422800"/>
                    </a:ext>
                  </a:extLst>
                </a:gridCol>
                <a:gridCol w="1291694">
                  <a:extLst>
                    <a:ext uri="{9D8B030D-6E8A-4147-A177-3AD203B41FA5}">
                      <a16:colId xmlns:a16="http://schemas.microsoft.com/office/drawing/2014/main" val="2953746829"/>
                    </a:ext>
                  </a:extLst>
                </a:gridCol>
                <a:gridCol w="516324">
                  <a:extLst>
                    <a:ext uri="{9D8B030D-6E8A-4147-A177-3AD203B41FA5}">
                      <a16:colId xmlns:a16="http://schemas.microsoft.com/office/drawing/2014/main" val="391686472"/>
                    </a:ext>
                  </a:extLst>
                </a:gridCol>
                <a:gridCol w="768928">
                  <a:extLst>
                    <a:ext uri="{9D8B030D-6E8A-4147-A177-3AD203B41FA5}">
                      <a16:colId xmlns:a16="http://schemas.microsoft.com/office/drawing/2014/main" val="479079931"/>
                    </a:ext>
                  </a:extLst>
                </a:gridCol>
                <a:gridCol w="1381991">
                  <a:extLst>
                    <a:ext uri="{9D8B030D-6E8A-4147-A177-3AD203B41FA5}">
                      <a16:colId xmlns:a16="http://schemas.microsoft.com/office/drawing/2014/main" val="1039538333"/>
                    </a:ext>
                  </a:extLst>
                </a:gridCol>
              </a:tblGrid>
              <a:tr h="487229">
                <a:tc>
                  <a:txBody>
                    <a:bodyPr/>
                    <a:lstStyle/>
                    <a:p>
                      <a:r>
                        <a:rPr lang="nl-NL" b="1" u="none" dirty="0"/>
                        <a:t>SK</a:t>
                      </a:r>
                    </a:p>
                  </a:txBody>
                  <a:tcPr/>
                </a:tc>
                <a:tc>
                  <a:txBody>
                    <a:bodyPr/>
                    <a:lstStyle/>
                    <a:p>
                      <a:r>
                        <a:rPr lang="nl-NL" b="1" u="none" dirty="0"/>
                        <a:t>Begintijd</a:t>
                      </a:r>
                    </a:p>
                  </a:txBody>
                  <a:tcPr/>
                </a:tc>
                <a:tc>
                  <a:txBody>
                    <a:bodyPr/>
                    <a:lstStyle/>
                    <a:p>
                      <a:r>
                        <a:rPr lang="nl-NL" b="1" u="none" dirty="0"/>
                        <a:t>Eindtijd</a:t>
                      </a:r>
                    </a:p>
                  </a:txBody>
                  <a:tcPr/>
                </a:tc>
                <a:tc>
                  <a:txBody>
                    <a:bodyPr/>
                    <a:lstStyle/>
                    <a:p>
                      <a:r>
                        <a:rPr lang="nl-NL" b="1" u="none" dirty="0"/>
                        <a:t>PK</a:t>
                      </a:r>
                    </a:p>
                  </a:txBody>
                  <a:tcPr/>
                </a:tc>
                <a:tc>
                  <a:txBody>
                    <a:bodyPr/>
                    <a:lstStyle/>
                    <a:p>
                      <a:r>
                        <a:rPr lang="nl-NL" b="1" dirty="0"/>
                        <a:t>Naam</a:t>
                      </a:r>
                    </a:p>
                  </a:txBody>
                  <a:tcPr/>
                </a:tc>
                <a:tc>
                  <a:txBody>
                    <a:bodyPr/>
                    <a:lstStyle/>
                    <a:p>
                      <a:r>
                        <a:rPr lang="nl-NL" dirty="0"/>
                        <a:t>Woonplaats</a:t>
                      </a:r>
                    </a:p>
                  </a:txBody>
                  <a:tcPr/>
                </a:tc>
                <a:extLst>
                  <a:ext uri="{0D108BD9-81ED-4DB2-BD59-A6C34878D82A}">
                    <a16:rowId xmlns:a16="http://schemas.microsoft.com/office/drawing/2014/main" val="1194861106"/>
                  </a:ext>
                </a:extLst>
              </a:tr>
              <a:tr h="487229">
                <a:tc>
                  <a:txBody>
                    <a:bodyPr/>
                    <a:lstStyle/>
                    <a:p>
                      <a:r>
                        <a:rPr lang="nl-NL" dirty="0"/>
                        <a:t>1</a:t>
                      </a:r>
                    </a:p>
                  </a:txBody>
                  <a:tcPr/>
                </a:tc>
                <a:tc>
                  <a:txBody>
                    <a:bodyPr/>
                    <a:lstStyle/>
                    <a:p>
                      <a:r>
                        <a:rPr lang="nl-NL" dirty="0"/>
                        <a:t>2025-01-01</a:t>
                      </a:r>
                    </a:p>
                  </a:txBody>
                  <a:tcPr/>
                </a:tc>
                <a:tc>
                  <a:txBody>
                    <a:bodyPr/>
                    <a:lstStyle/>
                    <a:p>
                      <a:r>
                        <a:rPr lang="nl-NL" dirty="0"/>
                        <a:t>NULL</a:t>
                      </a:r>
                    </a:p>
                  </a:txBody>
                  <a:tcPr/>
                </a:tc>
                <a:tc>
                  <a:txBody>
                    <a:bodyPr/>
                    <a:lstStyle/>
                    <a:p>
                      <a:r>
                        <a:rPr lang="nl-NL" dirty="0"/>
                        <a:t>1</a:t>
                      </a:r>
                    </a:p>
                  </a:txBody>
                  <a:tcPr/>
                </a:tc>
                <a:tc>
                  <a:txBody>
                    <a:bodyPr/>
                    <a:lstStyle/>
                    <a:p>
                      <a:r>
                        <a:rPr lang="nl-NL" dirty="0"/>
                        <a:t>Piet</a:t>
                      </a:r>
                    </a:p>
                  </a:txBody>
                  <a:tcPr/>
                </a:tc>
                <a:tc>
                  <a:txBody>
                    <a:bodyPr/>
                    <a:lstStyle/>
                    <a:p>
                      <a:r>
                        <a:rPr lang="nl-NL" dirty="0"/>
                        <a:t>Leiden</a:t>
                      </a:r>
                    </a:p>
                  </a:txBody>
                  <a:tcPr/>
                </a:tc>
                <a:extLst>
                  <a:ext uri="{0D108BD9-81ED-4DB2-BD59-A6C34878D82A}">
                    <a16:rowId xmlns:a16="http://schemas.microsoft.com/office/drawing/2014/main" val="323268865"/>
                  </a:ext>
                </a:extLst>
              </a:tr>
              <a:tr h="487229">
                <a:tc>
                  <a:txBody>
                    <a:bodyPr/>
                    <a:lstStyle/>
                    <a:p>
                      <a:r>
                        <a:rPr lang="nl-NL" b="0" dirty="0">
                          <a:solidFill>
                            <a:schemeClr val="tx1"/>
                          </a:solidFill>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2025-01-01</a:t>
                      </a:r>
                    </a:p>
                  </a:txBody>
                  <a:tcPr/>
                </a:tc>
                <a:tc>
                  <a:txBody>
                    <a:bodyPr/>
                    <a:lstStyle/>
                    <a:p>
                      <a:r>
                        <a:rPr lang="nl-NL" dirty="0"/>
                        <a:t>NULL</a:t>
                      </a:r>
                      <a:endParaRPr lang="nl-NL" b="0" dirty="0">
                        <a:solidFill>
                          <a:schemeClr val="tx1"/>
                        </a:solidFill>
                      </a:endParaRPr>
                    </a:p>
                  </a:txBody>
                  <a:tcPr/>
                </a:tc>
                <a:tc>
                  <a:txBody>
                    <a:bodyPr/>
                    <a:lstStyle/>
                    <a:p>
                      <a:r>
                        <a:rPr lang="nl-NL" b="0" dirty="0">
                          <a:solidFill>
                            <a:schemeClr val="tx1"/>
                          </a:solidFill>
                        </a:rPr>
                        <a:t>2</a:t>
                      </a:r>
                    </a:p>
                  </a:txBody>
                  <a:tcPr/>
                </a:tc>
                <a:tc>
                  <a:txBody>
                    <a:bodyPr/>
                    <a:lstStyle/>
                    <a:p>
                      <a:r>
                        <a:rPr lang="nl-NL" dirty="0"/>
                        <a:t>Elske</a:t>
                      </a:r>
                    </a:p>
                  </a:txBody>
                  <a:tcPr/>
                </a:tc>
                <a:tc>
                  <a:txBody>
                    <a:bodyPr/>
                    <a:lstStyle/>
                    <a:p>
                      <a:r>
                        <a:rPr lang="nl-NL" dirty="0"/>
                        <a:t>Leiden</a:t>
                      </a:r>
                    </a:p>
                  </a:txBody>
                  <a:tcPr/>
                </a:tc>
                <a:extLst>
                  <a:ext uri="{0D108BD9-81ED-4DB2-BD59-A6C34878D82A}">
                    <a16:rowId xmlns:a16="http://schemas.microsoft.com/office/drawing/2014/main" val="267217733"/>
                  </a:ext>
                </a:extLst>
              </a:tr>
              <a:tr h="487229">
                <a:tc>
                  <a:txBody>
                    <a:bodyPr/>
                    <a:lstStyle/>
                    <a:p>
                      <a:r>
                        <a:rPr lang="nl-NL" b="0" dirty="0">
                          <a:solidFill>
                            <a:schemeClr val="tx1"/>
                          </a:solidFill>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2025-01-01</a:t>
                      </a:r>
                    </a:p>
                  </a:txBody>
                  <a:tcPr/>
                </a:tc>
                <a:tc>
                  <a:txBody>
                    <a:bodyPr/>
                    <a:lstStyle/>
                    <a:p>
                      <a:r>
                        <a:rPr lang="nl-NL" dirty="0"/>
                        <a:t>NULL</a:t>
                      </a:r>
                    </a:p>
                  </a:txBody>
                  <a:tcPr/>
                </a:tc>
                <a:tc>
                  <a:txBody>
                    <a:bodyPr/>
                    <a:lstStyle/>
                    <a:p>
                      <a:r>
                        <a:rPr lang="nl-NL" b="0" dirty="0">
                          <a:solidFill>
                            <a:schemeClr val="tx1"/>
                          </a:solidFill>
                        </a:rPr>
                        <a:t>3</a:t>
                      </a:r>
                    </a:p>
                  </a:txBody>
                  <a:tcPr/>
                </a:tc>
                <a:tc>
                  <a:txBody>
                    <a:bodyPr/>
                    <a:lstStyle/>
                    <a:p>
                      <a:r>
                        <a:rPr lang="nl-NL" dirty="0"/>
                        <a:t>Jan</a:t>
                      </a:r>
                    </a:p>
                  </a:txBody>
                  <a:tcPr/>
                </a:tc>
                <a:tc>
                  <a:txBody>
                    <a:bodyPr/>
                    <a:lstStyle/>
                    <a:p>
                      <a:r>
                        <a:rPr lang="nl-NL" dirty="0"/>
                        <a:t>Lisse</a:t>
                      </a:r>
                    </a:p>
                  </a:txBody>
                  <a:tcPr/>
                </a:tc>
                <a:extLst>
                  <a:ext uri="{0D108BD9-81ED-4DB2-BD59-A6C34878D82A}">
                    <a16:rowId xmlns:a16="http://schemas.microsoft.com/office/drawing/2014/main" val="1937839361"/>
                  </a:ext>
                </a:extLst>
              </a:tr>
            </a:tbl>
          </a:graphicData>
        </a:graphic>
      </p:graphicFrame>
      <p:sp>
        <p:nvSpPr>
          <p:cNvPr id="12" name="TextBox 16">
            <a:extLst>
              <a:ext uri="{FF2B5EF4-FFF2-40B4-BE49-F238E27FC236}">
                <a16:creationId xmlns:a16="http://schemas.microsoft.com/office/drawing/2014/main" id="{7CC6DF86-1588-0668-AC5C-D6AB391BC4C1}"/>
              </a:ext>
            </a:extLst>
          </p:cNvPr>
          <p:cNvSpPr txBox="1"/>
          <p:nvPr/>
        </p:nvSpPr>
        <p:spPr>
          <a:xfrm>
            <a:off x="7909792" y="1248880"/>
            <a:ext cx="3293918" cy="369332"/>
          </a:xfrm>
          <a:prstGeom prst="rect">
            <a:avLst/>
          </a:prstGeom>
          <a:noFill/>
        </p:spPr>
        <p:txBody>
          <a:bodyPr wrap="square" rtlCol="0">
            <a:spAutoFit/>
          </a:bodyPr>
          <a:lstStyle/>
          <a:p>
            <a:pPr algn="ctr"/>
            <a:r>
              <a:rPr lang="en-US" b="1" dirty="0">
                <a:solidFill>
                  <a:srgbClr val="213343"/>
                </a:solidFill>
                <a:latin typeface="Arial" panose="020B0604020202020204" pitchFamily="34" charset="0"/>
                <a:cs typeface="Arial" panose="020B0604020202020204" pitchFamily="34" charset="0"/>
              </a:rPr>
              <a:t>DWH (alle </a:t>
            </a:r>
            <a:r>
              <a:rPr lang="en-US" b="1" dirty="0" err="1">
                <a:solidFill>
                  <a:srgbClr val="213343"/>
                </a:solidFill>
                <a:latin typeface="Arial" panose="020B0604020202020204" pitchFamily="34" charset="0"/>
                <a:cs typeface="Arial" panose="020B0604020202020204" pitchFamily="34" charset="0"/>
              </a:rPr>
              <a:t>geschiedenis</a:t>
            </a:r>
            <a:r>
              <a:rPr lang="en-US" b="1" dirty="0">
                <a:solidFill>
                  <a:srgbClr val="213343"/>
                </a:solidFill>
                <a:latin typeface="Arial" panose="020B0604020202020204" pitchFamily="34" charset="0"/>
                <a:cs typeface="Arial" panose="020B0604020202020204" pitchFamily="34" charset="0"/>
              </a:rPr>
              <a:t>)</a:t>
            </a:r>
          </a:p>
        </p:txBody>
      </p:sp>
      <p:sp>
        <p:nvSpPr>
          <p:cNvPr id="14" name="Rectangle 13">
            <a:extLst>
              <a:ext uri="{FF2B5EF4-FFF2-40B4-BE49-F238E27FC236}">
                <a16:creationId xmlns:a16="http://schemas.microsoft.com/office/drawing/2014/main" id="{06CABCA2-9755-F3B0-F51D-0E5074413B0B}"/>
              </a:ext>
            </a:extLst>
          </p:cNvPr>
          <p:cNvSpPr/>
          <p:nvPr/>
        </p:nvSpPr>
        <p:spPr>
          <a:xfrm>
            <a:off x="2353389" y="2145756"/>
            <a:ext cx="1139417" cy="50479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876F2D8-3028-EF0A-1C26-6F1E01F9F237}"/>
              </a:ext>
            </a:extLst>
          </p:cNvPr>
          <p:cNvSpPr/>
          <p:nvPr/>
        </p:nvSpPr>
        <p:spPr>
          <a:xfrm>
            <a:off x="10671587" y="2145756"/>
            <a:ext cx="831150" cy="50479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21336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xEl>
                                              <p:pRg st="0" end="0"/>
                                            </p:txEl>
                                          </p:spTgt>
                                        </p:tgtEl>
                                        <p:attrNameLst>
                                          <p:attrName>style.visibility</p:attrName>
                                        </p:attrNameLst>
                                      </p:cBhvr>
                                      <p:to>
                                        <p:strVal val="visible"/>
                                      </p:to>
                                    </p:set>
                                    <p:animEffect transition="in" filter="fade">
                                      <p:cBhvr>
                                        <p:cTn id="13" dur="500"/>
                                        <p:tgtEl>
                                          <p:spTgt spid="15">
                                            <p:txEl>
                                              <p:pRg st="0" end="0"/>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xEl>
                                              <p:pRg st="1" end="1"/>
                                            </p:txEl>
                                          </p:spTgt>
                                        </p:tgtEl>
                                        <p:attrNameLst>
                                          <p:attrName>style.visibility</p:attrName>
                                        </p:attrNameLst>
                                      </p:cBhvr>
                                      <p:to>
                                        <p:strVal val="visible"/>
                                      </p:to>
                                    </p:set>
                                    <p:animEffect transition="in" filter="fade">
                                      <p:cBhvr>
                                        <p:cTn id="16" dur="500"/>
                                        <p:tgtEl>
                                          <p:spTgt spid="1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5">
                                            <p:txEl>
                                              <p:pRg st="3" end="3"/>
                                            </p:txEl>
                                          </p:spTgt>
                                        </p:tgtEl>
                                        <p:attrNameLst>
                                          <p:attrName>style.visibility</p:attrName>
                                        </p:attrNameLst>
                                      </p:cBhvr>
                                      <p:to>
                                        <p:strVal val="visible"/>
                                      </p:to>
                                    </p:set>
                                    <p:animEffect transition="in" filter="fade">
                                      <p:cBhvr>
                                        <p:cTn id="21" dur="500"/>
                                        <p:tgtEl>
                                          <p:spTgt spid="15">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xEl>
                                              <p:pRg st="4" end="4"/>
                                            </p:txEl>
                                          </p:spTgt>
                                        </p:tgtEl>
                                        <p:attrNameLst>
                                          <p:attrName>style.visibility</p:attrName>
                                        </p:attrNameLst>
                                      </p:cBhvr>
                                      <p:to>
                                        <p:strVal val="visible"/>
                                      </p:to>
                                    </p:set>
                                    <p:animEffect transition="in" filter="fade">
                                      <p:cBhvr>
                                        <p:cTn id="24" dur="500"/>
                                        <p:tgtEl>
                                          <p:spTgt spid="15">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xEl>
                                              <p:pRg st="5" end="5"/>
                                            </p:txEl>
                                          </p:spTgt>
                                        </p:tgtEl>
                                        <p:attrNameLst>
                                          <p:attrName>style.visibility</p:attrName>
                                        </p:attrNameLst>
                                      </p:cBhvr>
                                      <p:to>
                                        <p:strVal val="visible"/>
                                      </p:to>
                                    </p:set>
                                    <p:animEffect transition="in" filter="fade">
                                      <p:cBhvr>
                                        <p:cTn id="27" dur="500"/>
                                        <p:tgtEl>
                                          <p:spTgt spid="1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xEl>
                                              <p:pRg st="7" end="7"/>
                                            </p:txEl>
                                          </p:spTgt>
                                        </p:tgtEl>
                                        <p:attrNameLst>
                                          <p:attrName>style.visibility</p:attrName>
                                        </p:attrNameLst>
                                      </p:cBhvr>
                                      <p:to>
                                        <p:strVal val="visible"/>
                                      </p:to>
                                    </p:set>
                                    <p:animEffect transition="in" filter="fade">
                                      <p:cBhvr>
                                        <p:cTn id="32" dur="500"/>
                                        <p:tgtEl>
                                          <p:spTgt spid="1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xEl>
                                              <p:pRg st="8" end="8"/>
                                            </p:txEl>
                                          </p:spTgt>
                                        </p:tgtEl>
                                        <p:attrNameLst>
                                          <p:attrName>style.visibility</p:attrName>
                                        </p:attrNameLst>
                                      </p:cBhvr>
                                      <p:to>
                                        <p:strVal val="visible"/>
                                      </p:to>
                                    </p:set>
                                    <p:animEffect transition="in" filter="fade">
                                      <p:cBhvr>
                                        <p:cTn id="37" dur="500"/>
                                        <p:tgtEl>
                                          <p:spTgt spid="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BA35E-C1F8-5E9E-C1FD-8A8E347F67E9}"/>
            </a:ext>
          </a:extLst>
        </p:cNvPr>
        <p:cNvGrpSpPr/>
        <p:nvPr/>
      </p:nvGrpSpPr>
      <p:grpSpPr>
        <a:xfrm>
          <a:off x="0" y="0"/>
          <a:ext cx="0" cy="0"/>
          <a:chOff x="0" y="0"/>
          <a:chExt cx="0" cy="0"/>
        </a:xfrm>
      </p:grpSpPr>
      <p:sp>
        <p:nvSpPr>
          <p:cNvPr id="6" name="Tekstvak 7">
            <a:extLst>
              <a:ext uri="{FF2B5EF4-FFF2-40B4-BE49-F238E27FC236}">
                <a16:creationId xmlns:a16="http://schemas.microsoft.com/office/drawing/2014/main" id="{45C51CE6-85A7-23DB-5C6B-A364EDD83F5D}"/>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sp>
        <p:nvSpPr>
          <p:cNvPr id="7" name="TextBox 1">
            <a:extLst>
              <a:ext uri="{FF2B5EF4-FFF2-40B4-BE49-F238E27FC236}">
                <a16:creationId xmlns:a16="http://schemas.microsoft.com/office/drawing/2014/main" id="{EBDC6D2E-BEDF-6945-E8D5-74A60B75B850}"/>
              </a:ext>
            </a:extLst>
          </p:cNvPr>
          <p:cNvSpPr txBox="1"/>
          <p:nvPr/>
        </p:nvSpPr>
        <p:spPr>
          <a:xfrm>
            <a:off x="1019768" y="-10754"/>
            <a:ext cx="11021066"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SCD-type 2 </a:t>
            </a:r>
            <a:r>
              <a:rPr lang="en-US" sz="3000" b="1" dirty="0" err="1">
                <a:solidFill>
                  <a:srgbClr val="829C30"/>
                </a:solidFill>
                <a:latin typeface="Arial"/>
                <a:ea typeface="MS PGothic" charset="0"/>
              </a:rPr>
              <a:t>testen</a:t>
            </a:r>
            <a:endParaRPr lang="en-US" sz="3000" b="1" dirty="0">
              <a:solidFill>
                <a:srgbClr val="829C30"/>
              </a:solidFill>
              <a:latin typeface="Arial"/>
              <a:ea typeface="MS PGothic" charset="0"/>
            </a:endParaRPr>
          </a:p>
        </p:txBody>
      </p:sp>
      <p:cxnSp>
        <p:nvCxnSpPr>
          <p:cNvPr id="8" name="Straight Connector 10">
            <a:extLst>
              <a:ext uri="{FF2B5EF4-FFF2-40B4-BE49-F238E27FC236}">
                <a16:creationId xmlns:a16="http://schemas.microsoft.com/office/drawing/2014/main" id="{A42C7332-315D-0E81-2333-CA564A048746}"/>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graphicFrame>
        <p:nvGraphicFramePr>
          <p:cNvPr id="3" name="Tabel 2">
            <a:extLst>
              <a:ext uri="{FF2B5EF4-FFF2-40B4-BE49-F238E27FC236}">
                <a16:creationId xmlns:a16="http://schemas.microsoft.com/office/drawing/2014/main" id="{CE178801-9F34-3576-A145-B4AC341AD035}"/>
              </a:ext>
            </a:extLst>
          </p:cNvPr>
          <p:cNvGraphicFramePr>
            <a:graphicFrameLocks noGrp="1"/>
          </p:cNvGraphicFramePr>
          <p:nvPr>
            <p:extLst>
              <p:ext uri="{D42A27DB-BD31-4B8C-83A1-F6EECF244321}">
                <p14:modId xmlns:p14="http://schemas.microsoft.com/office/powerpoint/2010/main" val="1102080478"/>
              </p:ext>
            </p:extLst>
          </p:nvPr>
        </p:nvGraphicFramePr>
        <p:xfrm>
          <a:off x="1194954" y="2460257"/>
          <a:ext cx="5684867" cy="2436145"/>
        </p:xfrm>
        <a:graphic>
          <a:graphicData uri="http://schemas.openxmlformats.org/drawingml/2006/table">
            <a:tbl>
              <a:tblPr firstRow="1" bandRow="1">
                <a:tableStyleId>{93296810-A885-4BE3-A3E7-6D5BEEA58F35}</a:tableStyleId>
              </a:tblPr>
              <a:tblGrid>
                <a:gridCol w="468630">
                  <a:extLst>
                    <a:ext uri="{9D8B030D-6E8A-4147-A177-3AD203B41FA5}">
                      <a16:colId xmlns:a16="http://schemas.microsoft.com/office/drawing/2014/main" val="3289618088"/>
                    </a:ext>
                  </a:extLst>
                </a:gridCol>
                <a:gridCol w="1257300">
                  <a:extLst>
                    <a:ext uri="{9D8B030D-6E8A-4147-A177-3AD203B41FA5}">
                      <a16:colId xmlns:a16="http://schemas.microsoft.com/office/drawing/2014/main" val="3867422800"/>
                    </a:ext>
                  </a:extLst>
                </a:gridCol>
                <a:gridCol w="1291694">
                  <a:extLst>
                    <a:ext uri="{9D8B030D-6E8A-4147-A177-3AD203B41FA5}">
                      <a16:colId xmlns:a16="http://schemas.microsoft.com/office/drawing/2014/main" val="2953746829"/>
                    </a:ext>
                  </a:extLst>
                </a:gridCol>
                <a:gridCol w="516324">
                  <a:extLst>
                    <a:ext uri="{9D8B030D-6E8A-4147-A177-3AD203B41FA5}">
                      <a16:colId xmlns:a16="http://schemas.microsoft.com/office/drawing/2014/main" val="391686472"/>
                    </a:ext>
                  </a:extLst>
                </a:gridCol>
                <a:gridCol w="768928">
                  <a:extLst>
                    <a:ext uri="{9D8B030D-6E8A-4147-A177-3AD203B41FA5}">
                      <a16:colId xmlns:a16="http://schemas.microsoft.com/office/drawing/2014/main" val="479079931"/>
                    </a:ext>
                  </a:extLst>
                </a:gridCol>
                <a:gridCol w="1381991">
                  <a:extLst>
                    <a:ext uri="{9D8B030D-6E8A-4147-A177-3AD203B41FA5}">
                      <a16:colId xmlns:a16="http://schemas.microsoft.com/office/drawing/2014/main" val="1039538333"/>
                    </a:ext>
                  </a:extLst>
                </a:gridCol>
              </a:tblGrid>
              <a:tr h="487229">
                <a:tc>
                  <a:txBody>
                    <a:bodyPr/>
                    <a:lstStyle/>
                    <a:p>
                      <a:r>
                        <a:rPr lang="nl-NL" b="1" u="none" dirty="0"/>
                        <a:t>SK</a:t>
                      </a:r>
                    </a:p>
                  </a:txBody>
                  <a:tcPr/>
                </a:tc>
                <a:tc>
                  <a:txBody>
                    <a:bodyPr/>
                    <a:lstStyle/>
                    <a:p>
                      <a:r>
                        <a:rPr lang="nl-NL" b="1" u="none" dirty="0"/>
                        <a:t>Begintijd</a:t>
                      </a:r>
                    </a:p>
                  </a:txBody>
                  <a:tcPr/>
                </a:tc>
                <a:tc>
                  <a:txBody>
                    <a:bodyPr/>
                    <a:lstStyle/>
                    <a:p>
                      <a:r>
                        <a:rPr lang="nl-NL" b="1" u="none" dirty="0"/>
                        <a:t>Eindtijd</a:t>
                      </a:r>
                    </a:p>
                  </a:txBody>
                  <a:tcPr/>
                </a:tc>
                <a:tc>
                  <a:txBody>
                    <a:bodyPr/>
                    <a:lstStyle/>
                    <a:p>
                      <a:r>
                        <a:rPr lang="nl-NL" b="1" u="none" dirty="0"/>
                        <a:t>PK</a:t>
                      </a:r>
                    </a:p>
                  </a:txBody>
                  <a:tcPr/>
                </a:tc>
                <a:tc>
                  <a:txBody>
                    <a:bodyPr/>
                    <a:lstStyle/>
                    <a:p>
                      <a:r>
                        <a:rPr lang="nl-NL" b="1" dirty="0"/>
                        <a:t>Naam</a:t>
                      </a:r>
                    </a:p>
                  </a:txBody>
                  <a:tcPr/>
                </a:tc>
                <a:tc>
                  <a:txBody>
                    <a:bodyPr/>
                    <a:lstStyle/>
                    <a:p>
                      <a:r>
                        <a:rPr lang="nl-NL" dirty="0"/>
                        <a:t>Woonplaats</a:t>
                      </a:r>
                    </a:p>
                  </a:txBody>
                  <a:tcPr/>
                </a:tc>
                <a:extLst>
                  <a:ext uri="{0D108BD9-81ED-4DB2-BD59-A6C34878D82A}">
                    <a16:rowId xmlns:a16="http://schemas.microsoft.com/office/drawing/2014/main" val="1194861106"/>
                  </a:ext>
                </a:extLst>
              </a:tr>
              <a:tr h="487229">
                <a:tc>
                  <a:txBody>
                    <a:bodyPr/>
                    <a:lstStyle/>
                    <a:p>
                      <a:r>
                        <a:rPr lang="nl-NL" dirty="0"/>
                        <a:t>1</a:t>
                      </a:r>
                    </a:p>
                  </a:txBody>
                  <a:tcPr/>
                </a:tc>
                <a:tc>
                  <a:txBody>
                    <a:bodyPr/>
                    <a:lstStyle/>
                    <a:p>
                      <a:r>
                        <a:rPr lang="nl-NL" dirty="0"/>
                        <a:t>2025-01-01</a:t>
                      </a:r>
                    </a:p>
                  </a:txBody>
                  <a:tcPr/>
                </a:tc>
                <a:tc>
                  <a:txBody>
                    <a:bodyPr/>
                    <a:lstStyle/>
                    <a:p>
                      <a:endParaRPr lang="nl-NL" dirty="0"/>
                    </a:p>
                  </a:txBody>
                  <a:tcPr/>
                </a:tc>
                <a:tc>
                  <a:txBody>
                    <a:bodyPr/>
                    <a:lstStyle/>
                    <a:p>
                      <a:r>
                        <a:rPr lang="nl-NL" dirty="0"/>
                        <a:t>1</a:t>
                      </a:r>
                    </a:p>
                  </a:txBody>
                  <a:tcPr/>
                </a:tc>
                <a:tc>
                  <a:txBody>
                    <a:bodyPr/>
                    <a:lstStyle/>
                    <a:p>
                      <a:r>
                        <a:rPr lang="nl-NL" dirty="0"/>
                        <a:t>Piet</a:t>
                      </a:r>
                    </a:p>
                  </a:txBody>
                  <a:tcPr/>
                </a:tc>
                <a:tc>
                  <a:txBody>
                    <a:bodyPr/>
                    <a:lstStyle/>
                    <a:p>
                      <a:r>
                        <a:rPr lang="nl-NL" dirty="0"/>
                        <a:t>Leiden</a:t>
                      </a:r>
                    </a:p>
                  </a:txBody>
                  <a:tcPr/>
                </a:tc>
                <a:extLst>
                  <a:ext uri="{0D108BD9-81ED-4DB2-BD59-A6C34878D82A}">
                    <a16:rowId xmlns:a16="http://schemas.microsoft.com/office/drawing/2014/main" val="323268865"/>
                  </a:ext>
                </a:extLst>
              </a:tr>
              <a:tr h="487229">
                <a:tc>
                  <a:txBody>
                    <a:bodyPr/>
                    <a:lstStyle/>
                    <a:p>
                      <a:r>
                        <a:rPr lang="nl-NL" b="0" dirty="0">
                          <a:solidFill>
                            <a:schemeClr val="tx1"/>
                          </a:solidFill>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2025-01-01</a:t>
                      </a:r>
                    </a:p>
                  </a:txBody>
                  <a:tcPr/>
                </a:tc>
                <a:tc>
                  <a:txBody>
                    <a:bodyPr/>
                    <a:lstStyle/>
                    <a:p>
                      <a:r>
                        <a:rPr lang="nl-NL" dirty="0"/>
                        <a:t>NULL</a:t>
                      </a:r>
                      <a:endParaRPr lang="nl-NL" b="0" dirty="0">
                        <a:solidFill>
                          <a:schemeClr val="tx1"/>
                        </a:solidFill>
                      </a:endParaRPr>
                    </a:p>
                  </a:txBody>
                  <a:tcPr/>
                </a:tc>
                <a:tc>
                  <a:txBody>
                    <a:bodyPr/>
                    <a:lstStyle/>
                    <a:p>
                      <a:r>
                        <a:rPr lang="nl-NL" b="0" dirty="0">
                          <a:solidFill>
                            <a:schemeClr val="tx1"/>
                          </a:solidFill>
                        </a:rPr>
                        <a:t>2</a:t>
                      </a:r>
                    </a:p>
                  </a:txBody>
                  <a:tcPr/>
                </a:tc>
                <a:tc>
                  <a:txBody>
                    <a:bodyPr/>
                    <a:lstStyle/>
                    <a:p>
                      <a:r>
                        <a:rPr lang="nl-NL" dirty="0"/>
                        <a:t>Elske</a:t>
                      </a:r>
                    </a:p>
                  </a:txBody>
                  <a:tcPr/>
                </a:tc>
                <a:tc>
                  <a:txBody>
                    <a:bodyPr/>
                    <a:lstStyle/>
                    <a:p>
                      <a:r>
                        <a:rPr lang="nl-NL" dirty="0"/>
                        <a:t>Leiden</a:t>
                      </a:r>
                    </a:p>
                  </a:txBody>
                  <a:tcPr/>
                </a:tc>
                <a:extLst>
                  <a:ext uri="{0D108BD9-81ED-4DB2-BD59-A6C34878D82A}">
                    <a16:rowId xmlns:a16="http://schemas.microsoft.com/office/drawing/2014/main" val="267217733"/>
                  </a:ext>
                </a:extLst>
              </a:tr>
              <a:tr h="487229">
                <a:tc>
                  <a:txBody>
                    <a:bodyPr/>
                    <a:lstStyle/>
                    <a:p>
                      <a:r>
                        <a:rPr lang="nl-NL" b="0" dirty="0">
                          <a:solidFill>
                            <a:schemeClr val="tx1"/>
                          </a:solidFill>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2025-01-01</a:t>
                      </a:r>
                    </a:p>
                  </a:txBody>
                  <a:tcPr/>
                </a:tc>
                <a:tc>
                  <a:txBody>
                    <a:bodyPr/>
                    <a:lstStyle/>
                    <a:p>
                      <a:r>
                        <a:rPr lang="nl-NL" dirty="0"/>
                        <a:t>NULL</a:t>
                      </a:r>
                      <a:endParaRPr lang="nl-NL" b="0" dirty="0">
                        <a:solidFill>
                          <a:schemeClr val="tx1"/>
                        </a:solidFill>
                      </a:endParaRPr>
                    </a:p>
                  </a:txBody>
                  <a:tcPr/>
                </a:tc>
                <a:tc>
                  <a:txBody>
                    <a:bodyPr/>
                    <a:lstStyle/>
                    <a:p>
                      <a:r>
                        <a:rPr lang="nl-NL" b="0" dirty="0">
                          <a:solidFill>
                            <a:schemeClr val="tx1"/>
                          </a:solidFill>
                        </a:rPr>
                        <a:t>3</a:t>
                      </a:r>
                    </a:p>
                  </a:txBody>
                  <a:tcPr/>
                </a:tc>
                <a:tc>
                  <a:txBody>
                    <a:bodyPr/>
                    <a:lstStyle/>
                    <a:p>
                      <a:r>
                        <a:rPr lang="nl-NL" dirty="0"/>
                        <a:t>Jan</a:t>
                      </a:r>
                    </a:p>
                  </a:txBody>
                  <a:tcPr/>
                </a:tc>
                <a:tc>
                  <a:txBody>
                    <a:bodyPr/>
                    <a:lstStyle/>
                    <a:p>
                      <a:r>
                        <a:rPr lang="nl-NL" dirty="0"/>
                        <a:t>Lisse</a:t>
                      </a:r>
                    </a:p>
                  </a:txBody>
                  <a:tcPr/>
                </a:tc>
                <a:extLst>
                  <a:ext uri="{0D108BD9-81ED-4DB2-BD59-A6C34878D82A}">
                    <a16:rowId xmlns:a16="http://schemas.microsoft.com/office/drawing/2014/main" val="1937839361"/>
                  </a:ext>
                </a:extLst>
              </a:tr>
              <a:tr h="487229">
                <a:tc>
                  <a:txBody>
                    <a:bodyPr/>
                    <a:lstStyle/>
                    <a:p>
                      <a:r>
                        <a:rPr lang="nl-NL" b="0" dirty="0">
                          <a:solidFill>
                            <a:schemeClr val="tx1"/>
                          </a:solidFill>
                        </a:rPr>
                        <a:t>4</a:t>
                      </a:r>
                    </a:p>
                  </a:txBody>
                  <a:tcPr/>
                </a:tc>
                <a:tc>
                  <a:txBody>
                    <a:bodyPr/>
                    <a:lstStyle/>
                    <a:p>
                      <a:r>
                        <a:rPr lang="nl-NL" dirty="0"/>
                        <a:t>2026-02-02</a:t>
                      </a:r>
                    </a:p>
                  </a:txBody>
                  <a:tcPr/>
                </a:tc>
                <a:tc>
                  <a:txBody>
                    <a:bodyPr/>
                    <a:lstStyle/>
                    <a:p>
                      <a:r>
                        <a:rPr lang="nl-NL" b="0" dirty="0">
                          <a:solidFill>
                            <a:schemeClr val="tx1"/>
                          </a:solidFill>
                        </a:rPr>
                        <a:t>NULL</a:t>
                      </a:r>
                    </a:p>
                  </a:txBody>
                  <a:tcPr/>
                </a:tc>
                <a:tc>
                  <a:txBody>
                    <a:bodyPr/>
                    <a:lstStyle/>
                    <a:p>
                      <a:r>
                        <a:rPr lang="nl-NL" b="0" dirty="0">
                          <a:solidFill>
                            <a:schemeClr val="tx1"/>
                          </a:solidFill>
                        </a:rPr>
                        <a:t>1</a:t>
                      </a:r>
                    </a:p>
                  </a:txBody>
                  <a:tcPr/>
                </a:tc>
                <a:tc>
                  <a:txBody>
                    <a:bodyPr/>
                    <a:lstStyle/>
                    <a:p>
                      <a:r>
                        <a:rPr lang="nl-NL" dirty="0"/>
                        <a:t>Piet</a:t>
                      </a:r>
                    </a:p>
                  </a:txBody>
                  <a:tcPr/>
                </a:tc>
                <a:tc>
                  <a:txBody>
                    <a:bodyPr/>
                    <a:lstStyle/>
                    <a:p>
                      <a:r>
                        <a:rPr lang="nl-NL" dirty="0"/>
                        <a:t>Leimuiden</a:t>
                      </a:r>
                    </a:p>
                  </a:txBody>
                  <a:tcPr/>
                </a:tc>
                <a:extLst>
                  <a:ext uri="{0D108BD9-81ED-4DB2-BD59-A6C34878D82A}">
                    <a16:rowId xmlns:a16="http://schemas.microsoft.com/office/drawing/2014/main" val="3809114877"/>
                  </a:ext>
                </a:extLst>
              </a:tr>
            </a:tbl>
          </a:graphicData>
        </a:graphic>
      </p:graphicFrame>
      <p:sp>
        <p:nvSpPr>
          <p:cNvPr id="2" name="TextBox 16">
            <a:extLst>
              <a:ext uri="{FF2B5EF4-FFF2-40B4-BE49-F238E27FC236}">
                <a16:creationId xmlns:a16="http://schemas.microsoft.com/office/drawing/2014/main" id="{889D7392-F7D2-404E-88F1-89A538F5DA51}"/>
              </a:ext>
            </a:extLst>
          </p:cNvPr>
          <p:cNvSpPr txBox="1"/>
          <p:nvPr/>
        </p:nvSpPr>
        <p:spPr>
          <a:xfrm>
            <a:off x="988290" y="855284"/>
            <a:ext cx="11203710" cy="923330"/>
          </a:xfrm>
          <a:prstGeom prst="rect">
            <a:avLst/>
          </a:prstGeom>
          <a:noFill/>
        </p:spPr>
        <p:txBody>
          <a:bodyPr wrap="square" rtlCol="0">
            <a:spAutoFit/>
          </a:bodyPr>
          <a:lstStyle/>
          <a:p>
            <a:pPr algn="ctr"/>
            <a:r>
              <a:rPr lang="en-US" dirty="0" err="1">
                <a:solidFill>
                  <a:srgbClr val="213343"/>
                </a:solidFill>
                <a:latin typeface="Arial" panose="020B0604020202020204" pitchFamily="34" charset="0"/>
                <a:cs typeface="Arial" panose="020B0604020202020204" pitchFamily="34" charset="0"/>
              </a:rPr>
              <a:t>Verander</a:t>
            </a:r>
            <a:r>
              <a:rPr lang="en-US" dirty="0">
                <a:solidFill>
                  <a:srgbClr val="213343"/>
                </a:solidFill>
                <a:latin typeface="Arial" panose="020B0604020202020204" pitchFamily="34" charset="0"/>
                <a:cs typeface="Arial" panose="020B0604020202020204" pitchFamily="34" charset="0"/>
              </a:rPr>
              <a:t> in </a:t>
            </a:r>
            <a:r>
              <a:rPr lang="en-US" dirty="0" err="1">
                <a:solidFill>
                  <a:srgbClr val="213343"/>
                </a:solidFill>
                <a:latin typeface="Arial" panose="020B0604020202020204" pitchFamily="34" charset="0"/>
                <a:cs typeface="Arial" panose="020B0604020202020204" pitchFamily="34" charset="0"/>
              </a:rPr>
              <a:t>sommige</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rijen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uit</a:t>
            </a:r>
            <a:r>
              <a:rPr lang="en-US" dirty="0">
                <a:solidFill>
                  <a:srgbClr val="213343"/>
                </a:solidFill>
                <a:latin typeface="Arial" panose="020B0604020202020204" pitchFamily="34" charset="0"/>
                <a:cs typeface="Arial" panose="020B0604020202020204" pitchFamily="34" charset="0"/>
              </a:rPr>
              <a:t> het SDM </a:t>
            </a:r>
            <a:r>
              <a:rPr lang="en-US" dirty="0" err="1">
                <a:solidFill>
                  <a:srgbClr val="213343"/>
                </a:solidFill>
                <a:latin typeface="Arial" panose="020B0604020202020204" pitchFamily="34" charset="0"/>
                <a:cs typeface="Arial" panose="020B0604020202020204" pitchFamily="34" charset="0"/>
              </a:rPr>
              <a:t>een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aantal</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waarden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en</a:t>
            </a:r>
            <a:r>
              <a:rPr lang="en-US" dirty="0">
                <a:solidFill>
                  <a:srgbClr val="213343"/>
                </a:solidFill>
                <a:latin typeface="Arial" panose="020B0604020202020204" pitchFamily="34" charset="0"/>
                <a:cs typeface="Arial" panose="020B0604020202020204" pitchFamily="34" charset="0"/>
              </a:rPr>
              <a:t> run </a:t>
            </a:r>
            <a:r>
              <a:rPr lang="en-US" dirty="0" err="1">
                <a:solidFill>
                  <a:srgbClr val="213343"/>
                </a:solidFill>
                <a:latin typeface="Arial" panose="020B0604020202020204" pitchFamily="34" charset="0"/>
                <a:cs typeface="Arial" panose="020B0604020202020204" pitchFamily="34" charset="0"/>
              </a:rPr>
              <a:t>vervolgens</a:t>
            </a:r>
            <a:r>
              <a:rPr lang="en-US" dirty="0">
                <a:solidFill>
                  <a:srgbClr val="213343"/>
                </a:solidFill>
                <a:latin typeface="Arial" panose="020B0604020202020204" pitchFamily="34" charset="0"/>
                <a:cs typeface="Arial" panose="020B0604020202020204" pitchFamily="34" charset="0"/>
              </a:rPr>
              <a:t> de DWH-</a:t>
            </a:r>
            <a:r>
              <a:rPr lang="en-US" dirty="0" err="1">
                <a:solidFill>
                  <a:srgbClr val="213343"/>
                </a:solidFill>
                <a:latin typeface="Arial" panose="020B0604020202020204" pitchFamily="34" charset="0"/>
                <a:cs typeface="Arial" panose="020B0604020202020204" pitchFamily="34" charset="0"/>
              </a:rPr>
              <a:t>pijplijn</a:t>
            </a:r>
            <a:r>
              <a:rPr lang="en-US" dirty="0">
                <a:solidFill>
                  <a:srgbClr val="213343"/>
                </a:solidFill>
                <a:latin typeface="Arial" panose="020B0604020202020204" pitchFamily="34" charset="0"/>
                <a:cs typeface="Arial" panose="020B0604020202020204" pitchFamily="34" charset="0"/>
              </a:rPr>
              <a:t>.</a:t>
            </a:r>
          </a:p>
          <a:p>
            <a:pPr algn="ctr"/>
            <a:r>
              <a:rPr lang="en-US" dirty="0">
                <a:solidFill>
                  <a:srgbClr val="213343"/>
                </a:solidFill>
                <a:latin typeface="Arial" panose="020B0604020202020204" pitchFamily="34" charset="0"/>
                <a:cs typeface="Arial" panose="020B0604020202020204" pitchFamily="34" charset="0"/>
              </a:rPr>
              <a:t>Check </a:t>
            </a:r>
            <a:r>
              <a:rPr lang="en-US" dirty="0" err="1">
                <a:solidFill>
                  <a:srgbClr val="213343"/>
                </a:solidFill>
                <a:latin typeface="Arial" panose="020B0604020202020204" pitchFamily="34" charset="0"/>
                <a:cs typeface="Arial" panose="020B0604020202020204" pitchFamily="34" charset="0"/>
              </a:rPr>
              <a:t>vervolgens</a:t>
            </a:r>
            <a:r>
              <a:rPr lang="en-US" dirty="0">
                <a:solidFill>
                  <a:srgbClr val="213343"/>
                </a:solidFill>
                <a:latin typeface="Arial" panose="020B0604020202020204" pitchFamily="34" charset="0"/>
                <a:cs typeface="Arial" panose="020B0604020202020204" pitchFamily="34" charset="0"/>
              </a:rPr>
              <a:t> je </a:t>
            </a:r>
            <a:r>
              <a:rPr lang="en-US" b="1" dirty="0" err="1">
                <a:solidFill>
                  <a:srgbClr val="213343"/>
                </a:solidFill>
                <a:latin typeface="Arial" panose="020B0604020202020204" pitchFamily="34" charset="0"/>
                <a:cs typeface="Arial" panose="020B0604020202020204" pitchFamily="34" charset="0"/>
              </a:rPr>
              <a:t>feit</a:t>
            </a:r>
            <a:r>
              <a:rPr lang="en-US" b="1" dirty="0">
                <a:solidFill>
                  <a:srgbClr val="213343"/>
                </a:solidFill>
                <a:latin typeface="Arial" panose="020B0604020202020204" pitchFamily="34" charset="0"/>
                <a:cs typeface="Arial" panose="020B0604020202020204" pitchFamily="34" charset="0"/>
              </a:rPr>
              <a:t>-</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én</a:t>
            </a:r>
            <a:r>
              <a:rPr lang="en-US" dirty="0">
                <a:solidFill>
                  <a:srgbClr val="213343"/>
                </a:solidFill>
                <a:latin typeface="Arial" panose="020B0604020202020204" pitchFamily="34" charset="0"/>
                <a:cs typeface="Arial" panose="020B0604020202020204" pitchFamily="34" charset="0"/>
              </a:rPr>
              <a:t> </a:t>
            </a:r>
            <a:r>
              <a:rPr lang="en-US" b="1" dirty="0" err="1">
                <a:solidFill>
                  <a:srgbClr val="213343"/>
                </a:solidFill>
                <a:latin typeface="Arial" panose="020B0604020202020204" pitchFamily="34" charset="0"/>
                <a:cs typeface="Arial" panose="020B0604020202020204" pitchFamily="34" charset="0"/>
              </a:rPr>
              <a:t>dimensie</a:t>
            </a:r>
            <a:r>
              <a:rPr lang="en-US" dirty="0" err="1">
                <a:solidFill>
                  <a:srgbClr val="213343"/>
                </a:solidFill>
                <a:latin typeface="Arial" panose="020B0604020202020204" pitchFamily="34" charset="0"/>
                <a:cs typeface="Arial" panose="020B0604020202020204" pitchFamily="34" charset="0"/>
              </a:rPr>
              <a:t>tabellen</a:t>
            </a:r>
            <a:r>
              <a:rPr lang="en-US" dirty="0">
                <a:solidFill>
                  <a:srgbClr val="213343"/>
                </a:solidFill>
                <a:latin typeface="Arial" panose="020B0604020202020204" pitchFamily="34" charset="0"/>
                <a:cs typeface="Arial" panose="020B0604020202020204" pitchFamily="34" charset="0"/>
              </a:rPr>
              <a:t>!</a:t>
            </a:r>
          </a:p>
          <a:p>
            <a:pPr algn="ctr"/>
            <a:r>
              <a:rPr lang="en-US" dirty="0">
                <a:solidFill>
                  <a:srgbClr val="213343"/>
                </a:solidFill>
                <a:latin typeface="Arial" panose="020B0604020202020204" pitchFamily="34" charset="0"/>
                <a:cs typeface="Arial" panose="020B0604020202020204" pitchFamily="34" charset="0"/>
              </a:rPr>
              <a:t>Piet is </a:t>
            </a:r>
            <a:r>
              <a:rPr lang="en-US" dirty="0" err="1">
                <a:solidFill>
                  <a:srgbClr val="213343"/>
                </a:solidFill>
                <a:latin typeface="Arial" panose="020B0604020202020204" pitchFamily="34" charset="0"/>
                <a:cs typeface="Arial" panose="020B0604020202020204" pitchFamily="34" charset="0"/>
              </a:rPr>
              <a:t>verhuisd</a:t>
            </a:r>
            <a:r>
              <a:rPr lang="en-US" dirty="0">
                <a:solidFill>
                  <a:srgbClr val="213343"/>
                </a:solidFill>
                <a:latin typeface="Arial" panose="020B0604020202020204" pitchFamily="34" charset="0"/>
                <a:cs typeface="Arial" panose="020B0604020202020204" pitchFamily="34" charset="0"/>
              </a:rPr>
              <a:t> van Leiden </a:t>
            </a:r>
            <a:r>
              <a:rPr lang="en-US" dirty="0" err="1">
                <a:solidFill>
                  <a:srgbClr val="213343"/>
                </a:solidFill>
                <a:latin typeface="Arial" panose="020B0604020202020204" pitchFamily="34" charset="0"/>
                <a:cs typeface="Arial" panose="020B0604020202020204" pitchFamily="34" charset="0"/>
              </a:rPr>
              <a:t>naar</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Leimuiden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heeft</a:t>
            </a:r>
            <a:r>
              <a:rPr lang="en-US" dirty="0">
                <a:solidFill>
                  <a:srgbClr val="213343"/>
                </a:solidFill>
                <a:latin typeface="Arial" panose="020B0604020202020204" pitchFamily="34" charset="0"/>
                <a:cs typeface="Arial" panose="020B0604020202020204" pitchFamily="34" charset="0"/>
              </a:rPr>
              <a:t> de </a:t>
            </a:r>
            <a:r>
              <a:rPr lang="en-US" dirty="0" err="1">
                <a:solidFill>
                  <a:srgbClr val="213343"/>
                </a:solidFill>
                <a:latin typeface="Arial" panose="020B0604020202020204" pitchFamily="34" charset="0"/>
                <a:cs typeface="Arial" panose="020B0604020202020204" pitchFamily="34" charset="0"/>
              </a:rPr>
              <a:t>dag</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erna</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een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nieuwe</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bestelling</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geplaatst</a:t>
            </a:r>
            <a:endParaRPr lang="en-US" dirty="0">
              <a:solidFill>
                <a:srgbClr val="213343"/>
              </a:solidFill>
              <a:latin typeface="Arial" panose="020B0604020202020204" pitchFamily="34" charset="0"/>
              <a:cs typeface="Arial" panose="020B0604020202020204" pitchFamily="34" charset="0"/>
            </a:endParaRPr>
          </a:p>
        </p:txBody>
      </p:sp>
      <p:graphicFrame>
        <p:nvGraphicFramePr>
          <p:cNvPr id="5" name="Tabel 2">
            <a:extLst>
              <a:ext uri="{FF2B5EF4-FFF2-40B4-BE49-F238E27FC236}">
                <a16:creationId xmlns:a16="http://schemas.microsoft.com/office/drawing/2014/main" id="{F00FDA2C-228F-98F7-6ECE-D03A407EF2FA}"/>
              </a:ext>
            </a:extLst>
          </p:cNvPr>
          <p:cNvGraphicFramePr>
            <a:graphicFrameLocks noGrp="1"/>
          </p:cNvGraphicFramePr>
          <p:nvPr>
            <p:extLst>
              <p:ext uri="{D42A27DB-BD31-4B8C-83A1-F6EECF244321}">
                <p14:modId xmlns:p14="http://schemas.microsoft.com/office/powerpoint/2010/main" val="3216959729"/>
              </p:ext>
            </p:extLst>
          </p:nvPr>
        </p:nvGraphicFramePr>
        <p:xfrm>
          <a:off x="8371609" y="2460256"/>
          <a:ext cx="3543300" cy="2436145"/>
        </p:xfrm>
        <a:graphic>
          <a:graphicData uri="http://schemas.openxmlformats.org/drawingml/2006/table">
            <a:tbl>
              <a:tblPr firstRow="1" bandRow="1">
                <a:tableStyleId>{7DF18680-E054-41AD-8BC1-D1AEF772440D}</a:tableStyleId>
              </a:tblPr>
              <a:tblGrid>
                <a:gridCol w="477982">
                  <a:extLst>
                    <a:ext uri="{9D8B030D-6E8A-4147-A177-3AD203B41FA5}">
                      <a16:colId xmlns:a16="http://schemas.microsoft.com/office/drawing/2014/main" val="3289618088"/>
                    </a:ext>
                  </a:extLst>
                </a:gridCol>
                <a:gridCol w="1257300">
                  <a:extLst>
                    <a:ext uri="{9D8B030D-6E8A-4147-A177-3AD203B41FA5}">
                      <a16:colId xmlns:a16="http://schemas.microsoft.com/office/drawing/2014/main" val="3867422800"/>
                    </a:ext>
                  </a:extLst>
                </a:gridCol>
                <a:gridCol w="1291694">
                  <a:extLst>
                    <a:ext uri="{9D8B030D-6E8A-4147-A177-3AD203B41FA5}">
                      <a16:colId xmlns:a16="http://schemas.microsoft.com/office/drawing/2014/main" val="2953746829"/>
                    </a:ext>
                  </a:extLst>
                </a:gridCol>
                <a:gridCol w="516324">
                  <a:extLst>
                    <a:ext uri="{9D8B030D-6E8A-4147-A177-3AD203B41FA5}">
                      <a16:colId xmlns:a16="http://schemas.microsoft.com/office/drawing/2014/main" val="391686472"/>
                    </a:ext>
                  </a:extLst>
                </a:gridCol>
              </a:tblGrid>
              <a:tr h="487229">
                <a:tc>
                  <a:txBody>
                    <a:bodyPr/>
                    <a:lstStyle/>
                    <a:p>
                      <a:r>
                        <a:rPr lang="nl-NL" b="1" u="none" dirty="0"/>
                        <a:t>PK</a:t>
                      </a:r>
                    </a:p>
                  </a:txBody>
                  <a:tcPr/>
                </a:tc>
                <a:tc>
                  <a:txBody>
                    <a:bodyPr/>
                    <a:lstStyle/>
                    <a:p>
                      <a:r>
                        <a:rPr lang="nl-NL" b="1" u="none" dirty="0"/>
                        <a:t>Datum</a:t>
                      </a:r>
                    </a:p>
                  </a:txBody>
                  <a:tcPr/>
                </a:tc>
                <a:tc>
                  <a:txBody>
                    <a:bodyPr/>
                    <a:lstStyle/>
                    <a:p>
                      <a:r>
                        <a:rPr lang="nl-NL" b="1" u="none" dirty="0"/>
                        <a:t>Aantal</a:t>
                      </a:r>
                    </a:p>
                  </a:txBody>
                  <a:tcPr/>
                </a:tc>
                <a:tc>
                  <a:txBody>
                    <a:bodyPr/>
                    <a:lstStyle/>
                    <a:p>
                      <a:r>
                        <a:rPr lang="nl-NL" b="1" u="none" dirty="0"/>
                        <a:t>FK</a:t>
                      </a:r>
                    </a:p>
                  </a:txBody>
                  <a:tcPr/>
                </a:tc>
                <a:extLst>
                  <a:ext uri="{0D108BD9-81ED-4DB2-BD59-A6C34878D82A}">
                    <a16:rowId xmlns:a16="http://schemas.microsoft.com/office/drawing/2014/main" val="1194861106"/>
                  </a:ext>
                </a:extLst>
              </a:tr>
              <a:tr h="487229">
                <a:tc>
                  <a:txBody>
                    <a:bodyPr/>
                    <a:lstStyle/>
                    <a:p>
                      <a:r>
                        <a:rPr lang="nl-NL" dirty="0"/>
                        <a:t>A</a:t>
                      </a:r>
                    </a:p>
                  </a:txBody>
                  <a:tcPr/>
                </a:tc>
                <a:tc>
                  <a:txBody>
                    <a:bodyPr/>
                    <a:lstStyle/>
                    <a:p>
                      <a:r>
                        <a:rPr lang="nl-NL" dirty="0"/>
                        <a:t>2025-01-01</a:t>
                      </a:r>
                    </a:p>
                  </a:txBody>
                  <a:tcPr/>
                </a:tc>
                <a:tc>
                  <a:txBody>
                    <a:bodyPr/>
                    <a:lstStyle/>
                    <a:p>
                      <a:r>
                        <a:rPr lang="nl-NL" dirty="0"/>
                        <a:t>100</a:t>
                      </a:r>
                    </a:p>
                  </a:txBody>
                  <a:tcPr/>
                </a:tc>
                <a:tc>
                  <a:txBody>
                    <a:bodyPr/>
                    <a:lstStyle/>
                    <a:p>
                      <a:r>
                        <a:rPr lang="nl-NL" dirty="0"/>
                        <a:t>1</a:t>
                      </a:r>
                    </a:p>
                  </a:txBody>
                  <a:tcPr/>
                </a:tc>
                <a:extLst>
                  <a:ext uri="{0D108BD9-81ED-4DB2-BD59-A6C34878D82A}">
                    <a16:rowId xmlns:a16="http://schemas.microsoft.com/office/drawing/2014/main" val="323268865"/>
                  </a:ext>
                </a:extLst>
              </a:tr>
              <a:tr h="487229">
                <a:tc>
                  <a:txBody>
                    <a:bodyPr/>
                    <a:lstStyle/>
                    <a:p>
                      <a:r>
                        <a:rPr lang="nl-NL" b="0" dirty="0">
                          <a:solidFill>
                            <a:schemeClr val="tx1"/>
                          </a:solidFill>
                        </a:rPr>
                        <a:t>B</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2025-02-01</a:t>
                      </a:r>
                    </a:p>
                  </a:txBody>
                  <a:tcPr/>
                </a:tc>
                <a:tc>
                  <a:txBody>
                    <a:bodyPr/>
                    <a:lstStyle/>
                    <a:p>
                      <a:r>
                        <a:rPr lang="nl-NL" b="0" dirty="0">
                          <a:solidFill>
                            <a:schemeClr val="tx1"/>
                          </a:solidFill>
                        </a:rPr>
                        <a:t>200</a:t>
                      </a:r>
                    </a:p>
                  </a:txBody>
                  <a:tcPr/>
                </a:tc>
                <a:tc>
                  <a:txBody>
                    <a:bodyPr/>
                    <a:lstStyle/>
                    <a:p>
                      <a:r>
                        <a:rPr lang="nl-NL" b="0" dirty="0">
                          <a:solidFill>
                            <a:schemeClr val="tx1"/>
                          </a:solidFill>
                        </a:rPr>
                        <a:t>2</a:t>
                      </a:r>
                    </a:p>
                  </a:txBody>
                  <a:tcPr/>
                </a:tc>
                <a:extLst>
                  <a:ext uri="{0D108BD9-81ED-4DB2-BD59-A6C34878D82A}">
                    <a16:rowId xmlns:a16="http://schemas.microsoft.com/office/drawing/2014/main" val="267217733"/>
                  </a:ext>
                </a:extLst>
              </a:tr>
              <a:tr h="487229">
                <a:tc>
                  <a:txBody>
                    <a:bodyPr/>
                    <a:lstStyle/>
                    <a:p>
                      <a:r>
                        <a:rPr lang="nl-NL" b="0" dirty="0">
                          <a:solidFill>
                            <a:schemeClr val="tx1"/>
                          </a:solidFill>
                        </a:rPr>
                        <a:t>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2025-03-01</a:t>
                      </a:r>
                    </a:p>
                  </a:txBody>
                  <a:tcPr/>
                </a:tc>
                <a:tc>
                  <a:txBody>
                    <a:bodyPr/>
                    <a:lstStyle/>
                    <a:p>
                      <a:r>
                        <a:rPr lang="nl-NL" b="0" dirty="0">
                          <a:solidFill>
                            <a:schemeClr val="tx1"/>
                          </a:solidFill>
                        </a:rPr>
                        <a:t>300</a:t>
                      </a:r>
                    </a:p>
                  </a:txBody>
                  <a:tcPr/>
                </a:tc>
                <a:tc>
                  <a:txBody>
                    <a:bodyPr/>
                    <a:lstStyle/>
                    <a:p>
                      <a:r>
                        <a:rPr lang="nl-NL" b="0" dirty="0">
                          <a:solidFill>
                            <a:schemeClr val="tx1"/>
                          </a:solidFill>
                        </a:rPr>
                        <a:t>3</a:t>
                      </a:r>
                    </a:p>
                  </a:txBody>
                  <a:tcPr/>
                </a:tc>
                <a:extLst>
                  <a:ext uri="{0D108BD9-81ED-4DB2-BD59-A6C34878D82A}">
                    <a16:rowId xmlns:a16="http://schemas.microsoft.com/office/drawing/2014/main" val="1937839361"/>
                  </a:ext>
                </a:extLst>
              </a:tr>
              <a:tr h="487229">
                <a:tc>
                  <a:txBody>
                    <a:bodyPr/>
                    <a:lstStyle/>
                    <a:p>
                      <a:r>
                        <a:rPr lang="nl-NL" b="0" dirty="0">
                          <a:solidFill>
                            <a:schemeClr val="tx1"/>
                          </a:solidFill>
                        </a:rPr>
                        <a:t>D</a:t>
                      </a:r>
                    </a:p>
                  </a:txBody>
                  <a:tcPr/>
                </a:tc>
                <a:tc>
                  <a:txBody>
                    <a:bodyPr/>
                    <a:lstStyle/>
                    <a:p>
                      <a:r>
                        <a:rPr lang="nl-NL" dirty="0"/>
                        <a:t>2026-02-02</a:t>
                      </a:r>
                    </a:p>
                  </a:txBody>
                  <a:tcPr/>
                </a:tc>
                <a:tc>
                  <a:txBody>
                    <a:bodyPr/>
                    <a:lstStyle/>
                    <a:p>
                      <a:r>
                        <a:rPr lang="nl-NL" b="0" dirty="0">
                          <a:solidFill>
                            <a:schemeClr val="tx1"/>
                          </a:solidFill>
                        </a:rPr>
                        <a:t>100</a:t>
                      </a:r>
                    </a:p>
                  </a:txBody>
                  <a:tcPr/>
                </a:tc>
                <a:tc>
                  <a:txBody>
                    <a:bodyPr/>
                    <a:lstStyle/>
                    <a:p>
                      <a:r>
                        <a:rPr lang="nl-NL" b="0" dirty="0">
                          <a:solidFill>
                            <a:schemeClr val="tx1"/>
                          </a:solidFill>
                        </a:rPr>
                        <a:t>4</a:t>
                      </a:r>
                    </a:p>
                  </a:txBody>
                  <a:tcPr/>
                </a:tc>
                <a:extLst>
                  <a:ext uri="{0D108BD9-81ED-4DB2-BD59-A6C34878D82A}">
                    <a16:rowId xmlns:a16="http://schemas.microsoft.com/office/drawing/2014/main" val="3809114877"/>
                  </a:ext>
                </a:extLst>
              </a:tr>
            </a:tbl>
          </a:graphicData>
        </a:graphic>
      </p:graphicFrame>
      <p:sp>
        <p:nvSpPr>
          <p:cNvPr id="9" name="TextBox 16">
            <a:extLst>
              <a:ext uri="{FF2B5EF4-FFF2-40B4-BE49-F238E27FC236}">
                <a16:creationId xmlns:a16="http://schemas.microsoft.com/office/drawing/2014/main" id="{118CB56B-0907-C65C-A143-2713A84E7D2E}"/>
              </a:ext>
            </a:extLst>
          </p:cNvPr>
          <p:cNvSpPr txBox="1"/>
          <p:nvPr/>
        </p:nvSpPr>
        <p:spPr>
          <a:xfrm>
            <a:off x="9665277" y="1918271"/>
            <a:ext cx="955964" cy="369332"/>
          </a:xfrm>
          <a:prstGeom prst="rect">
            <a:avLst/>
          </a:prstGeom>
          <a:noFill/>
        </p:spPr>
        <p:txBody>
          <a:bodyPr wrap="square" rtlCol="0">
            <a:spAutoFit/>
          </a:bodyPr>
          <a:lstStyle/>
          <a:p>
            <a:pPr algn="ctr"/>
            <a:r>
              <a:rPr lang="en-US" b="1" dirty="0">
                <a:solidFill>
                  <a:srgbClr val="213343"/>
                </a:solidFill>
                <a:latin typeface="Arial" panose="020B0604020202020204" pitchFamily="34" charset="0"/>
                <a:cs typeface="Arial" panose="020B0604020202020204" pitchFamily="34" charset="0"/>
              </a:rPr>
              <a:t>Feit</a:t>
            </a:r>
          </a:p>
        </p:txBody>
      </p:sp>
      <p:sp>
        <p:nvSpPr>
          <p:cNvPr id="10" name="TextBox 16">
            <a:extLst>
              <a:ext uri="{FF2B5EF4-FFF2-40B4-BE49-F238E27FC236}">
                <a16:creationId xmlns:a16="http://schemas.microsoft.com/office/drawing/2014/main" id="{491032D4-3FE8-9D1D-8F88-31EF3E7C332A}"/>
              </a:ext>
            </a:extLst>
          </p:cNvPr>
          <p:cNvSpPr txBox="1"/>
          <p:nvPr/>
        </p:nvSpPr>
        <p:spPr>
          <a:xfrm>
            <a:off x="2660072" y="2076486"/>
            <a:ext cx="1517074" cy="369332"/>
          </a:xfrm>
          <a:prstGeom prst="rect">
            <a:avLst/>
          </a:prstGeom>
          <a:noFill/>
        </p:spPr>
        <p:txBody>
          <a:bodyPr wrap="square" rtlCol="0">
            <a:spAutoFit/>
          </a:bodyPr>
          <a:lstStyle/>
          <a:p>
            <a:pPr algn="ctr"/>
            <a:r>
              <a:rPr lang="en-US" b="1" dirty="0" err="1">
                <a:solidFill>
                  <a:srgbClr val="213343"/>
                </a:solidFill>
                <a:latin typeface="Arial" panose="020B0604020202020204" pitchFamily="34" charset="0"/>
                <a:cs typeface="Arial" panose="020B0604020202020204" pitchFamily="34" charset="0"/>
              </a:rPr>
              <a:t>Dimensie</a:t>
            </a:r>
            <a:endParaRPr lang="en-US" b="1" dirty="0">
              <a:solidFill>
                <a:srgbClr val="213343"/>
              </a:solidFill>
              <a:latin typeface="Arial" panose="020B0604020202020204" pitchFamily="34" charset="0"/>
              <a:cs typeface="Arial" panose="020B0604020202020204" pitchFamily="34" charset="0"/>
            </a:endParaRPr>
          </a:p>
        </p:txBody>
      </p:sp>
      <p:sp>
        <p:nvSpPr>
          <p:cNvPr id="11" name="Rechthoek 12">
            <a:extLst>
              <a:ext uri="{FF2B5EF4-FFF2-40B4-BE49-F238E27FC236}">
                <a16:creationId xmlns:a16="http://schemas.microsoft.com/office/drawing/2014/main" id="{4969EBAB-1F19-5F1E-CE7C-7D130E2A13FF}"/>
              </a:ext>
            </a:extLst>
          </p:cNvPr>
          <p:cNvSpPr/>
          <p:nvPr/>
        </p:nvSpPr>
        <p:spPr>
          <a:xfrm>
            <a:off x="1185602" y="4431590"/>
            <a:ext cx="5694219" cy="4940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rgbClr val="FF0000"/>
              </a:solidFill>
            </a:endParaRPr>
          </a:p>
        </p:txBody>
      </p:sp>
      <p:sp>
        <p:nvSpPr>
          <p:cNvPr id="13" name="Rechthoek 12">
            <a:extLst>
              <a:ext uri="{FF2B5EF4-FFF2-40B4-BE49-F238E27FC236}">
                <a16:creationId xmlns:a16="http://schemas.microsoft.com/office/drawing/2014/main" id="{2F867666-7328-802D-05AB-CD0F920369BB}"/>
              </a:ext>
            </a:extLst>
          </p:cNvPr>
          <p:cNvSpPr/>
          <p:nvPr/>
        </p:nvSpPr>
        <p:spPr>
          <a:xfrm>
            <a:off x="2763982" y="2913422"/>
            <a:ext cx="1579418" cy="494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solidFill>
                  <a:schemeClr val="tx1"/>
                </a:solidFill>
              </a:rPr>
              <a:t>2026-01-02</a:t>
            </a:r>
          </a:p>
        </p:txBody>
      </p:sp>
      <p:sp>
        <p:nvSpPr>
          <p:cNvPr id="15" name="TextBox 16">
            <a:extLst>
              <a:ext uri="{FF2B5EF4-FFF2-40B4-BE49-F238E27FC236}">
                <a16:creationId xmlns:a16="http://schemas.microsoft.com/office/drawing/2014/main" id="{91EAE8B3-0C06-AE21-B384-C76AE2FED71B}"/>
              </a:ext>
            </a:extLst>
          </p:cNvPr>
          <p:cNvSpPr txBox="1"/>
          <p:nvPr/>
        </p:nvSpPr>
        <p:spPr>
          <a:xfrm>
            <a:off x="520500" y="5934670"/>
            <a:ext cx="6114473" cy="923330"/>
          </a:xfrm>
          <a:prstGeom prst="rect">
            <a:avLst/>
          </a:prstGeom>
          <a:noFill/>
        </p:spPr>
        <p:txBody>
          <a:bodyPr wrap="square" rtlCol="0">
            <a:spAutoFit/>
          </a:bodyPr>
          <a:lstStyle/>
          <a:p>
            <a:pPr algn="ctr"/>
            <a:r>
              <a:rPr lang="en-US" dirty="0" err="1">
                <a:solidFill>
                  <a:srgbClr val="213343"/>
                </a:solidFill>
                <a:latin typeface="Arial" panose="020B0604020202020204" pitchFamily="34" charset="0"/>
                <a:cs typeface="Arial" panose="020B0604020202020204" pitchFamily="34" charset="0"/>
              </a:rPr>
              <a:t>Verwacht</a:t>
            </a:r>
            <a:r>
              <a:rPr lang="en-US" dirty="0">
                <a:solidFill>
                  <a:srgbClr val="213343"/>
                </a:solidFill>
                <a:latin typeface="Arial" panose="020B0604020202020204" pitchFamily="34" charset="0"/>
                <a:cs typeface="Arial" panose="020B0604020202020204" pitchFamily="34" charset="0"/>
              </a:rPr>
              <a:t>:</a:t>
            </a:r>
          </a:p>
          <a:p>
            <a:pPr marL="285750" indent="-285750" algn="ctr">
              <a:buFontTx/>
              <a:buChar char="-"/>
            </a:pPr>
            <a:r>
              <a:rPr lang="en-US" dirty="0">
                <a:solidFill>
                  <a:srgbClr val="213343"/>
                </a:solidFill>
                <a:latin typeface="Arial" panose="020B0604020202020204" pitchFamily="34" charset="0"/>
                <a:cs typeface="Arial" panose="020B0604020202020204" pitchFamily="34" charset="0"/>
              </a:rPr>
              <a:t>Een </a:t>
            </a:r>
            <a:r>
              <a:rPr lang="en-US" dirty="0" err="1">
                <a:solidFill>
                  <a:srgbClr val="213343"/>
                </a:solidFill>
                <a:latin typeface="Arial" panose="020B0604020202020204" pitchFamily="34" charset="0"/>
                <a:cs typeface="Arial" panose="020B0604020202020204" pitchFamily="34" charset="0"/>
              </a:rPr>
              <a:t>ingevulde</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Eindtijd</a:t>
            </a:r>
            <a:r>
              <a:rPr lang="en-US" dirty="0">
                <a:solidFill>
                  <a:srgbClr val="213343"/>
                </a:solidFill>
                <a:latin typeface="Arial" panose="020B0604020202020204" pitchFamily="34" charset="0"/>
                <a:cs typeface="Arial" panose="020B0604020202020204" pitchFamily="34" charset="0"/>
              </a:rPr>
              <a:t>”-</a:t>
            </a:r>
            <a:r>
              <a:rPr lang="en-US" dirty="0" err="1">
                <a:solidFill>
                  <a:srgbClr val="213343"/>
                </a:solidFill>
                <a:latin typeface="Arial" panose="020B0604020202020204" pitchFamily="34" charset="0"/>
                <a:cs typeface="Arial" panose="020B0604020202020204" pitchFamily="34" charset="0"/>
              </a:rPr>
              <a:t>kolom</a:t>
            </a:r>
            <a:r>
              <a:rPr lang="en-US" dirty="0">
                <a:solidFill>
                  <a:srgbClr val="213343"/>
                </a:solidFill>
                <a:latin typeface="Arial" panose="020B0604020202020204" pitchFamily="34" charset="0"/>
                <a:cs typeface="Arial" panose="020B0604020202020204" pitchFamily="34" charset="0"/>
              </a:rPr>
              <a:t> in de </a:t>
            </a:r>
            <a:r>
              <a:rPr lang="en-US" dirty="0" err="1">
                <a:solidFill>
                  <a:srgbClr val="213343"/>
                </a:solidFill>
                <a:latin typeface="Arial" panose="020B0604020202020204" pitchFamily="34" charset="0"/>
                <a:cs typeface="Arial" panose="020B0604020202020204" pitchFamily="34" charset="0"/>
              </a:rPr>
              <a:t>oude</a:t>
            </a:r>
            <a:r>
              <a:rPr lang="en-US" dirty="0">
                <a:solidFill>
                  <a:srgbClr val="213343"/>
                </a:solidFill>
                <a:latin typeface="Arial" panose="020B0604020202020204" pitchFamily="34" charset="0"/>
                <a:cs typeface="Arial" panose="020B0604020202020204" pitchFamily="34" charset="0"/>
              </a:rPr>
              <a:t> regel</a:t>
            </a:r>
          </a:p>
          <a:p>
            <a:pPr marL="285750" indent="-285750" algn="ctr">
              <a:buFontTx/>
              <a:buChar char="-"/>
            </a:pPr>
            <a:r>
              <a:rPr lang="en-US" dirty="0">
                <a:solidFill>
                  <a:srgbClr val="213343"/>
                </a:solidFill>
                <a:latin typeface="Arial" panose="020B0604020202020204" pitchFamily="34" charset="0"/>
                <a:cs typeface="Arial" panose="020B0604020202020204" pitchFamily="34" charset="0"/>
              </a:rPr>
              <a:t>Een </a:t>
            </a:r>
            <a:r>
              <a:rPr lang="en-US" dirty="0" err="1">
                <a:solidFill>
                  <a:srgbClr val="213343"/>
                </a:solidFill>
                <a:latin typeface="Arial" panose="020B0604020202020204" pitchFamily="34" charset="0"/>
                <a:cs typeface="Arial" panose="020B0604020202020204" pitchFamily="34" charset="0"/>
              </a:rPr>
              <a:t>nieuwe</a:t>
            </a:r>
            <a:r>
              <a:rPr lang="en-US" dirty="0">
                <a:solidFill>
                  <a:srgbClr val="213343"/>
                </a:solidFill>
                <a:latin typeface="Arial" panose="020B0604020202020204" pitchFamily="34" charset="0"/>
                <a:cs typeface="Arial" panose="020B0604020202020204" pitchFamily="34" charset="0"/>
              </a:rPr>
              <a:t> regel met de </a:t>
            </a:r>
            <a:r>
              <a:rPr lang="en-US" dirty="0" err="1">
                <a:solidFill>
                  <a:srgbClr val="213343"/>
                </a:solidFill>
                <a:latin typeface="Arial" panose="020B0604020202020204" pitchFamily="34" charset="0"/>
                <a:cs typeface="Arial" panose="020B0604020202020204" pitchFamily="34" charset="0"/>
              </a:rPr>
              <a:t>actuele</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waarden</a:t>
            </a:r>
            <a:endParaRPr lang="en-US" dirty="0">
              <a:solidFill>
                <a:srgbClr val="213343"/>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8640734B-B575-D028-D1DB-3E48957F0DB4}"/>
              </a:ext>
            </a:extLst>
          </p:cNvPr>
          <p:cNvSpPr txBox="1"/>
          <p:nvPr/>
        </p:nvSpPr>
        <p:spPr>
          <a:xfrm>
            <a:off x="7221682" y="5958467"/>
            <a:ext cx="4970318" cy="923330"/>
          </a:xfrm>
          <a:prstGeom prst="rect">
            <a:avLst/>
          </a:prstGeom>
          <a:noFill/>
        </p:spPr>
        <p:txBody>
          <a:bodyPr wrap="square" rtlCol="0">
            <a:spAutoFit/>
          </a:bodyPr>
          <a:lstStyle/>
          <a:p>
            <a:pPr algn="ctr"/>
            <a:r>
              <a:rPr lang="en-US" dirty="0" err="1">
                <a:solidFill>
                  <a:srgbClr val="213343"/>
                </a:solidFill>
                <a:latin typeface="Arial" panose="020B0604020202020204" pitchFamily="34" charset="0"/>
                <a:cs typeface="Arial" panose="020B0604020202020204" pitchFamily="34" charset="0"/>
              </a:rPr>
              <a:t>Verwacht</a:t>
            </a:r>
            <a:r>
              <a:rPr lang="en-US" dirty="0">
                <a:solidFill>
                  <a:srgbClr val="213343"/>
                </a:solidFill>
                <a:latin typeface="Arial" panose="020B0604020202020204" pitchFamily="34" charset="0"/>
                <a:cs typeface="Arial" panose="020B0604020202020204" pitchFamily="34" charset="0"/>
              </a:rPr>
              <a:t>:</a:t>
            </a:r>
          </a:p>
          <a:p>
            <a:pPr algn="ctr"/>
            <a:r>
              <a:rPr lang="en-US" dirty="0">
                <a:solidFill>
                  <a:srgbClr val="213343"/>
                </a:solidFill>
                <a:latin typeface="Arial" panose="020B0604020202020204" pitchFamily="34" charset="0"/>
                <a:cs typeface="Arial" panose="020B0604020202020204" pitchFamily="34" charset="0"/>
              </a:rPr>
              <a:t>Een </a:t>
            </a:r>
            <a:r>
              <a:rPr lang="en-US" dirty="0" err="1">
                <a:solidFill>
                  <a:srgbClr val="213343"/>
                </a:solidFill>
                <a:latin typeface="Arial" panose="020B0604020202020204" pitchFamily="34" charset="0"/>
                <a:cs typeface="Arial" panose="020B0604020202020204" pitchFamily="34" charset="0"/>
              </a:rPr>
              <a:t>nieuwe</a:t>
            </a:r>
            <a:r>
              <a:rPr lang="en-US" dirty="0">
                <a:solidFill>
                  <a:srgbClr val="213343"/>
                </a:solidFill>
                <a:latin typeface="Arial" panose="020B0604020202020204" pitchFamily="34" charset="0"/>
                <a:cs typeface="Arial" panose="020B0604020202020204" pitchFamily="34" charset="0"/>
              </a:rPr>
              <a:t> regel </a:t>
            </a:r>
            <a:r>
              <a:rPr lang="en-US" dirty="0" err="1">
                <a:solidFill>
                  <a:srgbClr val="213343"/>
                </a:solidFill>
                <a:latin typeface="Arial" panose="020B0604020202020204" pitchFamily="34" charset="0"/>
                <a:cs typeface="Arial" panose="020B0604020202020204" pitchFamily="34" charset="0"/>
              </a:rPr>
              <a:t>mét</a:t>
            </a:r>
            <a:r>
              <a:rPr lang="en-US" dirty="0">
                <a:solidFill>
                  <a:srgbClr val="213343"/>
                </a:solidFill>
                <a:latin typeface="Arial" panose="020B0604020202020204" pitchFamily="34" charset="0"/>
                <a:cs typeface="Arial" panose="020B0604020202020204" pitchFamily="34" charset="0"/>
              </a:rPr>
              <a:t> de </a:t>
            </a:r>
            <a:r>
              <a:rPr lang="en-US" dirty="0" err="1">
                <a:solidFill>
                  <a:srgbClr val="213343"/>
                </a:solidFill>
                <a:latin typeface="Arial" panose="020B0604020202020204" pitchFamily="34" charset="0"/>
                <a:cs typeface="Arial" panose="020B0604020202020204" pitchFamily="34" charset="0"/>
              </a:rPr>
              <a:t>nieuwe</a:t>
            </a:r>
            <a:r>
              <a:rPr lang="en-US" dirty="0">
                <a:solidFill>
                  <a:srgbClr val="213343"/>
                </a:solidFill>
                <a:latin typeface="Arial" panose="020B0604020202020204" pitchFamily="34" charset="0"/>
                <a:cs typeface="Arial" panose="020B0604020202020204" pitchFamily="34" charset="0"/>
              </a:rPr>
              <a:t>/</a:t>
            </a:r>
            <a:r>
              <a:rPr lang="en-US" dirty="0" err="1">
                <a:solidFill>
                  <a:srgbClr val="213343"/>
                </a:solidFill>
                <a:latin typeface="Arial" panose="020B0604020202020204" pitchFamily="34" charset="0"/>
                <a:cs typeface="Arial" panose="020B0604020202020204" pitchFamily="34" charset="0"/>
              </a:rPr>
              <a:t>hoogste</a:t>
            </a:r>
            <a:r>
              <a:rPr lang="en-US" dirty="0">
                <a:solidFill>
                  <a:srgbClr val="213343"/>
                </a:solidFill>
                <a:latin typeface="Arial" panose="020B0604020202020204" pitchFamily="34" charset="0"/>
                <a:cs typeface="Arial" panose="020B0604020202020204" pitchFamily="34" charset="0"/>
              </a:rPr>
              <a:t> SK (4) </a:t>
            </a:r>
            <a:r>
              <a:rPr lang="en-US" dirty="0" err="1">
                <a:solidFill>
                  <a:srgbClr val="213343"/>
                </a:solidFill>
                <a:latin typeface="Arial" panose="020B0604020202020204" pitchFamily="34" charset="0"/>
                <a:cs typeface="Arial" panose="020B0604020202020204" pitchFamily="34" charset="0"/>
              </a:rPr>
              <a:t>als</a:t>
            </a:r>
            <a:r>
              <a:rPr lang="en-US" dirty="0">
                <a:solidFill>
                  <a:srgbClr val="213343"/>
                </a:solidFill>
                <a:latin typeface="Arial" panose="020B0604020202020204" pitchFamily="34" charset="0"/>
                <a:cs typeface="Arial" panose="020B0604020202020204" pitchFamily="34" charset="0"/>
              </a:rPr>
              <a:t> foreign key, </a:t>
            </a:r>
            <a:r>
              <a:rPr lang="en-US" dirty="0" err="1">
                <a:solidFill>
                  <a:srgbClr val="213343"/>
                </a:solidFill>
                <a:latin typeface="Arial" panose="020B0604020202020204" pitchFamily="34" charset="0"/>
                <a:cs typeface="Arial" panose="020B0604020202020204" pitchFamily="34" charset="0"/>
              </a:rPr>
              <a:t>i.p.v</a:t>
            </a:r>
            <a:r>
              <a:rPr lang="en-US" dirty="0">
                <a:solidFill>
                  <a:srgbClr val="213343"/>
                </a:solidFill>
                <a:latin typeface="Arial" panose="020B0604020202020204" pitchFamily="34" charset="0"/>
                <a:cs typeface="Arial" panose="020B0604020202020204" pitchFamily="34" charset="0"/>
              </a:rPr>
              <a:t>. de </a:t>
            </a:r>
            <a:r>
              <a:rPr lang="en-US" dirty="0" err="1">
                <a:solidFill>
                  <a:srgbClr val="213343"/>
                </a:solidFill>
                <a:latin typeface="Arial" panose="020B0604020202020204" pitchFamily="34" charset="0"/>
                <a:cs typeface="Arial" panose="020B0604020202020204" pitchFamily="34" charset="0"/>
              </a:rPr>
              <a:t>vorige</a:t>
            </a:r>
            <a:r>
              <a:rPr lang="en-US" dirty="0">
                <a:solidFill>
                  <a:srgbClr val="213343"/>
                </a:solidFill>
                <a:latin typeface="Arial" panose="020B0604020202020204" pitchFamily="34" charset="0"/>
                <a:cs typeface="Arial" panose="020B0604020202020204" pitchFamily="34" charset="0"/>
              </a:rPr>
              <a:t> SK (1).</a:t>
            </a:r>
          </a:p>
        </p:txBody>
      </p:sp>
      <p:cxnSp>
        <p:nvCxnSpPr>
          <p:cNvPr id="20" name="Connector: Elbow 19">
            <a:extLst>
              <a:ext uri="{FF2B5EF4-FFF2-40B4-BE49-F238E27FC236}">
                <a16:creationId xmlns:a16="http://schemas.microsoft.com/office/drawing/2014/main" id="{6100474C-E932-745E-7009-079336AB83A1}"/>
              </a:ext>
            </a:extLst>
          </p:cNvPr>
          <p:cNvCxnSpPr>
            <a:cxnSpLocks/>
          </p:cNvCxnSpPr>
          <p:nvPr/>
        </p:nvCxnSpPr>
        <p:spPr>
          <a:xfrm rot="10800000" flipV="1">
            <a:off x="1433945" y="1880661"/>
            <a:ext cx="10167120" cy="602610"/>
          </a:xfrm>
          <a:prstGeom prst="bentConnector3">
            <a:avLst>
              <a:gd name="adj1" fmla="val 100079"/>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640B647-CE1A-9F47-A1CA-00F66206533D}"/>
              </a:ext>
            </a:extLst>
          </p:cNvPr>
          <p:cNvCxnSpPr>
            <a:cxnSpLocks/>
          </p:cNvCxnSpPr>
          <p:nvPr/>
        </p:nvCxnSpPr>
        <p:spPr>
          <a:xfrm>
            <a:off x="11601065" y="1866222"/>
            <a:ext cx="0" cy="579596"/>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2" name="Rechthoek 12">
            <a:extLst>
              <a:ext uri="{FF2B5EF4-FFF2-40B4-BE49-F238E27FC236}">
                <a16:creationId xmlns:a16="http://schemas.microsoft.com/office/drawing/2014/main" id="{9DC07414-870B-4FAE-681E-C3FA45E6CA4B}"/>
              </a:ext>
            </a:extLst>
          </p:cNvPr>
          <p:cNvSpPr/>
          <p:nvPr/>
        </p:nvSpPr>
        <p:spPr>
          <a:xfrm>
            <a:off x="8308647" y="4416771"/>
            <a:ext cx="3669224" cy="4940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solidFill>
                <a:srgbClr val="FF0000"/>
              </a:solidFill>
            </a:endParaRPr>
          </a:p>
        </p:txBody>
      </p:sp>
    </p:spTree>
    <p:custDataLst>
      <p:tags r:id="rId1"/>
    </p:custDataLst>
    <p:extLst>
      <p:ext uri="{BB962C8B-B14F-4D97-AF65-F5344CB8AC3E}">
        <p14:creationId xmlns:p14="http://schemas.microsoft.com/office/powerpoint/2010/main" val="2581104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xit" presetSubtype="0" fill="hold" grpId="0" nodeType="withEffect">
                                  <p:stCondLst>
                                    <p:cond delay="0"/>
                                  </p:stCondLst>
                                  <p:childTnLst>
                                    <p:animEffect transition="out" filter="fade">
                                      <p:cBhvr>
                                        <p:cTn id="9" dur="500"/>
                                        <p:tgtEl>
                                          <p:spTgt spid="11"/>
                                        </p:tgtEl>
                                      </p:cBhvr>
                                    </p:animEffect>
                                    <p:set>
                                      <p:cBhvr>
                                        <p:cTn id="10" dur="1" fill="hold">
                                          <p:stCondLst>
                                            <p:cond delay="499"/>
                                          </p:stCondLst>
                                        </p:cTn>
                                        <p:tgtEl>
                                          <p:spTgt spid="11"/>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grpId="0" nodeType="clickEffect">
                                  <p:stCondLst>
                                    <p:cond delay="0"/>
                                  </p:stCondLst>
                                  <p:childTnLst>
                                    <p:animEffect transition="out" filter="fade">
                                      <p:cBhvr>
                                        <p:cTn id="17" dur="500"/>
                                        <p:tgtEl>
                                          <p:spTgt spid="32"/>
                                        </p:tgtEl>
                                      </p:cBhvr>
                                    </p:animEffect>
                                    <p:set>
                                      <p:cBhvr>
                                        <p:cTn id="18" dur="1" fill="hold">
                                          <p:stCondLst>
                                            <p:cond delay="499"/>
                                          </p:stCondLst>
                                        </p:cTn>
                                        <p:tgtEl>
                                          <p:spTgt spid="32"/>
                                        </p:tgtEl>
                                        <p:attrNameLst>
                                          <p:attrName>style.visibility</p:attrName>
                                        </p:attrNameLst>
                                      </p:cBhvr>
                                      <p:to>
                                        <p:strVal val="hidden"/>
                                      </p:to>
                                    </p:set>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p:bldP spid="15" grpId="0"/>
      <p:bldP spid="17" grpId="0"/>
      <p:bldP spid="3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8E5EA-6AB7-8B47-25FA-5542F7D95EFB}"/>
            </a:ext>
          </a:extLst>
        </p:cNvPr>
        <p:cNvGrpSpPr/>
        <p:nvPr/>
      </p:nvGrpSpPr>
      <p:grpSpPr>
        <a:xfrm>
          <a:off x="0" y="0"/>
          <a:ext cx="0" cy="0"/>
          <a:chOff x="0" y="0"/>
          <a:chExt cx="0" cy="0"/>
        </a:xfrm>
      </p:grpSpPr>
      <p:sp>
        <p:nvSpPr>
          <p:cNvPr id="7" name="Tekstvak 7">
            <a:extLst>
              <a:ext uri="{FF2B5EF4-FFF2-40B4-BE49-F238E27FC236}">
                <a16:creationId xmlns:a16="http://schemas.microsoft.com/office/drawing/2014/main" id="{1A75D76E-754E-AA8D-F44D-68D39EB6B091}"/>
              </a:ext>
            </a:extLst>
          </p:cNvPr>
          <p:cNvSpPr txBox="1"/>
          <p:nvPr/>
        </p:nvSpPr>
        <p:spPr>
          <a:xfrm rot="16200000">
            <a:off x="-760560" y="982747"/>
            <a:ext cx="21927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800" b="0" i="0" u="none" strike="noStrike" kern="1200" cap="none" spc="0" normalizeH="0" baseline="0" noProof="0" dirty="0">
                <a:ln>
                  <a:noFill/>
                </a:ln>
                <a:solidFill>
                  <a:prstClr val="white"/>
                </a:solidFill>
                <a:effectLst/>
                <a:uLnTx/>
                <a:uFillTx/>
                <a:latin typeface="Calibri" panose="020F0502020204030204"/>
                <a:ea typeface="+mn-ea"/>
                <a:cs typeface="+mn-cs"/>
              </a:rPr>
              <a:t>Jelle van Barneveld</a:t>
            </a:r>
          </a:p>
        </p:txBody>
      </p:sp>
      <p:sp>
        <p:nvSpPr>
          <p:cNvPr id="2" name="TextBox 1">
            <a:extLst>
              <a:ext uri="{FF2B5EF4-FFF2-40B4-BE49-F238E27FC236}">
                <a16:creationId xmlns:a16="http://schemas.microsoft.com/office/drawing/2014/main" id="{8ADA5A2D-D7BB-39FC-5145-644E26ECDD81}"/>
              </a:ext>
            </a:extLst>
          </p:cNvPr>
          <p:cNvSpPr txBox="1"/>
          <p:nvPr/>
        </p:nvSpPr>
        <p:spPr>
          <a:xfrm>
            <a:off x="988290" y="-10754"/>
            <a:ext cx="11203710" cy="643831"/>
          </a:xfrm>
          <a:prstGeom prst="rect">
            <a:avLst/>
          </a:prstGeom>
          <a:noFill/>
        </p:spPr>
        <p:txBody>
          <a:bodyPr wrap="square" rtlCol="0">
            <a:spAutoFit/>
          </a:bodyPr>
          <a:lstStyle/>
          <a:p>
            <a:pPr marL="0" marR="0" lvl="0" indent="0" algn="ctr" defTabSz="457200" rtl="0" eaLnBrk="0" fontAlgn="base" latinLnBrk="0" hangingPunct="0">
              <a:lnSpc>
                <a:spcPct val="134000"/>
              </a:lnSpc>
              <a:spcBef>
                <a:spcPct val="0"/>
              </a:spcBef>
              <a:spcAft>
                <a:spcPct val="0"/>
              </a:spcAft>
              <a:buClr>
                <a:srgbClr val="080808"/>
              </a:buClr>
              <a:buSzPct val="100000"/>
              <a:buFont typeface="Times New Roman" charset="0"/>
              <a:buNone/>
              <a:tabLst/>
              <a:defRPr/>
            </a:pPr>
            <a:r>
              <a:rPr kumimoji="0" lang="en-US" sz="3000" b="1" i="0" u="none" strike="noStrike" kern="1200" cap="none" spc="0" normalizeH="0" baseline="0" noProof="0" dirty="0">
                <a:ln>
                  <a:noFill/>
                </a:ln>
                <a:solidFill>
                  <a:srgbClr val="829C30"/>
                </a:solidFill>
                <a:effectLst/>
                <a:uLnTx/>
                <a:uFillTx/>
                <a:latin typeface="Arial"/>
                <a:ea typeface="MS PGothic" charset="0"/>
                <a:cs typeface="+mn-cs"/>
              </a:rPr>
              <a:t>Na </a:t>
            </a:r>
            <a:r>
              <a:rPr kumimoji="0" lang="en-US" sz="3000" b="1" i="0" u="none" strike="noStrike" kern="1200" cap="none" spc="0" normalizeH="0" baseline="0" noProof="0" dirty="0" err="1">
                <a:ln>
                  <a:noFill/>
                </a:ln>
                <a:solidFill>
                  <a:srgbClr val="829C30"/>
                </a:solidFill>
                <a:effectLst/>
                <a:uLnTx/>
                <a:uFillTx/>
                <a:latin typeface="Arial"/>
                <a:ea typeface="MS PGothic" charset="0"/>
                <a:cs typeface="+mn-cs"/>
              </a:rPr>
              <a:t>vandaag</a:t>
            </a:r>
            <a:r>
              <a:rPr kumimoji="0" lang="en-US" sz="3000" b="1" i="0" u="none" strike="noStrike" kern="1200" cap="none" spc="0" normalizeH="0" baseline="0" noProof="0" dirty="0">
                <a:ln>
                  <a:noFill/>
                </a:ln>
                <a:solidFill>
                  <a:srgbClr val="829C30"/>
                </a:solidFill>
                <a:effectLst/>
                <a:uLnTx/>
                <a:uFillTx/>
                <a:latin typeface="Arial"/>
                <a:ea typeface="MS PGothic" charset="0"/>
                <a:cs typeface="+mn-cs"/>
              </a:rPr>
              <a:t>…</a:t>
            </a:r>
          </a:p>
        </p:txBody>
      </p:sp>
      <p:sp>
        <p:nvSpPr>
          <p:cNvPr id="5" name="Slide Number Placeholder 4">
            <a:extLst>
              <a:ext uri="{FF2B5EF4-FFF2-40B4-BE49-F238E27FC236}">
                <a16:creationId xmlns:a16="http://schemas.microsoft.com/office/drawing/2014/main" id="{9943472C-A67A-BF37-91E9-51B366BEF837}"/>
              </a:ext>
            </a:extLst>
          </p:cNvPr>
          <p:cNvSpPr>
            <a:spLocks noGrp="1"/>
          </p:cNvSpPr>
          <p:nvPr>
            <p:ph type="sldNum" sz="quarter" idx="12"/>
          </p:nvPr>
        </p:nvSpPr>
        <p:spPr>
          <a:xfrm>
            <a:off x="8601364" y="6381345"/>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7C737D-49A5-4740-8401-0C4DFF2B9D4A}" type="slidenum">
              <a:rPr kumimoji="0" lang="nl-N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nl-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Tekstvak 7">
            <a:extLst>
              <a:ext uri="{FF2B5EF4-FFF2-40B4-BE49-F238E27FC236}">
                <a16:creationId xmlns:a16="http://schemas.microsoft.com/office/drawing/2014/main" id="{8282FF97-CE18-EA50-9545-50368DA8064D}"/>
              </a:ext>
            </a:extLst>
          </p:cNvPr>
          <p:cNvSpPr txBox="1"/>
          <p:nvPr/>
        </p:nvSpPr>
        <p:spPr>
          <a:xfrm rot="16200000">
            <a:off x="-760560" y="982747"/>
            <a:ext cx="21927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800" b="0" i="0" u="none" strike="noStrike" kern="1200" cap="none" spc="0" normalizeH="0" baseline="0" noProof="0" dirty="0">
                <a:ln>
                  <a:noFill/>
                </a:ln>
                <a:solidFill>
                  <a:prstClr val="white"/>
                </a:solidFill>
                <a:effectLst/>
                <a:uLnTx/>
                <a:uFillTx/>
                <a:latin typeface="Calibri" panose="020F0502020204030204"/>
                <a:ea typeface="+mn-ea"/>
                <a:cs typeface="+mn-cs"/>
              </a:rPr>
              <a:t>Jelle van Barneveld</a:t>
            </a:r>
          </a:p>
        </p:txBody>
      </p:sp>
      <p:pic>
        <p:nvPicPr>
          <p:cNvPr id="1026" name="Picture 2" descr="Venn Diagram | DHH Resources for Teachers | UMN">
            <a:extLst>
              <a:ext uri="{FF2B5EF4-FFF2-40B4-BE49-F238E27FC236}">
                <a16:creationId xmlns:a16="http://schemas.microsoft.com/office/drawing/2014/main" id="{E1D38E17-C75A-1833-4EE5-FAB203D932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863" y="1025768"/>
            <a:ext cx="11101137" cy="589417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9383636-CCB8-DFF8-36F0-E441C2BB5DC0}"/>
              </a:ext>
            </a:extLst>
          </p:cNvPr>
          <p:cNvSpPr txBox="1"/>
          <p:nvPr/>
        </p:nvSpPr>
        <p:spPr>
          <a:xfrm>
            <a:off x="7124700" y="1339924"/>
            <a:ext cx="2884934"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Slowly Changing Dimensions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typen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1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2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inbouwen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in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dynamische</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Datawarehouses</a:t>
            </a:r>
            <a:endPar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endParaRPr>
          </a:p>
        </p:txBody>
      </p:sp>
      <p:sp>
        <p:nvSpPr>
          <p:cNvPr id="13" name="TextBox 12">
            <a:extLst>
              <a:ext uri="{FF2B5EF4-FFF2-40B4-BE49-F238E27FC236}">
                <a16:creationId xmlns:a16="http://schemas.microsoft.com/office/drawing/2014/main" id="{C3C87B40-7770-B0C1-6A89-62CD4014D755}"/>
              </a:ext>
            </a:extLst>
          </p:cNvPr>
          <p:cNvSpPr txBox="1"/>
          <p:nvPr/>
        </p:nvSpPr>
        <p:spPr>
          <a:xfrm>
            <a:off x="3576418" y="683609"/>
            <a:ext cx="174021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Weet/ken je…</a:t>
            </a:r>
          </a:p>
        </p:txBody>
      </p:sp>
      <p:sp>
        <p:nvSpPr>
          <p:cNvPr id="8" name="TextBox 7">
            <a:extLst>
              <a:ext uri="{FF2B5EF4-FFF2-40B4-BE49-F238E27FC236}">
                <a16:creationId xmlns:a16="http://schemas.microsoft.com/office/drawing/2014/main" id="{E06BC5E9-2629-0E44-2996-DA0D3423B44E}"/>
              </a:ext>
            </a:extLst>
          </p:cNvPr>
          <p:cNvSpPr txBox="1"/>
          <p:nvPr/>
        </p:nvSpPr>
        <p:spPr>
          <a:xfrm>
            <a:off x="7306936" y="683609"/>
            <a:ext cx="264986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Kan je…</a:t>
            </a:r>
          </a:p>
        </p:txBody>
      </p:sp>
      <p:sp>
        <p:nvSpPr>
          <p:cNvPr id="15" name="TextBox 14">
            <a:extLst>
              <a:ext uri="{FF2B5EF4-FFF2-40B4-BE49-F238E27FC236}">
                <a16:creationId xmlns:a16="http://schemas.microsoft.com/office/drawing/2014/main" id="{CAE62887-2B50-2244-4C52-A4BD6A4C6D90}"/>
              </a:ext>
            </a:extLst>
          </p:cNvPr>
          <p:cNvSpPr txBox="1"/>
          <p:nvPr/>
        </p:nvSpPr>
        <p:spPr>
          <a:xfrm>
            <a:off x="5873750" y="2438044"/>
            <a:ext cx="136809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HC + WC</a:t>
            </a:r>
          </a:p>
        </p:txBody>
      </p:sp>
      <p:pic>
        <p:nvPicPr>
          <p:cNvPr id="1030" name="Picture 6" descr="Smile Emoji Happy - Free vector graphic on Pixabay">
            <a:extLst>
              <a:ext uri="{FF2B5EF4-FFF2-40B4-BE49-F238E27FC236}">
                <a16:creationId xmlns:a16="http://schemas.microsoft.com/office/drawing/2014/main" id="{1F5C14B8-5644-3143-6387-74D45A9000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75" y="3213902"/>
            <a:ext cx="1523028" cy="152302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041CDB5-B140-EE6D-7DA2-7C2CAA70CA56}"/>
              </a:ext>
            </a:extLst>
          </p:cNvPr>
          <p:cNvSpPr txBox="1"/>
          <p:nvPr/>
        </p:nvSpPr>
        <p:spPr>
          <a:xfrm>
            <a:off x="2780368" y="1462949"/>
            <a:ext cx="333231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Welke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soorten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databronnen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er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bestaan</a:t>
            </a:r>
            <a:endPar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endParaRPr>
          </a:p>
        </p:txBody>
      </p:sp>
      <p:sp>
        <p:nvSpPr>
          <p:cNvPr id="12" name="TextBox 11">
            <a:extLst>
              <a:ext uri="{FF2B5EF4-FFF2-40B4-BE49-F238E27FC236}">
                <a16:creationId xmlns:a16="http://schemas.microsoft.com/office/drawing/2014/main" id="{5860FB58-816F-3E9F-E8F8-6EA645FE9CA4}"/>
              </a:ext>
            </a:extLst>
          </p:cNvPr>
          <p:cNvSpPr txBox="1"/>
          <p:nvPr/>
        </p:nvSpPr>
        <p:spPr>
          <a:xfrm>
            <a:off x="1555185" y="4000724"/>
            <a:ext cx="3651447"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W</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at in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Datawarehouses</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het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verschil</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is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tussen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Business Keys &amp; Surrogate Keys</a:t>
            </a:r>
            <a:endPar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endParaRPr>
          </a:p>
        </p:txBody>
      </p:sp>
      <p:sp>
        <p:nvSpPr>
          <p:cNvPr id="20" name="TextBox 19">
            <a:extLst>
              <a:ext uri="{FF2B5EF4-FFF2-40B4-BE49-F238E27FC236}">
                <a16:creationId xmlns:a16="http://schemas.microsoft.com/office/drawing/2014/main" id="{1F925F88-C8EC-A912-D034-EFF93925598F}"/>
              </a:ext>
            </a:extLst>
          </p:cNvPr>
          <p:cNvSpPr txBox="1"/>
          <p:nvPr/>
        </p:nvSpPr>
        <p:spPr>
          <a:xfrm>
            <a:off x="1750693" y="2316338"/>
            <a:ext cx="3651447"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Wat Slowly Changing Dimensions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typen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0 t/m 3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zijn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hoe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zij</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van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elkaar</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verschillen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waarom</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wanneer</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je welk type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gebruikt</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a:t>
            </a:r>
            <a:endPar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endParaRPr>
          </a:p>
        </p:txBody>
      </p:sp>
      <p:sp>
        <p:nvSpPr>
          <p:cNvPr id="22" name="TextBox 21">
            <a:extLst>
              <a:ext uri="{FF2B5EF4-FFF2-40B4-BE49-F238E27FC236}">
                <a16:creationId xmlns:a16="http://schemas.microsoft.com/office/drawing/2014/main" id="{3EBBA9D6-378E-6FD4-F1B6-729E782A3755}"/>
              </a:ext>
            </a:extLst>
          </p:cNvPr>
          <p:cNvSpPr txBox="1"/>
          <p:nvPr/>
        </p:nvSpPr>
        <p:spPr>
          <a:xfrm>
            <a:off x="2222303" y="5222977"/>
            <a:ext cx="3651447"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Welke inlaadstrategieën je het beste kunt toepassen bij het inladen van data in Datawarehouses</a:t>
            </a:r>
            <a:endPar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endParaRPr>
          </a:p>
        </p:txBody>
      </p:sp>
      <p:sp>
        <p:nvSpPr>
          <p:cNvPr id="23" name="TextBox 22">
            <a:extLst>
              <a:ext uri="{FF2B5EF4-FFF2-40B4-BE49-F238E27FC236}">
                <a16:creationId xmlns:a16="http://schemas.microsoft.com/office/drawing/2014/main" id="{CB9D5153-5601-C50F-640C-8747152B9AE9}"/>
              </a:ext>
            </a:extLst>
          </p:cNvPr>
          <p:cNvSpPr txBox="1"/>
          <p:nvPr/>
        </p:nvSpPr>
        <p:spPr>
          <a:xfrm>
            <a:off x="8310684" y="2975762"/>
            <a:ext cx="2884934"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Surrogate- &amp; Business Keys op de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juiste</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manier</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verwerken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in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Datawarehouses</a:t>
            </a:r>
            <a:endPar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endParaRPr>
          </a:p>
        </p:txBody>
      </p:sp>
      <p:sp>
        <p:nvSpPr>
          <p:cNvPr id="24" name="TextBox 23">
            <a:extLst>
              <a:ext uri="{FF2B5EF4-FFF2-40B4-BE49-F238E27FC236}">
                <a16:creationId xmlns:a16="http://schemas.microsoft.com/office/drawing/2014/main" id="{26F431DE-5365-F4D1-9BBC-050BAA7B8B0C}"/>
              </a:ext>
            </a:extLst>
          </p:cNvPr>
          <p:cNvSpPr txBox="1"/>
          <p:nvPr/>
        </p:nvSpPr>
        <p:spPr>
          <a:xfrm>
            <a:off x="7590408" y="4723878"/>
            <a:ext cx="2884934"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De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strategieën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“UPSERT”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“Incremental Data Loading”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gebruiken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om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Datawarehouses</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te</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actualiseren</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met data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uit</a:t>
            </a:r>
            <a:r>
              <a:rPr kumimoji="0" lang="en-US" sz="1800" b="0"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rPr>
              <a:t> Source Data </a:t>
            </a:r>
            <a:r>
              <a:rPr kumimoji="0" lang="en-US" sz="1800" b="0" i="0" u="none" strike="noStrike" kern="1200" cap="none" spc="0" normalizeH="0" baseline="0" noProof="0" dirty="0" err="1">
                <a:ln>
                  <a:noFill/>
                </a:ln>
                <a:solidFill>
                  <a:srgbClr val="213343"/>
                </a:solidFill>
                <a:effectLst/>
                <a:uLnTx/>
                <a:uFillTx/>
                <a:latin typeface="Arial" panose="020B0604020202020204" pitchFamily="34" charset="0"/>
                <a:ea typeface="+mn-ea"/>
                <a:cs typeface="Arial" panose="020B0604020202020204" pitchFamily="34" charset="0"/>
              </a:rPr>
              <a:t>Modellen</a:t>
            </a:r>
            <a:endParaRPr kumimoji="0" lang="en-US" sz="1800" b="1" i="0" u="none" strike="noStrike" kern="1200" cap="none" spc="0" normalizeH="0" baseline="0" noProof="0" dirty="0">
              <a:ln>
                <a:noFill/>
              </a:ln>
              <a:solidFill>
                <a:srgbClr val="213343"/>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0514697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7.7|45.1|4.7"/>
</p:tagLst>
</file>

<file path=ppt/tags/tag2.xml><?xml version="1.0" encoding="utf-8"?>
<p:tagLst xmlns:a="http://schemas.openxmlformats.org/drawingml/2006/main" xmlns:r="http://schemas.openxmlformats.org/officeDocument/2006/relationships" xmlns:p="http://schemas.openxmlformats.org/presentationml/2006/main">
  <p:tag name="TIMING" val="|11.2|66.2"/>
</p:tagLst>
</file>

<file path=ppt/tags/tag3.xml><?xml version="1.0" encoding="utf-8"?>
<p:tagLst xmlns:a="http://schemas.openxmlformats.org/drawingml/2006/main" xmlns:r="http://schemas.openxmlformats.org/officeDocument/2006/relationships" xmlns:p="http://schemas.openxmlformats.org/presentationml/2006/main">
  <p:tag name="TIMING" val="|37.5|5.6|4.2|12.9|8.3|26.9"/>
</p:tagLst>
</file>

<file path=ppt/tags/tag4.xml><?xml version="1.0" encoding="utf-8"?>
<p:tagLst xmlns:a="http://schemas.openxmlformats.org/drawingml/2006/main" xmlns:r="http://schemas.openxmlformats.org/officeDocument/2006/relationships" xmlns:p="http://schemas.openxmlformats.org/presentationml/2006/main">
  <p:tag name="TIMING" val="|37.5|5.6|4.2|12.9|8.3|26.9"/>
</p:tagLst>
</file>

<file path=ppt/tags/tag5.xml><?xml version="1.0" encoding="utf-8"?>
<p:tagLst xmlns:a="http://schemas.openxmlformats.org/drawingml/2006/main" xmlns:r="http://schemas.openxmlformats.org/officeDocument/2006/relationships" xmlns:p="http://schemas.openxmlformats.org/presentationml/2006/main">
  <p:tag name="TIMING" val="|37.5|5.6|4.2|12.9|8.3|26.9"/>
</p:tagLst>
</file>

<file path=ppt/tags/tag6.xml><?xml version="1.0" encoding="utf-8"?>
<p:tagLst xmlns:a="http://schemas.openxmlformats.org/drawingml/2006/main" xmlns:r="http://schemas.openxmlformats.org/officeDocument/2006/relationships" xmlns:p="http://schemas.openxmlformats.org/presentationml/2006/main">
  <p:tag name="TIMING" val="|37.5|5.6|4.2|12.9|8.3|26.9"/>
</p:tagLst>
</file>

<file path=ppt/tags/tag7.xml><?xml version="1.0" encoding="utf-8"?>
<p:tagLst xmlns:a="http://schemas.openxmlformats.org/drawingml/2006/main" xmlns:r="http://schemas.openxmlformats.org/officeDocument/2006/relationships" xmlns:p="http://schemas.openxmlformats.org/presentationml/2006/main">
  <p:tag name="TIMING" val="|37.5|5.6|4.2|12.9|8.3|26.9"/>
</p:tagLst>
</file>

<file path=ppt/tags/tag8.xml><?xml version="1.0" encoding="utf-8"?>
<p:tagLst xmlns:a="http://schemas.openxmlformats.org/drawingml/2006/main" xmlns:r="http://schemas.openxmlformats.org/officeDocument/2006/relationships" xmlns:p="http://schemas.openxmlformats.org/presentationml/2006/main">
  <p:tag name="TIMING" val="|26.8|28.2"/>
</p:tagLst>
</file>

<file path=ppt/tags/tag9.xml><?xml version="1.0" encoding="utf-8"?>
<p:tagLst xmlns:a="http://schemas.openxmlformats.org/drawingml/2006/main" xmlns:r="http://schemas.openxmlformats.org/officeDocument/2006/relationships" xmlns:p="http://schemas.openxmlformats.org/presentationml/2006/main">
  <p:tag name="TIMING" val="|32.3"/>
</p:tagLst>
</file>

<file path=ppt/tags/tag10.xml><?xml version="1.0" encoding="utf-8"?>
<p:tagLst xmlns:a="http://schemas.openxmlformats.org/drawingml/2006/main" xmlns:r="http://schemas.openxmlformats.org/officeDocument/2006/relationships" xmlns:p="http://schemas.openxmlformats.org/presentationml/2006/main">
  <p:tag name="TIMING" val="|32.3"/>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769D13FFC5C7A4C8E8F8F4D202D83D0" ma:contentTypeVersion="16" ma:contentTypeDescription="Een nieuw document maken." ma:contentTypeScope="" ma:versionID="b2ec890ea17184f49c4a58d4bd1095a2">
  <xsd:schema xmlns:xsd="http://www.w3.org/2001/XMLSchema" xmlns:xs="http://www.w3.org/2001/XMLSchema" xmlns:p="http://schemas.microsoft.com/office/2006/metadata/properties" xmlns:ns2="32f5a426-4411-422f-b9c8-9b9c919dd02d" xmlns:ns3="597a471e-0b75-4fc5-bc4a-75c43d0a6ad2" xmlns:ns4="d11bdb94-d558-4ffe-a4b0-092cbde21480" targetNamespace="http://schemas.microsoft.com/office/2006/metadata/properties" ma:root="true" ma:fieldsID="f90993f1e063ba2c6886d3a92126f3a0" ns2:_="" ns3:_="" ns4:_="">
    <xsd:import namespace="32f5a426-4411-422f-b9c8-9b9c919dd02d"/>
    <xsd:import namespace="597a471e-0b75-4fc5-bc4a-75c43d0a6ad2"/>
    <xsd:import namespace="d11bdb94-d558-4ffe-a4b0-092cbde2148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ObjectDetectorVersions" minOccurs="0"/>
                <xsd:element ref="ns2:MediaServiceSearchPropertie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f5a426-4411-422f-b9c8-9b9c919dd0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lcf76f155ced4ddcb4097134ff3c332f" ma:index="17" nillable="true" ma:taxonomy="true" ma:internalName="lcf76f155ced4ddcb4097134ff3c332f" ma:taxonomyFieldName="MediaServiceImageTags" ma:displayName="Afbeeldingtags" ma:readOnly="false" ma:fieldId="{5cf76f15-5ced-4ddc-b409-7134ff3c332f}" ma:taxonomyMulti="true" ma:sspId="9cfe35b6-4a65-43a7-bc9f-cf1ea54c88f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DateTaken" ma:index="22" nillable="true" ma:displayName="MediaServiceDateTaken" ma:hidden="true" ma:indexed="true" ma:internalName="MediaServiceDateTake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97a471e-0b75-4fc5-bc4a-75c43d0a6ad2" elementFormDefault="qualified">
    <xsd:import namespace="http://schemas.microsoft.com/office/2006/documentManagement/types"/>
    <xsd:import namespace="http://schemas.microsoft.com/office/infopath/2007/PartnerControls"/>
    <xsd:element name="SharedWithUsers" ma:index="12"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Gedeeld met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11bdb94-d558-4ffe-a4b0-092cbde2148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26a33bc-5304-44c1-9510-c7646694e7db}" ma:internalName="TaxCatchAll" ma:showField="CatchAllData" ma:web="597a471e-0b75-4fc5-bc4a-75c43d0a6ad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2f5a426-4411-422f-b9c8-9b9c919dd02d">
      <Terms xmlns="http://schemas.microsoft.com/office/infopath/2007/PartnerControls"/>
    </lcf76f155ced4ddcb4097134ff3c332f>
    <TaxCatchAll xmlns="d11bdb94-d558-4ffe-a4b0-092cbde21480" xsi:nil="true"/>
  </documentManagement>
</p:properties>
</file>

<file path=customXml/itemProps1.xml><?xml version="1.0" encoding="utf-8"?>
<ds:datastoreItem xmlns:ds="http://schemas.openxmlformats.org/officeDocument/2006/customXml" ds:itemID="{A2A505CF-29A5-4FA3-9E2E-509EBC291071}">
  <ds:schemaRefs>
    <ds:schemaRef ds:uri="http://schemas.microsoft.com/sharepoint/v3/contenttype/forms"/>
  </ds:schemaRefs>
</ds:datastoreItem>
</file>

<file path=customXml/itemProps2.xml><?xml version="1.0" encoding="utf-8"?>
<ds:datastoreItem xmlns:ds="http://schemas.openxmlformats.org/officeDocument/2006/customXml" ds:itemID="{8B900A1B-F1CE-44E4-8BF6-8122721E03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2f5a426-4411-422f-b9c8-9b9c919dd02d"/>
    <ds:schemaRef ds:uri="597a471e-0b75-4fc5-bc4a-75c43d0a6ad2"/>
    <ds:schemaRef ds:uri="d11bdb94-d558-4ffe-a4b0-092cbde2148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4EBCDBB-E4E3-4523-9380-0D25C9F15902}">
  <ds:schemaRefs>
    <ds:schemaRef ds:uri="http://schemas.openxmlformats.org/package/2006/metadata/core-properties"/>
    <ds:schemaRef ds:uri="http://purl.org/dc/terms/"/>
    <ds:schemaRef ds:uri="http://schemas.microsoft.com/office/2006/documentManagement/types"/>
    <ds:schemaRef ds:uri="http://purl.org/dc/elements/1.1/"/>
    <ds:schemaRef ds:uri="http://purl.org/dc/dcmitype/"/>
    <ds:schemaRef ds:uri="http://schemas.microsoft.com/office/infopath/2007/PartnerControls"/>
    <ds:schemaRef ds:uri="d11bdb94-d558-4ffe-a4b0-092cbde21480"/>
    <ds:schemaRef ds:uri="32f5a426-4411-422f-b9c8-9b9c919dd02d"/>
    <ds:schemaRef ds:uri="597a471e-0b75-4fc5-bc4a-75c43d0a6ad2"/>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a2586b9b-f867-4b3c-9363-5b435c5dbc45}" enabled="0" method="" siteId="{a2586b9b-f867-4b3c-9363-5b435c5dbc45}" removed="1"/>
</clbl:labelList>
</file>

<file path=docProps/app.xml><?xml version="1.0" encoding="utf-8"?>
<Properties xmlns="http://schemas.openxmlformats.org/officeDocument/2006/extended-properties" xmlns:vt="http://schemas.openxmlformats.org/officeDocument/2006/docPropsVTypes">
  <TotalTime>4838</TotalTime>
  <Words>2289</Words>
  <Application>Microsoft Office PowerPoint</Application>
  <PresentationFormat>Widescreen</PresentationFormat>
  <Paragraphs>453</Paragraphs>
  <Slides>18</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Calibri</vt:lpstr>
      <vt:lpstr>Calibri Light</vt:lpstr>
      <vt:lpstr>Consolas</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Jelle van Barneveld</dc:creator>
  <cp:lastModifiedBy>Jelle van Barneveld</cp:lastModifiedBy>
  <cp:revision>2</cp:revision>
  <dcterms:created xsi:type="dcterms:W3CDTF">2025-06-10T10:44:22Z</dcterms:created>
  <dcterms:modified xsi:type="dcterms:W3CDTF">2026-03-19T09:17:36Z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0x0101007769D13FFC5C7A4C8E8F8F4D202D83D0</vt:lpwstr>
  </property>
  <property fmtid="{D5CDD505-2E9C-101B-9397-08002B2CF9AE}" pid="3" name="MediaServiceImageTags">
    <vt:lpwstr/>
  </property>
</Properties>
</file>