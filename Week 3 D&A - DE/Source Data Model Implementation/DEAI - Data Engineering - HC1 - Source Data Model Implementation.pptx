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3"/>
  </p:notesMasterIdLst>
  <p:sldIdLst>
    <p:sldId id="257" r:id="rId5"/>
    <p:sldId id="258" r:id="rId6"/>
    <p:sldId id="424" r:id="rId7"/>
    <p:sldId id="271" r:id="rId8"/>
    <p:sldId id="415" r:id="rId9"/>
    <p:sldId id="468" r:id="rId10"/>
    <p:sldId id="472" r:id="rId11"/>
    <p:sldId id="474" r:id="rId12"/>
    <p:sldId id="475" r:id="rId13"/>
    <p:sldId id="473" r:id="rId14"/>
    <p:sldId id="322" r:id="rId15"/>
    <p:sldId id="476" r:id="rId16"/>
    <p:sldId id="471" r:id="rId17"/>
    <p:sldId id="477" r:id="rId18"/>
    <p:sldId id="478" r:id="rId19"/>
    <p:sldId id="479" r:id="rId20"/>
    <p:sldId id="480" r:id="rId21"/>
    <p:sldId id="4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222" autoAdjust="0"/>
  </p:normalViewPr>
  <p:slideViewPr>
    <p:cSldViewPr snapToGrid="0">
      <p:cViewPr varScale="1">
        <p:scale>
          <a:sx n="59" d="100"/>
          <a:sy n="59" d="100"/>
        </p:scale>
        <p:origin x="1589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41D0E-EB88-4749-89F8-9DFB374F9C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8B787-19A5-4841-9136-A8C6238BB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D4F08E-DBF9-4149-B53D-0FE47425BC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056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EA69-2149-F569-D66E-D2D4C3D22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E8A02-7622-5779-7A8F-AF7347903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F6B7F-AE64-6E07-FEC8-BC36C3627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endParaRPr lang="en-US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4DEE9-1DF3-D24F-CBDD-8B3BD320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D4F08E-DBF9-4149-B53D-0FE47425BC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648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4FAB-47E2-6217-12BC-0B293AFB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4E4AD00-D4C8-789B-14B3-A0FE58B71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AAB5B54-030F-87D5-2A20-B1BECC73F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Antwoord laatste vraag: ligt aan je ON DELETE </a:t>
            </a:r>
            <a:r>
              <a:rPr lang="nl-NL" err="1"/>
              <a:t>foreign</a:t>
            </a:r>
            <a:r>
              <a:rPr lang="nl-NL"/>
              <a:t> </a:t>
            </a:r>
            <a:r>
              <a:rPr lang="nl-NL" err="1"/>
              <a:t>key</a:t>
            </a:r>
            <a:r>
              <a:rPr lang="nl-NL"/>
              <a:t> </a:t>
            </a:r>
            <a:r>
              <a:rPr lang="nl-NL" err="1"/>
              <a:t>constraint</a:t>
            </a:r>
            <a:r>
              <a:rPr lang="nl-NL"/>
              <a:t>.</a:t>
            </a:r>
          </a:p>
          <a:p>
            <a:pPr marL="171450" indent="-171450">
              <a:buFontTx/>
              <a:buChar char="-"/>
            </a:pPr>
            <a:r>
              <a:rPr lang="nl-NL"/>
              <a:t>Bij ON DELETE RESTRICT of ON DELETE NO ACTION moet per associatie eerst de tabel met de vreemde sleutel weggehaald worden, daarna mag pas de andere tabel worden verwijderd.</a:t>
            </a:r>
          </a:p>
          <a:p>
            <a:pPr marL="171450" indent="-171450">
              <a:buFontTx/>
              <a:buChar char="-"/>
            </a:pPr>
            <a:r>
              <a:rPr lang="nl-NL"/>
              <a:t>Bij ON DELETE CASCADE of ON DELETE SET NULL maakt de verwijdervolgorde niet uit.</a:t>
            </a:r>
          </a:p>
          <a:p>
            <a:pPr marL="0" indent="0">
              <a:buFontTx/>
              <a:buNone/>
            </a:pPr>
            <a:endParaRPr lang="nl-NL"/>
          </a:p>
          <a:p>
            <a:pPr marL="0" indent="0">
              <a:buFontTx/>
              <a:buNone/>
            </a:pPr>
            <a:r>
              <a:rPr lang="nl-NL"/>
              <a:t>Let op: de CREATE-volgorde blijft áltijd uitmaken!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6642AF9-4A41-FE5C-B25E-3D302FED8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826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A9448-2537-2D0B-D865-52589703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EE4ACA9-B65C-0F5E-AB9C-961895956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F0DA8209-D501-C2C1-4D6E-7C32A19AC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15F94DE-10EC-7B3D-AE69-16B820D00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5376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88B787-19A5-4841-9136-A8C6238BB1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84C5-BA13-3A6C-B5E2-368A18C6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A6EF5-5F33-52EE-7B70-C5DBA73D4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75B56-14F2-1EEC-F556-53859EC04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6D49F-708A-FF76-7331-DB89450AA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88B787-19A5-4841-9136-A8C6238BB1E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88B787-19A5-4841-9136-A8C6238BB1E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7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CDD2-D1F6-3668-9A2A-DDF2FE8E1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6144A-C905-AD1F-53D8-46B40303C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C74C0-C815-4D32-4F5E-01455DF95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E0A49-CA7A-0D91-9865-5649F6BB9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D4F08E-DBF9-4149-B53D-0FE47425BC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60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663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6675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4010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53726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82736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666432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0564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1043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06491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9622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3240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8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058779" y="0"/>
            <a:ext cx="109820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Source Data Model Implementation</a:t>
            </a:r>
          </a:p>
        </p:txBody>
      </p:sp>
      <p:pic>
        <p:nvPicPr>
          <p:cNvPr id="3074" name="Picture 2" descr="How to Synchronize WordPress Live and Development Databases — SitePoint">
            <a:extLst>
              <a:ext uri="{FF2B5EF4-FFF2-40B4-BE49-F238E27FC236}">
                <a16:creationId xmlns:a16="http://schemas.microsoft.com/office/drawing/2014/main" id="{B5A682EA-5DA0-58B0-AA67-96FC6CBE3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779" y="643831"/>
            <a:ext cx="11539537" cy="6214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84ADBB-0D50-3D68-0656-0EE9B796CF81}"/>
              </a:ext>
            </a:extLst>
          </p:cNvPr>
          <p:cNvSpPr txBox="1"/>
          <p:nvPr/>
        </p:nvSpPr>
        <p:spPr>
          <a:xfrm>
            <a:off x="7241848" y="1547873"/>
            <a:ext cx="2884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datastructuur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Source Data Model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implementeren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SQLite.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74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7306936" y="683609"/>
            <a:ext cx="264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73750" y="2438044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75" y="3213902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9946C2-60D6-C4F5-938E-22BB25607227}"/>
              </a:ext>
            </a:extLst>
          </p:cNvPr>
          <p:cNvSpPr txBox="1"/>
          <p:nvPr/>
        </p:nvSpPr>
        <p:spPr>
          <a:xfrm>
            <a:off x="2541436" y="1576982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CREATE-TABLE-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volgorde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aanmaken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Source Data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FE7AA-0988-07E6-641A-636ED28BDA40}"/>
              </a:ext>
            </a:extLst>
          </p:cNvPr>
          <p:cNvSpPr txBox="1"/>
          <p:nvPr/>
        </p:nvSpPr>
        <p:spPr>
          <a:xfrm>
            <a:off x="1665185" y="2732275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SQLite-databases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behulp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Python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AE348-044E-9FD8-4D40-BCA87C3598E1}"/>
              </a:ext>
            </a:extLst>
          </p:cNvPr>
          <p:cNvSpPr txBox="1"/>
          <p:nvPr/>
        </p:nvSpPr>
        <p:spPr>
          <a:xfrm>
            <a:off x="7884666" y="3429000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 Data Modellen </a:t>
            </a:r>
            <a:r>
              <a:rPr lang="nl-NL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 met data en de gekozen inlaadstrategie verantwoorden</a:t>
            </a:r>
            <a:endParaRPr kumimoji="0" lang="en-US" sz="180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6106D-D77F-27F9-F84B-7E68247C025E}"/>
              </a:ext>
            </a:extLst>
          </p:cNvPr>
          <p:cNvSpPr txBox="1"/>
          <p:nvPr/>
        </p:nvSpPr>
        <p:spPr>
          <a:xfrm>
            <a:off x="2291696" y="5344682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 logging-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niveaus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onderscheiden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de “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loguru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 library in Python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ACC6C-78E1-4F35-AF1C-3158B6B11045}"/>
              </a:ext>
            </a:extLst>
          </p:cNvPr>
          <p:cNvSpPr txBox="1"/>
          <p:nvPr/>
        </p:nvSpPr>
        <p:spPr>
          <a:xfrm>
            <a:off x="7241848" y="5206183"/>
            <a:ext cx="3332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nl-NL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aanbrengen in Pythonscripts die Source Data Modellen vullen vanuit operationele databases</a:t>
            </a:r>
            <a:endParaRPr kumimoji="0" lang="en-US" sz="180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D18E7-D37D-87D7-5560-2D345125F42A}"/>
              </a:ext>
            </a:extLst>
          </p:cNvPr>
          <p:cNvSpPr txBox="1"/>
          <p:nvPr/>
        </p:nvSpPr>
        <p:spPr>
          <a:xfrm>
            <a:off x="1665185" y="4005083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 criteria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tegen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elkaar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afwegen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bij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Source Data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Modellen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4" grpId="0"/>
      <p:bldP spid="8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579A-00E3-0EA8-2788-5FC4C41C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98BFEDA1-D06A-90BD-7A6D-4F8D7ACED92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E35D44B6-5C92-5584-4749-D278F4AA7FFE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123D8075-EE90-A637-B7F1-E4E059EBC395}"/>
              </a:ext>
            </a:extLst>
          </p:cNvPr>
          <p:cNvCxnSpPr>
            <a:cxnSpLocks/>
          </p:cNvCxnSpPr>
          <p:nvPr/>
        </p:nvCxnSpPr>
        <p:spPr>
          <a:xfrm flipV="1">
            <a:off x="6096000" y="702275"/>
            <a:ext cx="0" cy="6155725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">
            <a:extLst>
              <a:ext uri="{FF2B5EF4-FFF2-40B4-BE49-F238E27FC236}">
                <a16:creationId xmlns:a16="http://schemas.microsoft.com/office/drawing/2014/main" id="{236937B1-8802-D168-DD87-5294B72B7DC7}"/>
              </a:ext>
            </a:extLst>
          </p:cNvPr>
          <p:cNvSpPr txBox="1"/>
          <p:nvPr/>
        </p:nvSpPr>
        <p:spPr>
          <a:xfrm>
            <a:off x="1043708" y="667350"/>
            <a:ext cx="4996873" cy="533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Stap 1: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Nieuwe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SDM-database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BED83A6B-5E10-8896-2EED-C6CEAB07A275}"/>
              </a:ext>
            </a:extLst>
          </p:cNvPr>
          <p:cNvSpPr txBox="1"/>
          <p:nvPr/>
        </p:nvSpPr>
        <p:spPr>
          <a:xfrm>
            <a:off x="6151419" y="686682"/>
            <a:ext cx="6040581" cy="533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Stap 2: Python (in </a:t>
            </a:r>
            <a:r>
              <a:rPr kumimoji="0" lang="nl-NL" sz="24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Jupyter</a:t>
            </a:r>
            <a:r>
              <a:rPr kumimoji="0" lang="nl-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Notebook)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1028" name="Picture 4" descr="Jupyter - APIs - ximea support">
            <a:extLst>
              <a:ext uri="{FF2B5EF4-FFF2-40B4-BE49-F238E27FC236}">
                <a16:creationId xmlns:a16="http://schemas.microsoft.com/office/drawing/2014/main" id="{500EB2C6-DBB1-62AA-FB5B-F582B0EB2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14" y="1426929"/>
            <a:ext cx="558438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4D6B609E-E84B-0418-B7CE-3D47F2C5F8FC}"/>
              </a:ext>
            </a:extLst>
          </p:cNvPr>
          <p:cNvSpPr txBox="1"/>
          <p:nvPr/>
        </p:nvSpPr>
        <p:spPr>
          <a:xfrm>
            <a:off x="988290" y="4169988"/>
            <a:ext cx="4772170" cy="25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datastructuur bouwen:</a:t>
            </a:r>
          </a:p>
          <a:p>
            <a:pPr marL="342900" marR="0" lvl="0" indent="-34290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Met SQL-</a:t>
            </a:r>
            <a:r>
              <a:rPr kumimoji="0" lang="nl-NL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CREATEs</a:t>
            </a: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maak je SDM-tabellen en laat je ze naar elkaar verwijzen, middels primaire-vreemde-sleutelrelaties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Deze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tabellen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zijn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nu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nog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leeg</a:t>
            </a:r>
            <a:endParaRPr kumimoji="0" lang="nl-NL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3E8A9CFD-63D8-F4BC-419B-7664D19B2C8A}"/>
              </a:ext>
            </a:extLst>
          </p:cNvPr>
          <p:cNvSpPr txBox="1"/>
          <p:nvPr/>
        </p:nvSpPr>
        <p:spPr>
          <a:xfrm>
            <a:off x="6078615" y="4169988"/>
            <a:ext cx="6185181" cy="252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datastructuur vullen:</a:t>
            </a:r>
          </a:p>
          <a:p>
            <a:pPr marL="342900" marR="0" lvl="0" indent="-34290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Je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legt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de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connectie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met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operationele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databronnen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het SDM.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Beiden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staan</a:t>
            </a:r>
            <a:r>
              <a:rPr kumimoji="0" lang="en-US" sz="20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in SQLite.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  <a:p>
            <a:pPr marL="342900" marR="0" lvl="0" indent="-342900" algn="l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Tx/>
              <a:buChar char="-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Tabelrijen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uit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operationele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databronnen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vertaal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je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naar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INSERT INTO’s, die je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vervolgens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toepast</a:t>
            </a:r>
            <a:r>
              <a:rPr kumimoji="0" lang="en-US" sz="20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op het SDM.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2050" name="Picture 2" descr="SQLite DB Browser, How to Install and Use it on Linux">
            <a:extLst>
              <a:ext uri="{FF2B5EF4-FFF2-40B4-BE49-F238E27FC236}">
                <a16:creationId xmlns:a16="http://schemas.microsoft.com/office/drawing/2014/main" id="{76EF3682-B94B-64F8-E925-B340AB20A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059" y="1328828"/>
            <a:ext cx="4772169" cy="2736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B48FD6E3-3D96-B62C-6C05-B94219396D3A}"/>
              </a:ext>
            </a:extLst>
          </p:cNvPr>
          <p:cNvSpPr txBox="1"/>
          <p:nvPr/>
        </p:nvSpPr>
        <p:spPr>
          <a:xfrm>
            <a:off x="988290" y="0"/>
            <a:ext cx="11202954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Globale fasering</a:t>
            </a:r>
            <a:endParaRPr lang="nl-NL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2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B4247-5106-C2F7-D2A6-DF467C342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303841"/>
            <a:ext cx="11036393" cy="5554159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Nieuwe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database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aanmaken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AA2BA045-8B04-6A83-F966-2BA7FE05CB93}"/>
              </a:ext>
            </a:extLst>
          </p:cNvPr>
          <p:cNvSpPr txBox="1"/>
          <p:nvPr/>
        </p:nvSpPr>
        <p:spPr>
          <a:xfrm>
            <a:off x="988290" y="934509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Het geïmplementeerde Source Data Model komt in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SQLite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een nieuwe database te staan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E158E-F47E-286B-88B2-94692DE7E8CC}"/>
              </a:ext>
            </a:extLst>
          </p:cNvPr>
          <p:cNvSpPr/>
          <p:nvPr/>
        </p:nvSpPr>
        <p:spPr>
          <a:xfrm>
            <a:off x="1023927" y="1572752"/>
            <a:ext cx="795348" cy="23699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97CDF5-5480-9D49-5497-8ED9EDFC9F29}"/>
              </a:ext>
            </a:extLst>
          </p:cNvPr>
          <p:cNvSpPr/>
          <p:nvPr/>
        </p:nvSpPr>
        <p:spPr>
          <a:xfrm>
            <a:off x="5783424" y="4453034"/>
            <a:ext cx="625151" cy="2110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9B91C-414A-F662-0769-1FEEEB2991FC}"/>
              </a:ext>
            </a:extLst>
          </p:cNvPr>
          <p:cNvSpPr/>
          <p:nvPr/>
        </p:nvSpPr>
        <p:spPr>
          <a:xfrm>
            <a:off x="8686217" y="4944058"/>
            <a:ext cx="889518" cy="2581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35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18B4-B5BB-5C7D-77BA-2EB49774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50E76B0D-A763-2B7E-0585-AE58C8AE5616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CD6D0FF-820D-1C00-3EE2-F441967666A4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tabelstructuur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uit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brondatabases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overnemen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in SDM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65DCBB01-DBD8-00E4-EFBF-BB31914DA35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D21E34-2225-0835-EC5D-E3EC96BB6297}"/>
              </a:ext>
            </a:extLst>
          </p:cNvPr>
          <p:cNvSpPr txBox="1"/>
          <p:nvPr/>
        </p:nvSpPr>
        <p:spPr>
          <a:xfrm>
            <a:off x="988289" y="1582340"/>
            <a:ext cx="61664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Customer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fname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0" err="1">
                <a:solidFill>
                  <a:srgbClr val="000000"/>
                </a:solidFill>
                <a:latin typeface="Consolas" panose="020B0609020204030204" pitchFamily="49" charset="0"/>
              </a:rPr>
              <a:t>lname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address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city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 NOT NULL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PRIMARY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FOREIGN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REFERENCES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S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tate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nl-NL">
                <a:solidFill>
                  <a:srgbClr val="000000"/>
                </a:solidFill>
                <a:latin typeface="Consolas" panose="020B0609020204030204" pitchFamily="49" charset="0"/>
              </a:rPr>
              <a:t>_</a:t>
            </a:r>
            <a:r>
              <a:rPr lang="nl-NL" err="1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1F554-3239-9124-0B17-3B3B7E9AD302}"/>
              </a:ext>
            </a:extLst>
          </p:cNvPr>
          <p:cNvSpPr txBox="1"/>
          <p:nvPr/>
        </p:nvSpPr>
        <p:spPr>
          <a:xfrm>
            <a:off x="8589240" y="1828522"/>
            <a:ext cx="36027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state_id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tate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_name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region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country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PRIMARY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state_id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9C54CEC6-EED7-CDA1-2D2D-B49483F45C61}"/>
              </a:ext>
            </a:extLst>
          </p:cNvPr>
          <p:cNvSpPr txBox="1"/>
          <p:nvPr/>
        </p:nvSpPr>
        <p:spPr>
          <a:xfrm>
            <a:off x="3393609" y="2813393"/>
            <a:ext cx="5304924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Welke CREATE TABLE moet als eerst uitgevoerd worden?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DBE6973-20E8-0DC1-862D-3C5B92DF3A34}"/>
              </a:ext>
            </a:extLst>
          </p:cNvPr>
          <p:cNvSpPr txBox="1"/>
          <p:nvPr/>
        </p:nvSpPr>
        <p:spPr>
          <a:xfrm>
            <a:off x="988290" y="5152567"/>
            <a:ext cx="11203710" cy="1697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“CREATE TABLE State (…)”, want hiernaar wordt verwezen door “Customer”.</a:t>
            </a:r>
          </a:p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Tabellen waarnaar verwezen wordt, moeten al bestaan!</a:t>
            </a:r>
          </a:p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endParaRPr lang="nl-NL" sz="2000" dirty="0">
              <a:latin typeface="Arial"/>
              <a:ea typeface="MS PGothic" charset="0"/>
            </a:endParaRPr>
          </a:p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Geldt dit ook voor tabelverwijdering (met DROP TABLE)? Zie Speaker </a:t>
            </a:r>
            <a:r>
              <a:rPr kumimoji="0" lang="nl-NL" sz="20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Notes</a:t>
            </a: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8733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98C8E-C763-D5EC-2A6C-CD249DE6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AA62A78B-6CE0-E1FC-912E-7201B03335E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4A4BE39-DA33-FBDC-2F05-65564646F793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Implementatie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database-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overschrijdende</a:t>
            </a:r>
            <a:r>
              <a:rPr kumimoji="0" lang="en-US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associaties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3691149E-C449-3749-3DE5-18158F4C4A4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8808A3-30FC-9F64-88C5-546174844436}"/>
              </a:ext>
            </a:extLst>
          </p:cNvPr>
          <p:cNvSpPr txBox="1"/>
          <p:nvPr/>
        </p:nvSpPr>
        <p:spPr>
          <a:xfrm>
            <a:off x="988290" y="858651"/>
            <a:ext cx="54445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SalesOrder_EMPLOYEE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mp_id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emp_fname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noProof="0" err="1">
                <a:solidFill>
                  <a:srgbClr val="000000"/>
                </a:solidFill>
                <a:latin typeface="Consolas" panose="020B0609020204030204" pitchFamily="49" charset="0"/>
              </a:rPr>
              <a:t>mp_lname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FLOAT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dept_id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hrm_employee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INT NOT NULL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PRIMARY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emp_id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</a:p>
          <a:p>
            <a:pPr lvl="0">
              <a:defRPr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FOREIGN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hrm_employee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REFERENCES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HRM_EMPLOYEE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err="1">
                <a:latin typeface="Consolas" panose="020B0609020204030204" pitchFamily="49" charset="0"/>
              </a:rPr>
              <a:t>emp_id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C109C8-46E2-41FC-DD06-35C59F8EB089}"/>
              </a:ext>
            </a:extLst>
          </p:cNvPr>
          <p:cNvSpPr txBox="1"/>
          <p:nvPr/>
        </p:nvSpPr>
        <p:spPr>
          <a:xfrm>
            <a:off x="7121989" y="858651"/>
            <a:ext cx="54445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TABLE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HRM_EMPLOYEE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mp_id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emp_fname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lang="en-US" noProof="0" dirty="0" err="1">
                <a:solidFill>
                  <a:srgbClr val="000000"/>
                </a:solidFill>
                <a:latin typeface="Consolas" panose="020B0609020204030204" pitchFamily="49" charset="0"/>
              </a:rPr>
              <a:t>mp_lname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salary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FLOAT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dept_id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NOT NULL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salesorder_employee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 NOT NULL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PRIMARY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emp_id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FOREIGN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KEY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dept_id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REFERENCES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Onderhoud_Filiaal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filiaalnr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FOREIGN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salesorder_employee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REFERENCES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SalesOrder_EMPLOYEE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emp_id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352AEC-F819-88CB-73CD-CF0EE6CA9035}"/>
              </a:ext>
            </a:extLst>
          </p:cNvPr>
          <p:cNvCxnSpPr>
            <a:cxnSpLocks/>
          </p:cNvCxnSpPr>
          <p:nvPr/>
        </p:nvCxnSpPr>
        <p:spPr>
          <a:xfrm>
            <a:off x="1063689" y="2696546"/>
            <a:ext cx="3834882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3EC75C-49A2-EFF6-7FE9-03FB4069ACEE}"/>
              </a:ext>
            </a:extLst>
          </p:cNvPr>
          <p:cNvCxnSpPr>
            <a:cxnSpLocks/>
          </p:cNvCxnSpPr>
          <p:nvPr/>
        </p:nvCxnSpPr>
        <p:spPr>
          <a:xfrm>
            <a:off x="7215673" y="2696546"/>
            <a:ext cx="471818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89373B-2D91-7D3C-74F2-2DF38E47EFF2}"/>
              </a:ext>
            </a:extLst>
          </p:cNvPr>
          <p:cNvCxnSpPr>
            <a:cxnSpLocks/>
          </p:cNvCxnSpPr>
          <p:nvPr/>
        </p:nvCxnSpPr>
        <p:spPr>
          <a:xfrm>
            <a:off x="1063689" y="3489158"/>
            <a:ext cx="521368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161F15-AAC9-0063-CD3D-2551682FF4F6}"/>
              </a:ext>
            </a:extLst>
          </p:cNvPr>
          <p:cNvCxnSpPr>
            <a:cxnSpLocks/>
          </p:cNvCxnSpPr>
          <p:nvPr/>
        </p:nvCxnSpPr>
        <p:spPr>
          <a:xfrm>
            <a:off x="1063689" y="3776769"/>
            <a:ext cx="51038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6B6BE4-9A02-0B56-C1FC-8BBEC95CC750}"/>
              </a:ext>
            </a:extLst>
          </p:cNvPr>
          <p:cNvCxnSpPr>
            <a:cxnSpLocks/>
          </p:cNvCxnSpPr>
          <p:nvPr/>
        </p:nvCxnSpPr>
        <p:spPr>
          <a:xfrm>
            <a:off x="6963746" y="4354284"/>
            <a:ext cx="51038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38E0B7-233C-93B3-C75A-58F4D524A6F1}"/>
              </a:ext>
            </a:extLst>
          </p:cNvPr>
          <p:cNvCxnSpPr>
            <a:cxnSpLocks/>
          </p:cNvCxnSpPr>
          <p:nvPr/>
        </p:nvCxnSpPr>
        <p:spPr>
          <a:xfrm>
            <a:off x="6830007" y="4627982"/>
            <a:ext cx="510384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">
            <a:extLst>
              <a:ext uri="{FF2B5EF4-FFF2-40B4-BE49-F238E27FC236}">
                <a16:creationId xmlns:a16="http://schemas.microsoft.com/office/drawing/2014/main" id="{E36B2FBE-F738-3C81-ED92-4228AC153324}"/>
              </a:ext>
            </a:extLst>
          </p:cNvPr>
          <p:cNvSpPr txBox="1"/>
          <p:nvPr/>
        </p:nvSpPr>
        <p:spPr>
          <a:xfrm>
            <a:off x="2275914" y="5202009"/>
            <a:ext cx="8472951" cy="87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nl-NL" sz="2000" dirty="0">
                <a:latin typeface="Arial"/>
                <a:ea typeface="MS PGothic" charset="0"/>
              </a:rPr>
              <a:t>Associaties binnen een database leiden tot een vreemde sleutel.</a:t>
            </a:r>
          </a:p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Database-overschrijdende associaties leiden </a:t>
            </a:r>
            <a:r>
              <a:rPr kumimoji="0" lang="nl-NL" sz="20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niet</a:t>
            </a:r>
            <a:r>
              <a:rPr kumimoji="0" lang="nl-NL" sz="20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 tot </a:t>
            </a:r>
            <a:r>
              <a:rPr kumimoji="0" lang="nl-NL" sz="2000" b="0" i="0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MS PGothic" charset="0"/>
                <a:cs typeface="+mn-cs"/>
              </a:rPr>
              <a:t>vreemde sleutels</a:t>
            </a:r>
            <a:r>
              <a:rPr lang="nl-NL" sz="2000">
                <a:latin typeface="Arial"/>
                <a:ea typeface="MS PGothic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F8F6B6-3D29-5E4F-6B8A-5B8E8159044E}"/>
              </a:ext>
            </a:extLst>
          </p:cNvPr>
          <p:cNvSpPr/>
          <p:nvPr/>
        </p:nvSpPr>
        <p:spPr>
          <a:xfrm>
            <a:off x="7215673" y="2277884"/>
            <a:ext cx="2705878" cy="289929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C88256-431D-0610-5545-8F646322E006}"/>
              </a:ext>
            </a:extLst>
          </p:cNvPr>
          <p:cNvSpPr/>
          <p:nvPr/>
        </p:nvSpPr>
        <p:spPr>
          <a:xfrm>
            <a:off x="7121989" y="3641793"/>
            <a:ext cx="4724287" cy="541656"/>
          </a:xfrm>
          <a:prstGeom prst="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14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0E21-8D01-8DC1-8002-1BE96817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C89B33-BA45-A4F5-64FD-C8FB70340A18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Eerste categorisering inlaadstrategieën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" name="Straight Connector 10">
            <a:extLst>
              <a:ext uri="{FF2B5EF4-FFF2-40B4-BE49-F238E27FC236}">
                <a16:creationId xmlns:a16="http://schemas.microsoft.com/office/drawing/2014/main" id="{BAA9A22D-DC03-0B82-DEC3-CFF944344EAC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4EF5126-5BC0-53BD-89C6-096A0502F39D}"/>
              </a:ext>
            </a:extLst>
          </p:cNvPr>
          <p:cNvCxnSpPr>
            <a:cxnSpLocks/>
          </p:cNvCxnSpPr>
          <p:nvPr/>
        </p:nvCxnSpPr>
        <p:spPr>
          <a:xfrm flipV="1">
            <a:off x="6450563" y="702275"/>
            <a:ext cx="0" cy="6155725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173DAA26-7F00-553C-55BF-3E3BBBB5DD8F}"/>
              </a:ext>
            </a:extLst>
          </p:cNvPr>
          <p:cNvSpPr txBox="1"/>
          <p:nvPr/>
        </p:nvSpPr>
        <p:spPr>
          <a:xfrm>
            <a:off x="1258628" y="728043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Full Refresh</a:t>
            </a:r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BB695EB3-B6C1-2E07-0446-9D7898C8D2D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7AF50DBD-BADA-7E2A-BC56-048674CBF175}"/>
              </a:ext>
            </a:extLst>
          </p:cNvPr>
          <p:cNvSpPr txBox="1"/>
          <p:nvPr/>
        </p:nvSpPr>
        <p:spPr>
          <a:xfrm>
            <a:off x="6993629" y="707351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Incremental Data Loading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5E1EECA-3EC8-49AC-DB0D-B8668CC22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00424"/>
              </p:ext>
            </p:extLst>
          </p:nvPr>
        </p:nvGraphicFramePr>
        <p:xfrm>
          <a:off x="2536370" y="1262500"/>
          <a:ext cx="3816660" cy="182604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52185"/>
                  </a:ext>
                </a:extLst>
              </a:tr>
            </a:tbl>
          </a:graphicData>
        </a:graphic>
      </p:graphicFrame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6E7FB399-FD08-A622-382A-6E5351F3A172}"/>
              </a:ext>
            </a:extLst>
          </p:cNvPr>
          <p:cNvSpPr/>
          <p:nvPr/>
        </p:nvSpPr>
        <p:spPr>
          <a:xfrm>
            <a:off x="1258628" y="1352079"/>
            <a:ext cx="951170" cy="1415142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E6E548-B4CB-3AF6-91FC-C8A318BA252B}"/>
              </a:ext>
            </a:extLst>
          </p:cNvPr>
          <p:cNvSpPr txBox="1"/>
          <p:nvPr/>
        </p:nvSpPr>
        <p:spPr>
          <a:xfrm>
            <a:off x="999615" y="982747"/>
            <a:ext cx="1439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Operationeel</a:t>
            </a:r>
            <a:endParaRPr lang="en-US"/>
          </a:p>
        </p:txBody>
      </p: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83753473-B008-35A4-3B32-BC80B6417915}"/>
              </a:ext>
            </a:extLst>
          </p:cNvPr>
          <p:cNvSpPr/>
          <p:nvPr/>
        </p:nvSpPr>
        <p:spPr>
          <a:xfrm>
            <a:off x="1254966" y="4714815"/>
            <a:ext cx="951170" cy="1415142"/>
          </a:xfrm>
          <a:prstGeom prst="flowChartMagneticDisk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4A3304-6198-14D0-18B1-BFF6C678E466}"/>
              </a:ext>
            </a:extLst>
          </p:cNvPr>
          <p:cNvSpPr txBox="1"/>
          <p:nvPr/>
        </p:nvSpPr>
        <p:spPr>
          <a:xfrm>
            <a:off x="999615" y="6129957"/>
            <a:ext cx="1439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SDM</a:t>
            </a:r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CE0B770-7882-F993-E61F-24EF4073C5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026948"/>
              </p:ext>
            </p:extLst>
          </p:nvPr>
        </p:nvGraphicFramePr>
        <p:xfrm>
          <a:off x="2536370" y="4777567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DA7B7BC-DFFC-242F-77EB-496B7F4DF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380067"/>
              </p:ext>
            </p:extLst>
          </p:nvPr>
        </p:nvGraphicFramePr>
        <p:xfrm>
          <a:off x="2545893" y="1262500"/>
          <a:ext cx="3816660" cy="182604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1269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5CBE860-3CD7-D400-EFD7-F44AC5A15B45}"/>
              </a:ext>
            </a:extLst>
          </p:cNvPr>
          <p:cNvSpPr txBox="1"/>
          <p:nvPr/>
        </p:nvSpPr>
        <p:spPr>
          <a:xfrm>
            <a:off x="2473452" y="3429000"/>
            <a:ext cx="3709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Om wijzigingen bij te houden wordt eerst elke SDM-tabel leeggemaakt, waarna nieuwe data ingeladen wordt.</a:t>
            </a:r>
            <a:endParaRPr lang="en-US"/>
          </a:p>
        </p:txBody>
      </p:sp>
      <p:sp>
        <p:nvSpPr>
          <p:cNvPr id="21" name="Flowchart: Magnetic Disk 20">
            <a:extLst>
              <a:ext uri="{FF2B5EF4-FFF2-40B4-BE49-F238E27FC236}">
                <a16:creationId xmlns:a16="http://schemas.microsoft.com/office/drawing/2014/main" id="{DE24C26B-434D-9689-E263-954642F348DF}"/>
              </a:ext>
            </a:extLst>
          </p:cNvPr>
          <p:cNvSpPr/>
          <p:nvPr/>
        </p:nvSpPr>
        <p:spPr>
          <a:xfrm>
            <a:off x="6784852" y="1352079"/>
            <a:ext cx="951170" cy="1415142"/>
          </a:xfrm>
          <a:prstGeom prst="flowChartMagneticDisk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67ED5F-1E86-4486-60E7-F67A0F91ADF3}"/>
              </a:ext>
            </a:extLst>
          </p:cNvPr>
          <p:cNvSpPr txBox="1"/>
          <p:nvPr/>
        </p:nvSpPr>
        <p:spPr>
          <a:xfrm>
            <a:off x="6525839" y="982747"/>
            <a:ext cx="1439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Operationeel</a:t>
            </a:r>
            <a:endParaRPr lang="en-US"/>
          </a:p>
        </p:txBody>
      </p: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id="{BE6FFD97-F7ED-BBA1-9CED-2D367BE56AEF}"/>
              </a:ext>
            </a:extLst>
          </p:cNvPr>
          <p:cNvSpPr/>
          <p:nvPr/>
        </p:nvSpPr>
        <p:spPr>
          <a:xfrm>
            <a:off x="6769865" y="4704194"/>
            <a:ext cx="951170" cy="1415142"/>
          </a:xfrm>
          <a:prstGeom prst="flowChartMagneticDisk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7BD293-2CC2-7C7F-DFC9-827450BB89A5}"/>
              </a:ext>
            </a:extLst>
          </p:cNvPr>
          <p:cNvSpPr txBox="1"/>
          <p:nvPr/>
        </p:nvSpPr>
        <p:spPr>
          <a:xfrm>
            <a:off x="6514514" y="6119336"/>
            <a:ext cx="1439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SDM</a:t>
            </a:r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BFFB2B3-61EB-E5D3-F2C4-8043D44D1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98334"/>
              </p:ext>
            </p:extLst>
          </p:nvPr>
        </p:nvGraphicFramePr>
        <p:xfrm>
          <a:off x="8062594" y="4777567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E9CC857-F4AD-E4B5-0885-3B1A4C767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559335"/>
              </p:ext>
            </p:extLst>
          </p:nvPr>
        </p:nvGraphicFramePr>
        <p:xfrm>
          <a:off x="8062594" y="1262500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CB66583-3962-F42D-9979-B97997837D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245996"/>
              </p:ext>
            </p:extLst>
          </p:nvPr>
        </p:nvGraphicFramePr>
        <p:xfrm>
          <a:off x="8062316" y="2619558"/>
          <a:ext cx="3816660" cy="45651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777118743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421035879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2850529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6073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D1EA30C-7082-3A88-9771-F0637857D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011815"/>
              </p:ext>
            </p:extLst>
          </p:nvPr>
        </p:nvGraphicFramePr>
        <p:xfrm>
          <a:off x="8070310" y="2632030"/>
          <a:ext cx="3816660" cy="45651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777118743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421035879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2850529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6073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9818A892-F81E-6F40-2626-0D6101889058}"/>
              </a:ext>
            </a:extLst>
          </p:cNvPr>
          <p:cNvSpPr txBox="1"/>
          <p:nvPr/>
        </p:nvSpPr>
        <p:spPr>
          <a:xfrm>
            <a:off x="7532914" y="3429000"/>
            <a:ext cx="4354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Alléén gewijzigde rijen worden overgezet. Dit geldt niet alleen voor toegevoegde, maar ook voor </a:t>
            </a:r>
            <a:r>
              <a:rPr lang="nl-NL" err="1"/>
              <a:t>geüpdate</a:t>
            </a:r>
            <a:r>
              <a:rPr lang="nl-NL"/>
              <a:t> en verwijderde rijen.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2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3.7037E-7 L -4.58333E-6 0.4655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3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7037E-7 L 4.16667E-7 0.4974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4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47446-65BE-0FD1-E551-AF6B1044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B6332-9E8A-E5E9-B4EE-F39288EC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7D857977-334A-6202-E241-FC4E0FEBC6D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7B26DC-C92E-D240-97CC-D00C82C05CC1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Codevoorbeeld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Full Refresh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BB3E94BE-B262-2F8F-F36A-3AB4F106F04E}"/>
              </a:ext>
            </a:extLst>
          </p:cNvPr>
          <p:cNvCxnSpPr>
            <a:cxnSpLocks/>
          </p:cNvCxnSpPr>
          <p:nvPr/>
        </p:nvCxnSpPr>
        <p:spPr>
          <a:xfrm>
            <a:off x="1087911" y="72452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EEBF85EC-505C-6F0A-E4D8-0FE79760751F}"/>
              </a:ext>
            </a:extLst>
          </p:cNvPr>
          <p:cNvSpPr txBox="1"/>
          <p:nvPr/>
        </p:nvSpPr>
        <p:spPr>
          <a:xfrm>
            <a:off x="9327448" y="1494196"/>
            <a:ext cx="2867808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201C750A-0305-5EF1-C57A-5EF307DB86C3}"/>
              </a:ext>
            </a:extLst>
          </p:cNvPr>
          <p:cNvSpPr txBox="1"/>
          <p:nvPr/>
        </p:nvSpPr>
        <p:spPr>
          <a:xfrm>
            <a:off x="9347111" y="3393527"/>
            <a:ext cx="2664274" cy="120032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Probeer de delete-query te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executen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Lukt dat niet? Print de query dan uit.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9E21D26B-0E92-9A85-B20C-B0B98CF52F2E}"/>
              </a:ext>
            </a:extLst>
          </p:cNvPr>
          <p:cNvSpPr txBox="1"/>
          <p:nvPr/>
        </p:nvSpPr>
        <p:spPr>
          <a:xfrm>
            <a:off x="9411180" y="5086579"/>
            <a:ext cx="2700344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Maak je wijzigingen (nieuwe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inserts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definitief met .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commit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(). Na alle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commits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moet je de cursor ook weer “closen”</a:t>
            </a:r>
          </a:p>
        </p:txBody>
      </p:sp>
      <p:pic>
        <p:nvPicPr>
          <p:cNvPr id="4" name="Picture 3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97809982-BAA7-5CB8-8C44-993D1D3EC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82" y="4718762"/>
            <a:ext cx="5258460" cy="1899658"/>
          </a:xfrm>
          <a:prstGeom prst="rect">
            <a:avLst/>
          </a:prstGeom>
        </p:spPr>
      </p:pic>
      <p:sp>
        <p:nvSpPr>
          <p:cNvPr id="8" name="Tekstvak 10">
            <a:extLst>
              <a:ext uri="{FF2B5EF4-FFF2-40B4-BE49-F238E27FC236}">
                <a16:creationId xmlns:a16="http://schemas.microsoft.com/office/drawing/2014/main" id="{1AD937FB-601B-F63A-5DE2-BFC5728F7412}"/>
              </a:ext>
            </a:extLst>
          </p:cNvPr>
          <p:cNvSpPr txBox="1"/>
          <p:nvPr/>
        </p:nvSpPr>
        <p:spPr>
          <a:xfrm>
            <a:off x="9246972" y="869479"/>
            <a:ext cx="2864552" cy="203132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op de juiste tabelvolgorde: verwijder eerst de verwijzende tabellen die vreemde sleutels bevatten en daarnaar pas de tabellen waarnaar verwezen wordt.</a:t>
            </a:r>
          </a:p>
        </p:txBody>
      </p:sp>
      <p:pic>
        <p:nvPicPr>
          <p:cNvPr id="12" name="Picture 1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7E6A1195-88F4-3D86-BAAC-3860057E7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911" y="891319"/>
            <a:ext cx="8075329" cy="37025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66FEEE-E278-F194-9E61-8A6FA3D69B66}"/>
              </a:ext>
            </a:extLst>
          </p:cNvPr>
          <p:cNvSpPr/>
          <p:nvPr/>
        </p:nvSpPr>
        <p:spPr>
          <a:xfrm>
            <a:off x="2819400" y="5257800"/>
            <a:ext cx="4669971" cy="9579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987A9-4CD7-CBD7-9F43-1AB4C3DD0951}"/>
              </a:ext>
            </a:extLst>
          </p:cNvPr>
          <p:cNvSpPr/>
          <p:nvPr/>
        </p:nvSpPr>
        <p:spPr>
          <a:xfrm>
            <a:off x="2427515" y="6381344"/>
            <a:ext cx="2373086" cy="237075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6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3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7EA79-9849-988E-4FA3-0C8904C9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E52E9CF-3911-B55B-3F42-B1D04AC0F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4" y="2592920"/>
            <a:ext cx="8335606" cy="4208704"/>
          </a:xfrm>
          <a:prstGeom prst="rect">
            <a:avLst/>
          </a:prstGeom>
        </p:spPr>
      </p:pic>
      <p:sp>
        <p:nvSpPr>
          <p:cNvPr id="7" name="Tekstvak 7">
            <a:extLst>
              <a:ext uri="{FF2B5EF4-FFF2-40B4-BE49-F238E27FC236}">
                <a16:creationId xmlns:a16="http://schemas.microsoft.com/office/drawing/2014/main" id="{BC2771CB-1C77-E9AD-0AEC-4522826D1EC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5D476-A12E-98FC-4024-C8429A96A630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Codevoorbeeld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Incremental Data </a:t>
            </a:r>
            <a:r>
              <a:rPr kumimoji="0" lang="en-US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Loading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0354C72A-7C4A-4BFC-B916-4534407ADA99}"/>
              </a:ext>
            </a:extLst>
          </p:cNvPr>
          <p:cNvCxnSpPr>
            <a:cxnSpLocks/>
          </p:cNvCxnSpPr>
          <p:nvPr/>
        </p:nvCxnSpPr>
        <p:spPr>
          <a:xfrm>
            <a:off x="988290" y="65003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1219ADCE-DEF1-F8A6-0F06-B9C60EED3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78" y="1388108"/>
            <a:ext cx="3033023" cy="1066892"/>
          </a:xfrm>
          <a:prstGeom prst="rect">
            <a:avLst/>
          </a:prstGeom>
        </p:spPr>
      </p:pic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6C5C14F-806D-B2D5-1F84-15FBB3332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591" y="1128489"/>
            <a:ext cx="2674852" cy="777307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A6032AA1-D5F0-DB87-E2AD-9F00B8EB4351}"/>
              </a:ext>
            </a:extLst>
          </p:cNvPr>
          <p:cNvSpPr txBox="1"/>
          <p:nvPr/>
        </p:nvSpPr>
        <p:spPr>
          <a:xfrm>
            <a:off x="9527726" y="2082194"/>
            <a:ext cx="2664274" cy="120032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Maak een nieuw dataframe met daarin álle verschillen tussen SDM en operationele database</a:t>
            </a:r>
          </a:p>
        </p:txBody>
      </p:sp>
      <p:sp>
        <p:nvSpPr>
          <p:cNvPr id="12" name="Tekstvak 14">
            <a:extLst>
              <a:ext uri="{FF2B5EF4-FFF2-40B4-BE49-F238E27FC236}">
                <a16:creationId xmlns:a16="http://schemas.microsoft.com/office/drawing/2014/main" id="{2E21C1FC-D436-A78C-5B03-80C573240A6D}"/>
              </a:ext>
            </a:extLst>
          </p:cNvPr>
          <p:cNvSpPr txBox="1"/>
          <p:nvPr/>
        </p:nvSpPr>
        <p:spPr>
          <a:xfrm>
            <a:off x="9403302" y="3299479"/>
            <a:ext cx="2700344" cy="341632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>
                <a:solidFill>
                  <a:prstClr val="black"/>
                </a:solidFill>
                <a:latin typeface="Calibri" panose="020F0502020204030204"/>
              </a:rPr>
              <a:t>“i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ndicator = True”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cre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ëert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 een kolom “_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merge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” die per rij 3 mogelijke waarden kan bevatten: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“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”: de rij komt voor in beide tabellen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“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left_only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”: de rij komt alleen voor in de 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linkertabel</a:t>
            </a:r>
            <a:endParaRPr lang="nl-NL">
              <a:solidFill>
                <a:prstClr val="black"/>
              </a:solidFill>
              <a:latin typeface="Calibri" panose="020F0502020204030204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“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right_only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”: de rij komt alleen voor in de rechtertabel</a:t>
            </a:r>
          </a:p>
        </p:txBody>
      </p:sp>
      <p:sp>
        <p:nvSpPr>
          <p:cNvPr id="13" name="Tekstvak 10">
            <a:extLst>
              <a:ext uri="{FF2B5EF4-FFF2-40B4-BE49-F238E27FC236}">
                <a16:creationId xmlns:a16="http://schemas.microsoft.com/office/drawing/2014/main" id="{ECD7E547-4178-D252-5216-204ADB6B9C34}"/>
              </a:ext>
            </a:extLst>
          </p:cNvPr>
          <p:cNvSpPr txBox="1"/>
          <p:nvPr/>
        </p:nvSpPr>
        <p:spPr>
          <a:xfrm>
            <a:off x="4480720" y="740829"/>
            <a:ext cx="3139585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de operationele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database is er een nieuw product bijgekomen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lang="nl-NL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Hoe voeg</a:t>
            </a:r>
            <a:r>
              <a:rPr kumimoji="0" lang="nl-NL" sz="1800" b="0" i="0" u="sng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j</a:t>
            </a:r>
            <a:r>
              <a:rPr kumimoji="0" lang="nl-NL" sz="18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alléén dat nieuwe product toe aan het SDM?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kstvak 10">
            <a:extLst>
              <a:ext uri="{FF2B5EF4-FFF2-40B4-BE49-F238E27FC236}">
                <a16:creationId xmlns:a16="http://schemas.microsoft.com/office/drawing/2014/main" id="{6A1BCBCD-27EC-DC6B-CF27-526C44C44C71}"/>
              </a:ext>
            </a:extLst>
          </p:cNvPr>
          <p:cNvSpPr txBox="1"/>
          <p:nvPr/>
        </p:nvSpPr>
        <p:spPr>
          <a:xfrm>
            <a:off x="1221754" y="688969"/>
            <a:ext cx="2664274" cy="64633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Producttabel in operationele database:</a:t>
            </a:r>
          </a:p>
        </p:txBody>
      </p:sp>
      <p:sp>
        <p:nvSpPr>
          <p:cNvPr id="15" name="Tekstvak 10">
            <a:extLst>
              <a:ext uri="{FF2B5EF4-FFF2-40B4-BE49-F238E27FC236}">
                <a16:creationId xmlns:a16="http://schemas.microsoft.com/office/drawing/2014/main" id="{99C21C85-B4E7-783A-F45D-3088F75CADE7}"/>
              </a:ext>
            </a:extLst>
          </p:cNvPr>
          <p:cNvSpPr txBox="1"/>
          <p:nvPr/>
        </p:nvSpPr>
        <p:spPr>
          <a:xfrm>
            <a:off x="7620306" y="740829"/>
            <a:ext cx="2664274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Producttabel in SDM: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E2F373-D097-24E1-98FB-19AE8C10DDAF}"/>
              </a:ext>
            </a:extLst>
          </p:cNvPr>
          <p:cNvSpPr/>
          <p:nvPr/>
        </p:nvSpPr>
        <p:spPr>
          <a:xfrm>
            <a:off x="1664732" y="3755570"/>
            <a:ext cx="1589315" cy="2612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7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2657F-384C-C800-058E-31243ADD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5E39B7-4352-EA9A-D47A-32D9EC10627D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Tweede categorisering inlaadstrategieën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" name="Straight Connector 10">
            <a:extLst>
              <a:ext uri="{FF2B5EF4-FFF2-40B4-BE49-F238E27FC236}">
                <a16:creationId xmlns:a16="http://schemas.microsoft.com/office/drawing/2014/main" id="{FBF8723D-FBC5-9915-918C-2AB5B7BDF680}"/>
              </a:ext>
            </a:extLst>
          </p:cNvPr>
          <p:cNvCxnSpPr>
            <a:cxnSpLocks/>
          </p:cNvCxnSpPr>
          <p:nvPr/>
        </p:nvCxnSpPr>
        <p:spPr>
          <a:xfrm>
            <a:off x="988290" y="702275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51CA893-2EAE-BCCC-2A20-C0FC3014595D}"/>
              </a:ext>
            </a:extLst>
          </p:cNvPr>
          <p:cNvCxnSpPr>
            <a:cxnSpLocks/>
          </p:cNvCxnSpPr>
          <p:nvPr/>
        </p:nvCxnSpPr>
        <p:spPr>
          <a:xfrm flipV="1">
            <a:off x="6450563" y="702275"/>
            <a:ext cx="0" cy="6155725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">
            <a:extLst>
              <a:ext uri="{FF2B5EF4-FFF2-40B4-BE49-F238E27FC236}">
                <a16:creationId xmlns:a16="http://schemas.microsoft.com/office/drawing/2014/main" id="{315A2983-C5F5-A03C-4691-CBDD202028A0}"/>
              </a:ext>
            </a:extLst>
          </p:cNvPr>
          <p:cNvSpPr txBox="1"/>
          <p:nvPr/>
        </p:nvSpPr>
        <p:spPr>
          <a:xfrm>
            <a:off x="1258628" y="728043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String-built SQL</a:t>
            </a:r>
          </a:p>
        </p:txBody>
      </p:sp>
      <p:sp>
        <p:nvSpPr>
          <p:cNvPr id="10" name="Tekstvak 7">
            <a:extLst>
              <a:ext uri="{FF2B5EF4-FFF2-40B4-BE49-F238E27FC236}">
                <a16:creationId xmlns:a16="http://schemas.microsoft.com/office/drawing/2014/main" id="{64000C12-4985-AC19-7C42-677D426A424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FC370372-7627-2025-0AF1-8075F82710FF}"/>
              </a:ext>
            </a:extLst>
          </p:cNvPr>
          <p:cNvSpPr txBox="1"/>
          <p:nvPr/>
        </p:nvSpPr>
        <p:spPr>
          <a:xfrm>
            <a:off x="7211505" y="695660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Schema-Driven Bulk Loading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1A6BD8-C2D2-399C-FE6E-1101CCDA6B2E}"/>
              </a:ext>
            </a:extLst>
          </p:cNvPr>
          <p:cNvGraphicFramePr>
            <a:graphicFrameLocks noGrp="1"/>
          </p:cNvGraphicFramePr>
          <p:nvPr/>
        </p:nvGraphicFramePr>
        <p:xfrm>
          <a:off x="2536370" y="1262500"/>
          <a:ext cx="3816660" cy="182604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5218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AD8306F-8E34-B1A2-8F62-BA9C1CAE5672}"/>
              </a:ext>
            </a:extLst>
          </p:cNvPr>
          <p:cNvGraphicFramePr>
            <a:graphicFrameLocks noGrp="1"/>
          </p:cNvGraphicFramePr>
          <p:nvPr/>
        </p:nvGraphicFramePr>
        <p:xfrm>
          <a:off x="2536370" y="4777567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0313551-12B0-C2A0-AED6-F98578F4106E}"/>
              </a:ext>
            </a:extLst>
          </p:cNvPr>
          <p:cNvGraphicFramePr>
            <a:graphicFrameLocks noGrp="1"/>
          </p:cNvGraphicFramePr>
          <p:nvPr/>
        </p:nvGraphicFramePr>
        <p:xfrm>
          <a:off x="2545893" y="1262500"/>
          <a:ext cx="3816660" cy="182604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81269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F834CE8-FB7F-2E6D-45E2-A6968D3DD94D}"/>
              </a:ext>
            </a:extLst>
          </p:cNvPr>
          <p:cNvSpPr txBox="1"/>
          <p:nvPr/>
        </p:nvSpPr>
        <p:spPr>
          <a:xfrm>
            <a:off x="2473452" y="3429000"/>
            <a:ext cx="37097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Je construeert </a:t>
            </a:r>
            <a:r>
              <a:rPr lang="nl-NL" u="sng">
                <a:solidFill>
                  <a:prstClr val="black"/>
                </a:solidFill>
              </a:rPr>
              <a:t>per rij</a:t>
            </a:r>
            <a:r>
              <a:rPr lang="nl-NL">
                <a:solidFill>
                  <a:prstClr val="black"/>
                </a:solidFill>
              </a:rPr>
              <a:t> een SQL-query en stuurt deze vervolgens meteen naar het Datawarehouse.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AD6E68B-46C2-AE5B-32B0-D15375F12011}"/>
              </a:ext>
            </a:extLst>
          </p:cNvPr>
          <p:cNvGraphicFramePr>
            <a:graphicFrameLocks noGrp="1"/>
          </p:cNvGraphicFramePr>
          <p:nvPr/>
        </p:nvGraphicFramePr>
        <p:xfrm>
          <a:off x="8062594" y="4777567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D7881EB-1776-23B9-F305-B9678868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841411"/>
              </p:ext>
            </p:extLst>
          </p:nvPr>
        </p:nvGraphicFramePr>
        <p:xfrm>
          <a:off x="8062594" y="1262500"/>
          <a:ext cx="3816660" cy="136953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1654290804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278273428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924645998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Henk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Vries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39808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Marleen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Langelaan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979932"/>
                  </a:ext>
                </a:extLst>
              </a:tr>
              <a:tr h="456510"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Gerard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>
                          <a:solidFill>
                            <a:schemeClr val="tx1"/>
                          </a:solidFill>
                        </a:rPr>
                        <a:t>van Boven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1569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0B355EC-29CD-F233-7467-AA345E906F64}"/>
              </a:ext>
            </a:extLst>
          </p:cNvPr>
          <p:cNvGraphicFramePr>
            <a:graphicFrameLocks noGrp="1"/>
          </p:cNvGraphicFramePr>
          <p:nvPr/>
        </p:nvGraphicFramePr>
        <p:xfrm>
          <a:off x="8062316" y="2619558"/>
          <a:ext cx="3816660" cy="456510"/>
        </p:xfrm>
        <a:graphic>
          <a:graphicData uri="http://schemas.openxmlformats.org/drawingml/2006/table">
            <a:tbl>
              <a:tblPr firstRow="1" bandRow="1">
                <a:solidFill>
                  <a:srgbClr val="FF00FF"/>
                </a:solidFill>
                <a:tableStyleId>{5C22544A-7EE6-4342-B048-85BDC9FD1C3A}</a:tableStyleId>
              </a:tblPr>
              <a:tblGrid>
                <a:gridCol w="1023259">
                  <a:extLst>
                    <a:ext uri="{9D8B030D-6E8A-4147-A177-3AD203B41FA5}">
                      <a16:colId xmlns:a16="http://schemas.microsoft.com/office/drawing/2014/main" val="777118743"/>
                    </a:ext>
                  </a:extLst>
                </a:gridCol>
                <a:gridCol w="1349828">
                  <a:extLst>
                    <a:ext uri="{9D8B030D-6E8A-4147-A177-3AD203B41FA5}">
                      <a16:colId xmlns:a16="http://schemas.microsoft.com/office/drawing/2014/main" val="4210358792"/>
                    </a:ext>
                  </a:extLst>
                </a:gridCol>
                <a:gridCol w="1443573">
                  <a:extLst>
                    <a:ext uri="{9D8B030D-6E8A-4147-A177-3AD203B41FA5}">
                      <a16:colId xmlns:a16="http://schemas.microsoft.com/office/drawing/2014/main" val="2850529"/>
                    </a:ext>
                  </a:extLst>
                </a:gridCol>
              </a:tblGrid>
              <a:tr h="456510"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Frida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b="0">
                          <a:solidFill>
                            <a:schemeClr val="tx1"/>
                          </a:solidFill>
                        </a:rPr>
                        <a:t>de Haan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260737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FD5DC71-CE33-0C96-8FA0-C3C47DDD2493}"/>
              </a:ext>
            </a:extLst>
          </p:cNvPr>
          <p:cNvSpPr txBox="1"/>
          <p:nvPr/>
        </p:nvSpPr>
        <p:spPr>
          <a:xfrm>
            <a:off x="8229600" y="3280486"/>
            <a:ext cx="32763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Je groepeert rijen eerst in zgn. “batches”. Per batch is er vervolgens één query om álle waarden toe te voegen.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829F47-1006-6A2B-E0DC-9ACC971E7EDC}"/>
              </a:ext>
            </a:extLst>
          </p:cNvPr>
          <p:cNvSpPr txBox="1"/>
          <p:nvPr/>
        </p:nvSpPr>
        <p:spPr>
          <a:xfrm>
            <a:off x="1104229" y="1262500"/>
            <a:ext cx="8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INSERT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8D7814-9017-C91D-F940-36B6574D37F7}"/>
              </a:ext>
            </a:extLst>
          </p:cNvPr>
          <p:cNvCxnSpPr>
            <a:cxnSpLocks/>
            <a:endCxn id="40" idx="3"/>
          </p:cNvCxnSpPr>
          <p:nvPr/>
        </p:nvCxnSpPr>
        <p:spPr>
          <a:xfrm flipH="1">
            <a:off x="1952640" y="1447166"/>
            <a:ext cx="5742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3123019-36E5-0E73-55FF-BE97B73CCDBC}"/>
              </a:ext>
            </a:extLst>
          </p:cNvPr>
          <p:cNvSpPr txBox="1"/>
          <p:nvPr/>
        </p:nvSpPr>
        <p:spPr>
          <a:xfrm>
            <a:off x="1104229" y="1748329"/>
            <a:ext cx="8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INSERT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38CAED2-0785-D2A0-C095-7CF217C773F0}"/>
              </a:ext>
            </a:extLst>
          </p:cNvPr>
          <p:cNvCxnSpPr>
            <a:cxnSpLocks/>
            <a:endCxn id="45" idx="3"/>
          </p:cNvCxnSpPr>
          <p:nvPr/>
        </p:nvCxnSpPr>
        <p:spPr>
          <a:xfrm flipH="1">
            <a:off x="1952640" y="1932995"/>
            <a:ext cx="5742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ED05A23-6BCC-CD99-788D-60D15C78B1EC}"/>
              </a:ext>
            </a:extLst>
          </p:cNvPr>
          <p:cNvSpPr txBox="1"/>
          <p:nvPr/>
        </p:nvSpPr>
        <p:spPr>
          <a:xfrm>
            <a:off x="1104229" y="2231223"/>
            <a:ext cx="8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INSERT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29E9CB2-AD46-2B54-4416-A440CD4D453A}"/>
              </a:ext>
            </a:extLst>
          </p:cNvPr>
          <p:cNvCxnSpPr>
            <a:cxnSpLocks/>
            <a:endCxn id="47" idx="3"/>
          </p:cNvCxnSpPr>
          <p:nvPr/>
        </p:nvCxnSpPr>
        <p:spPr>
          <a:xfrm flipH="1">
            <a:off x="1952640" y="2415889"/>
            <a:ext cx="5742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01C5783-6413-9BE7-BDCF-7A209114720F}"/>
              </a:ext>
            </a:extLst>
          </p:cNvPr>
          <p:cNvSpPr txBox="1"/>
          <p:nvPr/>
        </p:nvSpPr>
        <p:spPr>
          <a:xfrm>
            <a:off x="1104229" y="2717052"/>
            <a:ext cx="8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INSERT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157378-F47D-1C98-C379-71E77472CA54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1952640" y="2901718"/>
            <a:ext cx="5742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87EFB21-C11E-0325-4FD2-73DA510C1B36}"/>
              </a:ext>
            </a:extLst>
          </p:cNvPr>
          <p:cNvSpPr/>
          <p:nvPr/>
        </p:nvSpPr>
        <p:spPr>
          <a:xfrm>
            <a:off x="1104229" y="1262500"/>
            <a:ext cx="856125" cy="194037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26F40FF-A45A-01E8-3D84-65128D5EA980}"/>
              </a:ext>
            </a:extLst>
          </p:cNvPr>
          <p:cNvCxnSpPr>
            <a:cxnSpLocks/>
            <a:stCxn id="51" idx="2"/>
            <a:endCxn id="18" idx="1"/>
          </p:cNvCxnSpPr>
          <p:nvPr/>
        </p:nvCxnSpPr>
        <p:spPr>
          <a:xfrm rot="16200000" flipH="1">
            <a:off x="904604" y="3830565"/>
            <a:ext cx="2259455" cy="1004078"/>
          </a:xfrm>
          <a:prstGeom prst="bentConnector2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Verzendkosten - Pakketje overig">
            <a:extLst>
              <a:ext uri="{FF2B5EF4-FFF2-40B4-BE49-F238E27FC236}">
                <a16:creationId xmlns:a16="http://schemas.microsoft.com/office/drawing/2014/main" id="{F5DABE81-E1B6-1DFC-D95D-3E0DAACDC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42" y="1188105"/>
            <a:ext cx="1303236" cy="179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78214AE-AC11-FE73-D32E-41F880BE13F9}"/>
              </a:ext>
            </a:extLst>
          </p:cNvPr>
          <p:cNvSpPr txBox="1"/>
          <p:nvPr/>
        </p:nvSpPr>
        <p:spPr>
          <a:xfrm>
            <a:off x="6590145" y="4018737"/>
            <a:ext cx="8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INSERT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2B1FBA3-4D09-FC29-2DC9-E92482C4643C}"/>
              </a:ext>
            </a:extLst>
          </p:cNvPr>
          <p:cNvCxnSpPr>
            <a:cxnSpLocks/>
          </p:cNvCxnSpPr>
          <p:nvPr/>
        </p:nvCxnSpPr>
        <p:spPr>
          <a:xfrm>
            <a:off x="6980160" y="2847813"/>
            <a:ext cx="0" cy="117092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DBEAC57-4353-33DC-1317-60F42E8ACE74}"/>
              </a:ext>
            </a:extLst>
          </p:cNvPr>
          <p:cNvCxnSpPr>
            <a:cxnSpLocks/>
            <a:endCxn id="25" idx="1"/>
          </p:cNvCxnSpPr>
          <p:nvPr/>
        </p:nvCxnSpPr>
        <p:spPr>
          <a:xfrm rot="16200000" flipH="1">
            <a:off x="6980840" y="4380578"/>
            <a:ext cx="1110002" cy="1053506"/>
          </a:xfrm>
          <a:prstGeom prst="bentConnector2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621C3E6-02CE-0DEE-0E0F-DE914BECEB72}"/>
              </a:ext>
            </a:extLst>
          </p:cNvPr>
          <p:cNvCxnSpPr>
            <a:cxnSpLocks/>
          </p:cNvCxnSpPr>
          <p:nvPr/>
        </p:nvCxnSpPr>
        <p:spPr>
          <a:xfrm flipH="1">
            <a:off x="7535840" y="1447166"/>
            <a:ext cx="476923" cy="18466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D4D4902-9BE9-50B6-02E7-7B602854AED2}"/>
              </a:ext>
            </a:extLst>
          </p:cNvPr>
          <p:cNvCxnSpPr>
            <a:cxnSpLocks/>
          </p:cNvCxnSpPr>
          <p:nvPr/>
        </p:nvCxnSpPr>
        <p:spPr>
          <a:xfrm flipH="1">
            <a:off x="7438556" y="1932995"/>
            <a:ext cx="5742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7E73E38-1A85-0B35-2164-994727BA5309}"/>
              </a:ext>
            </a:extLst>
          </p:cNvPr>
          <p:cNvCxnSpPr>
            <a:cxnSpLocks/>
          </p:cNvCxnSpPr>
          <p:nvPr/>
        </p:nvCxnSpPr>
        <p:spPr>
          <a:xfrm flipH="1" flipV="1">
            <a:off x="7347857" y="2175520"/>
            <a:ext cx="664906" cy="24036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EBB54951-7C7C-11DC-EE78-2C5D11A61B50}"/>
              </a:ext>
            </a:extLst>
          </p:cNvPr>
          <p:cNvCxnSpPr>
            <a:cxnSpLocks/>
          </p:cNvCxnSpPr>
          <p:nvPr/>
        </p:nvCxnSpPr>
        <p:spPr>
          <a:xfrm flipH="1" flipV="1">
            <a:off x="7211505" y="2600555"/>
            <a:ext cx="801258" cy="30116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04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40" grpId="0"/>
      <p:bldP spid="45" grpId="0"/>
      <p:bldP spid="47" grpId="0"/>
      <p:bldP spid="49" grpId="0"/>
      <p:bldP spid="51" grpId="0" animBg="1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4201-5698-DD71-0F7E-CD4C152A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A7D97D-1A32-5737-2BAE-AF63BFE5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569" y="893053"/>
            <a:ext cx="7956131" cy="58534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93E98C-6E99-E2E2-54FC-87FCC1C79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01C220C2-7E81-53F9-ED22-34D4729A44E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6C467B-B497-92F3-0B00-0078322E16FA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Codevoorbeeld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String-built SQL</a:t>
            </a: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55F79B0C-CCE0-53B3-EEDC-7CD4D8D3177A}"/>
              </a:ext>
            </a:extLst>
          </p:cNvPr>
          <p:cNvCxnSpPr>
            <a:cxnSpLocks/>
          </p:cNvCxnSpPr>
          <p:nvPr/>
        </p:nvCxnSpPr>
        <p:spPr>
          <a:xfrm>
            <a:off x="1087911" y="72452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968841EC-94EF-EA1A-3852-CD0C0380A1EC}"/>
              </a:ext>
            </a:extLst>
          </p:cNvPr>
          <p:cNvSpPr txBox="1"/>
          <p:nvPr/>
        </p:nvSpPr>
        <p:spPr>
          <a:xfrm>
            <a:off x="9327448" y="1494196"/>
            <a:ext cx="2867808" cy="369332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554BDF2D-5C66-3C79-CAC2-3C8DC9FB124A}"/>
              </a:ext>
            </a:extLst>
          </p:cNvPr>
          <p:cNvSpPr txBox="1"/>
          <p:nvPr/>
        </p:nvSpPr>
        <p:spPr>
          <a:xfrm>
            <a:off x="9424159" y="3099175"/>
            <a:ext cx="2664274" cy="120032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Probeer de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insert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-query te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executen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Lukt dat niet? Print de query dan uit.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864A80F2-2907-9D28-38E8-CB98C89E74A3}"/>
              </a:ext>
            </a:extLst>
          </p:cNvPr>
          <p:cNvSpPr txBox="1"/>
          <p:nvPr/>
        </p:nvSpPr>
        <p:spPr>
          <a:xfrm>
            <a:off x="9411180" y="4904017"/>
            <a:ext cx="2700344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Maak je wijzigingen (nieuwe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inserts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definitief met .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commit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(). Na alle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commits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moet je de cursor ook weer “closen”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554AC6-1DEF-CF1A-D372-E5B4F88C97C7}"/>
              </a:ext>
            </a:extLst>
          </p:cNvPr>
          <p:cNvSpPr/>
          <p:nvPr/>
        </p:nvSpPr>
        <p:spPr>
          <a:xfrm>
            <a:off x="1709057" y="5175530"/>
            <a:ext cx="5192486" cy="10728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vak 10">
            <a:extLst>
              <a:ext uri="{FF2B5EF4-FFF2-40B4-BE49-F238E27FC236}">
                <a16:creationId xmlns:a16="http://schemas.microsoft.com/office/drawing/2014/main" id="{6E8A94B3-33D4-1850-0D7A-9C998644C218}"/>
              </a:ext>
            </a:extLst>
          </p:cNvPr>
          <p:cNvSpPr txBox="1"/>
          <p:nvPr/>
        </p:nvSpPr>
        <p:spPr>
          <a:xfrm>
            <a:off x="9327448" y="996425"/>
            <a:ext cx="2664274" cy="1754326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Let extra op het plaatsen van apostrofjes (‘) bij deze methode! Deze moeten namelijk niét om getallen, maar wél om niet-numerieke waarden!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73138-061B-2465-D9F8-2E5F58233354}"/>
              </a:ext>
            </a:extLst>
          </p:cNvPr>
          <p:cNvSpPr/>
          <p:nvPr/>
        </p:nvSpPr>
        <p:spPr>
          <a:xfrm>
            <a:off x="4305300" y="1852093"/>
            <a:ext cx="908957" cy="28150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B2B05-92CE-C242-D111-6CB3BF9C0DA9}"/>
              </a:ext>
            </a:extLst>
          </p:cNvPr>
          <p:cNvSpPr/>
          <p:nvPr/>
        </p:nvSpPr>
        <p:spPr>
          <a:xfrm>
            <a:off x="6447064" y="1852093"/>
            <a:ext cx="908957" cy="28150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BC2081-802D-F575-DB0C-2E22F247619B}"/>
              </a:ext>
            </a:extLst>
          </p:cNvPr>
          <p:cNvSpPr/>
          <p:nvPr/>
        </p:nvSpPr>
        <p:spPr>
          <a:xfrm>
            <a:off x="1254578" y="6416076"/>
            <a:ext cx="2609851" cy="330393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5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3" grpId="0" animBg="1"/>
      <p:bldP spid="4" grpId="0" animBg="1"/>
      <p:bldP spid="8" grpId="0" animBg="1"/>
      <p:bldP spid="10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86A2-167A-CA65-8BC1-ACBBE403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9E499-00DD-4A85-5814-5373DC7E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C536B2DC-D9C2-5F76-B7B4-75649EB97F8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C07AF-1EAE-9A6D-C400-910878D15CB7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Codevoorbeeld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Schema-Driven Bulk</a:t>
            </a:r>
            <a:r>
              <a:rPr kumimoji="0" lang="en-US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Loading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3B233F74-672A-6CBF-C431-86D48B20258E}"/>
              </a:ext>
            </a:extLst>
          </p:cNvPr>
          <p:cNvCxnSpPr>
            <a:cxnSpLocks/>
          </p:cNvCxnSpPr>
          <p:nvPr/>
        </p:nvCxnSpPr>
        <p:spPr>
          <a:xfrm>
            <a:off x="988290" y="65003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162CE559-23DE-7C40-61C5-2A1220106679}"/>
              </a:ext>
            </a:extLst>
          </p:cNvPr>
          <p:cNvSpPr txBox="1"/>
          <p:nvPr/>
        </p:nvSpPr>
        <p:spPr>
          <a:xfrm>
            <a:off x="9160464" y="920948"/>
            <a:ext cx="2933021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behulp van het </a:t>
            </a:r>
            <a:r>
              <a:rPr kumimoji="0" lang="nl-NL" sz="1800" b="0" i="0" u="none" strike="noStrike" kern="1200" cap="none" spc="0" normalizeH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MetaData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 en het </a:t>
            </a:r>
            <a:r>
              <a:rPr kumimoji="0" lang="nl-NL" sz="1800" b="0" i="0" u="none" strike="noStrike" kern="1200" cap="none" spc="0" normalizeH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Table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-object wordt de tabelstructuur van de te vullen SDM-tabel uitgelezen.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7DADB5BE-F3DC-841E-A313-DF9C51BDF2E2}"/>
              </a:ext>
            </a:extLst>
          </p:cNvPr>
          <p:cNvSpPr txBox="1"/>
          <p:nvPr/>
        </p:nvSpPr>
        <p:spPr>
          <a:xfrm>
            <a:off x="9060326" y="4163475"/>
            <a:ext cx="3133299" cy="120032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plaats van zelf SQL-code per rij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 genereren, laat je </a:t>
            </a:r>
            <a:r>
              <a:rPr kumimoji="0" lang="nl-NL" sz="1800" b="0" i="0" u="none" strike="noStrike" kern="1200" cap="none" spc="0" normalizeH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sqlalchemy</a:t>
            </a:r>
            <a:r>
              <a:rPr kumimoji="0" lang="nl-NL" sz="1800" b="0" i="0" u="none" strike="noStrike" kern="1200" cap="none" spc="0" normalizeH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achter de schermen SQL-code per batch generen.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0F54E63-2347-DE1D-1F95-B6FB836BA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391" y="772886"/>
            <a:ext cx="7845135" cy="59735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5890B5-93B2-B33B-015C-AAAEBC9B9D1A}"/>
              </a:ext>
            </a:extLst>
          </p:cNvPr>
          <p:cNvSpPr txBox="1"/>
          <p:nvPr/>
        </p:nvSpPr>
        <p:spPr>
          <a:xfrm>
            <a:off x="9515411" y="2836346"/>
            <a:ext cx="22231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>
                <a:solidFill>
                  <a:prstClr val="black"/>
                </a:solidFill>
              </a:rPr>
              <a:t>In dit codevoorbeeld is er 1 batch met de naam “records”.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514E37-3CE9-3430-A23C-AE61133084ED}"/>
              </a:ext>
            </a:extLst>
          </p:cNvPr>
          <p:cNvSpPr/>
          <p:nvPr/>
        </p:nvSpPr>
        <p:spPr>
          <a:xfrm>
            <a:off x="1333499" y="1378105"/>
            <a:ext cx="7581901" cy="5486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9030B-F1A0-98F3-076F-810C59881BDD}"/>
              </a:ext>
            </a:extLst>
          </p:cNvPr>
          <p:cNvSpPr/>
          <p:nvPr/>
        </p:nvSpPr>
        <p:spPr>
          <a:xfrm>
            <a:off x="1285007" y="2132421"/>
            <a:ext cx="7581901" cy="384383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FDD9FD-6061-1432-F26A-A2C3992D02B1}"/>
              </a:ext>
            </a:extLst>
          </p:cNvPr>
          <p:cNvSpPr/>
          <p:nvPr/>
        </p:nvSpPr>
        <p:spPr>
          <a:xfrm>
            <a:off x="1285006" y="6126012"/>
            <a:ext cx="7581901" cy="548666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2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6" grpId="0"/>
      <p:bldP spid="3" grpId="0" animBg="1"/>
      <p:bldP spid="4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7752CA-7972-0264-2431-18F4202258C4}"/>
              </a:ext>
            </a:extLst>
          </p:cNvPr>
          <p:cNvGraphicFramePr>
            <a:graphicFrameLocks noGrp="1"/>
          </p:cNvGraphicFramePr>
          <p:nvPr/>
        </p:nvGraphicFramePr>
        <p:xfrm>
          <a:off x="1832152" y="1308300"/>
          <a:ext cx="9467220" cy="3571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248">
                  <a:extLst>
                    <a:ext uri="{9D8B030D-6E8A-4147-A177-3AD203B41FA5}">
                      <a16:colId xmlns:a16="http://schemas.microsoft.com/office/drawing/2014/main" val="4282995978"/>
                    </a:ext>
                  </a:extLst>
                </a:gridCol>
                <a:gridCol w="3766457">
                  <a:extLst>
                    <a:ext uri="{9D8B030D-6E8A-4147-A177-3AD203B41FA5}">
                      <a16:colId xmlns:a16="http://schemas.microsoft.com/office/drawing/2014/main" val="4043020364"/>
                    </a:ext>
                  </a:extLst>
                </a:gridCol>
                <a:gridCol w="4332515">
                  <a:extLst>
                    <a:ext uri="{9D8B030D-6E8A-4147-A177-3AD203B41FA5}">
                      <a16:colId xmlns:a16="http://schemas.microsoft.com/office/drawing/2014/main" val="3122478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String-built SQL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b="1"/>
                        <a:t>Schema-</a:t>
                      </a:r>
                      <a:r>
                        <a:rPr lang="nl-NL" b="1" err="1"/>
                        <a:t>driven</a:t>
                      </a:r>
                      <a:r>
                        <a:rPr lang="nl-NL" b="1"/>
                        <a:t> Bulk </a:t>
                      </a:r>
                      <a:r>
                        <a:rPr lang="nl-NL" b="1" err="1"/>
                        <a:t>Loading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94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nl-NL" b="1"/>
                        <a:t>Full </a:t>
                      </a:r>
                      <a:r>
                        <a:rPr lang="nl-NL" b="1" err="1"/>
                        <a:t>Refresh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l-NL">
                          <a:solidFill>
                            <a:srgbClr val="00B050"/>
                          </a:solidFill>
                        </a:rPr>
                        <a:t>Eenvoud: makkelijk te debuggen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nl-NL">
                          <a:solidFill>
                            <a:srgbClr val="FF0000"/>
                          </a:solidFill>
                        </a:rPr>
                        <a:t>Snelheid: heel langzaam. Onveranderde data wordt telkens opnieuw ingeladen én dit gebeurt rij voor rij.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l-NL">
                          <a:solidFill>
                            <a:srgbClr val="00B050"/>
                          </a:solidFill>
                        </a:rPr>
                        <a:t>Eenvoud: makkelijk te debuggen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nl-NL">
                          <a:solidFill>
                            <a:srgbClr val="FF0000"/>
                          </a:solidFill>
                        </a:rPr>
                        <a:t>Snelheid: langzaam. Onveranderde data wordt nog steeds (overbodig opnieuw) ingeladen, maar nu met 1 1 SQL-query per batch, i.p.v. per individuele rij.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16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b="1" err="1"/>
                        <a:t>Incremental</a:t>
                      </a:r>
                      <a:r>
                        <a:rPr lang="nl-NL" b="1"/>
                        <a:t> Data </a:t>
                      </a:r>
                      <a:r>
                        <a:rPr lang="nl-NL" b="1" err="1"/>
                        <a:t>Loading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nl-NL">
                          <a:solidFill>
                            <a:srgbClr val="FF0000"/>
                          </a:solidFill>
                        </a:rPr>
                        <a:t>Eenvoud: moeilijk te debuggen. Je ziet lastiger welke individuele rijen misgaan.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nl-NL">
                          <a:solidFill>
                            <a:srgbClr val="00B050"/>
                          </a:solidFill>
                        </a:rPr>
                        <a:t>Snelheid: snel, omdat er alléén naar gewijzigde data gekeken wordt.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l-NL">
                          <a:solidFill>
                            <a:srgbClr val="FF0000"/>
                          </a:solidFill>
                        </a:rPr>
                        <a:t>Eenvoud: moeilijk te debuggen. Je ziet lastiger welke individuele rijen misgaan.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nl-NL">
                          <a:solidFill>
                            <a:srgbClr val="00B050"/>
                          </a:solidFill>
                        </a:rPr>
                        <a:t>Snelheid: heel snel, omdat er alléén naar gewijzigde data gekeken wordt én er 1 SQL-query per batch is, i.p.v. per individuele rij.</a:t>
                      </a:r>
                      <a:endParaRPr lang="en-US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7715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49550A9-4ACB-E4E6-3901-2AC0F008D440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Vergelijking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inlaadstrategieën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848F9265-B16D-1439-11CD-FFBCCF2DF1E8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F5D059-E9F3-FAE8-D1A0-CD515307E29D}"/>
              </a:ext>
            </a:extLst>
          </p:cNvPr>
          <p:cNvSpPr txBox="1"/>
          <p:nvPr/>
        </p:nvSpPr>
        <p:spPr>
          <a:xfrm>
            <a:off x="988290" y="5469426"/>
            <a:ext cx="1918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Ontwikkeling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EDB469B-6D6D-AFE8-4924-C3ED5B2EB9EA}"/>
              </a:ext>
            </a:extLst>
          </p:cNvPr>
          <p:cNvCxnSpPr>
            <a:cxnSpLocks/>
          </p:cNvCxnSpPr>
          <p:nvPr/>
        </p:nvCxnSpPr>
        <p:spPr>
          <a:xfrm>
            <a:off x="1219200" y="5921829"/>
            <a:ext cx="1080951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65A8F7-1A9F-A0D7-75D0-2BC35A2494EA}"/>
              </a:ext>
            </a:extLst>
          </p:cNvPr>
          <p:cNvSpPr txBox="1"/>
          <p:nvPr/>
        </p:nvSpPr>
        <p:spPr>
          <a:xfrm>
            <a:off x="10273804" y="5510962"/>
            <a:ext cx="1918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Productie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988E6B-B0C3-D717-0E14-F3240380455F}"/>
              </a:ext>
            </a:extLst>
          </p:cNvPr>
          <p:cNvSpPr txBox="1"/>
          <p:nvPr/>
        </p:nvSpPr>
        <p:spPr>
          <a:xfrm>
            <a:off x="988290" y="6059312"/>
            <a:ext cx="1918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Kwadrant linksboven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43991C-7135-6479-6DA6-B23E4EB7B875}"/>
              </a:ext>
            </a:extLst>
          </p:cNvPr>
          <p:cNvSpPr txBox="1"/>
          <p:nvPr/>
        </p:nvSpPr>
        <p:spPr>
          <a:xfrm>
            <a:off x="4177804" y="6059312"/>
            <a:ext cx="1918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Kwadrant rechtsboven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AC31E-8B7E-E275-EB94-8C8D5759258C}"/>
              </a:ext>
            </a:extLst>
          </p:cNvPr>
          <p:cNvSpPr txBox="1"/>
          <p:nvPr/>
        </p:nvSpPr>
        <p:spPr>
          <a:xfrm>
            <a:off x="7367318" y="6059312"/>
            <a:ext cx="1918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Kwadrant linksonder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4E143-9B68-834F-8C12-008C1470E93C}"/>
              </a:ext>
            </a:extLst>
          </p:cNvPr>
          <p:cNvSpPr txBox="1"/>
          <p:nvPr/>
        </p:nvSpPr>
        <p:spPr>
          <a:xfrm>
            <a:off x="10556832" y="6051892"/>
            <a:ext cx="1918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Kwadrant rechtsonder</a:t>
            </a:r>
          </a:p>
        </p:txBody>
      </p:sp>
    </p:spTree>
    <p:extLst>
      <p:ext uri="{BB962C8B-B14F-4D97-AF65-F5344CB8AC3E}">
        <p14:creationId xmlns:p14="http://schemas.microsoft.com/office/powerpoint/2010/main" val="794269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5" grpId="0"/>
      <p:bldP spid="9" grpId="0"/>
      <p:bldP spid="12" grpId="0"/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8BFAA-8A39-1A95-430C-8342BC75A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AC8C0F-C26A-3F19-30A8-CE44E8F17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90" y="960433"/>
            <a:ext cx="8323269" cy="57361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2E1D3-7F8F-BF7B-BC58-2103244A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BC57952A-B470-D661-5109-D0DB9E6A149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09E09-2D70-DFEE-3D68-E31DBA111817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p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rint</a:t>
            </a:r>
            <a:r>
              <a:rPr kumimoji="0" lang="nl-NL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()</a:t>
            </a:r>
            <a:r>
              <a:rPr kumimoji="0" lang="nl-NL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vs. </a:t>
            </a:r>
            <a:r>
              <a:rPr kumimoji="0" lang="nl-NL" sz="3000" b="1" i="0" u="none" strike="noStrike" kern="1200" cap="none" spc="0" normalizeH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logging</a:t>
            </a:r>
            <a:r>
              <a:rPr kumimoji="0" lang="nl-NL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met </a:t>
            </a:r>
            <a:r>
              <a:rPr kumimoji="0" lang="nl-NL" sz="3000" b="1" i="0" u="none" strike="noStrike" kern="1200" cap="none" spc="0" normalizeH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loguru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D9647457-9785-B3EF-2C9E-D56CAE3F18BE}"/>
              </a:ext>
            </a:extLst>
          </p:cNvPr>
          <p:cNvCxnSpPr>
            <a:cxnSpLocks/>
          </p:cNvCxnSpPr>
          <p:nvPr/>
        </p:nvCxnSpPr>
        <p:spPr>
          <a:xfrm>
            <a:off x="1087911" y="72452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00A825B-1C11-B592-5AF7-6BFF78473A78}"/>
              </a:ext>
            </a:extLst>
          </p:cNvPr>
          <p:cNvSpPr/>
          <p:nvPr/>
        </p:nvSpPr>
        <p:spPr>
          <a:xfrm>
            <a:off x="1737197" y="1873588"/>
            <a:ext cx="2301403" cy="3902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vak 10">
            <a:extLst>
              <a:ext uri="{FF2B5EF4-FFF2-40B4-BE49-F238E27FC236}">
                <a16:creationId xmlns:a16="http://schemas.microsoft.com/office/drawing/2014/main" id="{1383E596-9EF4-F6E5-C9B5-91F1B6B9E746}"/>
              </a:ext>
            </a:extLst>
          </p:cNvPr>
          <p:cNvSpPr txBox="1"/>
          <p:nvPr/>
        </p:nvSpPr>
        <p:spPr>
          <a:xfrm>
            <a:off x="9493993" y="1525142"/>
            <a:ext cx="2623457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p</a:t>
            </a:r>
            <a:r>
              <a:rPr lang="nl-NL" noProof="0" err="1">
                <a:solidFill>
                  <a:prstClr val="black"/>
                </a:solidFill>
                <a:latin typeface="Calibri" panose="020F0502020204030204"/>
              </a:rPr>
              <a:t>rint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(): genereert slechts tijdelijke output. Deze is alleen zichtbaar totdat de betreffende 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codecel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 opnieuw gerund wordt.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9B2E7F-F09A-BF46-8ACB-76E65CBBE0E2}"/>
              </a:ext>
            </a:extLst>
          </p:cNvPr>
          <p:cNvSpPr/>
          <p:nvPr/>
        </p:nvSpPr>
        <p:spPr>
          <a:xfrm>
            <a:off x="1087911" y="3429000"/>
            <a:ext cx="8336248" cy="3189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kstvak 10">
            <a:extLst>
              <a:ext uri="{FF2B5EF4-FFF2-40B4-BE49-F238E27FC236}">
                <a16:creationId xmlns:a16="http://schemas.microsoft.com/office/drawing/2014/main" id="{DEB21700-FAA6-2935-AF45-A189D173B4EF}"/>
              </a:ext>
            </a:extLst>
          </p:cNvPr>
          <p:cNvSpPr txBox="1"/>
          <p:nvPr/>
        </p:nvSpPr>
        <p:spPr>
          <a:xfrm>
            <a:off x="9568543" y="4011952"/>
            <a:ext cx="2623457" cy="203132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 meerdere runs met elkaar te vergelijken en makkelijker op te sporen welke rijen niet goed inladen, wil je een geschiedenis bijhouden d.m.v.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logging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635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D243B-91D9-5E81-DEF5-398FC5B14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F4E13-3259-21FF-8EBD-111FE8671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5E96EC4D-B520-8968-61B0-E81C0CE05C0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1F44E-3AC9-FF5E-2D25-DA2E412E32D3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p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rint</a:t>
            </a:r>
            <a:r>
              <a:rPr kumimoji="0" lang="nl-NL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()</a:t>
            </a:r>
            <a:r>
              <a:rPr kumimoji="0" lang="nl-NL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vs. </a:t>
            </a:r>
            <a:r>
              <a:rPr kumimoji="0" lang="nl-NL" sz="3000" b="1" i="0" u="none" strike="noStrike" kern="1200" cap="none" spc="0" normalizeH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logging</a:t>
            </a:r>
            <a:r>
              <a:rPr kumimoji="0" lang="nl-NL" sz="3000" b="1" i="0" u="none" strike="noStrike" kern="1200" cap="none" spc="0" normalizeH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met </a:t>
            </a:r>
            <a:r>
              <a:rPr kumimoji="0" lang="nl-NL" sz="3000" b="1" i="0" u="none" strike="noStrike" kern="1200" cap="none" spc="0" normalizeH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loguru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A7462F20-F43A-F9D4-8D7B-2FC25B6A8BE7}"/>
              </a:ext>
            </a:extLst>
          </p:cNvPr>
          <p:cNvCxnSpPr>
            <a:cxnSpLocks/>
          </p:cNvCxnSpPr>
          <p:nvPr/>
        </p:nvCxnSpPr>
        <p:spPr>
          <a:xfrm>
            <a:off x="988290" y="68269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10">
            <a:extLst>
              <a:ext uri="{FF2B5EF4-FFF2-40B4-BE49-F238E27FC236}">
                <a16:creationId xmlns:a16="http://schemas.microsoft.com/office/drawing/2014/main" id="{36F2D552-9300-36E2-F9A4-1F08D426097C}"/>
              </a:ext>
            </a:extLst>
          </p:cNvPr>
          <p:cNvSpPr txBox="1"/>
          <p:nvPr/>
        </p:nvSpPr>
        <p:spPr>
          <a:xfrm>
            <a:off x="9448800" y="855498"/>
            <a:ext cx="2743200" cy="2308324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Loguru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 is één van de meest gangbare  “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logging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”-</a:t>
            </a:r>
            <a:r>
              <a:rPr lang="nl-NL" err="1">
                <a:solidFill>
                  <a:prstClr val="black"/>
                </a:solidFill>
                <a:latin typeface="Calibri" panose="020F0502020204030204"/>
              </a:rPr>
              <a:t>libraries</a:t>
            </a:r>
            <a:r>
              <a:rPr lang="nl-NL">
                <a:solidFill>
                  <a:prstClr val="black"/>
                </a:solidFill>
                <a:latin typeface="Calibri" panose="020F0502020204030204"/>
              </a:rPr>
              <a:t> in Python.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>
                <a:solidFill>
                  <a:prstClr val="black"/>
                </a:solidFill>
                <a:latin typeface="Calibri" panose="020F0502020204030204"/>
              </a:rPr>
              <a:t>Met deze code wordt alle feedback die je laat genereren opgevangen in een extern .log-bestand.</a:t>
            </a: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kstvak 10">
            <a:extLst>
              <a:ext uri="{FF2B5EF4-FFF2-40B4-BE49-F238E27FC236}">
                <a16:creationId xmlns:a16="http://schemas.microsoft.com/office/drawing/2014/main" id="{D8C92A57-0A98-8624-F187-7070DC490DD3}"/>
              </a:ext>
            </a:extLst>
          </p:cNvPr>
          <p:cNvSpPr txBox="1"/>
          <p:nvPr/>
        </p:nvSpPr>
        <p:spPr>
          <a:xfrm>
            <a:off x="9568543" y="4011952"/>
            <a:ext cx="2623457" cy="203132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 meerdere runs met elkaar te vergelijken en makkelijker op te sporen welke rijen niet goed inladen, wil je een geschiedenis bijhouden d.m.v. </a:t>
            </a:r>
            <a:r>
              <a:rPr kumimoji="0" lang="nl-NL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logging</a:t>
            </a: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pic>
        <p:nvPicPr>
          <p:cNvPr id="19" name="Picture 18" descr="A black background with colorful text&#10;&#10;AI-generated content may be incorrect.">
            <a:extLst>
              <a:ext uri="{FF2B5EF4-FFF2-40B4-BE49-F238E27FC236}">
                <a16:creationId xmlns:a16="http://schemas.microsoft.com/office/drawing/2014/main" id="{FB0ED941-27E7-72CA-B297-AC88AD99C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08" y="855498"/>
            <a:ext cx="4415186" cy="950963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93717A6-1CCF-FCDA-7014-966115DAD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1957497"/>
            <a:ext cx="8242796" cy="478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4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5DC9-176D-0552-B801-19D614E05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A17261C5-7AFD-9F94-7911-08CEDCA84AF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F8A403-30C2-E631-D1CA-22E5BC51D48F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 err="1">
                <a:solidFill>
                  <a:srgbClr val="829C30"/>
                </a:solidFill>
                <a:latin typeface="Arial"/>
                <a:ea typeface="MS PGothic" charset="0"/>
              </a:rPr>
              <a:t>Logging</a:t>
            </a: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-niveaus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1979835C-CDE5-D8CD-EE24-B853EC07DB76}"/>
              </a:ext>
            </a:extLst>
          </p:cNvPr>
          <p:cNvCxnSpPr>
            <a:cxnSpLocks/>
          </p:cNvCxnSpPr>
          <p:nvPr/>
        </p:nvCxnSpPr>
        <p:spPr>
          <a:xfrm>
            <a:off x="988290" y="68269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B0C29827-8B40-A290-6278-778E60F2DE62}"/>
              </a:ext>
            </a:extLst>
          </p:cNvPr>
          <p:cNvCxnSpPr>
            <a:cxnSpLocks/>
          </p:cNvCxnSpPr>
          <p:nvPr/>
        </p:nvCxnSpPr>
        <p:spPr>
          <a:xfrm>
            <a:off x="868547" y="379989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F5BCE4BD-2AD4-88F7-CC44-225B4A18EC6C}"/>
              </a:ext>
            </a:extLst>
          </p:cNvPr>
          <p:cNvCxnSpPr>
            <a:cxnSpLocks/>
          </p:cNvCxnSpPr>
          <p:nvPr/>
        </p:nvCxnSpPr>
        <p:spPr>
          <a:xfrm flipV="1">
            <a:off x="6590145" y="682690"/>
            <a:ext cx="0" cy="617531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EE1851C6-E39D-9D72-C762-876D90CF9FC6}"/>
              </a:ext>
            </a:extLst>
          </p:cNvPr>
          <p:cNvSpPr txBox="1"/>
          <p:nvPr/>
        </p:nvSpPr>
        <p:spPr>
          <a:xfrm>
            <a:off x="1258628" y="728043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ogger.info()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631112B9-D06F-FC30-B929-537C9B64C4F3}"/>
              </a:ext>
            </a:extLst>
          </p:cNvPr>
          <p:cNvSpPr txBox="1"/>
          <p:nvPr/>
        </p:nvSpPr>
        <p:spPr>
          <a:xfrm>
            <a:off x="7135255" y="3770345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MS PGothic" charset="0"/>
              </a:rPr>
              <a:t>logger.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debug()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DE344CD4-80BE-DEA4-0482-9ED9355BC3A9}"/>
              </a:ext>
            </a:extLst>
          </p:cNvPr>
          <p:cNvSpPr txBox="1"/>
          <p:nvPr/>
        </p:nvSpPr>
        <p:spPr>
          <a:xfrm>
            <a:off x="7075384" y="667448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MS PGothic" charset="0"/>
              </a:rPr>
              <a:t>logger.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warning()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7CD4950-279C-8A4D-36F5-6489EF696619}"/>
              </a:ext>
            </a:extLst>
          </p:cNvPr>
          <p:cNvSpPr txBox="1"/>
          <p:nvPr/>
        </p:nvSpPr>
        <p:spPr>
          <a:xfrm>
            <a:off x="1108034" y="3770345"/>
            <a:ext cx="499687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en-US" sz="2000" dirty="0">
                <a:solidFill>
                  <a:prstClr val="black"/>
                </a:solidFill>
                <a:latin typeface="Arial"/>
                <a:ea typeface="MS PGothic" charset="0"/>
              </a:rPr>
              <a:t>logger.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error()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0485A8-B110-44DE-9EB4-01DC36634E9B}"/>
              </a:ext>
            </a:extLst>
          </p:cNvPr>
          <p:cNvSpPr txBox="1"/>
          <p:nvPr/>
        </p:nvSpPr>
        <p:spPr>
          <a:xfrm>
            <a:off x="988289" y="1516829"/>
            <a:ext cx="32244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“Waar zijn we in ons proces?”</a:t>
            </a:r>
          </a:p>
          <a:p>
            <a:pPr marL="285750" lvl="0" indent="-285750">
              <a:buFontTx/>
              <a:buChar char="-"/>
              <a:defRPr/>
            </a:pPr>
            <a:r>
              <a:rPr lang="nl-NL">
                <a:solidFill>
                  <a:prstClr val="black"/>
                </a:solidFill>
              </a:rPr>
              <a:t>Geeft aan wanneer fasen starten en eindigen.</a:t>
            </a:r>
          </a:p>
          <a:p>
            <a:pPr marL="285750" lvl="0" indent="-285750">
              <a:buFontTx/>
              <a:buChar char="-"/>
              <a:defRPr/>
            </a:pPr>
            <a:r>
              <a:rPr lang="nl-NL">
                <a:solidFill>
                  <a:prstClr val="black"/>
                </a:solidFill>
              </a:rPr>
              <a:t>Niet te gedetailleerd: slechts algemene info, i.p.v. info per coderegel.</a:t>
            </a:r>
          </a:p>
        </p:txBody>
      </p:sp>
      <p:pic>
        <p:nvPicPr>
          <p:cNvPr id="1026" name="Picture 2" descr="ISO 9001 Checklists, Internal Audit, Supplier Audit, Gap Analysis">
            <a:extLst>
              <a:ext uri="{FF2B5EF4-FFF2-40B4-BE49-F238E27FC236}">
                <a16:creationId xmlns:a16="http://schemas.microsoft.com/office/drawing/2014/main" id="{173ED0EE-0393-CD47-4BFF-9DF323F68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348" y="1167413"/>
            <a:ext cx="1895475" cy="240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636AA7C-DD42-29CC-590C-AF350A205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265" y="926158"/>
            <a:ext cx="2127863" cy="265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4CD6047-0875-2964-AF25-D20718154AE2}"/>
              </a:ext>
            </a:extLst>
          </p:cNvPr>
          <p:cNvSpPr txBox="1"/>
          <p:nvPr/>
        </p:nvSpPr>
        <p:spPr>
          <a:xfrm>
            <a:off x="6829633" y="1475211"/>
            <a:ext cx="34527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“Wat zou er mis kunnen gaan?”</a:t>
            </a: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prstClr val="black"/>
                </a:solidFill>
              </a:rPr>
              <a:t>Geeft weer welke onverwachte resultaten in latere fasen kan optreden en oorzaken daarvan.</a:t>
            </a: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prstClr val="black"/>
                </a:solidFill>
              </a:rPr>
              <a:t>Een soort </a:t>
            </a:r>
            <a:r>
              <a:rPr lang="nl-NL" dirty="0" err="1">
                <a:solidFill>
                  <a:prstClr val="black"/>
                </a:solidFill>
              </a:rPr>
              <a:t>toekomst-voorspelling</a:t>
            </a:r>
            <a:r>
              <a:rPr lang="nl-NL" dirty="0">
                <a:solidFill>
                  <a:prstClr val="black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379CA7-B5E4-E14C-4F2E-AD5F49831857}"/>
              </a:ext>
            </a:extLst>
          </p:cNvPr>
          <p:cNvSpPr txBox="1"/>
          <p:nvPr/>
        </p:nvSpPr>
        <p:spPr>
          <a:xfrm>
            <a:off x="988288" y="4559130"/>
            <a:ext cx="32244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“Waar faalde ons proces?”</a:t>
            </a:r>
          </a:p>
          <a:p>
            <a:pPr marL="285750" lvl="0" indent="-285750">
              <a:buFontTx/>
              <a:buChar char="-"/>
              <a:defRPr/>
            </a:pPr>
            <a:r>
              <a:rPr lang="nl-NL">
                <a:solidFill>
                  <a:prstClr val="black"/>
                </a:solidFill>
              </a:rPr>
              <a:t>Signaleert incidenten en alerts.</a:t>
            </a:r>
          </a:p>
          <a:p>
            <a:pPr marL="285750" lvl="0" indent="-285750">
              <a:buFontTx/>
              <a:buChar char="-"/>
              <a:defRPr/>
            </a:pPr>
            <a:r>
              <a:rPr lang="nl-NL">
                <a:solidFill>
                  <a:prstClr val="black"/>
                </a:solidFill>
              </a:rPr>
              <a:t>De pijplijn loopt wel door!</a:t>
            </a:r>
          </a:p>
        </p:txBody>
      </p:sp>
      <p:pic>
        <p:nvPicPr>
          <p:cNvPr id="22" name="Picture 21" descr="A red and white x in a circle with white text&#10;&#10;AI-generated content may be incorrect.">
            <a:extLst>
              <a:ext uri="{FF2B5EF4-FFF2-40B4-BE49-F238E27FC236}">
                <a16:creationId xmlns:a16="http://schemas.microsoft.com/office/drawing/2014/main" id="{4044F333-F60E-E5CE-C91F-AA5574C96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930" y="4218375"/>
            <a:ext cx="1843893" cy="2221143"/>
          </a:xfrm>
          <a:prstGeom prst="rect">
            <a:avLst/>
          </a:prstGeom>
        </p:spPr>
      </p:pic>
      <p:pic>
        <p:nvPicPr>
          <p:cNvPr id="1030" name="Picture 6" descr="What is Debugging? Different Stages of Debugging | Edureka">
            <a:extLst>
              <a:ext uri="{FF2B5EF4-FFF2-40B4-BE49-F238E27FC236}">
                <a16:creationId xmlns:a16="http://schemas.microsoft.com/office/drawing/2014/main" id="{3CD89CCA-72E6-9932-70B2-827FAFC71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114" y="4230407"/>
            <a:ext cx="2137886" cy="251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F8B7C2B-07C6-D23B-CAF9-DB479E4571A4}"/>
              </a:ext>
            </a:extLst>
          </p:cNvPr>
          <p:cNvSpPr txBox="1"/>
          <p:nvPr/>
        </p:nvSpPr>
        <p:spPr>
          <a:xfrm>
            <a:off x="6684965" y="4559131"/>
            <a:ext cx="32244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</a:rPr>
              <a:t>“Wat deed de code precies?”</a:t>
            </a: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prstClr val="black"/>
                </a:solidFill>
              </a:rPr>
              <a:t>Geeft toestanden van variabelen en genomen beslissingen op een bepaald moment.</a:t>
            </a:r>
          </a:p>
          <a:p>
            <a:pPr marL="285750" lvl="0" indent="-285750">
              <a:buFontTx/>
              <a:buChar char="-"/>
              <a:defRPr/>
            </a:pPr>
            <a:r>
              <a:rPr lang="nl-NL" dirty="0">
                <a:solidFill>
                  <a:prstClr val="black"/>
                </a:solidFill>
              </a:rPr>
              <a:t>Vaak slechts tijdelijk, om oorzaken van </a:t>
            </a:r>
            <a:r>
              <a:rPr lang="nl-NL" dirty="0" err="1">
                <a:solidFill>
                  <a:prstClr val="black"/>
                </a:solidFill>
              </a:rPr>
              <a:t>errors</a:t>
            </a:r>
            <a:r>
              <a:rPr lang="nl-NL" dirty="0">
                <a:solidFill>
                  <a:prstClr val="black"/>
                </a:solidFill>
              </a:rPr>
              <a:t> op te sporen!</a:t>
            </a:r>
          </a:p>
        </p:txBody>
      </p:sp>
    </p:spTree>
    <p:extLst>
      <p:ext uri="{BB962C8B-B14F-4D97-AF65-F5344CB8AC3E}">
        <p14:creationId xmlns:p14="http://schemas.microsoft.com/office/powerpoint/2010/main" val="261920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8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2181-8C60-F8BF-EA8A-BE42A5A9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64C5BEAB-FCBA-30FE-CFEA-697841F2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713" y="762968"/>
            <a:ext cx="8061287" cy="5617181"/>
          </a:xfrm>
          <a:prstGeom prst="rect">
            <a:avLst/>
          </a:prstGeom>
        </p:spPr>
      </p:pic>
      <p:sp>
        <p:nvSpPr>
          <p:cNvPr id="7" name="Tekstvak 7">
            <a:extLst>
              <a:ext uri="{FF2B5EF4-FFF2-40B4-BE49-F238E27FC236}">
                <a16:creationId xmlns:a16="http://schemas.microsoft.com/office/drawing/2014/main" id="{C43C551B-6249-33BD-9056-7E335B0E879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C82954-2CB7-09B6-AF22-AB8A02EF8AA4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defRPr/>
            </a:pPr>
            <a:r>
              <a:rPr lang="nl-NL" sz="3000" b="1" err="1">
                <a:solidFill>
                  <a:srgbClr val="829C30"/>
                </a:solidFill>
                <a:latin typeface="Arial"/>
                <a:ea typeface="MS PGothic" charset="0"/>
              </a:rPr>
              <a:t>Logdata</a:t>
            </a:r>
            <a:r>
              <a:rPr lang="nl-NL" sz="3000" b="1">
                <a:solidFill>
                  <a:srgbClr val="829C30"/>
                </a:solidFill>
                <a:latin typeface="Arial"/>
                <a:ea typeface="MS PGothic" charset="0"/>
              </a:rPr>
              <a:t> visualiseren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68D14206-2D93-079D-AF81-624E54D1F239}"/>
              </a:ext>
            </a:extLst>
          </p:cNvPr>
          <p:cNvCxnSpPr>
            <a:cxnSpLocks/>
          </p:cNvCxnSpPr>
          <p:nvPr/>
        </p:nvCxnSpPr>
        <p:spPr>
          <a:xfrm>
            <a:off x="988290" y="68269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ree Document SVG, PNG Icon, Symbol. Download Image.">
            <a:extLst>
              <a:ext uri="{FF2B5EF4-FFF2-40B4-BE49-F238E27FC236}">
                <a16:creationId xmlns:a16="http://schemas.microsoft.com/office/drawing/2014/main" id="{0840303A-06B4-E39C-106E-35508D3C3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90" y="2263806"/>
            <a:ext cx="2192785" cy="219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4C42940-188A-9211-270F-AA07DF5A5B46}"/>
              </a:ext>
            </a:extLst>
          </p:cNvPr>
          <p:cNvSpPr/>
          <p:nvPr/>
        </p:nvSpPr>
        <p:spPr>
          <a:xfrm>
            <a:off x="2786743" y="3135086"/>
            <a:ext cx="1295400" cy="6966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55B35961-9A6B-FB70-03BB-A98689A814D6}"/>
              </a:ext>
            </a:extLst>
          </p:cNvPr>
          <p:cNvSpPr txBox="1"/>
          <p:nvPr/>
        </p:nvSpPr>
        <p:spPr>
          <a:xfrm>
            <a:off x="988291" y="6380151"/>
            <a:ext cx="11203709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Meer </a:t>
            </a:r>
            <a:r>
              <a:rPr lang="en-US" sz="2000" err="1">
                <a:solidFill>
                  <a:prstClr val="black"/>
                </a:solidFill>
                <a:latin typeface="Arial"/>
                <a:ea typeface="MS PGothic" charset="0"/>
              </a:rPr>
              <a:t>hierover</a:t>
            </a: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 in de </a:t>
            </a:r>
            <a:r>
              <a:rPr lang="en-US" sz="2000" err="1">
                <a:solidFill>
                  <a:prstClr val="black"/>
                </a:solidFill>
                <a:latin typeface="Arial"/>
                <a:ea typeface="MS PGothic" charset="0"/>
              </a:rPr>
              <a:t>vijfde</a:t>
            </a: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 </a:t>
            </a:r>
            <a:r>
              <a:rPr lang="en-US" sz="2000" err="1">
                <a:solidFill>
                  <a:prstClr val="black"/>
                </a:solidFill>
                <a:latin typeface="Arial"/>
                <a:ea typeface="MS PGothic" charset="0"/>
              </a:rPr>
              <a:t>lesweek</a:t>
            </a: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 van Data Engineering, met </a:t>
            </a:r>
            <a:r>
              <a:rPr lang="en-US" sz="2000" err="1">
                <a:solidFill>
                  <a:prstClr val="black"/>
                </a:solidFill>
                <a:latin typeface="Arial"/>
                <a:ea typeface="MS PGothic" charset="0"/>
              </a:rPr>
              <a:t>behulp</a:t>
            </a:r>
            <a:r>
              <a:rPr lang="en-US" sz="2000">
                <a:solidFill>
                  <a:prstClr val="black"/>
                </a:solidFill>
                <a:latin typeface="Arial"/>
                <a:ea typeface="MS PGothic" charset="0"/>
              </a:rPr>
              <a:t> van Power BI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CE687C-8D13-4E83-0D1A-F447E618202C}"/>
              </a:ext>
            </a:extLst>
          </p:cNvPr>
          <p:cNvSpPr txBox="1"/>
          <p:nvPr/>
        </p:nvSpPr>
        <p:spPr>
          <a:xfrm>
            <a:off x="1174502" y="4339593"/>
            <a:ext cx="13945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>
                <a:solidFill>
                  <a:prstClr val="black"/>
                </a:solidFill>
              </a:rPr>
              <a:t>log</a:t>
            </a:r>
          </a:p>
        </p:txBody>
      </p:sp>
    </p:spTree>
    <p:extLst>
      <p:ext uri="{BB962C8B-B14F-4D97-AF65-F5344CB8AC3E}">
        <p14:creationId xmlns:p14="http://schemas.microsoft.com/office/powerpoint/2010/main" val="63383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25C4-E3CE-EE32-3410-9C9D4D75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3672C-20DD-A5AA-8F54-CE575B07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8D629A1-DF86-FE6E-C2FD-96A675F627F0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B9DFE172-B384-9D7C-529C-1A1E332E61F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6FED045B-462C-3386-2609-66494E12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6B1447-F3FA-03F3-5142-FB50043A4FCF}"/>
              </a:ext>
            </a:extLst>
          </p:cNvPr>
          <p:cNvSpPr txBox="1"/>
          <p:nvPr/>
        </p:nvSpPr>
        <p:spPr>
          <a:xfrm>
            <a:off x="7241848" y="1547873"/>
            <a:ext cx="28849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datastructuur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Source Data Model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implementeren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SQLite. 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96ABE9-0CD0-E2DE-CF37-A6B647DE8797}"/>
              </a:ext>
            </a:extLst>
          </p:cNvPr>
          <p:cNvSpPr txBox="1"/>
          <p:nvPr/>
        </p:nvSpPr>
        <p:spPr>
          <a:xfrm>
            <a:off x="3576418" y="683609"/>
            <a:ext cx="174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9940F7-248C-6C42-F446-AF1C75EF07EE}"/>
              </a:ext>
            </a:extLst>
          </p:cNvPr>
          <p:cNvSpPr txBox="1"/>
          <p:nvPr/>
        </p:nvSpPr>
        <p:spPr>
          <a:xfrm>
            <a:off x="7306936" y="683609"/>
            <a:ext cx="2649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10889F-382A-D342-BF7D-9D35C40DC063}"/>
              </a:ext>
            </a:extLst>
          </p:cNvPr>
          <p:cNvSpPr txBox="1"/>
          <p:nvPr/>
        </p:nvSpPr>
        <p:spPr>
          <a:xfrm>
            <a:off x="5873750" y="2438044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11021C13-7D51-0DFB-3E20-6388FC05F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75" y="3213902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C790D2-3E2A-D032-BC6F-BD30767DF5BC}"/>
              </a:ext>
            </a:extLst>
          </p:cNvPr>
          <p:cNvSpPr txBox="1"/>
          <p:nvPr/>
        </p:nvSpPr>
        <p:spPr>
          <a:xfrm>
            <a:off x="2541436" y="1576982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CREATE-TABLE-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volgorde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bij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het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aanmaken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van Source Data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Modellen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A0803F-14FB-9D65-946A-C04A3C607EE3}"/>
              </a:ext>
            </a:extLst>
          </p:cNvPr>
          <p:cNvSpPr txBox="1"/>
          <p:nvPr/>
        </p:nvSpPr>
        <p:spPr>
          <a:xfrm>
            <a:off x="1665185" y="2732275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4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SQLite-databases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behulp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Python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633B7D-6024-B226-4EA0-9C7B9F2A9DD3}"/>
              </a:ext>
            </a:extLst>
          </p:cNvPr>
          <p:cNvSpPr txBox="1"/>
          <p:nvPr/>
        </p:nvSpPr>
        <p:spPr>
          <a:xfrm>
            <a:off x="7884666" y="3429000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 Data Modellen </a:t>
            </a:r>
            <a:r>
              <a:rPr lang="nl-NL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 met data en de gekozen inlaadstrategie verantwoorden</a:t>
            </a:r>
            <a:endParaRPr kumimoji="0" lang="en-US" sz="180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FBB3C-C98A-EFB0-CF01-0E03C672C267}"/>
              </a:ext>
            </a:extLst>
          </p:cNvPr>
          <p:cNvSpPr txBox="1"/>
          <p:nvPr/>
        </p:nvSpPr>
        <p:spPr>
          <a:xfrm>
            <a:off x="2291696" y="5344682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 logging-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niveaus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onderscheiden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door de “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loguru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 library in Python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390FE-172F-4503-64DA-BE104ADE56DE}"/>
              </a:ext>
            </a:extLst>
          </p:cNvPr>
          <p:cNvSpPr txBox="1"/>
          <p:nvPr/>
        </p:nvSpPr>
        <p:spPr>
          <a:xfrm>
            <a:off x="7241848" y="5206183"/>
            <a:ext cx="3332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Logging</a:t>
            </a:r>
            <a:r>
              <a:rPr lang="nl-NL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aanbrengen in Pythonscripts die Source Data Modellen vullen vanuit operationele databases</a:t>
            </a:r>
            <a:endParaRPr kumimoji="0" lang="en-US" sz="1800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DB660D-199E-E748-0F32-736C2D6955A4}"/>
              </a:ext>
            </a:extLst>
          </p:cNvPr>
          <p:cNvSpPr txBox="1"/>
          <p:nvPr/>
        </p:nvSpPr>
        <p:spPr>
          <a:xfrm>
            <a:off x="1665185" y="4005083"/>
            <a:ext cx="33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Welke criteria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je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tegen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elkaar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moet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afwegen</a:t>
            </a:r>
            <a:r>
              <a:rPr kumimoji="0" lang="en-US" sz="1800" b="0" i="0" u="none" strike="noStrike" kern="1200" cap="none" spc="0" normalizeH="0" noProof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bij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het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vullen</a:t>
            </a:r>
            <a:r>
              <a:rPr lang="en-US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van Source Data </a:t>
            </a:r>
            <a:r>
              <a:rPr lang="en-US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Modellen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586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Props1.xml><?xml version="1.0" encoding="utf-8"?>
<ds:datastoreItem xmlns:ds="http://schemas.openxmlformats.org/officeDocument/2006/customXml" ds:itemID="{689A7492-286B-498A-9851-C6CD74F436C6}">
  <ds:schemaRefs>
    <ds:schemaRef ds:uri="32f5a426-4411-422f-b9c8-9b9c919dd02d"/>
    <ds:schemaRef ds:uri="597a471e-0b75-4fc5-bc4a-75c43d0a6ad2"/>
    <ds:schemaRef ds:uri="d11bdb94-d558-4ffe-a4b0-092cbde2148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A505CF-29A5-4FA3-9E2E-509EBC2910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EBCDBB-E4E3-4523-9380-0D25C9F15902}">
  <ds:schemaRefs>
    <ds:schemaRef ds:uri="32f5a426-4411-422f-b9c8-9b9c919dd02d"/>
    <ds:schemaRef ds:uri="http://purl.org/dc/elements/1.1/"/>
    <ds:schemaRef ds:uri="http://purl.org/dc/dcmitype/"/>
    <ds:schemaRef ds:uri="http://schemas.microsoft.com/office/2006/documentManagement/types"/>
    <ds:schemaRef ds:uri="d11bdb94-d558-4ffe-a4b0-092cbde21480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597a471e-0b75-4fc5-bc4a-75c43d0a6ad2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2586b9b-f867-4b3c-9363-5b435c5dbc45}" enabled="0" method="" siteId="{a2586b9b-f867-4b3c-9363-5b435c5dbc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1667</Words>
  <Application>Microsoft Office PowerPoint</Application>
  <PresentationFormat>Widescreen</PresentationFormat>
  <Paragraphs>326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Consolas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van Barneveld</dc:creator>
  <cp:lastModifiedBy>Jelle van Barneveld</cp:lastModifiedBy>
  <cp:revision>5</cp:revision>
  <dcterms:created xsi:type="dcterms:W3CDTF">2025-06-10T10:44:22Z</dcterms:created>
  <dcterms:modified xsi:type="dcterms:W3CDTF">2026-03-05T07:09:30Z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