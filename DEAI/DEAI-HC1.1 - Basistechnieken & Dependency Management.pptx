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Lst>
  <p:notesMasterIdLst>
    <p:notesMasterId r:id="rId25"/>
  </p:notesMasterIdLst>
  <p:sldIdLst>
    <p:sldId id="257" r:id="rId5"/>
    <p:sldId id="258" r:id="rId6"/>
    <p:sldId id="281" r:id="rId7"/>
    <p:sldId id="271" r:id="rId8"/>
    <p:sldId id="272" r:id="rId9"/>
    <p:sldId id="282" r:id="rId10"/>
    <p:sldId id="278" r:id="rId11"/>
    <p:sldId id="297" r:id="rId12"/>
    <p:sldId id="280" r:id="rId13"/>
    <p:sldId id="295" r:id="rId14"/>
    <p:sldId id="296" r:id="rId15"/>
    <p:sldId id="290" r:id="rId16"/>
    <p:sldId id="285" r:id="rId17"/>
    <p:sldId id="286" r:id="rId18"/>
    <p:sldId id="287" r:id="rId19"/>
    <p:sldId id="291" r:id="rId20"/>
    <p:sldId id="292" r:id="rId21"/>
    <p:sldId id="288" r:id="rId22"/>
    <p:sldId id="293" r:id="rId23"/>
    <p:sldId id="2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A347AB-58D7-0015-8A67-4B13CDF46BB4}" name="Damion Gans" initials="DG" userId="S::djgans@hhs.nl::4c1bb948-5e60-4003-afc5-f5bdfae4bc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9C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81C748-97EF-4BB8-B5B8-1549E510833F}" v="54" dt="2026-02-08T15:31:3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38B1855-1B75-4FBE-930C-398BA8C253C6}" styleName="Stijl, thema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Stijl, licht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0"/>
    <p:restoredTop sz="89542" autoAdjust="0"/>
  </p:normalViewPr>
  <p:slideViewPr>
    <p:cSldViewPr snapToGrid="0">
      <p:cViewPr varScale="1">
        <p:scale>
          <a:sx n="66" d="100"/>
          <a:sy n="66" d="100"/>
        </p:scale>
        <p:origin x="1234"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57A882-3841-45C7-8260-8140DCB32E18}"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87CBEC-879D-4917-8D46-5F3379606FAC}" type="slidenum">
              <a:rPr lang="en-US" smtClean="0"/>
              <a:t>‹#›</a:t>
            </a:fld>
            <a:endParaRPr lang="en-US"/>
          </a:p>
        </p:txBody>
      </p:sp>
    </p:spTree>
    <p:extLst>
      <p:ext uri="{BB962C8B-B14F-4D97-AF65-F5344CB8AC3E}">
        <p14:creationId xmlns:p14="http://schemas.microsoft.com/office/powerpoint/2010/main" val="3471363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idx="10"/>
          </p:nvPr>
        </p:nvSpPr>
        <p:spPr/>
        <p:txBody>
          <a:bodyPr/>
          <a:lstStyle/>
          <a:p>
            <a:pPr marL="0" marR="0" lvl="0" indent="0" algn="r" defTabSz="477838" rtl="0" eaLnBrk="0" fontAlgn="base" latinLnBrk="0" hangingPunct="0">
              <a:lnSpc>
                <a:spcPct val="100000"/>
              </a:lnSpc>
              <a:spcBef>
                <a:spcPts val="788"/>
              </a:spcBef>
              <a:spcAft>
                <a:spcPct val="0"/>
              </a:spcAft>
              <a:buClr>
                <a:srgbClr val="000000"/>
              </a:buClr>
              <a:buSzPct val="100000"/>
              <a:buFont typeface="Arial" charset="0"/>
              <a:buNone/>
              <a:tabLst>
                <a:tab pos="755650" algn="l"/>
                <a:tab pos="1511300" algn="l"/>
                <a:tab pos="2268538" algn="l"/>
                <a:tab pos="3024188" algn="l"/>
              </a:tabLst>
              <a:defRPr/>
            </a:pPr>
            <a:fld id="{F751C962-19B1-E941-BF11-D365F135F8D5}" type="slidenum">
              <a:rPr kumimoji="0" lang="en-GB" sz="1300" b="1" i="0" u="none" strike="noStrike" kern="1200" cap="none" spc="0" normalizeH="0" baseline="0" noProof="0">
                <a:ln>
                  <a:noFill/>
                </a:ln>
                <a:solidFill>
                  <a:srgbClr val="000000"/>
                </a:solidFill>
                <a:effectLst/>
                <a:uLnTx/>
                <a:uFillTx/>
                <a:latin typeface="Arial" charset="0"/>
                <a:ea typeface="MS PGothic" charset="0"/>
              </a:rPr>
              <a:pPr marL="0" marR="0" lvl="0" indent="0" algn="r" defTabSz="477838" rtl="0" eaLnBrk="0" fontAlgn="base" latinLnBrk="0" hangingPunct="0">
                <a:lnSpc>
                  <a:spcPct val="100000"/>
                </a:lnSpc>
                <a:spcBef>
                  <a:spcPts val="788"/>
                </a:spcBef>
                <a:spcAft>
                  <a:spcPct val="0"/>
                </a:spcAft>
                <a:buClr>
                  <a:srgbClr val="000000"/>
                </a:buClr>
                <a:buSzPct val="100000"/>
                <a:buFont typeface="Arial" charset="0"/>
                <a:buNone/>
                <a:tabLst>
                  <a:tab pos="755650" algn="l"/>
                  <a:tab pos="1511300" algn="l"/>
                  <a:tab pos="2268538" algn="l"/>
                  <a:tab pos="3024188" algn="l"/>
                </a:tabLst>
                <a:defRPr/>
              </a:pPr>
              <a:t>1</a:t>
            </a:fld>
            <a:endParaRPr kumimoji="0" lang="en-GB" sz="1300" b="1" i="0" u="none" strike="noStrike" kern="1200" cap="none" spc="0" normalizeH="0" baseline="0" noProof="0">
              <a:ln>
                <a:noFill/>
              </a:ln>
              <a:solidFill>
                <a:srgbClr val="000000"/>
              </a:solidFill>
              <a:effectLst/>
              <a:uLnTx/>
              <a:uFillTx/>
              <a:latin typeface="Arial" charset="0"/>
              <a:ea typeface="MS PGothic" charset="0"/>
            </a:endParaRPr>
          </a:p>
        </p:txBody>
      </p:sp>
    </p:spTree>
    <p:extLst>
      <p:ext uri="{BB962C8B-B14F-4D97-AF65-F5344CB8AC3E}">
        <p14:creationId xmlns:p14="http://schemas.microsoft.com/office/powerpoint/2010/main" val="436184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algn="l">
              <a:buFont typeface="+mj-lt"/>
              <a:buNone/>
            </a:pPr>
            <a:r>
              <a:rPr lang="nl-NL" sz="2800" b="0" i="0" dirty="0">
                <a:solidFill>
                  <a:srgbClr val="D1D5DB"/>
                </a:solidFill>
                <a:effectLst/>
                <a:latin typeface="Söhne"/>
              </a:rPr>
              <a:t>Bij het compileren wordt de broncode van een programma vertaald naar een uitvoerbaar bestand dat direct door de computer kan worden uitgevoerd. Dit uitvoerbare bestand bevat machinecode die specifiek is voor de architectuur van de computer waarop het wordt uitgevoerd. Voor het uitvoeren van een programma dat is gecompileerd, is geen broncode of compiler meer nodig. </a:t>
            </a:r>
          </a:p>
          <a:p>
            <a:pPr algn="l">
              <a:buFont typeface="+mj-lt"/>
              <a:buNone/>
            </a:pPr>
            <a:endParaRPr lang="nl-NL" sz="2800" b="0" i="0" dirty="0">
              <a:solidFill>
                <a:srgbClr val="D1D5DB"/>
              </a:solidFill>
              <a:effectLst/>
              <a:latin typeface="Söhne"/>
            </a:endParaRPr>
          </a:p>
          <a:p>
            <a:pPr algn="l">
              <a:buFont typeface="+mj-lt"/>
              <a:buNone/>
            </a:pPr>
            <a:r>
              <a:rPr lang="nl-NL" sz="2800" b="0" i="0" dirty="0">
                <a:solidFill>
                  <a:srgbClr val="D1D5DB"/>
                </a:solidFill>
                <a:effectLst/>
                <a:latin typeface="Söhne"/>
              </a:rPr>
              <a:t>Bij het interpreteren wordt de broncode regel voor regel gelezen en direct uitgevoerd door een </a:t>
            </a:r>
            <a:r>
              <a:rPr lang="nl-NL" sz="2800" b="0" i="0" dirty="0" err="1">
                <a:solidFill>
                  <a:srgbClr val="D1D5DB"/>
                </a:solidFill>
                <a:effectLst/>
                <a:latin typeface="Söhne"/>
              </a:rPr>
              <a:t>interpreter</a:t>
            </a:r>
            <a:r>
              <a:rPr lang="nl-NL" sz="2800" b="0" i="0" dirty="0">
                <a:solidFill>
                  <a:srgbClr val="D1D5DB"/>
                </a:solidFill>
                <a:effectLst/>
                <a:latin typeface="Söhne"/>
              </a:rPr>
              <a:t> tijdens </a:t>
            </a:r>
            <a:r>
              <a:rPr lang="nl-NL" sz="2800" b="0" i="0" dirty="0" err="1">
                <a:solidFill>
                  <a:srgbClr val="D1D5DB"/>
                </a:solidFill>
                <a:effectLst/>
                <a:latin typeface="Söhne"/>
              </a:rPr>
              <a:t>runtime</a:t>
            </a:r>
            <a:r>
              <a:rPr lang="nl-NL" sz="2800" b="0" i="0" dirty="0">
                <a:solidFill>
                  <a:srgbClr val="D1D5DB"/>
                </a:solidFill>
                <a:effectLst/>
                <a:latin typeface="Söhne"/>
              </a:rPr>
              <a:t>. Er wordt geen apart uitvoerbaar bestand gecreëerd. De </a:t>
            </a:r>
            <a:r>
              <a:rPr lang="nl-NL" sz="2800" b="0" i="0" dirty="0" err="1">
                <a:solidFill>
                  <a:srgbClr val="D1D5DB"/>
                </a:solidFill>
                <a:effectLst/>
                <a:latin typeface="Söhne"/>
              </a:rPr>
              <a:t>interpreter</a:t>
            </a:r>
            <a:r>
              <a:rPr lang="nl-NL" sz="2800" b="0" i="0" dirty="0">
                <a:solidFill>
                  <a:srgbClr val="D1D5DB"/>
                </a:solidFill>
                <a:effectLst/>
                <a:latin typeface="Söhne"/>
              </a:rPr>
              <a:t> vertaalt de broncode van het programma naar machine-instructies terwijl het programma wordt uitgevoerd.</a:t>
            </a:r>
          </a:p>
        </p:txBody>
      </p:sp>
      <p:sp>
        <p:nvSpPr>
          <p:cNvPr id="4" name="Tijdelijke aanduiding voor dianummer 3"/>
          <p:cNvSpPr>
            <a:spLocks noGrp="1"/>
          </p:cNvSpPr>
          <p:nvPr>
            <p:ph type="sldNum" sz="quarter" idx="5"/>
          </p:nvPr>
        </p:nvSpPr>
        <p:spPr/>
        <p:txBody>
          <a:bodyPr/>
          <a:lstStyle/>
          <a:p>
            <a:fld id="{D287CBEC-879D-4917-8D46-5F3379606FAC}" type="slidenum">
              <a:rPr lang="en-US" smtClean="0"/>
              <a:t>3</a:t>
            </a:fld>
            <a:endParaRPr lang="en-US"/>
          </a:p>
        </p:txBody>
      </p:sp>
    </p:spTree>
    <p:extLst>
      <p:ext uri="{BB962C8B-B14F-4D97-AF65-F5344CB8AC3E}">
        <p14:creationId xmlns:p14="http://schemas.microsoft.com/office/powerpoint/2010/main" val="4010373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D287CBEC-879D-4917-8D46-5F3379606FAC}" type="slidenum">
              <a:rPr lang="en-US" smtClean="0"/>
              <a:t>4</a:t>
            </a:fld>
            <a:endParaRPr lang="en-US"/>
          </a:p>
        </p:txBody>
      </p:sp>
    </p:spTree>
    <p:extLst>
      <p:ext uri="{BB962C8B-B14F-4D97-AF65-F5344CB8AC3E}">
        <p14:creationId xmlns:p14="http://schemas.microsoft.com/office/powerpoint/2010/main" val="3152794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D287CBEC-879D-4917-8D46-5F3379606FAC}" type="slidenum">
              <a:rPr lang="en-US" smtClean="0"/>
              <a:t>5</a:t>
            </a:fld>
            <a:endParaRPr lang="en-US"/>
          </a:p>
        </p:txBody>
      </p:sp>
    </p:spTree>
    <p:extLst>
      <p:ext uri="{BB962C8B-B14F-4D97-AF65-F5344CB8AC3E}">
        <p14:creationId xmlns:p14="http://schemas.microsoft.com/office/powerpoint/2010/main" val="2888981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D287CBEC-879D-4917-8D46-5F3379606FAC}" type="slidenum">
              <a:rPr lang="en-US" smtClean="0"/>
              <a:t>6</a:t>
            </a:fld>
            <a:endParaRPr lang="en-US"/>
          </a:p>
        </p:txBody>
      </p:sp>
    </p:spTree>
    <p:extLst>
      <p:ext uri="{BB962C8B-B14F-4D97-AF65-F5344CB8AC3E}">
        <p14:creationId xmlns:p14="http://schemas.microsoft.com/office/powerpoint/2010/main" val="359236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
        <p:nvSpPr>
          <p:cNvPr id="4" name="Tijdelijke aanduiding voor dianummer 3"/>
          <p:cNvSpPr>
            <a:spLocks noGrp="1"/>
          </p:cNvSpPr>
          <p:nvPr>
            <p:ph type="sldNum" sz="quarter" idx="5"/>
          </p:nvPr>
        </p:nvSpPr>
        <p:spPr/>
        <p:txBody>
          <a:bodyPr/>
          <a:lstStyle/>
          <a:p>
            <a:fld id="{D287CBEC-879D-4917-8D46-5F3379606FAC}" type="slidenum">
              <a:rPr lang="en-US" smtClean="0"/>
              <a:t>7</a:t>
            </a:fld>
            <a:endParaRPr lang="en-US"/>
          </a:p>
        </p:txBody>
      </p:sp>
    </p:spTree>
    <p:extLst>
      <p:ext uri="{BB962C8B-B14F-4D97-AF65-F5344CB8AC3E}">
        <p14:creationId xmlns:p14="http://schemas.microsoft.com/office/powerpoint/2010/main" val="558112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66E63-C715-2AEC-0BE1-618EF47F283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68FF32E-1856-EF87-E270-61C4CD35696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51A2AB1-4173-7491-5084-C79C9733D8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
        <p:nvSpPr>
          <p:cNvPr id="4" name="Tijdelijke aanduiding voor dianummer 3">
            <a:extLst>
              <a:ext uri="{FF2B5EF4-FFF2-40B4-BE49-F238E27FC236}">
                <a16:creationId xmlns:a16="http://schemas.microsoft.com/office/drawing/2014/main" id="{AAE30956-142E-C74E-3881-60BC9EE9E928}"/>
              </a:ext>
            </a:extLst>
          </p:cNvPr>
          <p:cNvSpPr>
            <a:spLocks noGrp="1"/>
          </p:cNvSpPr>
          <p:nvPr>
            <p:ph type="sldNum" sz="quarter" idx="5"/>
          </p:nvPr>
        </p:nvSpPr>
        <p:spPr/>
        <p:txBody>
          <a:bodyPr/>
          <a:lstStyle/>
          <a:p>
            <a:fld id="{D287CBEC-879D-4917-8D46-5F3379606FAC}" type="slidenum">
              <a:rPr lang="en-US" smtClean="0"/>
              <a:t>8</a:t>
            </a:fld>
            <a:endParaRPr lang="en-US"/>
          </a:p>
        </p:txBody>
      </p:sp>
    </p:spTree>
    <p:extLst>
      <p:ext uri="{BB962C8B-B14F-4D97-AF65-F5344CB8AC3E}">
        <p14:creationId xmlns:p14="http://schemas.microsoft.com/office/powerpoint/2010/main" val="3357884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D287CBEC-879D-4917-8D46-5F3379606FAC}" type="slidenum">
              <a:rPr lang="en-US" smtClean="0"/>
              <a:t>9</a:t>
            </a:fld>
            <a:endParaRPr lang="en-US"/>
          </a:p>
        </p:txBody>
      </p:sp>
    </p:spTree>
    <p:extLst>
      <p:ext uri="{BB962C8B-B14F-4D97-AF65-F5344CB8AC3E}">
        <p14:creationId xmlns:p14="http://schemas.microsoft.com/office/powerpoint/2010/main" val="2636793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56E09-0CF7-15FE-56AE-AE2E7006BA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52C46A-8596-B33A-41BF-366F0B9C7B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180EAD-293B-3E82-7011-9362B1852C93}"/>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5" name="Footer Placeholder 4">
            <a:extLst>
              <a:ext uri="{FF2B5EF4-FFF2-40B4-BE49-F238E27FC236}">
                <a16:creationId xmlns:a16="http://schemas.microsoft.com/office/drawing/2014/main" id="{E19DC25E-D1B9-004D-65A4-A9F2925A5443}"/>
              </a:ext>
            </a:extLst>
          </p:cNvPr>
          <p:cNvSpPr>
            <a:spLocks noGrp="1"/>
          </p:cNvSpPr>
          <p:nvPr>
            <p:ph type="ftr" sz="quarter" idx="11"/>
          </p:nvPr>
        </p:nvSpPr>
        <p:spPr/>
        <p:txBody>
          <a:body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A003C643-E9BF-9350-BA5B-D59CDAF25367}"/>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1226065574"/>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AC38-465A-FCC3-19DB-3C9769EC95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D73C0E-B795-CB22-8144-DEBE8E52DE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F83648-CD85-36A6-CD18-E358C1884762}"/>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5" name="Footer Placeholder 4">
            <a:extLst>
              <a:ext uri="{FF2B5EF4-FFF2-40B4-BE49-F238E27FC236}">
                <a16:creationId xmlns:a16="http://schemas.microsoft.com/office/drawing/2014/main" id="{BAD4FC97-521F-4024-F7E5-F39DC51A04E6}"/>
              </a:ext>
            </a:extLst>
          </p:cNvPr>
          <p:cNvSpPr>
            <a:spLocks noGrp="1"/>
          </p:cNvSpPr>
          <p:nvPr>
            <p:ph type="ftr" sz="quarter" idx="11"/>
          </p:nvPr>
        </p:nvSpPr>
        <p:spPr/>
        <p:txBody>
          <a:body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D9AB9FE3-1390-D2E6-7A7F-5DB9A4FD5FD2}"/>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775448303"/>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995CC-9A3B-32C7-26FA-7633AA549C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0676F7-064C-4F26-1F72-ABFA718DE3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117449-E52C-836C-22C1-A220B80D236C}"/>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5" name="Footer Placeholder 4">
            <a:extLst>
              <a:ext uri="{FF2B5EF4-FFF2-40B4-BE49-F238E27FC236}">
                <a16:creationId xmlns:a16="http://schemas.microsoft.com/office/drawing/2014/main" id="{A13EDBA3-7981-A147-894E-FBFEBC4E7588}"/>
              </a:ext>
            </a:extLst>
          </p:cNvPr>
          <p:cNvSpPr>
            <a:spLocks noGrp="1"/>
          </p:cNvSpPr>
          <p:nvPr>
            <p:ph type="ftr" sz="quarter" idx="11"/>
          </p:nvPr>
        </p:nvSpPr>
        <p:spPr/>
        <p:txBody>
          <a:body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E29A01B8-6A5C-FB02-094E-4E81295A2C4F}"/>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1024352484"/>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475C-EE23-3178-A543-73FB811C5A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98AB17-626A-5333-0A6E-CB12FEA6D1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213F0F-4796-84F5-DBE7-43D61AD83F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76BAF8-6E9E-0047-C4AF-6160F2736D24}"/>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6" name="Footer Placeholder 5">
            <a:extLst>
              <a:ext uri="{FF2B5EF4-FFF2-40B4-BE49-F238E27FC236}">
                <a16:creationId xmlns:a16="http://schemas.microsoft.com/office/drawing/2014/main" id="{62E037A4-3D45-7E03-AF61-940775F3CD74}"/>
              </a:ext>
            </a:extLst>
          </p:cNvPr>
          <p:cNvSpPr>
            <a:spLocks noGrp="1"/>
          </p:cNvSpPr>
          <p:nvPr>
            <p:ph type="ftr" sz="quarter" idx="11"/>
          </p:nvPr>
        </p:nvSpPr>
        <p:spPr/>
        <p:txBody>
          <a:bodyPr/>
          <a:lstStyle/>
          <a:p>
            <a:pPr>
              <a:defRPr/>
            </a:pPr>
            <a:r>
              <a:rPr lang="nl-NL"/>
              <a:t>invoegen-voet-koptekst</a:t>
            </a:r>
            <a:endParaRPr lang="en-GB"/>
          </a:p>
        </p:txBody>
      </p:sp>
      <p:sp>
        <p:nvSpPr>
          <p:cNvPr id="7" name="Slide Number Placeholder 6">
            <a:extLst>
              <a:ext uri="{FF2B5EF4-FFF2-40B4-BE49-F238E27FC236}">
                <a16:creationId xmlns:a16="http://schemas.microsoft.com/office/drawing/2014/main" id="{B09FC9BB-0E76-AB74-BDB5-D56968BCE51C}"/>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324974820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1D902-B76B-0D3B-7D8E-EC62DB739B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F87664-4DB7-3A7A-9154-32CA8884A9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BF2F29-D106-938C-7A85-CC58AA8C96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78DE05-771E-EAF7-B5AD-DB62810DDC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CAFE87-8F2D-F296-E5BE-76C0F381E0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7ADE75-237D-46D1-ACCC-056D7986640F}"/>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8" name="Footer Placeholder 7">
            <a:extLst>
              <a:ext uri="{FF2B5EF4-FFF2-40B4-BE49-F238E27FC236}">
                <a16:creationId xmlns:a16="http://schemas.microsoft.com/office/drawing/2014/main" id="{94950C1E-DB96-C177-6BCD-6837B4579CD1}"/>
              </a:ext>
            </a:extLst>
          </p:cNvPr>
          <p:cNvSpPr>
            <a:spLocks noGrp="1"/>
          </p:cNvSpPr>
          <p:nvPr>
            <p:ph type="ftr" sz="quarter" idx="11"/>
          </p:nvPr>
        </p:nvSpPr>
        <p:spPr/>
        <p:txBody>
          <a:bodyPr/>
          <a:lstStyle/>
          <a:p>
            <a:pPr>
              <a:defRPr/>
            </a:pPr>
            <a:r>
              <a:rPr lang="nl-NL"/>
              <a:t>invoegen-voet-koptekst</a:t>
            </a:r>
            <a:endParaRPr lang="en-GB"/>
          </a:p>
        </p:txBody>
      </p:sp>
      <p:sp>
        <p:nvSpPr>
          <p:cNvPr id="9" name="Slide Number Placeholder 8">
            <a:extLst>
              <a:ext uri="{FF2B5EF4-FFF2-40B4-BE49-F238E27FC236}">
                <a16:creationId xmlns:a16="http://schemas.microsoft.com/office/drawing/2014/main" id="{4E5317B8-7B96-056C-C7A6-38D4E1FEE3A5}"/>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300568481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630FC-7829-8CDA-4A7A-B763E7F01E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F884C6-40AE-7A1A-646F-FDB97DF4E133}"/>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4" name="Footer Placeholder 3">
            <a:extLst>
              <a:ext uri="{FF2B5EF4-FFF2-40B4-BE49-F238E27FC236}">
                <a16:creationId xmlns:a16="http://schemas.microsoft.com/office/drawing/2014/main" id="{5F9C0B22-A8AB-852C-7952-E20D6422FDA1}"/>
              </a:ext>
            </a:extLst>
          </p:cNvPr>
          <p:cNvSpPr>
            <a:spLocks noGrp="1"/>
          </p:cNvSpPr>
          <p:nvPr>
            <p:ph type="ftr" sz="quarter" idx="11"/>
          </p:nvPr>
        </p:nvSpPr>
        <p:spPr/>
        <p:txBody>
          <a:bodyPr/>
          <a:lstStyle/>
          <a:p>
            <a:pPr>
              <a:defRPr/>
            </a:pPr>
            <a:r>
              <a:rPr lang="nl-NL"/>
              <a:t>invoegen-voet-koptekst</a:t>
            </a:r>
            <a:endParaRPr lang="en-GB"/>
          </a:p>
        </p:txBody>
      </p:sp>
      <p:sp>
        <p:nvSpPr>
          <p:cNvPr id="5" name="Slide Number Placeholder 4">
            <a:extLst>
              <a:ext uri="{FF2B5EF4-FFF2-40B4-BE49-F238E27FC236}">
                <a16:creationId xmlns:a16="http://schemas.microsoft.com/office/drawing/2014/main" id="{7A21647F-ACAF-E312-C8BB-7F265E5E9D8D}"/>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2438459597"/>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069462-9FEA-5D88-EE00-E187BAA415A2}"/>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3" name="Footer Placeholder 2">
            <a:extLst>
              <a:ext uri="{FF2B5EF4-FFF2-40B4-BE49-F238E27FC236}">
                <a16:creationId xmlns:a16="http://schemas.microsoft.com/office/drawing/2014/main" id="{53B7087A-F4BC-7377-70F3-0A571BD7FC76}"/>
              </a:ext>
            </a:extLst>
          </p:cNvPr>
          <p:cNvSpPr>
            <a:spLocks noGrp="1"/>
          </p:cNvSpPr>
          <p:nvPr>
            <p:ph type="ftr" sz="quarter" idx="11"/>
          </p:nvPr>
        </p:nvSpPr>
        <p:spPr/>
        <p:txBody>
          <a:bodyPr/>
          <a:lstStyle/>
          <a:p>
            <a:pPr>
              <a:defRPr/>
            </a:pPr>
            <a:r>
              <a:rPr lang="nl-NL"/>
              <a:t>invoegen-voet-koptekst</a:t>
            </a:r>
            <a:endParaRPr lang="en-GB"/>
          </a:p>
        </p:txBody>
      </p:sp>
      <p:sp>
        <p:nvSpPr>
          <p:cNvPr id="4" name="Slide Number Placeholder 3">
            <a:extLst>
              <a:ext uri="{FF2B5EF4-FFF2-40B4-BE49-F238E27FC236}">
                <a16:creationId xmlns:a16="http://schemas.microsoft.com/office/drawing/2014/main" id="{B24184FF-048E-0634-23CE-F08BC13056DF}"/>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1605175161"/>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20A2F-4D46-B289-C61D-EBEAFA11EB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DF170F-AB91-8E12-212F-57BF043017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91F1DB-E4ED-A226-CC84-D5BC800924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7C25F-3269-1F4E-CECA-5F2EF4454D16}"/>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6" name="Footer Placeholder 5">
            <a:extLst>
              <a:ext uri="{FF2B5EF4-FFF2-40B4-BE49-F238E27FC236}">
                <a16:creationId xmlns:a16="http://schemas.microsoft.com/office/drawing/2014/main" id="{E5CE8728-A678-4921-52FF-FAC84DAB2FDF}"/>
              </a:ext>
            </a:extLst>
          </p:cNvPr>
          <p:cNvSpPr>
            <a:spLocks noGrp="1"/>
          </p:cNvSpPr>
          <p:nvPr>
            <p:ph type="ftr" sz="quarter" idx="11"/>
          </p:nvPr>
        </p:nvSpPr>
        <p:spPr/>
        <p:txBody>
          <a:bodyPr/>
          <a:lstStyle/>
          <a:p>
            <a:pPr>
              <a:defRPr/>
            </a:pPr>
            <a:r>
              <a:rPr lang="nl-NL"/>
              <a:t>invoegen-voet-koptekst</a:t>
            </a:r>
            <a:endParaRPr lang="en-GB"/>
          </a:p>
        </p:txBody>
      </p:sp>
      <p:sp>
        <p:nvSpPr>
          <p:cNvPr id="7" name="Slide Number Placeholder 6">
            <a:extLst>
              <a:ext uri="{FF2B5EF4-FFF2-40B4-BE49-F238E27FC236}">
                <a16:creationId xmlns:a16="http://schemas.microsoft.com/office/drawing/2014/main" id="{1EDF1AA8-97A5-DAD4-C8BC-65BC563F993A}"/>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388276631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CA4B-6237-DD8B-3CF0-8F9C6FB90E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42D31B-B7BB-010A-4AA4-79370FF579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4D15A3-2F7F-E910-4E49-0319EF17FE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373E74-A348-3972-B8B8-EF901921AB04}"/>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6" name="Footer Placeholder 5">
            <a:extLst>
              <a:ext uri="{FF2B5EF4-FFF2-40B4-BE49-F238E27FC236}">
                <a16:creationId xmlns:a16="http://schemas.microsoft.com/office/drawing/2014/main" id="{F77FB359-D110-649F-2709-F12065329048}"/>
              </a:ext>
            </a:extLst>
          </p:cNvPr>
          <p:cNvSpPr>
            <a:spLocks noGrp="1"/>
          </p:cNvSpPr>
          <p:nvPr>
            <p:ph type="ftr" sz="quarter" idx="11"/>
          </p:nvPr>
        </p:nvSpPr>
        <p:spPr/>
        <p:txBody>
          <a:bodyPr/>
          <a:lstStyle/>
          <a:p>
            <a:pPr>
              <a:defRPr/>
            </a:pPr>
            <a:r>
              <a:rPr lang="nl-NL"/>
              <a:t>invoegen-voet-koptekst</a:t>
            </a:r>
            <a:endParaRPr lang="en-GB"/>
          </a:p>
        </p:txBody>
      </p:sp>
      <p:sp>
        <p:nvSpPr>
          <p:cNvPr id="7" name="Slide Number Placeholder 6">
            <a:extLst>
              <a:ext uri="{FF2B5EF4-FFF2-40B4-BE49-F238E27FC236}">
                <a16:creationId xmlns:a16="http://schemas.microsoft.com/office/drawing/2014/main" id="{AFFFDCBB-7F8D-7680-B733-5A49721002EF}"/>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3266914096"/>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2EFF2-C20E-F920-8CD9-F976324B37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8FCEA7-24D9-D5DC-C977-3754632062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CC4D3-B485-2A8D-BCF7-F3BAC5F16260}"/>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5" name="Footer Placeholder 4">
            <a:extLst>
              <a:ext uri="{FF2B5EF4-FFF2-40B4-BE49-F238E27FC236}">
                <a16:creationId xmlns:a16="http://schemas.microsoft.com/office/drawing/2014/main" id="{5D8DB089-D6C5-1314-9322-0562E592BCA1}"/>
              </a:ext>
            </a:extLst>
          </p:cNvPr>
          <p:cNvSpPr>
            <a:spLocks noGrp="1"/>
          </p:cNvSpPr>
          <p:nvPr>
            <p:ph type="ftr" sz="quarter" idx="11"/>
          </p:nvPr>
        </p:nvSpPr>
        <p:spPr/>
        <p:txBody>
          <a:body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A1757239-F72A-B3B9-4251-D09071CFD054}"/>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184778553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5FB015-28AB-C2F6-BF24-7B41FC5C45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5C4992-6315-8134-344F-FBC543F690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4BBA65-F8D1-924C-C2F9-7A3F3711A5B3}"/>
              </a:ext>
            </a:extLst>
          </p:cNvPr>
          <p:cNvSpPr>
            <a:spLocks noGrp="1"/>
          </p:cNvSpPr>
          <p:nvPr>
            <p:ph type="dt" sz="half" idx="10"/>
          </p:nvPr>
        </p:nvSpPr>
        <p:spPr/>
        <p:txBody>
          <a:bodyPr/>
          <a:lstStyle/>
          <a:p>
            <a:fld id="{7B96B45D-D98F-4A32-A567-4AE2A91459D6}" type="datetimeFigureOut">
              <a:rPr lang="en-US" smtClean="0"/>
              <a:t>2/9/2026</a:t>
            </a:fld>
            <a:endParaRPr lang="en-US"/>
          </a:p>
        </p:txBody>
      </p:sp>
      <p:sp>
        <p:nvSpPr>
          <p:cNvPr id="5" name="Footer Placeholder 4">
            <a:extLst>
              <a:ext uri="{FF2B5EF4-FFF2-40B4-BE49-F238E27FC236}">
                <a16:creationId xmlns:a16="http://schemas.microsoft.com/office/drawing/2014/main" id="{0EA9CD2E-031C-46D2-1A49-7115D8930D17}"/>
              </a:ext>
            </a:extLst>
          </p:cNvPr>
          <p:cNvSpPr>
            <a:spLocks noGrp="1"/>
          </p:cNvSpPr>
          <p:nvPr>
            <p:ph type="ftr" sz="quarter" idx="11"/>
          </p:nvPr>
        </p:nvSpPr>
        <p:spPr/>
        <p:txBody>
          <a:body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227EE953-6330-21D1-00CB-7FC8C8955BC3}"/>
              </a:ext>
            </a:extLst>
          </p:cNvPr>
          <p:cNvSpPr>
            <a:spLocks noGrp="1"/>
          </p:cNvSpPr>
          <p:nvPr>
            <p:ph type="sldNum" sz="quarter" idx="12"/>
          </p:nvPr>
        </p:nvSpPr>
        <p:spPr/>
        <p:txBody>
          <a:bodyPr/>
          <a:lstStyle/>
          <a:p>
            <a:fld id="{587C737D-49A5-4740-8401-0C4DFF2B9D4A}" type="slidenum">
              <a:rPr lang="nl-NL" smtClean="0"/>
              <a:pPr/>
              <a:t>‹#›</a:t>
            </a:fld>
            <a:endParaRPr lang="nl-NL"/>
          </a:p>
        </p:txBody>
      </p:sp>
    </p:spTree>
    <p:extLst>
      <p:ext uri="{BB962C8B-B14F-4D97-AF65-F5344CB8AC3E}">
        <p14:creationId xmlns:p14="http://schemas.microsoft.com/office/powerpoint/2010/main" val="2456884422"/>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11FA4E-E385-847C-AE6D-230355D62E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BB839E-C7CC-BF9A-55C1-AD77C38C52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F0ABAE-69DA-E883-5ADB-EB9AC96D09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6B45D-D98F-4A32-A567-4AE2A91459D6}" type="datetimeFigureOut">
              <a:rPr lang="en-US" smtClean="0"/>
              <a:t>2/9/2026</a:t>
            </a:fld>
            <a:endParaRPr lang="en-US"/>
          </a:p>
        </p:txBody>
      </p:sp>
      <p:sp>
        <p:nvSpPr>
          <p:cNvPr id="5" name="Footer Placeholder 4">
            <a:extLst>
              <a:ext uri="{FF2B5EF4-FFF2-40B4-BE49-F238E27FC236}">
                <a16:creationId xmlns:a16="http://schemas.microsoft.com/office/drawing/2014/main" id="{F902FF5B-BFA7-55B6-6151-5B263570E6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nl-NL"/>
              <a:t>invoegen-voet-koptekst</a:t>
            </a:r>
            <a:endParaRPr lang="en-GB"/>
          </a:p>
        </p:txBody>
      </p:sp>
      <p:sp>
        <p:nvSpPr>
          <p:cNvPr id="6" name="Slide Number Placeholder 5">
            <a:extLst>
              <a:ext uri="{FF2B5EF4-FFF2-40B4-BE49-F238E27FC236}">
                <a16:creationId xmlns:a16="http://schemas.microsoft.com/office/drawing/2014/main" id="{BEB7B8DA-67AF-B29B-FC1D-2E06696884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C737D-49A5-4740-8401-0C4DFF2B9D4A}" type="slidenum">
              <a:rPr lang="nl-NL" smtClean="0"/>
              <a:pPr/>
              <a:t>‹#›</a:t>
            </a:fld>
            <a:endParaRPr lang="nl-NL"/>
          </a:p>
        </p:txBody>
      </p:sp>
      <p:pic>
        <p:nvPicPr>
          <p:cNvPr id="7" name="Picture 2">
            <a:extLst>
              <a:ext uri="{FF2B5EF4-FFF2-40B4-BE49-F238E27FC236}">
                <a16:creationId xmlns:a16="http://schemas.microsoft.com/office/drawing/2014/main" id="{D8C1A59F-BCA0-79F1-6F87-079182BCC73D}"/>
              </a:ext>
            </a:extLst>
          </p:cNvPr>
          <p:cNvPicPr>
            <a:picLocks noChangeAspect="1"/>
          </p:cNvPicPr>
          <p:nvPr userDrawn="1"/>
        </p:nvPicPr>
        <p:blipFill>
          <a:blip r:embed="rId13" cstate="email">
            <a:extLst>
              <a:ext uri="{28A0092B-C50C-407E-A947-70E740481C1C}">
                <a14:useLocalDpi xmlns:a14="http://schemas.microsoft.com/office/drawing/2010/main" val="0"/>
              </a:ext>
            </a:extLst>
          </a:blip>
          <a:srcRect/>
          <a:stretch>
            <a:fillRect/>
          </a:stretch>
        </p:blipFill>
        <p:spPr bwMode="auto">
          <a:xfrm>
            <a:off x="1" y="-4763"/>
            <a:ext cx="977900" cy="6862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70748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vak 7">
            <a:extLst>
              <a:ext uri="{FF2B5EF4-FFF2-40B4-BE49-F238E27FC236}">
                <a16:creationId xmlns:a16="http://schemas.microsoft.com/office/drawing/2014/main" id="{5ECCA89E-3666-CEB9-DEEF-AE7D0C9A09DE}"/>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7" name="TextBox 1">
            <a:extLst>
              <a:ext uri="{FF2B5EF4-FFF2-40B4-BE49-F238E27FC236}">
                <a16:creationId xmlns:a16="http://schemas.microsoft.com/office/drawing/2014/main" id="{BAAD41C4-AB8B-603C-1D5D-873690001E0D}"/>
              </a:ext>
            </a:extLst>
          </p:cNvPr>
          <p:cNvSpPr txBox="1"/>
          <p:nvPr/>
        </p:nvSpPr>
        <p:spPr>
          <a:xfrm>
            <a:off x="1455575" y="0"/>
            <a:ext cx="10391775"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err="1">
                <a:solidFill>
                  <a:srgbClr val="829C30"/>
                </a:solidFill>
                <a:latin typeface="Arial"/>
                <a:ea typeface="MS PGothic" charset="0"/>
              </a:rPr>
              <a:t>Basistechnieken</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en</a:t>
            </a:r>
            <a:r>
              <a:rPr lang="en-US" sz="3000" b="1" dirty="0">
                <a:solidFill>
                  <a:srgbClr val="829C30"/>
                </a:solidFill>
                <a:latin typeface="Arial"/>
                <a:ea typeface="MS PGothic" charset="0"/>
              </a:rPr>
              <a:t> dependency management in Python</a:t>
            </a:r>
          </a:p>
        </p:txBody>
      </p:sp>
      <p:pic>
        <p:nvPicPr>
          <p:cNvPr id="1026" name="Picture 2" descr="3 Ways to Set Up Your Python Projects | by Kay Jan Wong | Python in Plain  English">
            <a:extLst>
              <a:ext uri="{FF2B5EF4-FFF2-40B4-BE49-F238E27FC236}">
                <a16:creationId xmlns:a16="http://schemas.microsoft.com/office/drawing/2014/main" id="{6A79DCD2-183B-E775-1365-C6FBE5A89A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4702" y="1042738"/>
            <a:ext cx="10391775" cy="5815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801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BC8836E-6531-B080-70A6-CD4B298875E6}"/>
              </a:ext>
            </a:extLst>
          </p:cNvPr>
          <p:cNvSpPr>
            <a:spLocks noGrp="1"/>
          </p:cNvSpPr>
          <p:nvPr>
            <p:ph type="sldNum" sz="quarter" idx="12"/>
          </p:nvPr>
        </p:nvSpPr>
        <p:spPr>
          <a:xfrm>
            <a:off x="8601364" y="6381345"/>
            <a:ext cx="2743200" cy="365125"/>
          </a:xfrm>
        </p:spPr>
        <p:txBody>
          <a:bodyPr/>
          <a:lstStyle/>
          <a:p>
            <a:fld id="{587C737D-49A5-4740-8401-0C4DFF2B9D4A}" type="slidenum">
              <a:rPr lang="nl-NL" smtClean="0"/>
              <a:pPr/>
              <a:t>2</a:t>
            </a:fld>
            <a:endParaRPr lang="nl-NL"/>
          </a:p>
        </p:txBody>
      </p:sp>
      <p:sp>
        <p:nvSpPr>
          <p:cNvPr id="6" name="TextBox 1">
            <a:extLst>
              <a:ext uri="{FF2B5EF4-FFF2-40B4-BE49-F238E27FC236}">
                <a16:creationId xmlns:a16="http://schemas.microsoft.com/office/drawing/2014/main" id="{7CD2F944-88DB-C3A7-45F7-E30B87964246}"/>
              </a:ext>
            </a:extLst>
          </p:cNvPr>
          <p:cNvSpPr txBox="1"/>
          <p:nvPr/>
        </p:nvSpPr>
        <p:spPr>
          <a:xfrm>
            <a:off x="3255649" y="0"/>
            <a:ext cx="6493163"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Na </a:t>
            </a:r>
            <a:r>
              <a:rPr lang="en-US" sz="3000" b="1" dirty="0" err="1">
                <a:solidFill>
                  <a:srgbClr val="829C30"/>
                </a:solidFill>
                <a:latin typeface="Arial"/>
                <a:ea typeface="MS PGothic" charset="0"/>
              </a:rPr>
              <a:t>vandaag</a:t>
            </a:r>
            <a:r>
              <a:rPr lang="en-US" sz="3000" b="1" dirty="0">
                <a:solidFill>
                  <a:srgbClr val="829C30"/>
                </a:solidFill>
                <a:latin typeface="Arial"/>
                <a:ea typeface="MS PGothic" charset="0"/>
              </a:rPr>
              <a:t>…</a:t>
            </a:r>
          </a:p>
        </p:txBody>
      </p:sp>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pic>
        <p:nvPicPr>
          <p:cNvPr id="1026" name="Picture 2" descr="Venn Diagram | DHH Resources for Teachers | UMN">
            <a:extLst>
              <a:ext uri="{FF2B5EF4-FFF2-40B4-BE49-F238E27FC236}">
                <a16:creationId xmlns:a16="http://schemas.microsoft.com/office/drawing/2014/main" id="{7ED165F3-95C7-4DFE-96C3-50E651F0E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863" y="1025768"/>
            <a:ext cx="11101137" cy="589417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3DB3ED1-9C68-BDE4-72B5-350E2AA23947}"/>
              </a:ext>
            </a:extLst>
          </p:cNvPr>
          <p:cNvSpPr txBox="1"/>
          <p:nvPr/>
        </p:nvSpPr>
        <p:spPr>
          <a:xfrm>
            <a:off x="1317285" y="3151504"/>
            <a:ext cx="4107833" cy="646331"/>
          </a:xfrm>
          <a:prstGeom prst="rect">
            <a:avLst/>
          </a:prstGeom>
          <a:noFill/>
        </p:spPr>
        <p:txBody>
          <a:bodyPr wrap="square" rtlCol="0">
            <a:spAutoFit/>
          </a:bodyPr>
          <a:lstStyle/>
          <a:p>
            <a:pPr algn="ctr"/>
            <a:r>
              <a:rPr lang="en-US" dirty="0">
                <a:solidFill>
                  <a:srgbClr val="213343"/>
                </a:solidFill>
                <a:latin typeface="Arial" panose="020B0604020202020204" pitchFamily="34" charset="0"/>
                <a:cs typeface="Arial" panose="020B0604020202020204" pitchFamily="34" charset="0"/>
              </a:rPr>
              <a:t>Wat het backwards-</a:t>
            </a:r>
            <a:r>
              <a:rPr lang="en-US" dirty="0" err="1">
                <a:solidFill>
                  <a:srgbClr val="213343"/>
                </a:solidFill>
                <a:latin typeface="Arial" panose="020B0604020202020204" pitchFamily="34" charset="0"/>
                <a:cs typeface="Arial" panose="020B0604020202020204" pitchFamily="34" charset="0"/>
              </a:rPr>
              <a:t>compatibilityprobleem</a:t>
            </a:r>
            <a:r>
              <a:rPr lang="en-US" dirty="0">
                <a:solidFill>
                  <a:srgbClr val="213343"/>
                </a:solidFill>
                <a:latin typeface="Arial" panose="020B0604020202020204" pitchFamily="34" charset="0"/>
                <a:cs typeface="Arial" panose="020B0604020202020204" pitchFamily="34" charset="0"/>
              </a:rPr>
              <a:t> is van Python</a:t>
            </a:r>
          </a:p>
        </p:txBody>
      </p:sp>
      <p:sp>
        <p:nvSpPr>
          <p:cNvPr id="13" name="TextBox 12">
            <a:extLst>
              <a:ext uri="{FF2B5EF4-FFF2-40B4-BE49-F238E27FC236}">
                <a16:creationId xmlns:a16="http://schemas.microsoft.com/office/drawing/2014/main" id="{AF490D3E-EF89-C010-3F4B-F601B3E08A37}"/>
              </a:ext>
            </a:extLst>
          </p:cNvPr>
          <p:cNvSpPr txBox="1"/>
          <p:nvPr/>
        </p:nvSpPr>
        <p:spPr>
          <a:xfrm>
            <a:off x="3576418" y="683609"/>
            <a:ext cx="1294162" cy="369332"/>
          </a:xfrm>
          <a:prstGeom prst="rect">
            <a:avLst/>
          </a:prstGeom>
          <a:noFill/>
        </p:spPr>
        <p:txBody>
          <a:bodyPr wrap="square" rtlCol="0">
            <a:spAutoFit/>
          </a:bodyPr>
          <a:lstStyle/>
          <a:p>
            <a:r>
              <a:rPr lang="en-US" b="1" dirty="0">
                <a:solidFill>
                  <a:srgbClr val="213343"/>
                </a:solidFill>
                <a:latin typeface="Arial" panose="020B0604020202020204" pitchFamily="34" charset="0"/>
                <a:cs typeface="Arial" panose="020B0604020202020204" pitchFamily="34" charset="0"/>
              </a:rPr>
              <a:t>Weet je…</a:t>
            </a:r>
          </a:p>
        </p:txBody>
      </p:sp>
      <p:sp>
        <p:nvSpPr>
          <p:cNvPr id="14" name="TextBox 13">
            <a:extLst>
              <a:ext uri="{FF2B5EF4-FFF2-40B4-BE49-F238E27FC236}">
                <a16:creationId xmlns:a16="http://schemas.microsoft.com/office/drawing/2014/main" id="{1D0EF7E7-CD2F-7741-9C29-123FB8D93DDC}"/>
              </a:ext>
            </a:extLst>
          </p:cNvPr>
          <p:cNvSpPr txBox="1"/>
          <p:nvPr/>
        </p:nvSpPr>
        <p:spPr>
          <a:xfrm>
            <a:off x="8107256" y="703521"/>
            <a:ext cx="1131266" cy="369332"/>
          </a:xfrm>
          <a:prstGeom prst="rect">
            <a:avLst/>
          </a:prstGeom>
          <a:noFill/>
        </p:spPr>
        <p:txBody>
          <a:bodyPr wrap="square" rtlCol="0">
            <a:spAutoFit/>
          </a:bodyPr>
          <a:lstStyle/>
          <a:p>
            <a:r>
              <a:rPr lang="en-US" b="1" dirty="0">
                <a:solidFill>
                  <a:srgbClr val="213343"/>
                </a:solidFill>
                <a:latin typeface="Arial" panose="020B0604020202020204" pitchFamily="34" charset="0"/>
                <a:cs typeface="Arial" panose="020B0604020202020204" pitchFamily="34" charset="0"/>
              </a:rPr>
              <a:t>Kan je…</a:t>
            </a:r>
          </a:p>
        </p:txBody>
      </p:sp>
      <p:sp>
        <p:nvSpPr>
          <p:cNvPr id="15" name="TextBox 14">
            <a:extLst>
              <a:ext uri="{FF2B5EF4-FFF2-40B4-BE49-F238E27FC236}">
                <a16:creationId xmlns:a16="http://schemas.microsoft.com/office/drawing/2014/main" id="{B00320AE-CE57-9D64-F411-B113070D2BCC}"/>
              </a:ext>
            </a:extLst>
          </p:cNvPr>
          <p:cNvSpPr txBox="1"/>
          <p:nvPr/>
        </p:nvSpPr>
        <p:spPr>
          <a:xfrm>
            <a:off x="5808945" y="2475078"/>
            <a:ext cx="1368098" cy="369332"/>
          </a:xfrm>
          <a:prstGeom prst="rect">
            <a:avLst/>
          </a:prstGeom>
          <a:noFill/>
        </p:spPr>
        <p:txBody>
          <a:bodyPr wrap="square" rtlCol="0">
            <a:spAutoFit/>
          </a:bodyPr>
          <a:lstStyle/>
          <a:p>
            <a:pPr algn="ctr"/>
            <a:r>
              <a:rPr lang="en-US" b="1" dirty="0">
                <a:solidFill>
                  <a:srgbClr val="213343"/>
                </a:solidFill>
                <a:latin typeface="Arial" panose="020B0604020202020204" pitchFamily="34" charset="0"/>
                <a:cs typeface="Arial" panose="020B0604020202020204" pitchFamily="34" charset="0"/>
              </a:rPr>
              <a:t>HC + WC</a:t>
            </a:r>
          </a:p>
        </p:txBody>
      </p:sp>
      <p:pic>
        <p:nvPicPr>
          <p:cNvPr id="1030" name="Picture 6" descr="Smile Emoji Happy - Free vector graphic on Pixabay">
            <a:extLst>
              <a:ext uri="{FF2B5EF4-FFF2-40B4-BE49-F238E27FC236}">
                <a16:creationId xmlns:a16="http://schemas.microsoft.com/office/drawing/2014/main" id="{A359608D-0FAD-B299-A99E-0045AC944A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40" y="3275345"/>
            <a:ext cx="1523028" cy="152302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4BAD723B-5928-12D5-4623-9987E18E1F55}"/>
              </a:ext>
            </a:extLst>
          </p:cNvPr>
          <p:cNvSpPr txBox="1"/>
          <p:nvPr/>
        </p:nvSpPr>
        <p:spPr>
          <a:xfrm>
            <a:off x="7862020" y="2874505"/>
            <a:ext cx="3091224" cy="923330"/>
          </a:xfrm>
          <a:prstGeom prst="rect">
            <a:avLst/>
          </a:prstGeom>
          <a:noFill/>
        </p:spPr>
        <p:txBody>
          <a:bodyPr wrap="square" rtlCol="0">
            <a:spAutoFit/>
          </a:bodyPr>
          <a:lstStyle/>
          <a:p>
            <a:r>
              <a:rPr lang="en-US" dirty="0" err="1">
                <a:solidFill>
                  <a:srgbClr val="213343"/>
                </a:solidFill>
                <a:latin typeface="Arial" panose="020B0604020202020204" pitchFamily="34" charset="0"/>
                <a:cs typeface="Arial" panose="020B0604020202020204" pitchFamily="34" charset="0"/>
              </a:rPr>
              <a:t>Een</a:t>
            </a:r>
            <a:r>
              <a:rPr lang="en-US" dirty="0">
                <a:solidFill>
                  <a:srgbClr val="213343"/>
                </a:solidFill>
                <a:latin typeface="Arial" panose="020B0604020202020204" pitchFamily="34" charset="0"/>
                <a:cs typeface="Arial" panose="020B0604020202020204" pitchFamily="34" charset="0"/>
              </a:rPr>
              <a:t> virtual environment </a:t>
            </a:r>
            <a:r>
              <a:rPr lang="en-US" dirty="0" err="1">
                <a:solidFill>
                  <a:srgbClr val="213343"/>
                </a:solidFill>
                <a:latin typeface="Arial" panose="020B0604020202020204" pitchFamily="34" charset="0"/>
                <a:cs typeface="Arial" panose="020B0604020202020204" pitchFamily="34" charset="0"/>
              </a:rPr>
              <a:t>voor</a:t>
            </a:r>
            <a:r>
              <a:rPr lang="en-US" dirty="0">
                <a:solidFill>
                  <a:srgbClr val="213343"/>
                </a:solidFill>
                <a:latin typeface="Arial" panose="020B0604020202020204" pitchFamily="34" charset="0"/>
                <a:cs typeface="Arial" panose="020B0604020202020204" pitchFamily="34" charset="0"/>
              </a:rPr>
              <a:t> Python in </a:t>
            </a:r>
            <a:r>
              <a:rPr lang="en-US" dirty="0" err="1">
                <a:solidFill>
                  <a:srgbClr val="213343"/>
                </a:solidFill>
                <a:latin typeface="Arial" panose="020B0604020202020204" pitchFamily="34" charset="0"/>
                <a:cs typeface="Arial" panose="020B0604020202020204" pitchFamily="34" charset="0"/>
              </a:rPr>
              <a:t>VSCode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maken</a:t>
            </a:r>
            <a:r>
              <a:rPr lang="en-US" dirty="0">
                <a:solidFill>
                  <a:srgbClr val="213343"/>
                </a:solidFill>
                <a:latin typeface="Arial" panose="020B0604020202020204" pitchFamily="34" charset="0"/>
                <a:cs typeface="Arial" panose="020B0604020202020204" pitchFamily="34" charset="0"/>
              </a:rPr>
              <a:t> met </a:t>
            </a:r>
            <a:r>
              <a:rPr lang="en-US" dirty="0" err="1">
                <a:solidFill>
                  <a:srgbClr val="213343"/>
                </a:solidFill>
                <a:latin typeface="Arial" panose="020B0604020202020204" pitchFamily="34" charset="0"/>
                <a:cs typeface="Arial" panose="020B0604020202020204" pitchFamily="34" charset="0"/>
              </a:rPr>
              <a:t>behulp</a:t>
            </a:r>
            <a:r>
              <a:rPr lang="en-US" dirty="0">
                <a:solidFill>
                  <a:srgbClr val="213343"/>
                </a:solidFill>
                <a:latin typeface="Arial" panose="020B0604020202020204" pitchFamily="34" charset="0"/>
                <a:cs typeface="Arial" panose="020B0604020202020204" pitchFamily="34" charset="0"/>
              </a:rPr>
              <a:t> van poetry</a:t>
            </a:r>
          </a:p>
        </p:txBody>
      </p:sp>
      <p:sp>
        <p:nvSpPr>
          <p:cNvPr id="17" name="TextBox 16">
            <a:extLst>
              <a:ext uri="{FF2B5EF4-FFF2-40B4-BE49-F238E27FC236}">
                <a16:creationId xmlns:a16="http://schemas.microsoft.com/office/drawing/2014/main" id="{0438445A-45D3-7C98-56F6-3E54DD78BFFD}"/>
              </a:ext>
            </a:extLst>
          </p:cNvPr>
          <p:cNvSpPr txBox="1"/>
          <p:nvPr/>
        </p:nvSpPr>
        <p:spPr>
          <a:xfrm>
            <a:off x="2717026" y="1663641"/>
            <a:ext cx="3118040" cy="1200329"/>
          </a:xfrm>
          <a:prstGeom prst="rect">
            <a:avLst/>
          </a:prstGeom>
          <a:noFill/>
        </p:spPr>
        <p:txBody>
          <a:bodyPr wrap="square" rtlCol="0">
            <a:spAutoFit/>
          </a:bodyPr>
          <a:lstStyle/>
          <a:p>
            <a:r>
              <a:rPr lang="en-US" dirty="0" err="1">
                <a:solidFill>
                  <a:srgbClr val="213343"/>
                </a:solidFill>
                <a:latin typeface="Arial" panose="020B0604020202020204" pitchFamily="34" charset="0"/>
                <a:cs typeface="Arial" panose="020B0604020202020204" pitchFamily="34" charset="0"/>
              </a:rPr>
              <a:t>Welke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verschillende</a:t>
            </a:r>
            <a:r>
              <a:rPr lang="en-US" dirty="0">
                <a:solidFill>
                  <a:srgbClr val="213343"/>
                </a:solidFill>
                <a:latin typeface="Arial" panose="020B0604020202020204" pitchFamily="34" charset="0"/>
                <a:cs typeface="Arial" panose="020B0604020202020204" pitchFamily="34" charset="0"/>
              </a:rPr>
              <a:t> Python-</a:t>
            </a:r>
            <a:r>
              <a:rPr lang="en-US" dirty="0" err="1">
                <a:solidFill>
                  <a:srgbClr val="213343"/>
                </a:solidFill>
                <a:latin typeface="Arial" panose="020B0604020202020204" pitchFamily="34" charset="0"/>
                <a:cs typeface="Arial" panose="020B0604020202020204" pitchFamily="34" charset="0"/>
              </a:rPr>
              <a:t>datastructuren</a:t>
            </a:r>
            <a:r>
              <a:rPr lang="en-US" dirty="0">
                <a:solidFill>
                  <a:srgbClr val="213343"/>
                </a:solidFill>
                <a:latin typeface="Arial" panose="020B0604020202020204" pitchFamily="34" charset="0"/>
                <a:cs typeface="Arial" panose="020B0604020202020204" pitchFamily="34" charset="0"/>
              </a:rPr>
              <a:t> er </a:t>
            </a:r>
            <a:r>
              <a:rPr lang="en-US" dirty="0" err="1">
                <a:solidFill>
                  <a:srgbClr val="213343"/>
                </a:solidFill>
                <a:latin typeface="Arial" panose="020B0604020202020204" pitchFamily="34" charset="0"/>
                <a:cs typeface="Arial" panose="020B0604020202020204" pitchFamily="34" charset="0"/>
              </a:rPr>
              <a:t>zijn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en</a:t>
            </a:r>
            <a:r>
              <a:rPr lang="en-US" dirty="0">
                <a:solidFill>
                  <a:srgbClr val="213343"/>
                </a:solidFill>
                <a:latin typeface="Arial" panose="020B0604020202020204" pitchFamily="34" charset="0"/>
                <a:cs typeface="Arial" panose="020B0604020202020204" pitchFamily="34" charset="0"/>
              </a:rPr>
              <a:t> hoe </a:t>
            </a:r>
            <a:r>
              <a:rPr lang="en-US" dirty="0" err="1">
                <a:solidFill>
                  <a:srgbClr val="213343"/>
                </a:solidFill>
                <a:latin typeface="Arial" panose="020B0604020202020204" pitchFamily="34" charset="0"/>
                <a:cs typeface="Arial" panose="020B0604020202020204" pitchFamily="34" charset="0"/>
              </a:rPr>
              <a:t>deze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overeenkomen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verschillen</a:t>
            </a:r>
            <a:r>
              <a:rPr lang="en-US" dirty="0">
                <a:solidFill>
                  <a:srgbClr val="213343"/>
                </a:solidFill>
                <a:latin typeface="Arial" panose="020B0604020202020204" pitchFamily="34" charset="0"/>
                <a:cs typeface="Arial" panose="020B0604020202020204" pitchFamily="34" charset="0"/>
              </a:rPr>
              <a:t> van </a:t>
            </a:r>
            <a:r>
              <a:rPr lang="en-US" dirty="0" err="1">
                <a:solidFill>
                  <a:srgbClr val="213343"/>
                </a:solidFill>
                <a:latin typeface="Arial" panose="020B0604020202020204" pitchFamily="34" charset="0"/>
                <a:cs typeface="Arial" panose="020B0604020202020204" pitchFamily="34" charset="0"/>
              </a:rPr>
              <a:t>elkaar</a:t>
            </a:r>
            <a:endParaRPr lang="en-US" dirty="0">
              <a:solidFill>
                <a:srgbClr val="213343"/>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8F0621E4-74F4-FAC7-0E0A-2A8DDEB96310}"/>
              </a:ext>
            </a:extLst>
          </p:cNvPr>
          <p:cNvSpPr txBox="1"/>
          <p:nvPr/>
        </p:nvSpPr>
        <p:spPr>
          <a:xfrm>
            <a:off x="7523799" y="1793617"/>
            <a:ext cx="3429445" cy="646331"/>
          </a:xfrm>
          <a:prstGeom prst="rect">
            <a:avLst/>
          </a:prstGeom>
          <a:noFill/>
        </p:spPr>
        <p:txBody>
          <a:bodyPr wrap="square" rtlCol="0">
            <a:spAutoFit/>
          </a:bodyPr>
          <a:lstStyle/>
          <a:p>
            <a:r>
              <a:rPr lang="en-US" dirty="0" err="1">
                <a:solidFill>
                  <a:srgbClr val="213343"/>
                </a:solidFill>
                <a:latin typeface="Arial" panose="020B0604020202020204" pitchFamily="34" charset="0"/>
                <a:cs typeface="Arial" panose="020B0604020202020204" pitchFamily="34" charset="0"/>
              </a:rPr>
              <a:t>Programmeertechnieken</a:t>
            </a:r>
            <a:r>
              <a:rPr lang="en-US" dirty="0">
                <a:solidFill>
                  <a:srgbClr val="213343"/>
                </a:solidFill>
                <a:latin typeface="Arial" panose="020B0604020202020204" pitchFamily="34" charset="0"/>
                <a:cs typeface="Arial" panose="020B0604020202020204" pitchFamily="34" charset="0"/>
              </a:rPr>
              <a:t> op </a:t>
            </a:r>
            <a:r>
              <a:rPr lang="en-US" dirty="0" err="1">
                <a:solidFill>
                  <a:srgbClr val="213343"/>
                </a:solidFill>
                <a:latin typeface="Arial" panose="020B0604020202020204" pitchFamily="34" charset="0"/>
                <a:cs typeface="Arial" panose="020B0604020202020204" pitchFamily="34" charset="0"/>
              </a:rPr>
              <a:t>basisniveau</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uitvoeren</a:t>
            </a:r>
            <a:r>
              <a:rPr lang="en-US" dirty="0">
                <a:solidFill>
                  <a:srgbClr val="213343"/>
                </a:solidFill>
                <a:latin typeface="Arial" panose="020B0604020202020204" pitchFamily="34" charset="0"/>
                <a:cs typeface="Arial" panose="020B0604020202020204" pitchFamily="34" charset="0"/>
              </a:rPr>
              <a:t> in Python</a:t>
            </a:r>
          </a:p>
        </p:txBody>
      </p:sp>
      <p:sp>
        <p:nvSpPr>
          <p:cNvPr id="3" name="TextBox 2">
            <a:extLst>
              <a:ext uri="{FF2B5EF4-FFF2-40B4-BE49-F238E27FC236}">
                <a16:creationId xmlns:a16="http://schemas.microsoft.com/office/drawing/2014/main" id="{AA9569FD-1C62-6555-4E41-5435D65CC9B6}"/>
              </a:ext>
            </a:extLst>
          </p:cNvPr>
          <p:cNvSpPr txBox="1"/>
          <p:nvPr/>
        </p:nvSpPr>
        <p:spPr>
          <a:xfrm>
            <a:off x="1772876" y="4179772"/>
            <a:ext cx="3283112" cy="923330"/>
          </a:xfrm>
          <a:prstGeom prst="rect">
            <a:avLst/>
          </a:prstGeom>
          <a:noFill/>
        </p:spPr>
        <p:txBody>
          <a:bodyPr wrap="square" rtlCol="0">
            <a:spAutoFit/>
          </a:bodyPr>
          <a:lstStyle/>
          <a:p>
            <a:pPr algn="ctr"/>
            <a:r>
              <a:rPr lang="en-US" dirty="0">
                <a:solidFill>
                  <a:srgbClr val="213343"/>
                </a:solidFill>
                <a:latin typeface="Arial" panose="020B0604020202020204" pitchFamily="34" charset="0"/>
                <a:cs typeface="Arial" panose="020B0604020202020204" pitchFamily="34" charset="0"/>
              </a:rPr>
              <a:t>De twee </a:t>
            </a:r>
            <a:r>
              <a:rPr lang="en-US" dirty="0" err="1">
                <a:solidFill>
                  <a:srgbClr val="213343"/>
                </a:solidFill>
                <a:latin typeface="Arial" panose="020B0604020202020204" pitchFamily="34" charset="0"/>
                <a:cs typeface="Arial" panose="020B0604020202020204" pitchFamily="34" charset="0"/>
              </a:rPr>
              <a:t>belangrijkste</a:t>
            </a:r>
            <a:r>
              <a:rPr lang="en-US" dirty="0">
                <a:solidFill>
                  <a:srgbClr val="213343"/>
                </a:solidFill>
                <a:latin typeface="Arial" panose="020B0604020202020204" pitchFamily="34" charset="0"/>
                <a:cs typeface="Arial" panose="020B0604020202020204" pitchFamily="34" charset="0"/>
              </a:rPr>
              <a:t> pandas-</a:t>
            </a:r>
            <a:r>
              <a:rPr lang="en-US" dirty="0" err="1">
                <a:solidFill>
                  <a:srgbClr val="213343"/>
                </a:solidFill>
                <a:latin typeface="Arial" panose="020B0604020202020204" pitchFamily="34" charset="0"/>
                <a:cs typeface="Arial" panose="020B0604020202020204" pitchFamily="34" charset="0"/>
              </a:rPr>
              <a:t>datastructuren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hun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structureringswijze</a:t>
            </a:r>
            <a:r>
              <a:rPr lang="en-US" dirty="0">
                <a:solidFill>
                  <a:srgbClr val="213343"/>
                </a:solidFill>
                <a:latin typeface="Arial" panose="020B0604020202020204" pitchFamily="34" charset="0"/>
                <a:cs typeface="Arial" panose="020B0604020202020204" pitchFamily="34" charset="0"/>
              </a:rPr>
              <a:t>.</a:t>
            </a:r>
          </a:p>
        </p:txBody>
      </p:sp>
      <p:sp>
        <p:nvSpPr>
          <p:cNvPr id="4" name="TextBox 3">
            <a:extLst>
              <a:ext uri="{FF2B5EF4-FFF2-40B4-BE49-F238E27FC236}">
                <a16:creationId xmlns:a16="http://schemas.microsoft.com/office/drawing/2014/main" id="{9E7BD257-D860-60C5-A131-112E56EF87F2}"/>
              </a:ext>
            </a:extLst>
          </p:cNvPr>
          <p:cNvSpPr txBox="1"/>
          <p:nvPr/>
        </p:nvSpPr>
        <p:spPr>
          <a:xfrm>
            <a:off x="3189445" y="5488545"/>
            <a:ext cx="2770697" cy="923330"/>
          </a:xfrm>
          <a:prstGeom prst="rect">
            <a:avLst/>
          </a:prstGeom>
          <a:noFill/>
        </p:spPr>
        <p:txBody>
          <a:bodyPr wrap="square" rtlCol="0">
            <a:spAutoFit/>
          </a:bodyPr>
          <a:lstStyle/>
          <a:p>
            <a:r>
              <a:rPr lang="en-US" dirty="0" err="1">
                <a:solidFill>
                  <a:srgbClr val="213343"/>
                </a:solidFill>
                <a:latin typeface="Arial" panose="020B0604020202020204" pitchFamily="34" charset="0"/>
                <a:cs typeface="Arial" panose="020B0604020202020204" pitchFamily="34" charset="0"/>
              </a:rPr>
              <a:t>Verschillende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programmeertechnieken</a:t>
            </a:r>
            <a:r>
              <a:rPr lang="en-US" dirty="0">
                <a:solidFill>
                  <a:srgbClr val="213343"/>
                </a:solidFill>
                <a:latin typeface="Arial" panose="020B0604020202020204" pitchFamily="34" charset="0"/>
                <a:cs typeface="Arial" panose="020B0604020202020204" pitchFamily="34" charset="0"/>
              </a:rPr>
              <a:t> per </a:t>
            </a:r>
            <a:r>
              <a:rPr lang="en-US" dirty="0" err="1">
                <a:solidFill>
                  <a:srgbClr val="213343"/>
                </a:solidFill>
                <a:latin typeface="Arial" panose="020B0604020202020204" pitchFamily="34" charset="0"/>
                <a:cs typeface="Arial" panose="020B0604020202020204" pitchFamily="34" charset="0"/>
              </a:rPr>
              <a:t>wijzigingsactie</a:t>
            </a:r>
            <a:endParaRPr lang="en-US" dirty="0">
              <a:solidFill>
                <a:srgbClr val="213343"/>
              </a:solidFill>
              <a:latin typeface="Arial" panose="020B0604020202020204" pitchFamily="34" charset="0"/>
              <a:cs typeface="Arial" panose="020B0604020202020204" pitchFamily="34" charset="0"/>
            </a:endParaRPr>
          </a:p>
        </p:txBody>
      </p:sp>
      <p:sp>
        <p:nvSpPr>
          <p:cNvPr id="8" name="TextBox 8">
            <a:extLst>
              <a:ext uri="{FF2B5EF4-FFF2-40B4-BE49-F238E27FC236}">
                <a16:creationId xmlns:a16="http://schemas.microsoft.com/office/drawing/2014/main" id="{6F1E5FC4-4CD6-79DC-E337-6D112EEC881D}"/>
              </a:ext>
            </a:extLst>
          </p:cNvPr>
          <p:cNvSpPr txBox="1"/>
          <p:nvPr/>
        </p:nvSpPr>
        <p:spPr>
          <a:xfrm>
            <a:off x="7312902" y="5621682"/>
            <a:ext cx="2743200" cy="646331"/>
          </a:xfrm>
          <a:prstGeom prst="rect">
            <a:avLst/>
          </a:prstGeom>
          <a:noFill/>
        </p:spPr>
        <p:txBody>
          <a:bodyPr wrap="square" rtlCol="0">
            <a:spAutoFit/>
          </a:bodyPr>
          <a:lstStyle/>
          <a:p>
            <a:r>
              <a:rPr lang="en-US" dirty="0" err="1">
                <a:solidFill>
                  <a:srgbClr val="213343"/>
                </a:solidFill>
                <a:latin typeface="Arial" panose="020B0604020202020204" pitchFamily="34" charset="0"/>
                <a:cs typeface="Arial" panose="020B0604020202020204" pitchFamily="34" charset="0"/>
              </a:rPr>
              <a:t>Rijen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kolommen</a:t>
            </a:r>
            <a:r>
              <a:rPr lang="en-US" dirty="0">
                <a:solidFill>
                  <a:srgbClr val="213343"/>
                </a:solidFill>
                <a:latin typeface="Arial" panose="020B0604020202020204" pitchFamily="34" charset="0"/>
                <a:cs typeface="Arial" panose="020B0604020202020204" pitchFamily="34" charset="0"/>
              </a:rPr>
              <a:t> in </a:t>
            </a:r>
            <a:r>
              <a:rPr lang="en-US" dirty="0" err="1">
                <a:solidFill>
                  <a:srgbClr val="213343"/>
                </a:solidFill>
                <a:latin typeface="Arial" panose="020B0604020202020204" pitchFamily="34" charset="0"/>
                <a:cs typeface="Arial" panose="020B0604020202020204" pitchFamily="34" charset="0"/>
              </a:rPr>
              <a:t>DataFrames</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wijzigen</a:t>
            </a:r>
            <a:endParaRPr lang="en-US" dirty="0">
              <a:solidFill>
                <a:srgbClr val="213343"/>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71B1ACB-2161-F2BF-C467-26383361E728}"/>
              </a:ext>
            </a:extLst>
          </p:cNvPr>
          <p:cNvSpPr txBox="1"/>
          <p:nvPr/>
        </p:nvSpPr>
        <p:spPr>
          <a:xfrm>
            <a:off x="8122214" y="4127470"/>
            <a:ext cx="2570835" cy="1200329"/>
          </a:xfrm>
          <a:prstGeom prst="rect">
            <a:avLst/>
          </a:prstGeom>
          <a:noFill/>
        </p:spPr>
        <p:txBody>
          <a:bodyPr wrap="square" rtlCol="0">
            <a:spAutoFit/>
          </a:bodyPr>
          <a:lstStyle/>
          <a:p>
            <a:r>
              <a:rPr lang="en-US" dirty="0">
                <a:solidFill>
                  <a:srgbClr val="213343"/>
                </a:solidFill>
                <a:latin typeface="Arial" panose="020B0604020202020204" pitchFamily="34" charset="0"/>
                <a:cs typeface="Arial" panose="020B0604020202020204" pitchFamily="34" charset="0"/>
              </a:rPr>
              <a:t>Data </a:t>
            </a:r>
            <a:r>
              <a:rPr lang="en-US" dirty="0" err="1">
                <a:solidFill>
                  <a:srgbClr val="213343"/>
                </a:solidFill>
                <a:latin typeface="Arial" panose="020B0604020202020204" pitchFamily="34" charset="0"/>
                <a:cs typeface="Arial" panose="020B0604020202020204" pitchFamily="34" charset="0"/>
              </a:rPr>
              <a:t>uit</a:t>
            </a:r>
            <a:r>
              <a:rPr lang="en-US" dirty="0">
                <a:solidFill>
                  <a:srgbClr val="213343"/>
                </a:solidFill>
                <a:latin typeface="Arial" panose="020B0604020202020204" pitchFamily="34" charset="0"/>
                <a:cs typeface="Arial" panose="020B0604020202020204" pitchFamily="34" charset="0"/>
              </a:rPr>
              <a:t> externe </a:t>
            </a:r>
            <a:r>
              <a:rPr lang="en-US" dirty="0" err="1">
                <a:solidFill>
                  <a:srgbClr val="213343"/>
                </a:solidFill>
                <a:latin typeface="Arial" panose="020B0604020202020204" pitchFamily="34" charset="0"/>
                <a:cs typeface="Arial" panose="020B0604020202020204" pitchFamily="34" charset="0"/>
              </a:rPr>
              <a:t>bestanden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converteren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naar</a:t>
            </a:r>
            <a:r>
              <a:rPr lang="en-US" dirty="0">
                <a:solidFill>
                  <a:srgbClr val="213343"/>
                </a:solidFill>
                <a:latin typeface="Arial" panose="020B0604020202020204" pitchFamily="34" charset="0"/>
                <a:cs typeface="Arial" panose="020B0604020202020204" pitchFamily="34" charset="0"/>
              </a:rPr>
              <a:t> pandas-</a:t>
            </a:r>
            <a:r>
              <a:rPr lang="en-US" dirty="0" err="1">
                <a:solidFill>
                  <a:srgbClr val="213343"/>
                </a:solidFill>
                <a:latin typeface="Arial" panose="020B0604020202020204" pitchFamily="34" charset="0"/>
                <a:cs typeface="Arial" panose="020B0604020202020204" pitchFamily="34" charset="0"/>
              </a:rPr>
              <a:t>datastructuren</a:t>
            </a:r>
            <a:r>
              <a:rPr lang="en-US" dirty="0">
                <a:solidFill>
                  <a:srgbClr val="213343"/>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627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030"/>
                                        </p:tgtEl>
                                        <p:attrNameLst>
                                          <p:attrName>style.visibility</p:attrName>
                                        </p:attrNameLst>
                                      </p:cBhvr>
                                      <p:to>
                                        <p:strVal val="visible"/>
                                      </p:to>
                                    </p:set>
                                    <p:animEffect transition="in" filter="fade">
                                      <p:cBhvr>
                                        <p:cTn id="34"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P spid="3" grpId="0"/>
      <p:bldP spid="4"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BC8836E-6531-B080-70A6-CD4B298875E6}"/>
              </a:ext>
            </a:extLst>
          </p:cNvPr>
          <p:cNvSpPr>
            <a:spLocks noGrp="1"/>
          </p:cNvSpPr>
          <p:nvPr>
            <p:ph type="sldNum" sz="quarter" idx="12"/>
          </p:nvPr>
        </p:nvSpPr>
        <p:spPr>
          <a:xfrm>
            <a:off x="8601364" y="6381345"/>
            <a:ext cx="2743200" cy="365125"/>
          </a:xfrm>
        </p:spPr>
        <p:txBody>
          <a:bodyPr/>
          <a:lstStyle/>
          <a:p>
            <a:fld id="{587C737D-49A5-4740-8401-0C4DFF2B9D4A}" type="slidenum">
              <a:rPr lang="nl-NL" smtClean="0"/>
              <a:pPr/>
              <a:t>3</a:t>
            </a:fld>
            <a:endParaRPr lang="nl-NL"/>
          </a:p>
        </p:txBody>
      </p:sp>
      <p:sp>
        <p:nvSpPr>
          <p:cNvPr id="6" name="TextBox 1">
            <a:extLst>
              <a:ext uri="{FF2B5EF4-FFF2-40B4-BE49-F238E27FC236}">
                <a16:creationId xmlns:a16="http://schemas.microsoft.com/office/drawing/2014/main" id="{7CD2F944-88DB-C3A7-45F7-E30B87964246}"/>
              </a:ext>
            </a:extLst>
          </p:cNvPr>
          <p:cNvSpPr txBox="1"/>
          <p:nvPr/>
        </p:nvSpPr>
        <p:spPr>
          <a:xfrm>
            <a:off x="3255649" y="0"/>
            <a:ext cx="6493163"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Taal </a:t>
            </a:r>
            <a:r>
              <a:rPr lang="en-US" sz="3000" b="1" dirty="0" err="1">
                <a:solidFill>
                  <a:srgbClr val="829C30"/>
                </a:solidFill>
                <a:latin typeface="Arial"/>
                <a:ea typeface="MS PGothic" charset="0"/>
              </a:rPr>
              <a:t>en</a:t>
            </a:r>
            <a:r>
              <a:rPr lang="en-US" sz="3000" b="1" dirty="0">
                <a:solidFill>
                  <a:srgbClr val="829C30"/>
                </a:solidFill>
                <a:latin typeface="Arial"/>
                <a:ea typeface="MS PGothic" charset="0"/>
              </a:rPr>
              <a:t> tools</a:t>
            </a:r>
          </a:p>
        </p:txBody>
      </p:sp>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cxnSp>
        <p:nvCxnSpPr>
          <p:cNvPr id="2" name="Straight Connector 10">
            <a:extLst>
              <a:ext uri="{FF2B5EF4-FFF2-40B4-BE49-F238E27FC236}">
                <a16:creationId xmlns:a16="http://schemas.microsoft.com/office/drawing/2014/main" id="{740C6F8A-9BCD-4A78-D89E-1D8B67B3CCC1}"/>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cxnSp>
        <p:nvCxnSpPr>
          <p:cNvPr id="3" name="Straight Connector 10">
            <a:extLst>
              <a:ext uri="{FF2B5EF4-FFF2-40B4-BE49-F238E27FC236}">
                <a16:creationId xmlns:a16="http://schemas.microsoft.com/office/drawing/2014/main" id="{108F4E6C-8E40-80A0-B50F-0387EEBF2794}"/>
              </a:ext>
            </a:extLst>
          </p:cNvPr>
          <p:cNvCxnSpPr>
            <a:cxnSpLocks/>
          </p:cNvCxnSpPr>
          <p:nvPr/>
        </p:nvCxnSpPr>
        <p:spPr>
          <a:xfrm flipV="1">
            <a:off x="4467069" y="812800"/>
            <a:ext cx="0" cy="604520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21" name="Tekstvak 20">
            <a:extLst>
              <a:ext uri="{FF2B5EF4-FFF2-40B4-BE49-F238E27FC236}">
                <a16:creationId xmlns:a16="http://schemas.microsoft.com/office/drawing/2014/main" id="{8B4B2799-AAC3-7FD1-2B07-AF1778EB9C36}"/>
              </a:ext>
            </a:extLst>
          </p:cNvPr>
          <p:cNvSpPr txBox="1"/>
          <p:nvPr/>
        </p:nvSpPr>
        <p:spPr>
          <a:xfrm>
            <a:off x="976537" y="905068"/>
            <a:ext cx="3406428" cy="400110"/>
          </a:xfrm>
          <a:prstGeom prst="rect">
            <a:avLst/>
          </a:prstGeom>
          <a:noFill/>
        </p:spPr>
        <p:txBody>
          <a:bodyPr wrap="square">
            <a:spAutoFit/>
          </a:bodyPr>
          <a:lstStyle/>
          <a:p>
            <a:pPr algn="ctr"/>
            <a:r>
              <a:rPr lang="en-US" sz="2000" b="0" i="0" u="none" strike="noStrike" dirty="0">
                <a:solidFill>
                  <a:srgbClr val="000000"/>
                </a:solidFill>
                <a:effectLst/>
                <a:latin typeface="Arial" panose="020B0604020202020204" pitchFamily="34" charset="0"/>
              </a:rPr>
              <a:t>Python</a:t>
            </a:r>
            <a:r>
              <a:rPr lang="en-US" sz="2000" b="0" i="0" dirty="0">
                <a:solidFill>
                  <a:srgbClr val="000000"/>
                </a:solidFill>
                <a:effectLst/>
                <a:latin typeface="Arial" panose="020B0604020202020204" pitchFamily="34" charset="0"/>
              </a:rPr>
              <a:t>​</a:t>
            </a:r>
            <a:endParaRPr lang="nl-NL" sz="2000" dirty="0"/>
          </a:p>
        </p:txBody>
      </p:sp>
      <p:pic>
        <p:nvPicPr>
          <p:cNvPr id="24" name="Picture 2" descr="Python (programming language) - Wikipedia">
            <a:extLst>
              <a:ext uri="{FF2B5EF4-FFF2-40B4-BE49-F238E27FC236}">
                <a16:creationId xmlns:a16="http://schemas.microsoft.com/office/drawing/2014/main" id="{6556B1A2-38E2-F20E-2E6E-EDAD34B61E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8022" y="1397445"/>
            <a:ext cx="2698553" cy="24211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oject Jupyter - Wikipedia">
            <a:extLst>
              <a:ext uri="{FF2B5EF4-FFF2-40B4-BE49-F238E27FC236}">
                <a16:creationId xmlns:a16="http://schemas.microsoft.com/office/drawing/2014/main" id="{28C62206-7615-7D17-EA7E-234AA695E7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2451" y="1397445"/>
            <a:ext cx="2572480" cy="2367551"/>
          </a:xfrm>
          <a:prstGeom prst="rect">
            <a:avLst/>
          </a:prstGeom>
          <a:noFill/>
          <a:extLst>
            <a:ext uri="{909E8E84-426E-40DD-AFC4-6F175D3DCCD1}">
              <a14:hiddenFill xmlns:a14="http://schemas.microsoft.com/office/drawing/2010/main">
                <a:solidFill>
                  <a:srgbClr val="FFFFFF"/>
                </a:solidFill>
              </a14:hiddenFill>
            </a:ext>
          </a:extLst>
        </p:spPr>
      </p:pic>
      <p:sp>
        <p:nvSpPr>
          <p:cNvPr id="25" name="Tekstvak 24">
            <a:extLst>
              <a:ext uri="{FF2B5EF4-FFF2-40B4-BE49-F238E27FC236}">
                <a16:creationId xmlns:a16="http://schemas.microsoft.com/office/drawing/2014/main" id="{6974FF55-6CD2-7173-B5CF-89BCA7AFAA6E}"/>
              </a:ext>
            </a:extLst>
          </p:cNvPr>
          <p:cNvSpPr txBox="1"/>
          <p:nvPr/>
        </p:nvSpPr>
        <p:spPr>
          <a:xfrm>
            <a:off x="4551174" y="903959"/>
            <a:ext cx="3584433" cy="400110"/>
          </a:xfrm>
          <a:prstGeom prst="rect">
            <a:avLst/>
          </a:prstGeom>
          <a:noFill/>
        </p:spPr>
        <p:txBody>
          <a:bodyPr wrap="square">
            <a:spAutoFit/>
          </a:bodyPr>
          <a:lstStyle/>
          <a:p>
            <a:pPr algn="ctr"/>
            <a:r>
              <a:rPr lang="en-US" sz="2000" b="0" i="0" u="none" strike="noStrike" dirty="0" err="1">
                <a:solidFill>
                  <a:srgbClr val="000000"/>
                </a:solidFill>
                <a:effectLst/>
                <a:latin typeface="Arial" panose="020B0604020202020204" pitchFamily="34" charset="0"/>
              </a:rPr>
              <a:t>Jupyter</a:t>
            </a:r>
            <a:r>
              <a:rPr lang="en-US" sz="2000" b="0" i="0" u="none" strike="noStrike" dirty="0">
                <a:solidFill>
                  <a:srgbClr val="000000"/>
                </a:solidFill>
                <a:effectLst/>
                <a:latin typeface="Arial" panose="020B0604020202020204" pitchFamily="34" charset="0"/>
              </a:rPr>
              <a:t> Notebook</a:t>
            </a:r>
            <a:endParaRPr lang="nl-NL" sz="2000" dirty="0"/>
          </a:p>
        </p:txBody>
      </p:sp>
      <p:cxnSp>
        <p:nvCxnSpPr>
          <p:cNvPr id="26" name="Straight Connector 10">
            <a:extLst>
              <a:ext uri="{FF2B5EF4-FFF2-40B4-BE49-F238E27FC236}">
                <a16:creationId xmlns:a16="http://schemas.microsoft.com/office/drawing/2014/main" id="{11C7DA51-1F29-8D78-E2DE-5212D70B78FA}"/>
              </a:ext>
            </a:extLst>
          </p:cNvPr>
          <p:cNvCxnSpPr>
            <a:cxnSpLocks/>
          </p:cNvCxnSpPr>
          <p:nvPr/>
        </p:nvCxnSpPr>
        <p:spPr>
          <a:xfrm flipV="1">
            <a:off x="8200869" y="812800"/>
            <a:ext cx="0" cy="604520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27" name="Tekstvak 26">
            <a:extLst>
              <a:ext uri="{FF2B5EF4-FFF2-40B4-BE49-F238E27FC236}">
                <a16:creationId xmlns:a16="http://schemas.microsoft.com/office/drawing/2014/main" id="{1BD25CCD-F47E-3A2E-7639-62107865F46E}"/>
              </a:ext>
            </a:extLst>
          </p:cNvPr>
          <p:cNvSpPr txBox="1"/>
          <p:nvPr/>
        </p:nvSpPr>
        <p:spPr>
          <a:xfrm>
            <a:off x="8266127" y="903959"/>
            <a:ext cx="3925873" cy="400110"/>
          </a:xfrm>
          <a:prstGeom prst="rect">
            <a:avLst/>
          </a:prstGeom>
          <a:noFill/>
        </p:spPr>
        <p:txBody>
          <a:bodyPr wrap="square">
            <a:spAutoFit/>
          </a:bodyPr>
          <a:lstStyle/>
          <a:p>
            <a:pPr algn="ctr"/>
            <a:r>
              <a:rPr lang="en-US" sz="2000" b="0" i="0" u="none" strike="noStrike" dirty="0">
                <a:solidFill>
                  <a:srgbClr val="000000"/>
                </a:solidFill>
                <a:effectLst/>
                <a:latin typeface="Arial" panose="020B0604020202020204" pitchFamily="34" charset="0"/>
              </a:rPr>
              <a:t>Visual Studio Code</a:t>
            </a:r>
            <a:endParaRPr lang="nl-NL" sz="2000" dirty="0"/>
          </a:p>
        </p:txBody>
      </p:sp>
      <p:pic>
        <p:nvPicPr>
          <p:cNvPr id="29" name="Afbeelding 28">
            <a:extLst>
              <a:ext uri="{FF2B5EF4-FFF2-40B4-BE49-F238E27FC236}">
                <a16:creationId xmlns:a16="http://schemas.microsoft.com/office/drawing/2014/main" id="{F98B255F-B83F-1CB2-F5CE-0A695773E788}"/>
              </a:ext>
            </a:extLst>
          </p:cNvPr>
          <p:cNvPicPr>
            <a:picLocks noChangeAspect="1"/>
          </p:cNvPicPr>
          <p:nvPr/>
        </p:nvPicPr>
        <p:blipFill>
          <a:blip r:embed="rId5"/>
          <a:stretch>
            <a:fillRect/>
          </a:stretch>
        </p:blipFill>
        <p:spPr>
          <a:xfrm>
            <a:off x="8676808" y="1444598"/>
            <a:ext cx="3071799" cy="2320398"/>
          </a:xfrm>
          <a:prstGeom prst="rect">
            <a:avLst/>
          </a:prstGeom>
        </p:spPr>
      </p:pic>
      <p:sp>
        <p:nvSpPr>
          <p:cNvPr id="31" name="Tekstvak 30">
            <a:extLst>
              <a:ext uri="{FF2B5EF4-FFF2-40B4-BE49-F238E27FC236}">
                <a16:creationId xmlns:a16="http://schemas.microsoft.com/office/drawing/2014/main" id="{EDA17099-AB3D-773B-2896-6DBBF0DF505D}"/>
              </a:ext>
            </a:extLst>
          </p:cNvPr>
          <p:cNvSpPr txBox="1"/>
          <p:nvPr/>
        </p:nvSpPr>
        <p:spPr>
          <a:xfrm>
            <a:off x="934586" y="3764996"/>
            <a:ext cx="3490529" cy="3139321"/>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213343"/>
                </a:solidFill>
                <a:latin typeface="Arial" panose="020B0604020202020204" pitchFamily="34" charset="0"/>
                <a:cs typeface="Arial" panose="020B0604020202020204" pitchFamily="34" charset="0"/>
              </a:rPr>
              <a:t>Anno 2026 de </a:t>
            </a:r>
            <a:r>
              <a:rPr lang="en-US" dirty="0" err="1">
                <a:solidFill>
                  <a:srgbClr val="213343"/>
                </a:solidFill>
                <a:latin typeface="Arial" panose="020B0604020202020204" pitchFamily="34" charset="0"/>
                <a:cs typeface="Arial" panose="020B0604020202020204" pitchFamily="34" charset="0"/>
              </a:rPr>
              <a:t>meest</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gebruikte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scripttaal</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voor</a:t>
            </a:r>
            <a:r>
              <a:rPr lang="en-US" dirty="0">
                <a:solidFill>
                  <a:srgbClr val="213343"/>
                </a:solidFill>
                <a:latin typeface="Arial" panose="020B0604020202020204" pitchFamily="34" charset="0"/>
                <a:cs typeface="Arial" panose="020B0604020202020204" pitchFamily="34" charset="0"/>
              </a:rPr>
              <a:t> Data Science.</a:t>
            </a:r>
          </a:p>
          <a:p>
            <a:pPr marL="285750" indent="-285750">
              <a:buFont typeface="Arial" panose="020B0604020202020204" pitchFamily="34" charset="0"/>
              <a:buChar char="•"/>
            </a:pPr>
            <a:r>
              <a:rPr lang="en-US" dirty="0" err="1">
                <a:solidFill>
                  <a:srgbClr val="213343"/>
                </a:solidFill>
                <a:latin typeface="Arial" panose="020B0604020202020204" pitchFamily="34" charset="0"/>
                <a:cs typeface="Arial" panose="020B0604020202020204" pitchFamily="34" charset="0"/>
              </a:rPr>
              <a:t>Relatief</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simpele</a:t>
            </a:r>
            <a:r>
              <a:rPr lang="en-US" dirty="0">
                <a:solidFill>
                  <a:srgbClr val="213343"/>
                </a:solidFill>
                <a:latin typeface="Arial" panose="020B0604020202020204" pitchFamily="34" charset="0"/>
                <a:cs typeface="Arial" panose="020B0604020202020204" pitchFamily="34" charset="0"/>
              </a:rPr>
              <a:t> syntax: print(“Hello World”). Klassen </a:t>
            </a:r>
            <a:r>
              <a:rPr lang="en-US" dirty="0" err="1">
                <a:solidFill>
                  <a:srgbClr val="213343"/>
                </a:solidFill>
                <a:latin typeface="Arial" panose="020B0604020202020204" pitchFamily="34" charset="0"/>
                <a:cs typeface="Arial" panose="020B0604020202020204" pitchFamily="34" charset="0"/>
              </a:rPr>
              <a:t>zijn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mogelijk</a:t>
            </a:r>
            <a:r>
              <a:rPr lang="en-US" dirty="0">
                <a:solidFill>
                  <a:srgbClr val="213343"/>
                </a:solidFill>
                <a:latin typeface="Arial" panose="020B0604020202020204" pitchFamily="34" charset="0"/>
                <a:cs typeface="Arial" panose="020B0604020202020204" pitchFamily="34" charset="0"/>
              </a:rPr>
              <a:t>, maar </a:t>
            </a:r>
            <a:r>
              <a:rPr lang="en-US" dirty="0" err="1">
                <a:solidFill>
                  <a:srgbClr val="213343"/>
                </a:solidFill>
                <a:latin typeface="Arial" panose="020B0604020202020204" pitchFamily="34" charset="0"/>
                <a:cs typeface="Arial" panose="020B0604020202020204" pitchFamily="34" charset="0"/>
              </a:rPr>
              <a:t>niet</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noodzakelijk</a:t>
            </a:r>
            <a:r>
              <a:rPr lang="en-US" dirty="0">
                <a:solidFill>
                  <a:srgbClr val="213343"/>
                </a:solidFill>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a:solidFill>
                  <a:srgbClr val="213343"/>
                </a:solidFill>
                <a:latin typeface="Arial" panose="020B0604020202020204" pitchFamily="34" charset="0"/>
                <a:cs typeface="Arial" panose="020B0604020202020204" pitchFamily="34" charset="0"/>
              </a:rPr>
              <a:t>Python is </a:t>
            </a:r>
            <a:r>
              <a:rPr lang="en-US" dirty="0" err="1">
                <a:solidFill>
                  <a:srgbClr val="213343"/>
                </a:solidFill>
                <a:latin typeface="Arial" panose="020B0604020202020204" pitchFamily="34" charset="0"/>
                <a:cs typeface="Arial" panose="020B0604020202020204" pitchFamily="34" charset="0"/>
              </a:rPr>
              <a:t>een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scripttaal</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coderegels</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worden</a:t>
            </a:r>
            <a:r>
              <a:rPr lang="en-US" dirty="0">
                <a:solidFill>
                  <a:srgbClr val="213343"/>
                </a:solidFill>
                <a:latin typeface="Arial" panose="020B0604020202020204" pitchFamily="34" charset="0"/>
                <a:cs typeface="Arial" panose="020B0604020202020204" pitchFamily="34" charset="0"/>
              </a:rPr>
              <a:t> direct </a:t>
            </a:r>
            <a:r>
              <a:rPr lang="en-US" dirty="0" err="1">
                <a:solidFill>
                  <a:srgbClr val="213343"/>
                </a:solidFill>
                <a:latin typeface="Arial" panose="020B0604020202020204" pitchFamily="34" charset="0"/>
                <a:cs typeface="Arial" panose="020B0604020202020204" pitchFamily="34" charset="0"/>
              </a:rPr>
              <a:t>uitgevoerd</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zonder</a:t>
            </a:r>
            <a:r>
              <a:rPr lang="en-US" dirty="0">
                <a:solidFill>
                  <a:srgbClr val="213343"/>
                </a:solidFill>
                <a:latin typeface="Arial" panose="020B0604020202020204" pitchFamily="34" charset="0"/>
                <a:cs typeface="Arial" panose="020B0604020202020204" pitchFamily="34" charset="0"/>
              </a:rPr>
              <a:t> ze </a:t>
            </a:r>
            <a:r>
              <a:rPr lang="en-US" dirty="0" err="1">
                <a:solidFill>
                  <a:srgbClr val="213343"/>
                </a:solidFill>
                <a:latin typeface="Arial" panose="020B0604020202020204" pitchFamily="34" charset="0"/>
                <a:cs typeface="Arial" panose="020B0604020202020204" pitchFamily="34" charset="0"/>
              </a:rPr>
              <a:t>eerst</a:t>
            </a:r>
            <a:r>
              <a:rPr lang="en-US" dirty="0">
                <a:solidFill>
                  <a:srgbClr val="213343"/>
                </a:solidFill>
                <a:latin typeface="Arial" panose="020B0604020202020204" pitchFamily="34" charset="0"/>
                <a:cs typeface="Arial" panose="020B0604020202020204" pitchFamily="34" charset="0"/>
              </a:rPr>
              <a:t> in </a:t>
            </a:r>
            <a:r>
              <a:rPr lang="en-US" dirty="0" err="1">
                <a:solidFill>
                  <a:srgbClr val="213343"/>
                </a:solidFill>
                <a:latin typeface="Arial" panose="020B0604020202020204" pitchFamily="34" charset="0"/>
                <a:cs typeface="Arial" panose="020B0604020202020204" pitchFamily="34" charset="0"/>
              </a:rPr>
              <a:t>machinecode</a:t>
            </a:r>
            <a:r>
              <a:rPr lang="en-US" dirty="0">
                <a:solidFill>
                  <a:srgbClr val="213343"/>
                </a:solidFill>
                <a:latin typeface="Arial" panose="020B0604020202020204" pitchFamily="34" charset="0"/>
                <a:cs typeface="Arial" panose="020B0604020202020204" pitchFamily="34" charset="0"/>
              </a:rPr>
              <a:t> om </a:t>
            </a:r>
            <a:r>
              <a:rPr lang="en-US" dirty="0" err="1">
                <a:solidFill>
                  <a:srgbClr val="213343"/>
                </a:solidFill>
                <a:latin typeface="Arial" panose="020B0604020202020204" pitchFamily="34" charset="0"/>
                <a:cs typeface="Arial" panose="020B0604020202020204" pitchFamily="34" charset="0"/>
              </a:rPr>
              <a:t>te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zetten</a:t>
            </a:r>
            <a:r>
              <a:rPr lang="en-US" dirty="0">
                <a:solidFill>
                  <a:srgbClr val="213343"/>
                </a:solidFill>
                <a:latin typeface="Arial" panose="020B0604020202020204" pitchFamily="34" charset="0"/>
                <a:cs typeface="Arial" panose="020B0604020202020204" pitchFamily="34" charset="0"/>
              </a:rPr>
              <a:t>.</a:t>
            </a:r>
          </a:p>
        </p:txBody>
      </p:sp>
      <p:sp>
        <p:nvSpPr>
          <p:cNvPr id="32" name="Tekstvak 31">
            <a:extLst>
              <a:ext uri="{FF2B5EF4-FFF2-40B4-BE49-F238E27FC236}">
                <a16:creationId xmlns:a16="http://schemas.microsoft.com/office/drawing/2014/main" id="{DF5702E7-32D4-7529-D467-8BDEF5CDCE4C}"/>
              </a:ext>
            </a:extLst>
          </p:cNvPr>
          <p:cNvSpPr txBox="1"/>
          <p:nvPr/>
        </p:nvSpPr>
        <p:spPr>
          <a:xfrm>
            <a:off x="4595152" y="4461839"/>
            <a:ext cx="3490529" cy="2308324"/>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dirty="0" err="1">
                <a:solidFill>
                  <a:srgbClr val="213343"/>
                </a:solidFill>
                <a:latin typeface="Arial" panose="020B0604020202020204" pitchFamily="34" charset="0"/>
                <a:cs typeface="Arial" panose="020B0604020202020204" pitchFamily="34" charset="0"/>
              </a:rPr>
              <a:t>Veelgebruikte</a:t>
            </a:r>
            <a:r>
              <a:rPr lang="en-US" dirty="0">
                <a:solidFill>
                  <a:srgbClr val="213343"/>
                </a:solidFill>
                <a:latin typeface="Arial" panose="020B0604020202020204" pitchFamily="34" charset="0"/>
                <a:cs typeface="Arial" panose="020B0604020202020204" pitchFamily="34" charset="0"/>
              </a:rPr>
              <a:t> Python-</a:t>
            </a:r>
            <a:r>
              <a:rPr lang="en-US" dirty="0" err="1">
                <a:solidFill>
                  <a:srgbClr val="213343"/>
                </a:solidFill>
                <a:latin typeface="Arial" panose="020B0604020202020204" pitchFamily="34" charset="0"/>
                <a:cs typeface="Arial" panose="020B0604020202020204" pitchFamily="34" charset="0"/>
              </a:rPr>
              <a:t>ontwikkelomgeving</a:t>
            </a:r>
            <a:r>
              <a:rPr lang="en-US" dirty="0">
                <a:solidFill>
                  <a:srgbClr val="213343"/>
                </a:solidFill>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a:solidFill>
                  <a:srgbClr val="213343"/>
                </a:solidFill>
                <a:latin typeface="Arial"/>
                <a:cs typeface="Arial"/>
              </a:rPr>
              <a:t>Cellulaire </a:t>
            </a:r>
            <a:r>
              <a:rPr lang="en-US" dirty="0" err="1">
                <a:solidFill>
                  <a:srgbClr val="213343"/>
                </a:solidFill>
                <a:latin typeface="Arial"/>
                <a:cs typeface="Arial"/>
              </a:rPr>
              <a:t>structuur</a:t>
            </a:r>
            <a:r>
              <a:rPr lang="en-US" dirty="0">
                <a:solidFill>
                  <a:srgbClr val="213343"/>
                </a:solidFill>
                <a:latin typeface="Arial"/>
                <a:cs typeface="Arial"/>
              </a:rPr>
              <a:t>: </a:t>
            </a:r>
            <a:r>
              <a:rPr lang="en-US" dirty="0" err="1">
                <a:solidFill>
                  <a:srgbClr val="213343"/>
                </a:solidFill>
                <a:latin typeface="Arial"/>
                <a:cs typeface="Arial"/>
              </a:rPr>
              <a:t>opbouw</a:t>
            </a:r>
            <a:r>
              <a:rPr lang="en-US" dirty="0">
                <a:solidFill>
                  <a:srgbClr val="213343"/>
                </a:solidFill>
                <a:latin typeface="Arial"/>
                <a:cs typeface="Arial"/>
              </a:rPr>
              <a:t> </a:t>
            </a:r>
            <a:r>
              <a:rPr lang="en-US" dirty="0" err="1">
                <a:solidFill>
                  <a:srgbClr val="213343"/>
                </a:solidFill>
                <a:latin typeface="Arial"/>
                <a:cs typeface="Arial"/>
              </a:rPr>
              <a:t>uit</a:t>
            </a:r>
            <a:r>
              <a:rPr lang="en-US" dirty="0">
                <a:solidFill>
                  <a:srgbClr val="213343"/>
                </a:solidFill>
                <a:latin typeface="Arial"/>
                <a:cs typeface="Arial"/>
              </a:rPr>
              <a:t> code- </a:t>
            </a:r>
            <a:r>
              <a:rPr lang="en-US" dirty="0" err="1">
                <a:solidFill>
                  <a:srgbClr val="213343"/>
                </a:solidFill>
                <a:latin typeface="Arial"/>
                <a:cs typeface="Arial"/>
              </a:rPr>
              <a:t>en</a:t>
            </a:r>
            <a:r>
              <a:rPr lang="en-US" dirty="0">
                <a:solidFill>
                  <a:srgbClr val="213343"/>
                </a:solidFill>
                <a:latin typeface="Arial"/>
                <a:cs typeface="Arial"/>
              </a:rPr>
              <a:t> </a:t>
            </a:r>
            <a:r>
              <a:rPr lang="en-US" dirty="0" err="1">
                <a:solidFill>
                  <a:srgbClr val="213343"/>
                </a:solidFill>
                <a:latin typeface="Arial"/>
                <a:cs typeface="Arial"/>
              </a:rPr>
              <a:t>markdowncellen</a:t>
            </a:r>
            <a:r>
              <a:rPr lang="en-US" dirty="0">
                <a:solidFill>
                  <a:srgbClr val="213343"/>
                </a:solidFill>
                <a:latin typeface="Arial"/>
                <a:cs typeface="Arial"/>
              </a:rPr>
              <a:t>. Code </a:t>
            </a:r>
            <a:r>
              <a:rPr lang="en-US" dirty="0" err="1">
                <a:solidFill>
                  <a:srgbClr val="213343"/>
                </a:solidFill>
                <a:latin typeface="Arial"/>
                <a:cs typeface="Arial"/>
              </a:rPr>
              <a:t>kan</a:t>
            </a:r>
            <a:r>
              <a:rPr lang="en-US" dirty="0">
                <a:solidFill>
                  <a:srgbClr val="213343"/>
                </a:solidFill>
                <a:latin typeface="Arial"/>
                <a:cs typeface="Arial"/>
              </a:rPr>
              <a:t> </a:t>
            </a:r>
            <a:r>
              <a:rPr lang="en-US" dirty="0" err="1">
                <a:solidFill>
                  <a:srgbClr val="213343"/>
                </a:solidFill>
                <a:latin typeface="Arial"/>
                <a:cs typeface="Arial"/>
              </a:rPr>
              <a:t>stapsgewijs</a:t>
            </a:r>
            <a:r>
              <a:rPr lang="en-US" dirty="0">
                <a:solidFill>
                  <a:srgbClr val="213343"/>
                </a:solidFill>
                <a:latin typeface="Arial"/>
                <a:cs typeface="Arial"/>
              </a:rPr>
              <a:t> </a:t>
            </a:r>
            <a:r>
              <a:rPr lang="en-US" dirty="0" err="1">
                <a:solidFill>
                  <a:srgbClr val="213343"/>
                </a:solidFill>
                <a:latin typeface="Arial"/>
                <a:cs typeface="Arial"/>
              </a:rPr>
              <a:t>doorlopen</a:t>
            </a:r>
            <a:r>
              <a:rPr lang="en-US" dirty="0">
                <a:solidFill>
                  <a:srgbClr val="213343"/>
                </a:solidFill>
                <a:latin typeface="Arial"/>
                <a:cs typeface="Arial"/>
              </a:rPr>
              <a:t> </a:t>
            </a:r>
            <a:r>
              <a:rPr lang="en-US" dirty="0" err="1">
                <a:solidFill>
                  <a:srgbClr val="213343"/>
                </a:solidFill>
                <a:latin typeface="Arial"/>
                <a:cs typeface="Arial"/>
              </a:rPr>
              <a:t>worden</a:t>
            </a:r>
            <a:r>
              <a:rPr lang="en-US" dirty="0">
                <a:solidFill>
                  <a:srgbClr val="213343"/>
                </a:solidFill>
                <a:latin typeface="Arial"/>
                <a:cs typeface="Arial"/>
              </a:rPr>
              <a:t> </a:t>
            </a:r>
            <a:r>
              <a:rPr lang="en-US" dirty="0" err="1">
                <a:solidFill>
                  <a:srgbClr val="213343"/>
                </a:solidFill>
                <a:latin typeface="Arial"/>
                <a:cs typeface="Arial"/>
              </a:rPr>
              <a:t>zonder</a:t>
            </a:r>
            <a:r>
              <a:rPr lang="en-US" dirty="0">
                <a:solidFill>
                  <a:srgbClr val="213343"/>
                </a:solidFill>
                <a:latin typeface="Arial"/>
                <a:cs typeface="Arial"/>
              </a:rPr>
              <a:t> breakpoints </a:t>
            </a:r>
            <a:r>
              <a:rPr lang="en-US" dirty="0" err="1">
                <a:solidFill>
                  <a:srgbClr val="213343"/>
                </a:solidFill>
                <a:latin typeface="Arial"/>
                <a:cs typeface="Arial"/>
              </a:rPr>
              <a:t>te</a:t>
            </a:r>
            <a:r>
              <a:rPr lang="en-US" dirty="0">
                <a:solidFill>
                  <a:srgbClr val="213343"/>
                </a:solidFill>
                <a:latin typeface="Arial"/>
                <a:cs typeface="Arial"/>
              </a:rPr>
              <a:t> </a:t>
            </a:r>
            <a:r>
              <a:rPr lang="en-US" dirty="0" err="1">
                <a:solidFill>
                  <a:srgbClr val="213343"/>
                </a:solidFill>
                <a:latin typeface="Arial"/>
                <a:cs typeface="Arial"/>
              </a:rPr>
              <a:t>plaatsen</a:t>
            </a:r>
            <a:r>
              <a:rPr lang="en-US" dirty="0">
                <a:solidFill>
                  <a:srgbClr val="213343"/>
                </a:solidFill>
                <a:latin typeface="Arial"/>
                <a:cs typeface="Arial"/>
              </a:rPr>
              <a:t>.</a:t>
            </a:r>
          </a:p>
          <a:p>
            <a:pPr marL="285750" indent="-285750">
              <a:buFont typeface="Arial" panose="020B0604020202020204" pitchFamily="34" charset="0"/>
              <a:buChar char="•"/>
            </a:pPr>
            <a:r>
              <a:rPr lang="en-US" dirty="0" err="1">
                <a:solidFill>
                  <a:srgbClr val="213343"/>
                </a:solidFill>
                <a:latin typeface="Arial"/>
                <a:cs typeface="Arial"/>
              </a:rPr>
              <a:t>Bestandsextensie</a:t>
            </a:r>
            <a:r>
              <a:rPr lang="en-US" dirty="0">
                <a:solidFill>
                  <a:srgbClr val="213343"/>
                </a:solidFill>
                <a:latin typeface="Arial"/>
                <a:cs typeface="Arial"/>
              </a:rPr>
              <a:t>: .</a:t>
            </a:r>
            <a:r>
              <a:rPr lang="en-US" dirty="0" err="1">
                <a:solidFill>
                  <a:srgbClr val="213343"/>
                </a:solidFill>
                <a:latin typeface="Arial"/>
                <a:cs typeface="Arial"/>
              </a:rPr>
              <a:t>ipynb</a:t>
            </a:r>
            <a:endParaRPr lang="en-US" dirty="0" err="1">
              <a:solidFill>
                <a:srgbClr val="213343"/>
              </a:solidFill>
              <a:latin typeface="Arial" panose="020B0604020202020204" pitchFamily="34" charset="0"/>
              <a:cs typeface="Arial" panose="020B0604020202020204" pitchFamily="34" charset="0"/>
            </a:endParaRPr>
          </a:p>
        </p:txBody>
      </p:sp>
      <p:sp>
        <p:nvSpPr>
          <p:cNvPr id="33" name="Tekstvak 32">
            <a:extLst>
              <a:ext uri="{FF2B5EF4-FFF2-40B4-BE49-F238E27FC236}">
                <a16:creationId xmlns:a16="http://schemas.microsoft.com/office/drawing/2014/main" id="{20E30B82-D7A5-DE41-DEA4-AD1386F2F804}"/>
              </a:ext>
            </a:extLst>
          </p:cNvPr>
          <p:cNvSpPr txBox="1"/>
          <p:nvPr/>
        </p:nvSpPr>
        <p:spPr>
          <a:xfrm>
            <a:off x="8428834" y="4661864"/>
            <a:ext cx="3490529" cy="2031325"/>
          </a:xfrm>
          <a:prstGeom prst="rect">
            <a:avLst/>
          </a:prstGeom>
          <a:noFill/>
        </p:spPr>
        <p:txBody>
          <a:bodyPr wrap="square">
            <a:spAutoFit/>
          </a:bodyPr>
          <a:lstStyle/>
          <a:p>
            <a:pPr marL="285750" indent="-285750">
              <a:buFont typeface="Arial" panose="020B0604020202020204" pitchFamily="34" charset="0"/>
              <a:buChar char="•"/>
            </a:pPr>
            <a:r>
              <a:rPr lang="en-US" dirty="0" err="1">
                <a:solidFill>
                  <a:srgbClr val="213343"/>
                </a:solidFill>
                <a:latin typeface="Arial" panose="020B0604020202020204" pitchFamily="34" charset="0"/>
                <a:cs typeface="Arial" panose="020B0604020202020204" pitchFamily="34" charset="0"/>
              </a:rPr>
              <a:t>Veelgebruikte</a:t>
            </a:r>
            <a:r>
              <a:rPr lang="en-US" dirty="0">
                <a:solidFill>
                  <a:srgbClr val="213343"/>
                </a:solidFill>
                <a:latin typeface="Arial" panose="020B0604020202020204" pitchFamily="34" charset="0"/>
                <a:cs typeface="Arial" panose="020B0604020202020204" pitchFamily="34" charset="0"/>
              </a:rPr>
              <a:t> IDE (</a:t>
            </a:r>
            <a:r>
              <a:rPr lang="en-US" dirty="0" err="1">
                <a:solidFill>
                  <a:srgbClr val="213343"/>
                </a:solidFill>
                <a:latin typeface="Arial" panose="020B0604020202020204" pitchFamily="34" charset="0"/>
                <a:cs typeface="Arial" panose="020B0604020202020204" pitchFamily="34" charset="0"/>
              </a:rPr>
              <a:t>ook</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toegepast</a:t>
            </a:r>
            <a:r>
              <a:rPr lang="en-US" dirty="0">
                <a:solidFill>
                  <a:srgbClr val="213343"/>
                </a:solidFill>
                <a:latin typeface="Arial" panose="020B0604020202020204" pitchFamily="34" charset="0"/>
                <a:cs typeface="Arial" panose="020B0604020202020204" pitchFamily="34" charset="0"/>
              </a:rPr>
              <a:t> in SEM3).</a:t>
            </a:r>
          </a:p>
          <a:p>
            <a:pPr marL="285750" indent="-285750">
              <a:buFont typeface="Arial" panose="020B0604020202020204" pitchFamily="34" charset="0"/>
              <a:buChar char="•"/>
            </a:pPr>
            <a:r>
              <a:rPr lang="en-US" dirty="0">
                <a:solidFill>
                  <a:srgbClr val="213343"/>
                </a:solidFill>
                <a:latin typeface="Arial" panose="020B0604020202020204" pitchFamily="34" charset="0"/>
                <a:cs typeface="Arial" panose="020B0604020202020204" pitchFamily="34" charset="0"/>
              </a:rPr>
              <a:t>Goede </a:t>
            </a:r>
            <a:r>
              <a:rPr lang="en-US" dirty="0" err="1">
                <a:solidFill>
                  <a:srgbClr val="213343"/>
                </a:solidFill>
                <a:latin typeface="Arial" panose="020B0604020202020204" pitchFamily="34" charset="0"/>
                <a:cs typeface="Arial" panose="020B0604020202020204" pitchFamily="34" charset="0"/>
              </a:rPr>
              <a:t>integratie</a:t>
            </a:r>
            <a:r>
              <a:rPr lang="en-US" dirty="0">
                <a:solidFill>
                  <a:srgbClr val="213343"/>
                </a:solidFill>
                <a:latin typeface="Arial" panose="020B0604020202020204" pitchFamily="34" charset="0"/>
                <a:cs typeface="Arial" panose="020B0604020202020204" pitchFamily="34" charset="0"/>
              </a:rPr>
              <a:t> met </a:t>
            </a:r>
            <a:r>
              <a:rPr lang="en-US" dirty="0" err="1">
                <a:solidFill>
                  <a:srgbClr val="213343"/>
                </a:solidFill>
                <a:latin typeface="Arial" panose="020B0604020202020204" pitchFamily="34" charset="0"/>
                <a:cs typeface="Arial" panose="020B0604020202020204" pitchFamily="34" charset="0"/>
              </a:rPr>
              <a:t>Jupyter</a:t>
            </a:r>
            <a:r>
              <a:rPr lang="en-US" dirty="0">
                <a:solidFill>
                  <a:srgbClr val="213343"/>
                </a:solidFill>
                <a:latin typeface="Arial" panose="020B0604020202020204" pitchFamily="34" charset="0"/>
                <a:cs typeface="Arial" panose="020B0604020202020204" pitchFamily="34" charset="0"/>
              </a:rPr>
              <a:t> Notebook (met de </a:t>
            </a:r>
            <a:r>
              <a:rPr lang="en-US" dirty="0" err="1">
                <a:solidFill>
                  <a:srgbClr val="213343"/>
                </a:solidFill>
                <a:latin typeface="Arial" panose="020B0604020202020204" pitchFamily="34" charset="0"/>
                <a:cs typeface="Arial" panose="020B0604020202020204" pitchFamily="34" charset="0"/>
              </a:rPr>
              <a:t>installeerbare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Jupyter</a:t>
            </a:r>
            <a:r>
              <a:rPr lang="en-US" dirty="0">
                <a:solidFill>
                  <a:srgbClr val="213343"/>
                </a:solidFill>
                <a:latin typeface="Arial" panose="020B0604020202020204" pitchFamily="34" charset="0"/>
                <a:cs typeface="Arial" panose="020B0604020202020204" pitchFamily="34" charset="0"/>
              </a:rPr>
              <a:t> Notebook Extension”).</a:t>
            </a:r>
          </a:p>
          <a:p>
            <a:pPr marL="285750" indent="-285750">
              <a:buFont typeface="Arial" panose="020B0604020202020204" pitchFamily="34" charset="0"/>
              <a:buChar char="•"/>
            </a:pPr>
            <a:r>
              <a:rPr lang="en-US" dirty="0">
                <a:solidFill>
                  <a:srgbClr val="213343"/>
                </a:solidFill>
                <a:latin typeface="Arial" panose="020B0604020202020204" pitchFamily="34" charset="0"/>
                <a:cs typeface="Arial" panose="020B0604020202020204" pitchFamily="34" charset="0"/>
              </a:rPr>
              <a:t>Goede </a:t>
            </a:r>
            <a:r>
              <a:rPr lang="en-US" dirty="0" err="1">
                <a:solidFill>
                  <a:srgbClr val="213343"/>
                </a:solidFill>
                <a:latin typeface="Arial" panose="020B0604020202020204" pitchFamily="34" charset="0"/>
                <a:cs typeface="Arial" panose="020B0604020202020204" pitchFamily="34" charset="0"/>
              </a:rPr>
              <a:t>integratie</a:t>
            </a:r>
            <a:r>
              <a:rPr lang="en-US" dirty="0">
                <a:solidFill>
                  <a:srgbClr val="213343"/>
                </a:solidFill>
                <a:latin typeface="Arial" panose="020B0604020202020204" pitchFamily="34" charset="0"/>
                <a:cs typeface="Arial" panose="020B0604020202020204" pitchFamily="34" charset="0"/>
              </a:rPr>
              <a:t> met git.</a:t>
            </a:r>
          </a:p>
        </p:txBody>
      </p:sp>
    </p:spTree>
    <p:extLst>
      <p:ext uri="{BB962C8B-B14F-4D97-AF65-F5344CB8AC3E}">
        <p14:creationId xmlns:p14="http://schemas.microsoft.com/office/powerpoint/2010/main" val="377259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1028"/>
                                        </p:tgtEl>
                                        <p:attrNameLst>
                                          <p:attrName>style.visibility</p:attrName>
                                        </p:attrNameLst>
                                      </p:cBhvr>
                                      <p:to>
                                        <p:strVal val="visible"/>
                                      </p:to>
                                    </p:set>
                                    <p:animEffect transition="in" filter="fade">
                                      <p:cBhvr>
                                        <p:cTn id="10" dur="500"/>
                                        <p:tgtEl>
                                          <p:spTgt spid="10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par>
                                <p:cTn id="19" presetID="10"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kstvak 7">
            <a:extLst>
              <a:ext uri="{FF2B5EF4-FFF2-40B4-BE49-F238E27FC236}">
                <a16:creationId xmlns:a16="http://schemas.microsoft.com/office/drawing/2014/main" id="{BA269D03-4CD4-A824-783F-AFAA660F0E45}"/>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7" name="TextBox 1">
            <a:extLst>
              <a:ext uri="{FF2B5EF4-FFF2-40B4-BE49-F238E27FC236}">
                <a16:creationId xmlns:a16="http://schemas.microsoft.com/office/drawing/2014/main" id="{E0E66AFB-DF6F-DB65-946D-3F73E052EE22}"/>
              </a:ext>
            </a:extLst>
          </p:cNvPr>
          <p:cNvSpPr txBox="1"/>
          <p:nvPr/>
        </p:nvSpPr>
        <p:spPr>
          <a:xfrm>
            <a:off x="2777658" y="-10754"/>
            <a:ext cx="8144447"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Backwards compatibility: </a:t>
            </a:r>
            <a:r>
              <a:rPr lang="en-US" sz="3000" b="1" dirty="0" err="1">
                <a:solidFill>
                  <a:srgbClr val="829C30"/>
                </a:solidFill>
                <a:latin typeface="Arial"/>
                <a:ea typeface="MS PGothic" charset="0"/>
              </a:rPr>
              <a:t>risico</a:t>
            </a:r>
            <a:endParaRPr lang="en-US" sz="3000" b="1" dirty="0">
              <a:solidFill>
                <a:srgbClr val="829C30"/>
              </a:solidFill>
              <a:latin typeface="Arial"/>
              <a:ea typeface="MS PGothic" charset="0"/>
            </a:endParaRPr>
          </a:p>
        </p:txBody>
      </p:sp>
      <p:cxnSp>
        <p:nvCxnSpPr>
          <p:cNvPr id="8" name="Straight Connector 10">
            <a:extLst>
              <a:ext uri="{FF2B5EF4-FFF2-40B4-BE49-F238E27FC236}">
                <a16:creationId xmlns:a16="http://schemas.microsoft.com/office/drawing/2014/main" id="{A262CF38-BB42-BEB5-C710-06267CB16BFA}"/>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3074" name="Picture 2" descr="Laptop Computer Pc - Gratis afbeelding op Pixabay - Pixabay">
            <a:extLst>
              <a:ext uri="{FF2B5EF4-FFF2-40B4-BE49-F238E27FC236}">
                <a16:creationId xmlns:a16="http://schemas.microsoft.com/office/drawing/2014/main" id="{1456A819-8633-96F6-FE07-71FDF9243F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0448" y="2183703"/>
            <a:ext cx="3434420" cy="235577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Git full logo transparent PNG - StickPNG">
            <a:extLst>
              <a:ext uri="{FF2B5EF4-FFF2-40B4-BE49-F238E27FC236}">
                <a16:creationId xmlns:a16="http://schemas.microsoft.com/office/drawing/2014/main" id="{EFC79665-CA3F-6950-81E5-10A2E2A071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4816" y="2523245"/>
            <a:ext cx="3293802" cy="190509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Laptop Computer Pc - Gratis afbeelding op Pixabay - Pixabay">
            <a:extLst>
              <a:ext uri="{FF2B5EF4-FFF2-40B4-BE49-F238E27FC236}">
                <a16:creationId xmlns:a16="http://schemas.microsoft.com/office/drawing/2014/main" id="{B8B0E5BB-3561-65AA-2258-EA027F3D01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1169" y="2183703"/>
            <a:ext cx="3434420" cy="2355778"/>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Rechte verbindingslijn met pijl 12">
            <a:extLst>
              <a:ext uri="{FF2B5EF4-FFF2-40B4-BE49-F238E27FC236}">
                <a16:creationId xmlns:a16="http://schemas.microsoft.com/office/drawing/2014/main" id="{4C905E81-CC27-71DD-522E-F47E810237C4}"/>
              </a:ext>
            </a:extLst>
          </p:cNvPr>
          <p:cNvCxnSpPr>
            <a:cxnSpLocks/>
          </p:cNvCxnSpPr>
          <p:nvPr/>
        </p:nvCxnSpPr>
        <p:spPr>
          <a:xfrm flipV="1">
            <a:off x="4437656" y="3273910"/>
            <a:ext cx="1194319" cy="0"/>
          </a:xfrm>
          <a:prstGeom prst="straightConnector1">
            <a:avLst/>
          </a:prstGeom>
          <a:ln w="76200">
            <a:solidFill>
              <a:srgbClr val="829C3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a:extLst>
              <a:ext uri="{FF2B5EF4-FFF2-40B4-BE49-F238E27FC236}">
                <a16:creationId xmlns:a16="http://schemas.microsoft.com/office/drawing/2014/main" id="{1F1371F6-5312-80AF-F1A4-A6ECFDE8F27D}"/>
              </a:ext>
            </a:extLst>
          </p:cNvPr>
          <p:cNvCxnSpPr>
            <a:cxnSpLocks/>
          </p:cNvCxnSpPr>
          <p:nvPr/>
        </p:nvCxnSpPr>
        <p:spPr>
          <a:xfrm flipV="1">
            <a:off x="7599487" y="3273910"/>
            <a:ext cx="119431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1" name="Afbeelding 20">
            <a:extLst>
              <a:ext uri="{FF2B5EF4-FFF2-40B4-BE49-F238E27FC236}">
                <a16:creationId xmlns:a16="http://schemas.microsoft.com/office/drawing/2014/main" id="{C69A06CC-A92E-3120-2EDD-EC645185CE50}"/>
              </a:ext>
            </a:extLst>
          </p:cNvPr>
          <p:cNvPicPr>
            <a:picLocks noChangeAspect="1"/>
          </p:cNvPicPr>
          <p:nvPr/>
        </p:nvPicPr>
        <p:blipFill>
          <a:blip r:embed="rId5"/>
          <a:stretch>
            <a:fillRect/>
          </a:stretch>
        </p:blipFill>
        <p:spPr>
          <a:xfrm>
            <a:off x="1152535" y="4708906"/>
            <a:ext cx="3434419" cy="1727274"/>
          </a:xfrm>
          <a:prstGeom prst="rect">
            <a:avLst/>
          </a:prstGeom>
        </p:spPr>
      </p:pic>
      <p:pic>
        <p:nvPicPr>
          <p:cNvPr id="25" name="Afbeelding 24">
            <a:extLst>
              <a:ext uri="{FF2B5EF4-FFF2-40B4-BE49-F238E27FC236}">
                <a16:creationId xmlns:a16="http://schemas.microsoft.com/office/drawing/2014/main" id="{7F669AAC-82B4-FC37-62E9-F8A7B4022BFF}"/>
              </a:ext>
            </a:extLst>
          </p:cNvPr>
          <p:cNvPicPr>
            <a:picLocks noChangeAspect="1"/>
          </p:cNvPicPr>
          <p:nvPr/>
        </p:nvPicPr>
        <p:blipFill>
          <a:blip r:embed="rId6"/>
          <a:stretch>
            <a:fillRect/>
          </a:stretch>
        </p:blipFill>
        <p:spPr>
          <a:xfrm>
            <a:off x="9285406" y="4708906"/>
            <a:ext cx="2397428" cy="1727275"/>
          </a:xfrm>
          <a:prstGeom prst="rect">
            <a:avLst/>
          </a:prstGeom>
        </p:spPr>
      </p:pic>
      <p:sp>
        <p:nvSpPr>
          <p:cNvPr id="27" name="Tekstvak 26">
            <a:extLst>
              <a:ext uri="{FF2B5EF4-FFF2-40B4-BE49-F238E27FC236}">
                <a16:creationId xmlns:a16="http://schemas.microsoft.com/office/drawing/2014/main" id="{AA2BA045-8B04-6A83-F966-2BA7FE05CB93}"/>
              </a:ext>
            </a:extLst>
          </p:cNvPr>
          <p:cNvSpPr txBox="1"/>
          <p:nvPr/>
        </p:nvSpPr>
        <p:spPr>
          <a:xfrm>
            <a:off x="988290" y="934509"/>
            <a:ext cx="11065141" cy="923330"/>
          </a:xfrm>
          <a:prstGeom prst="rect">
            <a:avLst/>
          </a:prstGeom>
          <a:noFill/>
        </p:spPr>
        <p:txBody>
          <a:bodyPr wrap="square">
            <a:spAutoFit/>
          </a:bodyPr>
          <a:lstStyle/>
          <a:p>
            <a:pPr algn="ctr"/>
            <a:r>
              <a:rPr lang="nl-NL" b="1" dirty="0">
                <a:solidFill>
                  <a:srgbClr val="FF0000"/>
                </a:solidFill>
              </a:rPr>
              <a:t>Pythonrisico:</a:t>
            </a:r>
            <a:r>
              <a:rPr lang="nl-NL" dirty="0">
                <a:solidFill>
                  <a:srgbClr val="FF0000"/>
                </a:solidFill>
              </a:rPr>
              <a:t> tegenvallende </a:t>
            </a:r>
            <a:r>
              <a:rPr lang="nl-NL" dirty="0" err="1">
                <a:solidFill>
                  <a:srgbClr val="FF0000"/>
                </a:solidFill>
              </a:rPr>
              <a:t>backwards</a:t>
            </a:r>
            <a:r>
              <a:rPr lang="nl-NL" dirty="0">
                <a:solidFill>
                  <a:srgbClr val="FF0000"/>
                </a:solidFill>
              </a:rPr>
              <a:t> </a:t>
            </a:r>
            <a:r>
              <a:rPr lang="nl-NL" dirty="0" err="1">
                <a:solidFill>
                  <a:srgbClr val="FF0000"/>
                </a:solidFill>
              </a:rPr>
              <a:t>compatibility</a:t>
            </a:r>
            <a:r>
              <a:rPr lang="nl-NL" dirty="0">
                <a:solidFill>
                  <a:srgbClr val="FF0000"/>
                </a:solidFill>
              </a:rPr>
              <a:t>.</a:t>
            </a:r>
          </a:p>
          <a:p>
            <a:pPr algn="ctr"/>
            <a:r>
              <a:rPr lang="nl-NL" dirty="0">
                <a:solidFill>
                  <a:srgbClr val="FF0000"/>
                </a:solidFill>
              </a:rPr>
              <a:t>Code die met de ene versie is geschreven, wordt niet automatisch ondersteund door de andere versie!</a:t>
            </a:r>
          </a:p>
          <a:p>
            <a:pPr algn="ctr"/>
            <a:r>
              <a:rPr lang="nl-NL" dirty="0">
                <a:solidFill>
                  <a:srgbClr val="FF0000"/>
                </a:solidFill>
              </a:rPr>
              <a:t>Dit geldt zowel voor de Python- als voor de package-versie(s). </a:t>
            </a:r>
            <a:endParaRPr lang="nl-NL" b="1" dirty="0">
              <a:solidFill>
                <a:srgbClr val="FF0000"/>
              </a:solidFill>
            </a:endParaRPr>
          </a:p>
        </p:txBody>
      </p:sp>
    </p:spTree>
    <p:extLst>
      <p:ext uri="{BB962C8B-B14F-4D97-AF65-F5344CB8AC3E}">
        <p14:creationId xmlns:p14="http://schemas.microsoft.com/office/powerpoint/2010/main" val="1171355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3076"/>
                                        </p:tgtEl>
                                        <p:attrNameLst>
                                          <p:attrName>style.visibility</p:attrName>
                                        </p:attrNameLst>
                                      </p:cBhvr>
                                      <p:to>
                                        <p:strVal val="visible"/>
                                      </p:to>
                                    </p:set>
                                    <p:animEffect transition="in" filter="fade">
                                      <p:cBhvr>
                                        <p:cTn id="10" dur="500"/>
                                        <p:tgtEl>
                                          <p:spTgt spid="307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kstvak 7">
            <a:extLst>
              <a:ext uri="{FF2B5EF4-FFF2-40B4-BE49-F238E27FC236}">
                <a16:creationId xmlns:a16="http://schemas.microsoft.com/office/drawing/2014/main" id="{BA269D03-4CD4-A824-783F-AFAA660F0E45}"/>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7" name="TextBox 1">
            <a:extLst>
              <a:ext uri="{FF2B5EF4-FFF2-40B4-BE49-F238E27FC236}">
                <a16:creationId xmlns:a16="http://schemas.microsoft.com/office/drawing/2014/main" id="{E0E66AFB-DF6F-DB65-946D-3F73E052EE22}"/>
              </a:ext>
            </a:extLst>
          </p:cNvPr>
          <p:cNvSpPr txBox="1"/>
          <p:nvPr/>
        </p:nvSpPr>
        <p:spPr>
          <a:xfrm>
            <a:off x="2835163" y="0"/>
            <a:ext cx="8212282"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Backwards compatibility: </a:t>
            </a:r>
            <a:r>
              <a:rPr lang="en-US" sz="3000" b="1" dirty="0" err="1">
                <a:solidFill>
                  <a:srgbClr val="829C30"/>
                </a:solidFill>
                <a:latin typeface="Arial"/>
                <a:ea typeface="MS PGothic" charset="0"/>
              </a:rPr>
              <a:t>risico</a:t>
            </a:r>
            <a:endParaRPr lang="en-US" sz="3000" b="1" dirty="0">
              <a:solidFill>
                <a:srgbClr val="829C30"/>
              </a:solidFill>
              <a:latin typeface="Arial"/>
              <a:ea typeface="MS PGothic" charset="0"/>
            </a:endParaRPr>
          </a:p>
        </p:txBody>
      </p:sp>
      <p:cxnSp>
        <p:nvCxnSpPr>
          <p:cNvPr id="8" name="Straight Connector 10">
            <a:extLst>
              <a:ext uri="{FF2B5EF4-FFF2-40B4-BE49-F238E27FC236}">
                <a16:creationId xmlns:a16="http://schemas.microsoft.com/office/drawing/2014/main" id="{A262CF38-BB42-BEB5-C710-06267CB16BFA}"/>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3074" name="Picture 2" descr="Laptop Computer Pc - Gratis afbeelding op Pixabay - Pixabay">
            <a:extLst>
              <a:ext uri="{FF2B5EF4-FFF2-40B4-BE49-F238E27FC236}">
                <a16:creationId xmlns:a16="http://schemas.microsoft.com/office/drawing/2014/main" id="{1456A819-8633-96F6-FE07-71FDF9243F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0448" y="2183703"/>
            <a:ext cx="3434420" cy="235577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Git full logo transparent PNG - StickPNG">
            <a:extLst>
              <a:ext uri="{FF2B5EF4-FFF2-40B4-BE49-F238E27FC236}">
                <a16:creationId xmlns:a16="http://schemas.microsoft.com/office/drawing/2014/main" id="{EFC79665-CA3F-6950-81E5-10A2E2A071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4816" y="2523245"/>
            <a:ext cx="3293802" cy="190509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Laptop Computer Pc - Gratis afbeelding op Pixabay - Pixabay">
            <a:extLst>
              <a:ext uri="{FF2B5EF4-FFF2-40B4-BE49-F238E27FC236}">
                <a16:creationId xmlns:a16="http://schemas.microsoft.com/office/drawing/2014/main" id="{B8B0E5BB-3561-65AA-2258-EA027F3D01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1169" y="2183703"/>
            <a:ext cx="3434420" cy="2355778"/>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Rechte verbindingslijn met pijl 12">
            <a:extLst>
              <a:ext uri="{FF2B5EF4-FFF2-40B4-BE49-F238E27FC236}">
                <a16:creationId xmlns:a16="http://schemas.microsoft.com/office/drawing/2014/main" id="{4C905E81-CC27-71DD-522E-F47E810237C4}"/>
              </a:ext>
            </a:extLst>
          </p:cNvPr>
          <p:cNvCxnSpPr>
            <a:cxnSpLocks/>
          </p:cNvCxnSpPr>
          <p:nvPr/>
        </p:nvCxnSpPr>
        <p:spPr>
          <a:xfrm flipV="1">
            <a:off x="4437656" y="3273910"/>
            <a:ext cx="1194319" cy="0"/>
          </a:xfrm>
          <a:prstGeom prst="straightConnector1">
            <a:avLst/>
          </a:prstGeom>
          <a:ln w="76200">
            <a:solidFill>
              <a:srgbClr val="829C3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Rechte verbindingslijn met pijl 14">
            <a:extLst>
              <a:ext uri="{FF2B5EF4-FFF2-40B4-BE49-F238E27FC236}">
                <a16:creationId xmlns:a16="http://schemas.microsoft.com/office/drawing/2014/main" id="{1F1371F6-5312-80AF-F1A4-A6ECFDE8F27D}"/>
              </a:ext>
            </a:extLst>
          </p:cNvPr>
          <p:cNvCxnSpPr>
            <a:cxnSpLocks/>
          </p:cNvCxnSpPr>
          <p:nvPr/>
        </p:nvCxnSpPr>
        <p:spPr>
          <a:xfrm flipV="1">
            <a:off x="7599487" y="3273910"/>
            <a:ext cx="1194319" cy="0"/>
          </a:xfrm>
          <a:prstGeom prst="straightConnector1">
            <a:avLst/>
          </a:prstGeom>
          <a:ln w="76200">
            <a:solidFill>
              <a:srgbClr val="829C30"/>
            </a:solidFill>
            <a:tailEnd type="triangle"/>
          </a:ln>
        </p:spPr>
        <p:style>
          <a:lnRef idx="1">
            <a:schemeClr val="accent1"/>
          </a:lnRef>
          <a:fillRef idx="0">
            <a:schemeClr val="accent1"/>
          </a:fillRef>
          <a:effectRef idx="0">
            <a:schemeClr val="accent1"/>
          </a:effectRef>
          <a:fontRef idx="minor">
            <a:schemeClr val="tx1"/>
          </a:fontRef>
        </p:style>
      </p:cxnSp>
      <p:sp>
        <p:nvSpPr>
          <p:cNvPr id="27" name="Tekstvak 26">
            <a:extLst>
              <a:ext uri="{FF2B5EF4-FFF2-40B4-BE49-F238E27FC236}">
                <a16:creationId xmlns:a16="http://schemas.microsoft.com/office/drawing/2014/main" id="{AA2BA045-8B04-6A83-F966-2BA7FE05CB93}"/>
              </a:ext>
            </a:extLst>
          </p:cNvPr>
          <p:cNvSpPr txBox="1"/>
          <p:nvPr/>
        </p:nvSpPr>
        <p:spPr>
          <a:xfrm>
            <a:off x="1778103" y="893510"/>
            <a:ext cx="9807228" cy="1200329"/>
          </a:xfrm>
          <a:prstGeom prst="rect">
            <a:avLst/>
          </a:prstGeom>
          <a:noFill/>
        </p:spPr>
        <p:txBody>
          <a:bodyPr wrap="square">
            <a:spAutoFit/>
          </a:bodyPr>
          <a:lstStyle/>
          <a:p>
            <a:pPr algn="ctr"/>
            <a:r>
              <a:rPr lang="nl-NL" b="1" dirty="0">
                <a:solidFill>
                  <a:srgbClr val="FF0000"/>
                </a:solidFill>
              </a:rPr>
              <a:t>Pythonrisico:</a:t>
            </a:r>
            <a:r>
              <a:rPr lang="nl-NL" dirty="0">
                <a:solidFill>
                  <a:srgbClr val="FF0000"/>
                </a:solidFill>
              </a:rPr>
              <a:t> tegenvallende </a:t>
            </a:r>
            <a:r>
              <a:rPr lang="nl-NL" dirty="0" err="1">
                <a:solidFill>
                  <a:srgbClr val="FF0000"/>
                </a:solidFill>
              </a:rPr>
              <a:t>backwards</a:t>
            </a:r>
            <a:r>
              <a:rPr lang="nl-NL" dirty="0">
                <a:solidFill>
                  <a:srgbClr val="FF0000"/>
                </a:solidFill>
              </a:rPr>
              <a:t> </a:t>
            </a:r>
            <a:r>
              <a:rPr lang="nl-NL" dirty="0" err="1">
                <a:solidFill>
                  <a:srgbClr val="FF0000"/>
                </a:solidFill>
              </a:rPr>
              <a:t>compatibility</a:t>
            </a:r>
            <a:r>
              <a:rPr lang="nl-NL" dirty="0">
                <a:solidFill>
                  <a:srgbClr val="FF0000"/>
                </a:solidFill>
              </a:rPr>
              <a:t>.</a:t>
            </a:r>
          </a:p>
          <a:p>
            <a:pPr algn="ctr"/>
            <a:r>
              <a:rPr lang="nl-NL" dirty="0">
                <a:solidFill>
                  <a:srgbClr val="FF0000"/>
                </a:solidFill>
              </a:rPr>
              <a:t>Code die met de ene versie is geschreven, wordt niet automatisch ondersteund door de andere versie!</a:t>
            </a:r>
          </a:p>
          <a:p>
            <a:pPr algn="ctr"/>
            <a:r>
              <a:rPr lang="nl-NL" b="1" dirty="0">
                <a:solidFill>
                  <a:srgbClr val="829C30"/>
                </a:solidFill>
              </a:rPr>
              <a:t>Oplossing:</a:t>
            </a:r>
            <a:r>
              <a:rPr lang="nl-NL" dirty="0">
                <a:solidFill>
                  <a:srgbClr val="829C30"/>
                </a:solidFill>
              </a:rPr>
              <a:t> een ‘virtual environment’ (‘</a:t>
            </a:r>
            <a:r>
              <a:rPr lang="nl-NL" dirty="0" err="1">
                <a:solidFill>
                  <a:srgbClr val="829C30"/>
                </a:solidFill>
              </a:rPr>
              <a:t>venv</a:t>
            </a:r>
            <a:r>
              <a:rPr lang="nl-NL" dirty="0">
                <a:solidFill>
                  <a:srgbClr val="829C30"/>
                </a:solidFill>
              </a:rPr>
              <a:t>’) creëren, waarin de juiste </a:t>
            </a:r>
            <a:r>
              <a:rPr lang="nl-NL" dirty="0" err="1">
                <a:solidFill>
                  <a:srgbClr val="829C30"/>
                </a:solidFill>
              </a:rPr>
              <a:t>dependency</a:t>
            </a:r>
            <a:r>
              <a:rPr lang="nl-NL" dirty="0">
                <a:solidFill>
                  <a:srgbClr val="829C30"/>
                </a:solidFill>
              </a:rPr>
              <a:t>-versies worden ingelezen vanuit een </a:t>
            </a:r>
            <a:r>
              <a:rPr lang="nl-NL" dirty="0" err="1">
                <a:solidFill>
                  <a:srgbClr val="829C30"/>
                </a:solidFill>
              </a:rPr>
              <a:t>requirementsbestand</a:t>
            </a:r>
            <a:endParaRPr lang="nl-NL" b="1" dirty="0">
              <a:solidFill>
                <a:srgbClr val="829C30"/>
              </a:solidFill>
            </a:endParaRPr>
          </a:p>
        </p:txBody>
      </p:sp>
      <p:pic>
        <p:nvPicPr>
          <p:cNvPr id="3" name="Afbeelding 2">
            <a:extLst>
              <a:ext uri="{FF2B5EF4-FFF2-40B4-BE49-F238E27FC236}">
                <a16:creationId xmlns:a16="http://schemas.microsoft.com/office/drawing/2014/main" id="{2941DBE5-12FC-C178-8191-3239C95D600E}"/>
              </a:ext>
            </a:extLst>
          </p:cNvPr>
          <p:cNvPicPr>
            <a:picLocks noChangeAspect="1"/>
          </p:cNvPicPr>
          <p:nvPr/>
        </p:nvPicPr>
        <p:blipFill>
          <a:blip r:embed="rId5"/>
          <a:stretch>
            <a:fillRect/>
          </a:stretch>
        </p:blipFill>
        <p:spPr>
          <a:xfrm>
            <a:off x="3028294" y="2388782"/>
            <a:ext cx="830650" cy="1040218"/>
          </a:xfrm>
          <a:prstGeom prst="rect">
            <a:avLst/>
          </a:prstGeom>
        </p:spPr>
      </p:pic>
      <p:sp>
        <p:nvSpPr>
          <p:cNvPr id="4" name="Tekstvak 3">
            <a:extLst>
              <a:ext uri="{FF2B5EF4-FFF2-40B4-BE49-F238E27FC236}">
                <a16:creationId xmlns:a16="http://schemas.microsoft.com/office/drawing/2014/main" id="{8DBB7001-6907-4B17-F2C8-E50039F622E4}"/>
              </a:ext>
            </a:extLst>
          </p:cNvPr>
          <p:cNvSpPr txBox="1"/>
          <p:nvPr/>
        </p:nvSpPr>
        <p:spPr>
          <a:xfrm>
            <a:off x="3039001" y="3409931"/>
            <a:ext cx="801992" cy="369332"/>
          </a:xfrm>
          <a:prstGeom prst="rect">
            <a:avLst/>
          </a:prstGeom>
          <a:noFill/>
        </p:spPr>
        <p:txBody>
          <a:bodyPr wrap="square">
            <a:spAutoFit/>
          </a:bodyPr>
          <a:lstStyle/>
          <a:p>
            <a:pPr algn="ctr"/>
            <a:r>
              <a:rPr lang="nl-NL" dirty="0"/>
              <a:t>.</a:t>
            </a:r>
            <a:r>
              <a:rPr lang="nl-NL" dirty="0" err="1"/>
              <a:t>txt</a:t>
            </a:r>
            <a:endParaRPr lang="nl-NL" b="1" dirty="0"/>
          </a:p>
        </p:txBody>
      </p:sp>
      <p:sp>
        <p:nvSpPr>
          <p:cNvPr id="14" name="Rechthoek 13">
            <a:extLst>
              <a:ext uri="{FF2B5EF4-FFF2-40B4-BE49-F238E27FC236}">
                <a16:creationId xmlns:a16="http://schemas.microsoft.com/office/drawing/2014/main" id="{B27C2862-DB0D-16F3-DACC-3B0A1072738F}"/>
              </a:ext>
            </a:extLst>
          </p:cNvPr>
          <p:cNvSpPr/>
          <p:nvPr/>
        </p:nvSpPr>
        <p:spPr>
          <a:xfrm>
            <a:off x="1603256" y="2388782"/>
            <a:ext cx="970384" cy="12223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nl-NL" b="1" dirty="0" err="1"/>
              <a:t>venv</a:t>
            </a:r>
            <a:endParaRPr lang="nl-NL" b="1" dirty="0"/>
          </a:p>
          <a:p>
            <a:pPr algn="ctr"/>
            <a:r>
              <a:rPr lang="nl-NL" dirty="0"/>
              <a:t>&lt;code&gt;</a:t>
            </a:r>
          </a:p>
        </p:txBody>
      </p:sp>
      <p:cxnSp>
        <p:nvCxnSpPr>
          <p:cNvPr id="17" name="Rechte verbindingslijn met pijl 16">
            <a:extLst>
              <a:ext uri="{FF2B5EF4-FFF2-40B4-BE49-F238E27FC236}">
                <a16:creationId xmlns:a16="http://schemas.microsoft.com/office/drawing/2014/main" id="{0D95948A-546A-83AC-4562-65D75C6B6023}"/>
              </a:ext>
            </a:extLst>
          </p:cNvPr>
          <p:cNvCxnSpPr>
            <a:cxnSpLocks/>
            <a:endCxn id="14" idx="3"/>
          </p:cNvCxnSpPr>
          <p:nvPr/>
        </p:nvCxnSpPr>
        <p:spPr>
          <a:xfrm flipH="1">
            <a:off x="2573640" y="2999936"/>
            <a:ext cx="530592" cy="1"/>
          </a:xfrm>
          <a:prstGeom prst="straightConnector1">
            <a:avLst/>
          </a:prstGeom>
          <a:ln w="76200">
            <a:solidFill>
              <a:srgbClr val="829C30"/>
            </a:solidFill>
            <a:tailEnd type="triangle"/>
          </a:ln>
        </p:spPr>
        <p:style>
          <a:lnRef idx="1">
            <a:schemeClr val="accent1"/>
          </a:lnRef>
          <a:fillRef idx="0">
            <a:schemeClr val="accent1"/>
          </a:fillRef>
          <a:effectRef idx="0">
            <a:schemeClr val="accent1"/>
          </a:effectRef>
          <a:fontRef idx="minor">
            <a:schemeClr val="tx1"/>
          </a:fontRef>
        </p:style>
      </p:cxnSp>
      <p:pic>
        <p:nvPicPr>
          <p:cNvPr id="20" name="Afbeelding 19">
            <a:extLst>
              <a:ext uri="{FF2B5EF4-FFF2-40B4-BE49-F238E27FC236}">
                <a16:creationId xmlns:a16="http://schemas.microsoft.com/office/drawing/2014/main" id="{7415E80B-7ECC-7715-11AB-922D6C894345}"/>
              </a:ext>
            </a:extLst>
          </p:cNvPr>
          <p:cNvPicPr>
            <a:picLocks noChangeAspect="1"/>
          </p:cNvPicPr>
          <p:nvPr/>
        </p:nvPicPr>
        <p:blipFill>
          <a:blip r:embed="rId5"/>
          <a:stretch>
            <a:fillRect/>
          </a:stretch>
        </p:blipFill>
        <p:spPr>
          <a:xfrm>
            <a:off x="10756891" y="2388782"/>
            <a:ext cx="830650" cy="1040218"/>
          </a:xfrm>
          <a:prstGeom prst="rect">
            <a:avLst/>
          </a:prstGeom>
        </p:spPr>
      </p:pic>
      <p:sp>
        <p:nvSpPr>
          <p:cNvPr id="22" name="Rechthoek 21">
            <a:extLst>
              <a:ext uri="{FF2B5EF4-FFF2-40B4-BE49-F238E27FC236}">
                <a16:creationId xmlns:a16="http://schemas.microsoft.com/office/drawing/2014/main" id="{1D6738BF-17AA-4BEF-7772-F395C19EF771}"/>
              </a:ext>
            </a:extLst>
          </p:cNvPr>
          <p:cNvSpPr/>
          <p:nvPr/>
        </p:nvSpPr>
        <p:spPr>
          <a:xfrm>
            <a:off x="9331853" y="2388782"/>
            <a:ext cx="970384" cy="12223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nl-NL" b="1" dirty="0" err="1"/>
              <a:t>venv</a:t>
            </a:r>
            <a:endParaRPr lang="nl-NL" b="1" dirty="0"/>
          </a:p>
          <a:p>
            <a:pPr algn="ctr"/>
            <a:r>
              <a:rPr lang="nl-NL" dirty="0"/>
              <a:t>&lt;code&gt;</a:t>
            </a:r>
          </a:p>
        </p:txBody>
      </p:sp>
      <p:cxnSp>
        <p:nvCxnSpPr>
          <p:cNvPr id="23" name="Rechte verbindingslijn met pijl 22">
            <a:extLst>
              <a:ext uri="{FF2B5EF4-FFF2-40B4-BE49-F238E27FC236}">
                <a16:creationId xmlns:a16="http://schemas.microsoft.com/office/drawing/2014/main" id="{6852017C-A447-F4B3-41A2-1AE8594721BD}"/>
              </a:ext>
            </a:extLst>
          </p:cNvPr>
          <p:cNvCxnSpPr>
            <a:cxnSpLocks/>
            <a:endCxn id="22" idx="3"/>
          </p:cNvCxnSpPr>
          <p:nvPr/>
        </p:nvCxnSpPr>
        <p:spPr>
          <a:xfrm flipH="1">
            <a:off x="10302237" y="2999936"/>
            <a:ext cx="530592" cy="1"/>
          </a:xfrm>
          <a:prstGeom prst="straightConnector1">
            <a:avLst/>
          </a:prstGeom>
          <a:ln w="76200">
            <a:solidFill>
              <a:srgbClr val="829C30"/>
            </a:solidFill>
            <a:tailEnd type="triangle"/>
          </a:ln>
        </p:spPr>
        <p:style>
          <a:lnRef idx="1">
            <a:schemeClr val="accent1"/>
          </a:lnRef>
          <a:fillRef idx="0">
            <a:schemeClr val="accent1"/>
          </a:fillRef>
          <a:effectRef idx="0">
            <a:schemeClr val="accent1"/>
          </a:effectRef>
          <a:fontRef idx="minor">
            <a:schemeClr val="tx1"/>
          </a:fontRef>
        </p:style>
      </p:cxnSp>
      <p:sp>
        <p:nvSpPr>
          <p:cNvPr id="37" name="Tekstvak 36">
            <a:extLst>
              <a:ext uri="{FF2B5EF4-FFF2-40B4-BE49-F238E27FC236}">
                <a16:creationId xmlns:a16="http://schemas.microsoft.com/office/drawing/2014/main" id="{C09B76C2-4C7E-F10B-B694-B5C5622667B8}"/>
              </a:ext>
            </a:extLst>
          </p:cNvPr>
          <p:cNvSpPr txBox="1"/>
          <p:nvPr/>
        </p:nvSpPr>
        <p:spPr>
          <a:xfrm>
            <a:off x="10779746" y="3399059"/>
            <a:ext cx="810012" cy="646331"/>
          </a:xfrm>
          <a:prstGeom prst="rect">
            <a:avLst/>
          </a:prstGeom>
          <a:noFill/>
        </p:spPr>
        <p:txBody>
          <a:bodyPr wrap="square">
            <a:spAutoFit/>
          </a:bodyPr>
          <a:lstStyle/>
          <a:p>
            <a:pPr algn="ctr"/>
            <a:r>
              <a:rPr lang="nl-NL" dirty="0"/>
              <a:t>.</a:t>
            </a:r>
            <a:r>
              <a:rPr lang="nl-NL" dirty="0" err="1"/>
              <a:t>totxtml</a:t>
            </a:r>
            <a:endParaRPr lang="nl-NL" b="1" dirty="0"/>
          </a:p>
        </p:txBody>
      </p:sp>
      <p:sp>
        <p:nvSpPr>
          <p:cNvPr id="2" name="Tekstvak 1">
            <a:extLst>
              <a:ext uri="{FF2B5EF4-FFF2-40B4-BE49-F238E27FC236}">
                <a16:creationId xmlns:a16="http://schemas.microsoft.com/office/drawing/2014/main" id="{461B71BF-12D0-B51D-4950-E79F77F92FBC}"/>
              </a:ext>
            </a:extLst>
          </p:cNvPr>
          <p:cNvSpPr txBox="1"/>
          <p:nvPr/>
        </p:nvSpPr>
        <p:spPr>
          <a:xfrm>
            <a:off x="3946117" y="5608407"/>
            <a:ext cx="5990373" cy="1200329"/>
          </a:xfrm>
          <a:prstGeom prst="rect">
            <a:avLst/>
          </a:prstGeom>
          <a:noFill/>
        </p:spPr>
        <p:txBody>
          <a:bodyPr wrap="square">
            <a:spAutoFit/>
          </a:bodyPr>
          <a:lstStyle/>
          <a:p>
            <a:pPr marL="285750" indent="-285750">
              <a:buFont typeface="Arial" panose="020B0604020202020204" pitchFamily="34" charset="0"/>
              <a:buChar char="•"/>
            </a:pPr>
            <a:r>
              <a:rPr lang="nl-NL" dirty="0"/>
              <a:t>In meerdere projecten kun je nu specifieke </a:t>
            </a:r>
            <a:r>
              <a:rPr lang="nl-NL" dirty="0" err="1"/>
              <a:t>dependency</a:t>
            </a:r>
            <a:r>
              <a:rPr lang="nl-NL" dirty="0"/>
              <a:t>-versies gebruiken.</a:t>
            </a:r>
          </a:p>
          <a:p>
            <a:pPr marL="285750" indent="-285750">
              <a:buFont typeface="Arial" panose="020B0604020202020204" pitchFamily="34" charset="0"/>
              <a:buChar char="•"/>
            </a:pPr>
            <a:r>
              <a:rPr lang="nl-NL" dirty="0"/>
              <a:t>Je isoleert je project, waardoor andere mappen en bestanden op je computer het niet kunnen beschadigen.</a:t>
            </a:r>
          </a:p>
        </p:txBody>
      </p:sp>
    </p:spTree>
    <p:extLst>
      <p:ext uri="{BB962C8B-B14F-4D97-AF65-F5344CB8AC3E}">
        <p14:creationId xmlns:p14="http://schemas.microsoft.com/office/powerpoint/2010/main" val="91622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3076"/>
                                        </p:tgtEl>
                                        <p:attrNameLst>
                                          <p:attrName>style.visibility</p:attrName>
                                        </p:attrNameLst>
                                      </p:cBhvr>
                                      <p:to>
                                        <p:strVal val="visible"/>
                                      </p:to>
                                    </p:set>
                                    <p:animEffect transition="in" filter="fade">
                                      <p:cBhvr>
                                        <p:cTn id="10" dur="500"/>
                                        <p:tgtEl>
                                          <p:spTgt spid="307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7"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kstvak 7">
            <a:extLst>
              <a:ext uri="{FF2B5EF4-FFF2-40B4-BE49-F238E27FC236}">
                <a16:creationId xmlns:a16="http://schemas.microsoft.com/office/drawing/2014/main" id="{BA269D03-4CD4-A824-783F-AFAA660F0E45}"/>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7" name="TextBox 1">
            <a:extLst>
              <a:ext uri="{FF2B5EF4-FFF2-40B4-BE49-F238E27FC236}">
                <a16:creationId xmlns:a16="http://schemas.microsoft.com/office/drawing/2014/main" id="{E0E66AFB-DF6F-DB65-946D-3F73E052EE22}"/>
              </a:ext>
            </a:extLst>
          </p:cNvPr>
          <p:cNvSpPr txBox="1"/>
          <p:nvPr/>
        </p:nvSpPr>
        <p:spPr>
          <a:xfrm>
            <a:off x="2835163" y="0"/>
            <a:ext cx="8212282"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4 </a:t>
            </a:r>
            <a:r>
              <a:rPr lang="en-US" sz="3000" b="1" dirty="0" err="1">
                <a:solidFill>
                  <a:srgbClr val="829C30"/>
                </a:solidFill>
                <a:latin typeface="Arial"/>
                <a:ea typeface="MS PGothic" charset="0"/>
              </a:rPr>
              <a:t>verschillende</a:t>
            </a:r>
            <a:r>
              <a:rPr lang="en-US" sz="3000" b="1" dirty="0">
                <a:solidFill>
                  <a:srgbClr val="829C30"/>
                </a:solidFill>
                <a:latin typeface="Arial"/>
                <a:ea typeface="MS PGothic" charset="0"/>
              </a:rPr>
              <a:t> virtual-</a:t>
            </a:r>
            <a:r>
              <a:rPr lang="en-US" sz="3000" b="1" dirty="0" err="1">
                <a:solidFill>
                  <a:srgbClr val="829C30"/>
                </a:solidFill>
                <a:latin typeface="Arial"/>
                <a:ea typeface="MS PGothic" charset="0"/>
              </a:rPr>
              <a:t>environmenttools</a:t>
            </a:r>
            <a:endParaRPr lang="en-US" sz="3000" b="1" dirty="0">
              <a:solidFill>
                <a:srgbClr val="829C30"/>
              </a:solidFill>
              <a:latin typeface="Arial"/>
              <a:ea typeface="MS PGothic" charset="0"/>
            </a:endParaRPr>
          </a:p>
        </p:txBody>
      </p:sp>
      <p:cxnSp>
        <p:nvCxnSpPr>
          <p:cNvPr id="8" name="Straight Connector 10">
            <a:extLst>
              <a:ext uri="{FF2B5EF4-FFF2-40B4-BE49-F238E27FC236}">
                <a16:creationId xmlns:a16="http://schemas.microsoft.com/office/drawing/2014/main" id="{A262CF38-BB42-BEB5-C710-06267CB16BFA}"/>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cxnSp>
        <p:nvCxnSpPr>
          <p:cNvPr id="5" name="Straight Connector 10">
            <a:extLst>
              <a:ext uri="{FF2B5EF4-FFF2-40B4-BE49-F238E27FC236}">
                <a16:creationId xmlns:a16="http://schemas.microsoft.com/office/drawing/2014/main" id="{E96C139B-19E5-3D0A-E75E-32C218CB47D8}"/>
              </a:ext>
            </a:extLst>
          </p:cNvPr>
          <p:cNvCxnSpPr>
            <a:cxnSpLocks/>
          </p:cNvCxnSpPr>
          <p:nvPr/>
        </p:nvCxnSpPr>
        <p:spPr>
          <a:xfrm>
            <a:off x="916756" y="3960326"/>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cxnSp>
        <p:nvCxnSpPr>
          <p:cNvPr id="10" name="Straight Connector 10">
            <a:extLst>
              <a:ext uri="{FF2B5EF4-FFF2-40B4-BE49-F238E27FC236}">
                <a16:creationId xmlns:a16="http://schemas.microsoft.com/office/drawing/2014/main" id="{87ABF8E7-068F-5593-9836-28078D30FA8C}"/>
              </a:ext>
            </a:extLst>
          </p:cNvPr>
          <p:cNvCxnSpPr>
            <a:cxnSpLocks/>
          </p:cNvCxnSpPr>
          <p:nvPr/>
        </p:nvCxnSpPr>
        <p:spPr>
          <a:xfrm flipV="1">
            <a:off x="6708710" y="812800"/>
            <a:ext cx="0" cy="604520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16" name="Tekstvak 20">
            <a:extLst>
              <a:ext uri="{FF2B5EF4-FFF2-40B4-BE49-F238E27FC236}">
                <a16:creationId xmlns:a16="http://schemas.microsoft.com/office/drawing/2014/main" id="{026F61B5-8305-5FF9-B930-E865CD880FA9}"/>
              </a:ext>
            </a:extLst>
          </p:cNvPr>
          <p:cNvSpPr txBox="1"/>
          <p:nvPr/>
        </p:nvSpPr>
        <p:spPr>
          <a:xfrm>
            <a:off x="1993573" y="862598"/>
            <a:ext cx="3406428" cy="400110"/>
          </a:xfrm>
          <a:prstGeom prst="rect">
            <a:avLst/>
          </a:prstGeom>
          <a:noFill/>
        </p:spPr>
        <p:txBody>
          <a:bodyPr wrap="square">
            <a:spAutoFit/>
          </a:bodyPr>
          <a:lstStyle/>
          <a:p>
            <a:pPr algn="ctr"/>
            <a:r>
              <a:rPr lang="en-US" sz="2000" b="0" i="0" u="none" strike="noStrike" dirty="0">
                <a:solidFill>
                  <a:srgbClr val="000000"/>
                </a:solidFill>
                <a:effectLst/>
                <a:latin typeface="Arial" panose="020B0604020202020204" pitchFamily="34" charset="0"/>
              </a:rPr>
              <a:t>De </a:t>
            </a:r>
            <a:r>
              <a:rPr lang="en-US" sz="2000" b="0" i="0" u="none" strike="noStrike" dirty="0" err="1">
                <a:solidFill>
                  <a:srgbClr val="000000"/>
                </a:solidFill>
                <a:effectLst/>
                <a:latin typeface="Arial" panose="020B0604020202020204" pitchFamily="34" charset="0"/>
              </a:rPr>
              <a:t>klassieke</a:t>
            </a:r>
            <a:r>
              <a:rPr lang="en-US" sz="2000" b="0" i="0" u="none" strike="noStrike" dirty="0">
                <a:solidFill>
                  <a:srgbClr val="000000"/>
                </a:solidFill>
                <a:effectLst/>
                <a:latin typeface="Arial" panose="020B0604020202020204" pitchFamily="34" charset="0"/>
              </a:rPr>
              <a:t> </a:t>
            </a:r>
            <a:r>
              <a:rPr lang="en-US" sz="2000" b="0" i="0" u="none" strike="noStrike" dirty="0" err="1">
                <a:solidFill>
                  <a:srgbClr val="000000"/>
                </a:solidFill>
                <a:effectLst/>
                <a:latin typeface="Arial" panose="020B0604020202020204" pitchFamily="34" charset="0"/>
              </a:rPr>
              <a:t>manier</a:t>
            </a:r>
            <a:endParaRPr lang="nl-NL" sz="2000" dirty="0"/>
          </a:p>
        </p:txBody>
      </p:sp>
      <p:sp>
        <p:nvSpPr>
          <p:cNvPr id="18" name="Tekstvak 20">
            <a:extLst>
              <a:ext uri="{FF2B5EF4-FFF2-40B4-BE49-F238E27FC236}">
                <a16:creationId xmlns:a16="http://schemas.microsoft.com/office/drawing/2014/main" id="{B333E99C-D96C-FE96-ADD6-26E1B677C57B}"/>
              </a:ext>
            </a:extLst>
          </p:cNvPr>
          <p:cNvSpPr txBox="1"/>
          <p:nvPr/>
        </p:nvSpPr>
        <p:spPr>
          <a:xfrm>
            <a:off x="7785527" y="862598"/>
            <a:ext cx="3406428" cy="400110"/>
          </a:xfrm>
          <a:prstGeom prst="rect">
            <a:avLst/>
          </a:prstGeom>
          <a:noFill/>
        </p:spPr>
        <p:txBody>
          <a:bodyPr wrap="square">
            <a:spAutoFit/>
          </a:bodyPr>
          <a:lstStyle/>
          <a:p>
            <a:pPr algn="ctr"/>
            <a:r>
              <a:rPr lang="nl-NL" sz="2000" dirty="0">
                <a:solidFill>
                  <a:srgbClr val="000000"/>
                </a:solidFill>
                <a:latin typeface="Arial" panose="020B0604020202020204" pitchFamily="34" charset="0"/>
              </a:rPr>
              <a:t>v</a:t>
            </a:r>
            <a:r>
              <a:rPr lang="en-US" sz="2000" dirty="0" err="1">
                <a:solidFill>
                  <a:srgbClr val="000000"/>
                </a:solidFill>
                <a:latin typeface="Arial" panose="020B0604020202020204" pitchFamily="34" charset="0"/>
              </a:rPr>
              <a:t>irtualenv</a:t>
            </a:r>
            <a:endParaRPr lang="en-US" sz="2000" dirty="0">
              <a:solidFill>
                <a:srgbClr val="000000"/>
              </a:solidFill>
              <a:latin typeface="Arial" panose="020B0604020202020204" pitchFamily="34" charset="0"/>
            </a:endParaRPr>
          </a:p>
        </p:txBody>
      </p:sp>
      <p:sp>
        <p:nvSpPr>
          <p:cNvPr id="19" name="Tekstvak 20">
            <a:extLst>
              <a:ext uri="{FF2B5EF4-FFF2-40B4-BE49-F238E27FC236}">
                <a16:creationId xmlns:a16="http://schemas.microsoft.com/office/drawing/2014/main" id="{ACC9B9F2-8B8D-343F-4756-53983755F0DD}"/>
              </a:ext>
            </a:extLst>
          </p:cNvPr>
          <p:cNvSpPr txBox="1"/>
          <p:nvPr/>
        </p:nvSpPr>
        <p:spPr>
          <a:xfrm>
            <a:off x="1993573" y="4010123"/>
            <a:ext cx="3406428" cy="400110"/>
          </a:xfrm>
          <a:prstGeom prst="rect">
            <a:avLst/>
          </a:prstGeom>
          <a:noFill/>
        </p:spPr>
        <p:txBody>
          <a:bodyPr wrap="square">
            <a:spAutoFit/>
          </a:bodyPr>
          <a:lstStyle/>
          <a:p>
            <a:pPr algn="ctr"/>
            <a:r>
              <a:rPr lang="en-US" sz="2000" dirty="0">
                <a:solidFill>
                  <a:srgbClr val="000000"/>
                </a:solidFill>
                <a:latin typeface="Arial" panose="020B0604020202020204" pitchFamily="34" charset="0"/>
              </a:rPr>
              <a:t>p</a:t>
            </a:r>
            <a:r>
              <a:rPr lang="en-US" sz="2000" b="0" i="0" u="none" strike="noStrike" dirty="0">
                <a:solidFill>
                  <a:srgbClr val="000000"/>
                </a:solidFill>
                <a:effectLst/>
                <a:latin typeface="Arial" panose="020B0604020202020204" pitchFamily="34" charset="0"/>
              </a:rPr>
              <a:t>oetry</a:t>
            </a:r>
          </a:p>
        </p:txBody>
      </p:sp>
      <p:sp>
        <p:nvSpPr>
          <p:cNvPr id="21" name="Tekstvak 20">
            <a:extLst>
              <a:ext uri="{FF2B5EF4-FFF2-40B4-BE49-F238E27FC236}">
                <a16:creationId xmlns:a16="http://schemas.microsoft.com/office/drawing/2014/main" id="{E2699172-5EA0-7FD4-DD12-1A9777232C3F}"/>
              </a:ext>
            </a:extLst>
          </p:cNvPr>
          <p:cNvSpPr txBox="1"/>
          <p:nvPr/>
        </p:nvSpPr>
        <p:spPr>
          <a:xfrm>
            <a:off x="7785527" y="4010123"/>
            <a:ext cx="3406428" cy="400110"/>
          </a:xfrm>
          <a:prstGeom prst="rect">
            <a:avLst/>
          </a:prstGeom>
          <a:noFill/>
        </p:spPr>
        <p:txBody>
          <a:bodyPr wrap="square">
            <a:spAutoFit/>
          </a:bodyPr>
          <a:lstStyle/>
          <a:p>
            <a:pPr algn="ctr"/>
            <a:r>
              <a:rPr lang="en-US" sz="2000" dirty="0" err="1">
                <a:solidFill>
                  <a:srgbClr val="000000"/>
                </a:solidFill>
                <a:latin typeface="Arial" panose="020B0604020202020204" pitchFamily="34" charset="0"/>
              </a:rPr>
              <a:t>pdm</a:t>
            </a:r>
            <a:endParaRPr lang="en-US" sz="2000" dirty="0">
              <a:solidFill>
                <a:srgbClr val="000000"/>
              </a:solidFill>
              <a:latin typeface="Arial" panose="020B0604020202020204" pitchFamily="34" charset="0"/>
            </a:endParaRPr>
          </a:p>
        </p:txBody>
      </p:sp>
      <p:pic>
        <p:nvPicPr>
          <p:cNvPr id="25" name="Picture 24">
            <a:extLst>
              <a:ext uri="{FF2B5EF4-FFF2-40B4-BE49-F238E27FC236}">
                <a16:creationId xmlns:a16="http://schemas.microsoft.com/office/drawing/2014/main" id="{63962F05-444C-8E89-9F28-4F8B1AFC0DA9}"/>
              </a:ext>
            </a:extLst>
          </p:cNvPr>
          <p:cNvPicPr>
            <a:picLocks noChangeAspect="1"/>
          </p:cNvPicPr>
          <p:nvPr/>
        </p:nvPicPr>
        <p:blipFill>
          <a:blip r:embed="rId3"/>
          <a:stretch>
            <a:fillRect/>
          </a:stretch>
        </p:blipFill>
        <p:spPr>
          <a:xfrm>
            <a:off x="1040943" y="4410233"/>
            <a:ext cx="1794220" cy="2242775"/>
          </a:xfrm>
          <a:prstGeom prst="rect">
            <a:avLst/>
          </a:prstGeom>
        </p:spPr>
      </p:pic>
      <p:pic>
        <p:nvPicPr>
          <p:cNvPr id="26" name="Picture 2" descr="Python (programming language) - Wikipedia">
            <a:extLst>
              <a:ext uri="{FF2B5EF4-FFF2-40B4-BE49-F238E27FC236}">
                <a16:creationId xmlns:a16="http://schemas.microsoft.com/office/drawing/2014/main" id="{BE937575-C658-9159-3AF5-B80F39BF29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0943" y="1499060"/>
            <a:ext cx="2053490" cy="219277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45F241AF-D6BA-36CD-D183-D019E0A1842C}"/>
              </a:ext>
            </a:extLst>
          </p:cNvPr>
          <p:cNvPicPr>
            <a:picLocks noChangeAspect="1"/>
          </p:cNvPicPr>
          <p:nvPr/>
        </p:nvPicPr>
        <p:blipFill>
          <a:blip r:embed="rId5"/>
          <a:stretch>
            <a:fillRect/>
          </a:stretch>
        </p:blipFill>
        <p:spPr>
          <a:xfrm>
            <a:off x="6851996" y="4410233"/>
            <a:ext cx="1867062" cy="1988992"/>
          </a:xfrm>
          <a:prstGeom prst="rect">
            <a:avLst/>
          </a:prstGeom>
        </p:spPr>
      </p:pic>
      <p:pic>
        <p:nvPicPr>
          <p:cNvPr id="31" name="Picture 2" descr="Python (programming language) - Wikipedia">
            <a:extLst>
              <a:ext uri="{FF2B5EF4-FFF2-40B4-BE49-F238E27FC236}">
                <a16:creationId xmlns:a16="http://schemas.microsoft.com/office/drawing/2014/main" id="{0B8C6F75-8CC8-B805-2EAF-3D25D545A3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1304" y="1499059"/>
            <a:ext cx="2053490" cy="2192777"/>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D3131751-655E-A36C-2CB2-76FADACC9268}"/>
              </a:ext>
            </a:extLst>
          </p:cNvPr>
          <p:cNvSpPr txBox="1"/>
          <p:nvPr/>
        </p:nvSpPr>
        <p:spPr>
          <a:xfrm>
            <a:off x="3458824" y="1483032"/>
            <a:ext cx="3191737" cy="2308324"/>
          </a:xfrm>
          <a:prstGeom prst="rect">
            <a:avLst/>
          </a:prstGeom>
          <a:noFill/>
        </p:spPr>
        <p:txBody>
          <a:bodyPr wrap="square" rtlCol="0">
            <a:spAutoFit/>
          </a:bodyPr>
          <a:lstStyle/>
          <a:p>
            <a:r>
              <a:rPr lang="nl-NL" dirty="0"/>
              <a:t>Package-administratie: .</a:t>
            </a:r>
            <a:r>
              <a:rPr lang="nl-NL" dirty="0" err="1"/>
              <a:t>txt</a:t>
            </a:r>
            <a:endParaRPr lang="nl-NL" dirty="0"/>
          </a:p>
          <a:p>
            <a:endParaRPr lang="nl-NL" dirty="0"/>
          </a:p>
          <a:p>
            <a:pPr marL="285750" indent="-285750">
              <a:buFontTx/>
              <a:buChar char="-"/>
            </a:pPr>
            <a:r>
              <a:rPr lang="nl-NL" dirty="0"/>
              <a:t>Geen extra installaties en minimale configuratie</a:t>
            </a:r>
          </a:p>
          <a:p>
            <a:pPr marL="285750" indent="-285750">
              <a:buFontTx/>
              <a:buChar char="-"/>
            </a:pPr>
            <a:r>
              <a:rPr lang="en-US" dirty="0"/>
              <a:t>Minder </a:t>
            </a:r>
            <a:r>
              <a:rPr lang="en-US" dirty="0" err="1"/>
              <a:t>flexibel</a:t>
            </a:r>
            <a:r>
              <a:rPr lang="en-US" dirty="0"/>
              <a:t>: </a:t>
            </a:r>
            <a:r>
              <a:rPr lang="en-US" dirty="0" err="1"/>
              <a:t>geen</a:t>
            </a:r>
            <a:r>
              <a:rPr lang="en-US" dirty="0"/>
              <a:t> </a:t>
            </a:r>
            <a:r>
              <a:rPr lang="en-US" dirty="0" err="1"/>
              <a:t>ondersteuning</a:t>
            </a:r>
            <a:r>
              <a:rPr lang="en-US" dirty="0"/>
              <a:t> van </a:t>
            </a:r>
            <a:r>
              <a:rPr lang="en-US" dirty="0" err="1"/>
              <a:t>meerdere</a:t>
            </a:r>
            <a:r>
              <a:rPr lang="en-US" dirty="0"/>
              <a:t> </a:t>
            </a:r>
            <a:r>
              <a:rPr lang="en-US" dirty="0" err="1"/>
              <a:t>Pythonversies</a:t>
            </a:r>
            <a:endParaRPr lang="en-US" dirty="0"/>
          </a:p>
          <a:p>
            <a:pPr marL="285750" indent="-285750">
              <a:buFontTx/>
              <a:buChar char="-"/>
            </a:pPr>
            <a:endParaRPr lang="en-US" dirty="0"/>
          </a:p>
        </p:txBody>
      </p:sp>
      <p:sp>
        <p:nvSpPr>
          <p:cNvPr id="33" name="TextBox 32">
            <a:extLst>
              <a:ext uri="{FF2B5EF4-FFF2-40B4-BE49-F238E27FC236}">
                <a16:creationId xmlns:a16="http://schemas.microsoft.com/office/drawing/2014/main" id="{8C72EDBD-D246-CAC4-1506-C61B8924B031}"/>
              </a:ext>
            </a:extLst>
          </p:cNvPr>
          <p:cNvSpPr txBox="1"/>
          <p:nvPr/>
        </p:nvSpPr>
        <p:spPr>
          <a:xfrm>
            <a:off x="9139589" y="1514860"/>
            <a:ext cx="3191737" cy="2308324"/>
          </a:xfrm>
          <a:prstGeom prst="rect">
            <a:avLst/>
          </a:prstGeom>
          <a:noFill/>
        </p:spPr>
        <p:txBody>
          <a:bodyPr wrap="square" rtlCol="0">
            <a:spAutoFit/>
          </a:bodyPr>
          <a:lstStyle/>
          <a:p>
            <a:r>
              <a:rPr lang="nl-NL" dirty="0"/>
              <a:t>Package-administratie: .</a:t>
            </a:r>
            <a:r>
              <a:rPr lang="nl-NL" dirty="0" err="1"/>
              <a:t>txt</a:t>
            </a:r>
            <a:endParaRPr lang="nl-NL" dirty="0"/>
          </a:p>
          <a:p>
            <a:endParaRPr lang="nl-NL" dirty="0"/>
          </a:p>
          <a:p>
            <a:pPr marL="285750" indent="-285750">
              <a:buFontTx/>
              <a:buChar char="-"/>
            </a:pPr>
            <a:r>
              <a:rPr lang="nl-NL" dirty="0"/>
              <a:t>Ondersteunt oudere Pythonversies</a:t>
            </a:r>
          </a:p>
          <a:p>
            <a:pPr marL="285750" indent="-285750">
              <a:buFontTx/>
              <a:buChar char="-"/>
            </a:pPr>
            <a:r>
              <a:rPr lang="nl-NL" dirty="0"/>
              <a:t>Meer functionaliteit dan de klassieke manier.</a:t>
            </a:r>
          </a:p>
          <a:p>
            <a:pPr marL="285750" indent="-285750">
              <a:buFontTx/>
              <a:buChar char="-"/>
            </a:pPr>
            <a:r>
              <a:rPr lang="en-US" dirty="0"/>
              <a:t>Extra </a:t>
            </a:r>
            <a:r>
              <a:rPr lang="en-US" dirty="0" err="1"/>
              <a:t>installatie</a:t>
            </a:r>
            <a:r>
              <a:rPr lang="en-US" dirty="0"/>
              <a:t> </a:t>
            </a:r>
            <a:r>
              <a:rPr lang="en-US" dirty="0" err="1"/>
              <a:t>nodig</a:t>
            </a:r>
            <a:endParaRPr lang="en-US" dirty="0"/>
          </a:p>
          <a:p>
            <a:pPr marL="285750" indent="-285750">
              <a:buFontTx/>
              <a:buChar char="-"/>
            </a:pPr>
            <a:endParaRPr lang="en-US" dirty="0"/>
          </a:p>
        </p:txBody>
      </p:sp>
      <p:sp>
        <p:nvSpPr>
          <p:cNvPr id="34" name="TextBox 33">
            <a:extLst>
              <a:ext uri="{FF2B5EF4-FFF2-40B4-BE49-F238E27FC236}">
                <a16:creationId xmlns:a16="http://schemas.microsoft.com/office/drawing/2014/main" id="{F3C2AC27-6C66-35FD-BBD3-FC0498771841}"/>
              </a:ext>
            </a:extLst>
          </p:cNvPr>
          <p:cNvSpPr txBox="1"/>
          <p:nvPr/>
        </p:nvSpPr>
        <p:spPr>
          <a:xfrm>
            <a:off x="3021678" y="4663611"/>
            <a:ext cx="3570734" cy="2031325"/>
          </a:xfrm>
          <a:prstGeom prst="rect">
            <a:avLst/>
          </a:prstGeom>
          <a:noFill/>
        </p:spPr>
        <p:txBody>
          <a:bodyPr wrap="square" rtlCol="0">
            <a:spAutoFit/>
          </a:bodyPr>
          <a:lstStyle/>
          <a:p>
            <a:r>
              <a:rPr lang="nl-NL" dirty="0"/>
              <a:t>Package-administratie: .</a:t>
            </a:r>
            <a:r>
              <a:rPr lang="nl-NL" dirty="0" err="1"/>
              <a:t>toml</a:t>
            </a:r>
            <a:endParaRPr lang="nl-NL" dirty="0"/>
          </a:p>
          <a:p>
            <a:endParaRPr lang="nl-NL" dirty="0"/>
          </a:p>
          <a:p>
            <a:pPr marL="285750" indent="-285750">
              <a:buFontTx/>
              <a:buChar char="-"/>
            </a:pPr>
            <a:r>
              <a:rPr lang="nl-NL" dirty="0"/>
              <a:t>Alles-in-</a:t>
            </a:r>
            <a:r>
              <a:rPr lang="nl-NL" dirty="0" err="1"/>
              <a:t>éénoplossing</a:t>
            </a:r>
            <a:r>
              <a:rPr lang="nl-NL" dirty="0"/>
              <a:t>: lost problemen met traditionele tools op.</a:t>
            </a:r>
          </a:p>
          <a:p>
            <a:pPr marL="285750" indent="-285750">
              <a:buFontTx/>
              <a:buChar char="-"/>
            </a:pPr>
            <a:r>
              <a:rPr lang="nl-NL" dirty="0"/>
              <a:t>Is ingewikkelder om op te zetten voor eenvoudige projecten.</a:t>
            </a:r>
          </a:p>
        </p:txBody>
      </p:sp>
      <p:sp>
        <p:nvSpPr>
          <p:cNvPr id="35" name="TextBox 34">
            <a:extLst>
              <a:ext uri="{FF2B5EF4-FFF2-40B4-BE49-F238E27FC236}">
                <a16:creationId xmlns:a16="http://schemas.microsoft.com/office/drawing/2014/main" id="{6B77182B-D1DE-1DEE-04F4-28925A560273}"/>
              </a:ext>
            </a:extLst>
          </p:cNvPr>
          <p:cNvSpPr txBox="1"/>
          <p:nvPr/>
        </p:nvSpPr>
        <p:spPr>
          <a:xfrm>
            <a:off x="9023373" y="4664308"/>
            <a:ext cx="3191737" cy="2031325"/>
          </a:xfrm>
          <a:prstGeom prst="rect">
            <a:avLst/>
          </a:prstGeom>
          <a:noFill/>
        </p:spPr>
        <p:txBody>
          <a:bodyPr wrap="square" rtlCol="0">
            <a:spAutoFit/>
          </a:bodyPr>
          <a:lstStyle/>
          <a:p>
            <a:r>
              <a:rPr lang="nl-NL" dirty="0"/>
              <a:t>Package-administratie: .</a:t>
            </a:r>
            <a:r>
              <a:rPr lang="nl-NL" dirty="0" err="1"/>
              <a:t>toml</a:t>
            </a:r>
            <a:endParaRPr lang="nl-NL" dirty="0"/>
          </a:p>
          <a:p>
            <a:endParaRPr lang="nl-NL" dirty="0"/>
          </a:p>
          <a:p>
            <a:pPr marL="285750" indent="-285750">
              <a:buFontTx/>
              <a:buChar char="-"/>
            </a:pPr>
            <a:r>
              <a:rPr lang="nl-NL" dirty="0"/>
              <a:t>Gebruiksgemak met automatische omgevingsbeheer</a:t>
            </a:r>
          </a:p>
          <a:p>
            <a:pPr marL="285750" indent="-285750">
              <a:buFontTx/>
              <a:buChar char="-"/>
            </a:pPr>
            <a:r>
              <a:rPr lang="nl-NL" dirty="0"/>
              <a:t>Nieuw en minder bekend</a:t>
            </a:r>
            <a:endParaRPr lang="en-US" dirty="0"/>
          </a:p>
          <a:p>
            <a:pPr marL="285750" indent="-285750">
              <a:buFontTx/>
              <a:buChar char="-"/>
            </a:pPr>
            <a:endParaRPr lang="en-US" dirty="0"/>
          </a:p>
        </p:txBody>
      </p:sp>
    </p:spTree>
    <p:extLst>
      <p:ext uri="{BB962C8B-B14F-4D97-AF65-F5344CB8AC3E}">
        <p14:creationId xmlns:p14="http://schemas.microsoft.com/office/powerpoint/2010/main" val="169840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1" grpId="0"/>
      <p:bldP spid="33" grpId="0"/>
      <p:bldP spid="34" grpId="0"/>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mo - Applied Post">
            <a:extLst>
              <a:ext uri="{FF2B5EF4-FFF2-40B4-BE49-F238E27FC236}">
                <a16:creationId xmlns:a16="http://schemas.microsoft.com/office/drawing/2014/main" id="{86ED99B2-46A9-D66E-9713-76A0A64D79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68" y="900724"/>
            <a:ext cx="6177879" cy="5149586"/>
          </a:xfrm>
          <a:prstGeom prst="rect">
            <a:avLst/>
          </a:prstGeom>
          <a:noFill/>
          <a:extLst>
            <a:ext uri="{909E8E84-426E-40DD-AFC4-6F175D3DCCD1}">
              <a14:hiddenFill xmlns:a14="http://schemas.microsoft.com/office/drawing/2010/main">
                <a:solidFill>
                  <a:srgbClr val="FFFFFF"/>
                </a:solidFill>
              </a14:hiddenFill>
            </a:ext>
          </a:extLst>
        </p:spPr>
      </p:pic>
      <p:sp>
        <p:nvSpPr>
          <p:cNvPr id="6" name="Tekstvak 7">
            <a:extLst>
              <a:ext uri="{FF2B5EF4-FFF2-40B4-BE49-F238E27FC236}">
                <a16:creationId xmlns:a16="http://schemas.microsoft.com/office/drawing/2014/main" id="{15B34B80-DB18-DC4B-F6B5-D806B4726EAF}"/>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pic>
        <p:nvPicPr>
          <p:cNvPr id="2050" name="Picture 2" descr="Document Good Ware Lineal icon">
            <a:extLst>
              <a:ext uri="{FF2B5EF4-FFF2-40B4-BE49-F238E27FC236}">
                <a16:creationId xmlns:a16="http://schemas.microsoft.com/office/drawing/2014/main" id="{92EFE9C9-7EA3-F453-8475-806EBD16F9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4445" y="900724"/>
            <a:ext cx="1936423" cy="1936423"/>
          </a:xfrm>
          <a:prstGeom prst="rect">
            <a:avLst/>
          </a:prstGeom>
          <a:noFill/>
          <a:extLst>
            <a:ext uri="{909E8E84-426E-40DD-AFC4-6F175D3DCCD1}">
              <a14:hiddenFill xmlns:a14="http://schemas.microsoft.com/office/drawing/2010/main">
                <a:solidFill>
                  <a:srgbClr val="FFFFFF"/>
                </a:solidFill>
              </a14:hiddenFill>
            </a:ext>
          </a:extLst>
        </p:spPr>
      </p:pic>
      <p:sp>
        <p:nvSpPr>
          <p:cNvPr id="5" name="Tekstvak 4">
            <a:extLst>
              <a:ext uri="{FF2B5EF4-FFF2-40B4-BE49-F238E27FC236}">
                <a16:creationId xmlns:a16="http://schemas.microsoft.com/office/drawing/2014/main" id="{78600319-0EE1-DC88-379C-BB3315D00F49}"/>
              </a:ext>
            </a:extLst>
          </p:cNvPr>
          <p:cNvSpPr txBox="1"/>
          <p:nvPr/>
        </p:nvSpPr>
        <p:spPr>
          <a:xfrm>
            <a:off x="8428467" y="2837146"/>
            <a:ext cx="3415749" cy="646331"/>
          </a:xfrm>
          <a:prstGeom prst="rect">
            <a:avLst/>
          </a:prstGeom>
          <a:noFill/>
        </p:spPr>
        <p:txBody>
          <a:bodyPr wrap="square" rtlCol="0">
            <a:spAutoFit/>
          </a:bodyPr>
          <a:lstStyle/>
          <a:p>
            <a:pPr algn="ctr"/>
            <a:r>
              <a:rPr lang="nl-NL" dirty="0"/>
              <a:t>Bouw en gebruik van virtual environments </a:t>
            </a:r>
            <a:r>
              <a:rPr lang="nl-NL"/>
              <a:t>- Handleiding</a:t>
            </a:r>
            <a:endParaRPr lang="nl-NL" dirty="0"/>
          </a:p>
        </p:txBody>
      </p:sp>
      <p:sp>
        <p:nvSpPr>
          <p:cNvPr id="2" name="TextBox 1">
            <a:extLst>
              <a:ext uri="{FF2B5EF4-FFF2-40B4-BE49-F238E27FC236}">
                <a16:creationId xmlns:a16="http://schemas.microsoft.com/office/drawing/2014/main" id="{6D0286AE-A7EB-8886-CFDC-7E40B7FC6FCC}"/>
              </a:ext>
            </a:extLst>
          </p:cNvPr>
          <p:cNvSpPr txBox="1"/>
          <p:nvPr/>
        </p:nvSpPr>
        <p:spPr>
          <a:xfrm>
            <a:off x="2835163" y="0"/>
            <a:ext cx="8212282"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Backwards compatibility &amp; </a:t>
            </a:r>
            <a:r>
              <a:rPr lang="en-US" sz="3000" b="1" dirty="0" err="1">
                <a:solidFill>
                  <a:srgbClr val="829C30"/>
                </a:solidFill>
                <a:latin typeface="Arial"/>
                <a:ea typeface="MS PGothic" charset="0"/>
              </a:rPr>
              <a:t>Basistechnieken</a:t>
            </a:r>
            <a:endParaRPr lang="en-US" sz="3000" b="1" dirty="0">
              <a:solidFill>
                <a:srgbClr val="829C30"/>
              </a:solidFill>
              <a:latin typeface="Arial"/>
              <a:ea typeface="MS PGothic" charset="0"/>
            </a:endParaRPr>
          </a:p>
        </p:txBody>
      </p:sp>
      <p:pic>
        <p:nvPicPr>
          <p:cNvPr id="3" name="Picture 2" descr="Document Good Ware Lineal icon">
            <a:extLst>
              <a:ext uri="{FF2B5EF4-FFF2-40B4-BE49-F238E27FC236}">
                <a16:creationId xmlns:a16="http://schemas.microsoft.com/office/drawing/2014/main" id="{92EFE9C9-7EA3-F453-8475-806EBD16F9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4909" y="3744555"/>
            <a:ext cx="1936423" cy="1936423"/>
          </a:xfrm>
          <a:prstGeom prst="rect">
            <a:avLst/>
          </a:prstGeom>
          <a:noFill/>
          <a:extLst>
            <a:ext uri="{909E8E84-426E-40DD-AFC4-6F175D3DCCD1}">
              <a14:hiddenFill xmlns:a14="http://schemas.microsoft.com/office/drawing/2010/main">
                <a:solidFill>
                  <a:srgbClr val="FFFFFF"/>
                </a:solidFill>
              </a14:hiddenFill>
            </a:ext>
          </a:extLst>
        </p:spPr>
      </p:pic>
      <p:sp>
        <p:nvSpPr>
          <p:cNvPr id="4" name="Tekstvak 4">
            <a:extLst>
              <a:ext uri="{FF2B5EF4-FFF2-40B4-BE49-F238E27FC236}">
                <a16:creationId xmlns:a16="http://schemas.microsoft.com/office/drawing/2014/main" id="{78600319-0EE1-DC88-379C-BB3315D00F49}"/>
              </a:ext>
            </a:extLst>
          </p:cNvPr>
          <p:cNvSpPr txBox="1"/>
          <p:nvPr/>
        </p:nvSpPr>
        <p:spPr>
          <a:xfrm>
            <a:off x="8488931" y="5680978"/>
            <a:ext cx="3415749" cy="369332"/>
          </a:xfrm>
          <a:prstGeom prst="rect">
            <a:avLst/>
          </a:prstGeom>
          <a:noFill/>
        </p:spPr>
        <p:txBody>
          <a:bodyPr wrap="square" rtlCol="0">
            <a:spAutoFit/>
          </a:bodyPr>
          <a:lstStyle/>
          <a:p>
            <a:r>
              <a:rPr lang="nl-NL" dirty="0"/>
              <a:t>Van Java naar Python - Cheatsheet</a:t>
            </a:r>
          </a:p>
        </p:txBody>
      </p:sp>
    </p:spTree>
    <p:extLst>
      <p:ext uri="{BB962C8B-B14F-4D97-AF65-F5344CB8AC3E}">
        <p14:creationId xmlns:p14="http://schemas.microsoft.com/office/powerpoint/2010/main" val="4253156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E056F-8CA8-BBC1-1A2A-54A2470E68BE}"/>
            </a:ext>
          </a:extLst>
        </p:cNvPr>
        <p:cNvGrpSpPr/>
        <p:nvPr/>
      </p:nvGrpSpPr>
      <p:grpSpPr>
        <a:xfrm>
          <a:off x="0" y="0"/>
          <a:ext cx="0" cy="0"/>
          <a:chOff x="0" y="0"/>
          <a:chExt cx="0" cy="0"/>
        </a:xfrm>
      </p:grpSpPr>
      <p:sp>
        <p:nvSpPr>
          <p:cNvPr id="6" name="Tekstvak 7">
            <a:extLst>
              <a:ext uri="{FF2B5EF4-FFF2-40B4-BE49-F238E27FC236}">
                <a16:creationId xmlns:a16="http://schemas.microsoft.com/office/drawing/2014/main" id="{3B093F9B-184B-7626-057A-9C108467ADFB}"/>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sp>
        <p:nvSpPr>
          <p:cNvPr id="5" name="Tekstvak 4">
            <a:extLst>
              <a:ext uri="{FF2B5EF4-FFF2-40B4-BE49-F238E27FC236}">
                <a16:creationId xmlns:a16="http://schemas.microsoft.com/office/drawing/2014/main" id="{D07A47B1-6B6D-AF45-3FFA-F18392B6DB49}"/>
              </a:ext>
            </a:extLst>
          </p:cNvPr>
          <p:cNvSpPr txBox="1"/>
          <p:nvPr/>
        </p:nvSpPr>
        <p:spPr>
          <a:xfrm>
            <a:off x="1261640" y="6214169"/>
            <a:ext cx="10814613" cy="369332"/>
          </a:xfrm>
          <a:prstGeom prst="rect">
            <a:avLst/>
          </a:prstGeom>
          <a:noFill/>
        </p:spPr>
        <p:txBody>
          <a:bodyPr wrap="square" rtlCol="0">
            <a:spAutoFit/>
          </a:bodyPr>
          <a:lstStyle/>
          <a:p>
            <a:pPr algn="ctr"/>
            <a:r>
              <a:rPr lang="nl-NL" b="1" dirty="0"/>
              <a:t>Ook te lezen in “Van Java naar Python – Cheatsheet”</a:t>
            </a:r>
          </a:p>
        </p:txBody>
      </p:sp>
      <p:sp>
        <p:nvSpPr>
          <p:cNvPr id="2" name="TextBox 1">
            <a:extLst>
              <a:ext uri="{FF2B5EF4-FFF2-40B4-BE49-F238E27FC236}">
                <a16:creationId xmlns:a16="http://schemas.microsoft.com/office/drawing/2014/main" id="{E1809287-930F-A0F2-0825-21481CE6EE1E}"/>
              </a:ext>
            </a:extLst>
          </p:cNvPr>
          <p:cNvSpPr txBox="1"/>
          <p:nvPr/>
        </p:nvSpPr>
        <p:spPr>
          <a:xfrm>
            <a:off x="2835163" y="0"/>
            <a:ext cx="8212282"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err="1">
                <a:solidFill>
                  <a:srgbClr val="829C30"/>
                </a:solidFill>
                <a:latin typeface="Arial"/>
                <a:ea typeface="MS PGothic" charset="0"/>
              </a:rPr>
              <a:t>Verzamelingen</a:t>
            </a:r>
            <a:r>
              <a:rPr lang="en-US" sz="3000" b="1" dirty="0">
                <a:solidFill>
                  <a:srgbClr val="829C30"/>
                </a:solidFill>
                <a:latin typeface="Arial"/>
                <a:ea typeface="MS PGothic" charset="0"/>
              </a:rPr>
              <a:t> in Python</a:t>
            </a:r>
          </a:p>
        </p:txBody>
      </p:sp>
      <p:pic>
        <p:nvPicPr>
          <p:cNvPr id="8" name="Picture 7" descr="A white grid with black text and red text&#10;&#10;AI-generated content may be incorrect.">
            <a:extLst>
              <a:ext uri="{FF2B5EF4-FFF2-40B4-BE49-F238E27FC236}">
                <a16:creationId xmlns:a16="http://schemas.microsoft.com/office/drawing/2014/main" id="{352B06AE-7490-D52C-2302-6BF09DD5C1BE}"/>
              </a:ext>
            </a:extLst>
          </p:cNvPr>
          <p:cNvPicPr>
            <a:picLocks noChangeAspect="1"/>
          </p:cNvPicPr>
          <p:nvPr/>
        </p:nvPicPr>
        <p:blipFill>
          <a:blip r:embed="rId3"/>
          <a:stretch>
            <a:fillRect/>
          </a:stretch>
        </p:blipFill>
        <p:spPr>
          <a:xfrm>
            <a:off x="3150076" y="643831"/>
            <a:ext cx="6980525" cy="5410669"/>
          </a:xfrm>
          <a:prstGeom prst="rect">
            <a:avLst/>
          </a:prstGeom>
        </p:spPr>
      </p:pic>
    </p:spTree>
    <p:extLst>
      <p:ext uri="{BB962C8B-B14F-4D97-AF65-F5344CB8AC3E}">
        <p14:creationId xmlns:p14="http://schemas.microsoft.com/office/powerpoint/2010/main" val="1397776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BC8836E-6531-B080-70A6-CD4B298875E6}"/>
              </a:ext>
            </a:extLst>
          </p:cNvPr>
          <p:cNvSpPr>
            <a:spLocks noGrp="1"/>
          </p:cNvSpPr>
          <p:nvPr>
            <p:ph type="sldNum" sz="quarter" idx="12"/>
          </p:nvPr>
        </p:nvSpPr>
        <p:spPr>
          <a:xfrm>
            <a:off x="8601364" y="6381345"/>
            <a:ext cx="2743200" cy="365125"/>
          </a:xfrm>
        </p:spPr>
        <p:txBody>
          <a:bodyPr/>
          <a:lstStyle/>
          <a:p>
            <a:fld id="{587C737D-49A5-4740-8401-0C4DFF2B9D4A}" type="slidenum">
              <a:rPr lang="nl-NL" smtClean="0"/>
              <a:pPr/>
              <a:t>9</a:t>
            </a:fld>
            <a:endParaRPr lang="nl-NL"/>
          </a:p>
        </p:txBody>
      </p:sp>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777658" y="-10754"/>
            <a:ext cx="8144447"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err="1">
                <a:solidFill>
                  <a:srgbClr val="829C30"/>
                </a:solidFill>
                <a:latin typeface="Arial"/>
                <a:ea typeface="MS PGothic" charset="0"/>
              </a:rPr>
              <a:t>Dataframes</a:t>
            </a:r>
            <a:r>
              <a:rPr lang="en-US" sz="3000" b="1" dirty="0">
                <a:solidFill>
                  <a:srgbClr val="829C30"/>
                </a:solidFill>
                <a:latin typeface="Arial"/>
                <a:ea typeface="MS PGothic" charset="0"/>
              </a:rPr>
              <a:t> </a:t>
            </a:r>
            <a:r>
              <a:rPr lang="en-US" sz="3000" b="1" dirty="0" err="1">
                <a:solidFill>
                  <a:srgbClr val="829C30"/>
                </a:solidFill>
                <a:latin typeface="Arial"/>
                <a:ea typeface="MS PGothic" charset="0"/>
              </a:rPr>
              <a:t>uit</a:t>
            </a:r>
            <a:r>
              <a:rPr lang="en-US" sz="3000" b="1" dirty="0">
                <a:solidFill>
                  <a:srgbClr val="829C30"/>
                </a:solidFill>
                <a:latin typeface="Arial"/>
                <a:ea typeface="MS PGothic" charset="0"/>
              </a:rPr>
              <a:t> de pandas-package</a:t>
            </a: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4" name="Tekstvak 3">
            <a:extLst>
              <a:ext uri="{FF2B5EF4-FFF2-40B4-BE49-F238E27FC236}">
                <a16:creationId xmlns:a16="http://schemas.microsoft.com/office/drawing/2014/main" id="{789B3DF9-50E4-21FB-2AFB-CA21131BC3F9}"/>
              </a:ext>
            </a:extLst>
          </p:cNvPr>
          <p:cNvSpPr txBox="1"/>
          <p:nvPr/>
        </p:nvSpPr>
        <p:spPr>
          <a:xfrm>
            <a:off x="988290" y="934509"/>
            <a:ext cx="11065141" cy="923330"/>
          </a:xfrm>
          <a:prstGeom prst="rect">
            <a:avLst/>
          </a:prstGeom>
          <a:noFill/>
        </p:spPr>
        <p:txBody>
          <a:bodyPr wrap="square">
            <a:spAutoFit/>
          </a:bodyPr>
          <a:lstStyle/>
          <a:p>
            <a:pPr algn="ctr"/>
            <a:r>
              <a:rPr lang="nl-NL" dirty="0"/>
              <a:t>Een dataframe is een representatie van een tabel in de </a:t>
            </a:r>
            <a:r>
              <a:rPr lang="nl-NL" dirty="0" err="1"/>
              <a:t>pandas</a:t>
            </a:r>
            <a:r>
              <a:rPr lang="nl-NL" dirty="0"/>
              <a:t>-package in Python.</a:t>
            </a:r>
          </a:p>
          <a:p>
            <a:pPr algn="ctr"/>
            <a:r>
              <a:rPr lang="nl-NL" dirty="0"/>
              <a:t>Data wordt op </a:t>
            </a:r>
            <a:r>
              <a:rPr lang="nl-NL" b="1" u="sng" dirty="0"/>
              <a:t>twee</a:t>
            </a:r>
            <a:r>
              <a:rPr lang="nl-NL" dirty="0"/>
              <a:t> manieren gestructureerd: in </a:t>
            </a:r>
            <a:r>
              <a:rPr lang="nl-NL" b="1" u="sng" dirty="0"/>
              <a:t>rijen</a:t>
            </a:r>
            <a:r>
              <a:rPr lang="nl-NL" dirty="0"/>
              <a:t> en </a:t>
            </a:r>
            <a:r>
              <a:rPr lang="nl-NL" b="1" u="sng" dirty="0"/>
              <a:t>kolommen</a:t>
            </a:r>
            <a:r>
              <a:rPr lang="nl-NL" dirty="0"/>
              <a:t>. Dit is dus </a:t>
            </a:r>
            <a:r>
              <a:rPr lang="nl-NL" b="1" u="sng" dirty="0"/>
              <a:t>2D-informatie</a:t>
            </a:r>
            <a:r>
              <a:rPr lang="nl-NL" dirty="0"/>
              <a:t>.</a:t>
            </a:r>
            <a:endParaRPr lang="nl-NL" b="1" u="sng" dirty="0"/>
          </a:p>
          <a:p>
            <a:pPr algn="ctr"/>
            <a:r>
              <a:rPr lang="nl-NL" dirty="0"/>
              <a:t>Let op! Dit kan alleen met </a:t>
            </a:r>
            <a:r>
              <a:rPr lang="nl-NL" b="1" u="sng" dirty="0"/>
              <a:t>gestructureerde data:</a:t>
            </a:r>
            <a:r>
              <a:rPr lang="nl-NL" dirty="0"/>
              <a:t> data die “netjes” gestructureerd is in tabelvorm.</a:t>
            </a:r>
          </a:p>
        </p:txBody>
      </p:sp>
      <p:pic>
        <p:nvPicPr>
          <p:cNvPr id="10" name="Afbeelding 9">
            <a:extLst>
              <a:ext uri="{FF2B5EF4-FFF2-40B4-BE49-F238E27FC236}">
                <a16:creationId xmlns:a16="http://schemas.microsoft.com/office/drawing/2014/main" id="{FA5C235D-626E-8895-44F4-2681EE16F90C}"/>
              </a:ext>
            </a:extLst>
          </p:cNvPr>
          <p:cNvPicPr>
            <a:picLocks noChangeAspect="1"/>
          </p:cNvPicPr>
          <p:nvPr/>
        </p:nvPicPr>
        <p:blipFill>
          <a:blip r:embed="rId3"/>
          <a:stretch>
            <a:fillRect/>
          </a:stretch>
        </p:blipFill>
        <p:spPr>
          <a:xfrm>
            <a:off x="988290" y="2328227"/>
            <a:ext cx="5107710" cy="2201545"/>
          </a:xfrm>
          <a:prstGeom prst="rect">
            <a:avLst/>
          </a:prstGeom>
        </p:spPr>
      </p:pic>
      <p:pic>
        <p:nvPicPr>
          <p:cNvPr id="20" name="Afbeelding 19">
            <a:extLst>
              <a:ext uri="{FF2B5EF4-FFF2-40B4-BE49-F238E27FC236}">
                <a16:creationId xmlns:a16="http://schemas.microsoft.com/office/drawing/2014/main" id="{BF5138C4-08A3-0B50-8291-8A97D29BE272}"/>
              </a:ext>
            </a:extLst>
          </p:cNvPr>
          <p:cNvPicPr>
            <a:picLocks noChangeAspect="1"/>
          </p:cNvPicPr>
          <p:nvPr/>
        </p:nvPicPr>
        <p:blipFill>
          <a:blip r:embed="rId4"/>
          <a:stretch>
            <a:fillRect/>
          </a:stretch>
        </p:blipFill>
        <p:spPr>
          <a:xfrm>
            <a:off x="1088662" y="4735631"/>
            <a:ext cx="5007338" cy="1645714"/>
          </a:xfrm>
          <a:prstGeom prst="rect">
            <a:avLst/>
          </a:prstGeom>
        </p:spPr>
      </p:pic>
      <p:sp>
        <p:nvSpPr>
          <p:cNvPr id="21" name="Tekstvak 20">
            <a:extLst>
              <a:ext uri="{FF2B5EF4-FFF2-40B4-BE49-F238E27FC236}">
                <a16:creationId xmlns:a16="http://schemas.microsoft.com/office/drawing/2014/main" id="{BB37CD6E-7D49-9DED-6B6F-E86CC1302066}"/>
              </a:ext>
            </a:extLst>
          </p:cNvPr>
          <p:cNvSpPr txBox="1"/>
          <p:nvPr/>
        </p:nvSpPr>
        <p:spPr>
          <a:xfrm>
            <a:off x="6407855" y="3972443"/>
            <a:ext cx="884052" cy="646331"/>
          </a:xfrm>
          <a:prstGeom prst="rect">
            <a:avLst/>
          </a:prstGeom>
          <a:noFill/>
        </p:spPr>
        <p:txBody>
          <a:bodyPr wrap="square">
            <a:spAutoFit/>
          </a:bodyPr>
          <a:lstStyle/>
          <a:p>
            <a:r>
              <a:rPr lang="nl-NL" sz="3600"/>
              <a:t>=&gt;</a:t>
            </a:r>
          </a:p>
        </p:txBody>
      </p:sp>
      <p:pic>
        <p:nvPicPr>
          <p:cNvPr id="23" name="Afbeelding 22">
            <a:extLst>
              <a:ext uri="{FF2B5EF4-FFF2-40B4-BE49-F238E27FC236}">
                <a16:creationId xmlns:a16="http://schemas.microsoft.com/office/drawing/2014/main" id="{4BF17715-2977-7341-BBEB-F26C6569F288}"/>
              </a:ext>
            </a:extLst>
          </p:cNvPr>
          <p:cNvPicPr>
            <a:picLocks noChangeAspect="1"/>
          </p:cNvPicPr>
          <p:nvPr/>
        </p:nvPicPr>
        <p:blipFill>
          <a:blip r:embed="rId5"/>
          <a:stretch>
            <a:fillRect/>
          </a:stretch>
        </p:blipFill>
        <p:spPr>
          <a:xfrm>
            <a:off x="7323772" y="2328227"/>
            <a:ext cx="4729659" cy="4053118"/>
          </a:xfrm>
          <a:prstGeom prst="rect">
            <a:avLst/>
          </a:prstGeom>
        </p:spPr>
      </p:pic>
      <p:sp>
        <p:nvSpPr>
          <p:cNvPr id="24" name="TextBox 1">
            <a:extLst>
              <a:ext uri="{FF2B5EF4-FFF2-40B4-BE49-F238E27FC236}">
                <a16:creationId xmlns:a16="http://schemas.microsoft.com/office/drawing/2014/main" id="{B3F63A5E-8760-7D54-0644-A4F66E348666}"/>
              </a:ext>
            </a:extLst>
          </p:cNvPr>
          <p:cNvSpPr txBox="1"/>
          <p:nvPr/>
        </p:nvSpPr>
        <p:spPr>
          <a:xfrm>
            <a:off x="1088662" y="1979547"/>
            <a:ext cx="659610" cy="368114"/>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en-US" sz="1500">
                <a:latin typeface="Arial"/>
                <a:ea typeface="MS PGothic" charset="0"/>
              </a:rPr>
              <a:t>Excel</a:t>
            </a:r>
          </a:p>
        </p:txBody>
      </p:sp>
      <p:sp>
        <p:nvSpPr>
          <p:cNvPr id="8" name="TextBox 7">
            <a:extLst>
              <a:ext uri="{FF2B5EF4-FFF2-40B4-BE49-F238E27FC236}">
                <a16:creationId xmlns:a16="http://schemas.microsoft.com/office/drawing/2014/main" id="{D911466C-BB19-531A-6334-3D36BB00026A}"/>
              </a:ext>
            </a:extLst>
          </p:cNvPr>
          <p:cNvSpPr txBox="1"/>
          <p:nvPr/>
        </p:nvSpPr>
        <p:spPr>
          <a:xfrm>
            <a:off x="1553493" y="6379241"/>
            <a:ext cx="4729658" cy="369332"/>
          </a:xfrm>
          <a:prstGeom prst="rect">
            <a:avLst/>
          </a:prstGeom>
          <a:noFill/>
        </p:spPr>
        <p:txBody>
          <a:bodyPr wrap="square">
            <a:spAutoFit/>
          </a:bodyPr>
          <a:lstStyle/>
          <a:p>
            <a:r>
              <a:rPr lang="nl-NL" dirty="0"/>
              <a:t> Je moet óók de package </a:t>
            </a:r>
            <a:r>
              <a:rPr lang="nl-NL" dirty="0" err="1"/>
              <a:t>openpyxl</a:t>
            </a:r>
            <a:r>
              <a:rPr lang="nl-NL" dirty="0"/>
              <a:t> installeren!</a:t>
            </a:r>
            <a:endParaRPr lang="en-US" dirty="0"/>
          </a:p>
        </p:txBody>
      </p:sp>
    </p:spTree>
    <p:extLst>
      <p:ext uri="{BB962C8B-B14F-4D97-AF65-F5344CB8AC3E}">
        <p14:creationId xmlns:p14="http://schemas.microsoft.com/office/powerpoint/2010/main" val="102736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BC8836E-6531-B080-70A6-CD4B298875E6}"/>
              </a:ext>
            </a:extLst>
          </p:cNvPr>
          <p:cNvSpPr>
            <a:spLocks noGrp="1"/>
          </p:cNvSpPr>
          <p:nvPr>
            <p:ph type="sldNum" sz="quarter" idx="12"/>
          </p:nvPr>
        </p:nvSpPr>
        <p:spPr>
          <a:xfrm>
            <a:off x="8601364" y="6381345"/>
            <a:ext cx="2743200" cy="365125"/>
          </a:xfrm>
        </p:spPr>
        <p:txBody>
          <a:bodyPr/>
          <a:lstStyle/>
          <a:p>
            <a:fld id="{587C737D-49A5-4740-8401-0C4DFF2B9D4A}" type="slidenum">
              <a:rPr lang="nl-NL" smtClean="0"/>
              <a:pPr/>
              <a:t>10</a:t>
            </a:fld>
            <a:endParaRPr lang="nl-NL"/>
          </a:p>
        </p:txBody>
      </p:sp>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531828" y="-990"/>
            <a:ext cx="8636105"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err="1">
                <a:solidFill>
                  <a:srgbClr val="829C30"/>
                </a:solidFill>
                <a:latin typeface="Arial"/>
                <a:ea typeface="MS PGothic" charset="0"/>
              </a:rPr>
              <a:t>Opbouw</a:t>
            </a:r>
            <a:r>
              <a:rPr lang="en-US" sz="3000" b="1">
                <a:solidFill>
                  <a:srgbClr val="829C30"/>
                </a:solidFill>
                <a:latin typeface="Arial"/>
                <a:ea typeface="MS PGothic" charset="0"/>
              </a:rPr>
              <a:t> </a:t>
            </a:r>
            <a:r>
              <a:rPr lang="en-US" sz="3000" b="1" err="1">
                <a:solidFill>
                  <a:srgbClr val="829C30"/>
                </a:solidFill>
                <a:latin typeface="Arial"/>
                <a:ea typeface="MS PGothic" charset="0"/>
              </a:rPr>
              <a:t>DataFrames</a:t>
            </a:r>
            <a:endParaRPr lang="en-US" sz="3000" b="1">
              <a:solidFill>
                <a:srgbClr val="829C30"/>
              </a:solidFill>
              <a:latin typeface="Arial"/>
              <a:ea typeface="MS PGothic" charset="0"/>
            </a:endParaRP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4" name="Tekstvak 3">
            <a:extLst>
              <a:ext uri="{FF2B5EF4-FFF2-40B4-BE49-F238E27FC236}">
                <a16:creationId xmlns:a16="http://schemas.microsoft.com/office/drawing/2014/main" id="{BF553125-104D-F44F-7987-BC364347D607}"/>
              </a:ext>
            </a:extLst>
          </p:cNvPr>
          <p:cNvSpPr txBox="1"/>
          <p:nvPr/>
        </p:nvSpPr>
        <p:spPr>
          <a:xfrm>
            <a:off x="988290" y="934509"/>
            <a:ext cx="11065141" cy="646331"/>
          </a:xfrm>
          <a:prstGeom prst="rect">
            <a:avLst/>
          </a:prstGeom>
          <a:noFill/>
        </p:spPr>
        <p:txBody>
          <a:bodyPr wrap="square">
            <a:spAutoFit/>
          </a:bodyPr>
          <a:lstStyle/>
          <a:p>
            <a:pPr algn="ctr"/>
            <a:r>
              <a:rPr lang="nl-NL"/>
              <a:t>Een dataframe bestaat uit meerdere “</a:t>
            </a:r>
            <a:r>
              <a:rPr lang="nl-NL" err="1"/>
              <a:t>pandas</a:t>
            </a:r>
            <a:r>
              <a:rPr lang="nl-NL"/>
              <a:t> Series”: zij slaan 1D-data op.</a:t>
            </a:r>
          </a:p>
          <a:p>
            <a:pPr algn="ctr"/>
            <a:r>
              <a:rPr lang="nl-NL"/>
              <a:t>Elke “</a:t>
            </a:r>
            <a:r>
              <a:rPr lang="nl-NL" err="1"/>
              <a:t>pandas</a:t>
            </a:r>
            <a:r>
              <a:rPr lang="nl-NL"/>
              <a:t> Series” correspondeert met één kolom uit het overkoepelende </a:t>
            </a:r>
            <a:r>
              <a:rPr lang="nl-NL" err="1"/>
              <a:t>DataFrame</a:t>
            </a:r>
            <a:endParaRPr lang="nl-NL"/>
          </a:p>
        </p:txBody>
      </p:sp>
      <p:pic>
        <p:nvPicPr>
          <p:cNvPr id="6" name="Afbeelding 5">
            <a:extLst>
              <a:ext uri="{FF2B5EF4-FFF2-40B4-BE49-F238E27FC236}">
                <a16:creationId xmlns:a16="http://schemas.microsoft.com/office/drawing/2014/main" id="{6932B71E-CFEC-04F2-790E-C947AB9B181F}"/>
              </a:ext>
            </a:extLst>
          </p:cNvPr>
          <p:cNvPicPr>
            <a:picLocks noChangeAspect="1"/>
          </p:cNvPicPr>
          <p:nvPr/>
        </p:nvPicPr>
        <p:blipFill>
          <a:blip r:embed="rId2"/>
          <a:stretch>
            <a:fillRect/>
          </a:stretch>
        </p:blipFill>
        <p:spPr>
          <a:xfrm>
            <a:off x="988290" y="2263806"/>
            <a:ext cx="4729659" cy="4053118"/>
          </a:xfrm>
          <a:prstGeom prst="rect">
            <a:avLst/>
          </a:prstGeom>
        </p:spPr>
      </p:pic>
      <p:pic>
        <p:nvPicPr>
          <p:cNvPr id="10" name="Afbeelding 9">
            <a:extLst>
              <a:ext uri="{FF2B5EF4-FFF2-40B4-BE49-F238E27FC236}">
                <a16:creationId xmlns:a16="http://schemas.microsoft.com/office/drawing/2014/main" id="{317D82E9-6BA3-69F6-DBE2-7E04C6FB89C0}"/>
              </a:ext>
            </a:extLst>
          </p:cNvPr>
          <p:cNvPicPr>
            <a:picLocks noChangeAspect="1"/>
          </p:cNvPicPr>
          <p:nvPr/>
        </p:nvPicPr>
        <p:blipFill>
          <a:blip r:embed="rId3"/>
          <a:stretch>
            <a:fillRect/>
          </a:stretch>
        </p:blipFill>
        <p:spPr>
          <a:xfrm>
            <a:off x="6565576" y="2240716"/>
            <a:ext cx="2522185" cy="1899972"/>
          </a:xfrm>
          <a:prstGeom prst="rect">
            <a:avLst/>
          </a:prstGeom>
        </p:spPr>
      </p:pic>
      <p:sp>
        <p:nvSpPr>
          <p:cNvPr id="12" name="TextBox 1">
            <a:extLst>
              <a:ext uri="{FF2B5EF4-FFF2-40B4-BE49-F238E27FC236}">
                <a16:creationId xmlns:a16="http://schemas.microsoft.com/office/drawing/2014/main" id="{0C4FEE59-5133-0ABA-B18C-5A6A348CB21F}"/>
              </a:ext>
            </a:extLst>
          </p:cNvPr>
          <p:cNvSpPr txBox="1"/>
          <p:nvPr/>
        </p:nvSpPr>
        <p:spPr>
          <a:xfrm>
            <a:off x="7165910" y="1872602"/>
            <a:ext cx="1435454" cy="368114"/>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en-US" sz="1500">
                <a:latin typeface="Arial"/>
                <a:ea typeface="MS PGothic" charset="0"/>
              </a:rPr>
              <a:t>nr: </a:t>
            </a:r>
            <a:r>
              <a:rPr lang="en-US" sz="1500" err="1">
                <a:latin typeface="Arial"/>
                <a:ea typeface="MS PGothic" charset="0"/>
              </a:rPr>
              <a:t>pd.Series</a:t>
            </a:r>
            <a:endParaRPr lang="en-US" sz="1500">
              <a:latin typeface="Arial"/>
              <a:ea typeface="MS PGothic" charset="0"/>
            </a:endParaRPr>
          </a:p>
        </p:txBody>
      </p:sp>
      <p:pic>
        <p:nvPicPr>
          <p:cNvPr id="14" name="Afbeelding 13">
            <a:extLst>
              <a:ext uri="{FF2B5EF4-FFF2-40B4-BE49-F238E27FC236}">
                <a16:creationId xmlns:a16="http://schemas.microsoft.com/office/drawing/2014/main" id="{73E735EE-21CA-3C80-C55D-9A7FDD8ECB3B}"/>
              </a:ext>
            </a:extLst>
          </p:cNvPr>
          <p:cNvPicPr>
            <a:picLocks noChangeAspect="1"/>
          </p:cNvPicPr>
          <p:nvPr/>
        </p:nvPicPr>
        <p:blipFill>
          <a:blip r:embed="rId4"/>
          <a:stretch>
            <a:fillRect/>
          </a:stretch>
        </p:blipFill>
        <p:spPr>
          <a:xfrm>
            <a:off x="9308650" y="2257578"/>
            <a:ext cx="2799955" cy="1899970"/>
          </a:xfrm>
          <a:prstGeom prst="rect">
            <a:avLst/>
          </a:prstGeom>
        </p:spPr>
      </p:pic>
      <p:sp>
        <p:nvSpPr>
          <p:cNvPr id="17" name="TextBox 1">
            <a:extLst>
              <a:ext uri="{FF2B5EF4-FFF2-40B4-BE49-F238E27FC236}">
                <a16:creationId xmlns:a16="http://schemas.microsoft.com/office/drawing/2014/main" id="{59558A2D-45A1-C857-C41E-E703E3FCCA3F}"/>
              </a:ext>
            </a:extLst>
          </p:cNvPr>
          <p:cNvSpPr txBox="1"/>
          <p:nvPr/>
        </p:nvSpPr>
        <p:spPr>
          <a:xfrm>
            <a:off x="1419043" y="1872602"/>
            <a:ext cx="3858182" cy="368114"/>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en-US" sz="1500" err="1">
                <a:latin typeface="Arial"/>
                <a:ea typeface="MS PGothic" charset="0"/>
              </a:rPr>
              <a:t>medewerker</a:t>
            </a:r>
            <a:r>
              <a:rPr lang="en-US" sz="1500">
                <a:latin typeface="Arial"/>
                <a:ea typeface="MS PGothic" charset="0"/>
              </a:rPr>
              <a:t> (</a:t>
            </a:r>
            <a:r>
              <a:rPr lang="en-US" sz="1500" err="1">
                <a:latin typeface="Arial"/>
                <a:ea typeface="MS PGothic" charset="0"/>
              </a:rPr>
              <a:t>variabele</a:t>
            </a:r>
            <a:r>
              <a:rPr lang="en-US" sz="1500">
                <a:latin typeface="Arial"/>
                <a:ea typeface="MS PGothic" charset="0"/>
              </a:rPr>
              <a:t>): </a:t>
            </a:r>
            <a:r>
              <a:rPr lang="en-US" sz="1500" err="1">
                <a:latin typeface="Arial"/>
                <a:ea typeface="MS PGothic" charset="0"/>
              </a:rPr>
              <a:t>pd.DataFrame</a:t>
            </a:r>
            <a:endParaRPr lang="en-US" sz="1500">
              <a:latin typeface="Arial"/>
              <a:ea typeface="MS PGothic" charset="0"/>
            </a:endParaRPr>
          </a:p>
        </p:txBody>
      </p:sp>
      <p:sp>
        <p:nvSpPr>
          <p:cNvPr id="20" name="TextBox 1">
            <a:extLst>
              <a:ext uri="{FF2B5EF4-FFF2-40B4-BE49-F238E27FC236}">
                <a16:creationId xmlns:a16="http://schemas.microsoft.com/office/drawing/2014/main" id="{11464D8E-925F-4F98-2430-A3CD9DF32ABF}"/>
              </a:ext>
            </a:extLst>
          </p:cNvPr>
          <p:cNvSpPr txBox="1"/>
          <p:nvPr/>
        </p:nvSpPr>
        <p:spPr>
          <a:xfrm>
            <a:off x="9793249" y="1861862"/>
            <a:ext cx="1823510" cy="368114"/>
          </a:xfrm>
          <a:prstGeom prst="rect">
            <a:avLst/>
          </a:prstGeom>
          <a:noFill/>
        </p:spPr>
        <p:txBody>
          <a:bodyPr wrap="square" rtlCol="0">
            <a:spAutoFit/>
          </a:bodyPr>
          <a:lstStyle/>
          <a:p>
            <a:pPr defTabSz="457200" eaLnBrk="0" fontAlgn="base" hangingPunct="0">
              <a:lnSpc>
                <a:spcPct val="134000"/>
              </a:lnSpc>
              <a:spcBef>
                <a:spcPct val="0"/>
              </a:spcBef>
              <a:spcAft>
                <a:spcPct val="0"/>
              </a:spcAft>
              <a:buClr>
                <a:srgbClr val="080808"/>
              </a:buClr>
              <a:buSzPct val="100000"/>
              <a:buFont typeface="Times New Roman" charset="0"/>
              <a:buNone/>
            </a:pPr>
            <a:r>
              <a:rPr lang="en-US" sz="1500">
                <a:latin typeface="Arial"/>
                <a:ea typeface="MS PGothic" charset="0"/>
              </a:rPr>
              <a:t>naam: </a:t>
            </a:r>
            <a:r>
              <a:rPr lang="en-US" sz="1500" err="1">
                <a:latin typeface="Arial"/>
                <a:ea typeface="MS PGothic" charset="0"/>
              </a:rPr>
              <a:t>pd.Series</a:t>
            </a:r>
            <a:endParaRPr lang="en-US" sz="1500">
              <a:latin typeface="Arial"/>
              <a:ea typeface="MS PGothic" charset="0"/>
            </a:endParaRPr>
          </a:p>
        </p:txBody>
      </p:sp>
      <p:sp>
        <p:nvSpPr>
          <p:cNvPr id="21" name="Tekstvak 20">
            <a:extLst>
              <a:ext uri="{FF2B5EF4-FFF2-40B4-BE49-F238E27FC236}">
                <a16:creationId xmlns:a16="http://schemas.microsoft.com/office/drawing/2014/main" id="{822693C7-E373-F05C-4077-993E00833727}"/>
              </a:ext>
            </a:extLst>
          </p:cNvPr>
          <p:cNvSpPr txBox="1"/>
          <p:nvPr/>
        </p:nvSpPr>
        <p:spPr>
          <a:xfrm>
            <a:off x="5860088" y="2646084"/>
            <a:ext cx="884052" cy="646331"/>
          </a:xfrm>
          <a:prstGeom prst="rect">
            <a:avLst/>
          </a:prstGeom>
          <a:noFill/>
        </p:spPr>
        <p:txBody>
          <a:bodyPr wrap="square">
            <a:spAutoFit/>
          </a:bodyPr>
          <a:lstStyle/>
          <a:p>
            <a:r>
              <a:rPr lang="nl-NL" sz="3600"/>
              <a:t>=&gt;</a:t>
            </a:r>
          </a:p>
        </p:txBody>
      </p:sp>
      <p:sp>
        <p:nvSpPr>
          <p:cNvPr id="23" name="Tekstvak 22">
            <a:extLst>
              <a:ext uri="{FF2B5EF4-FFF2-40B4-BE49-F238E27FC236}">
                <a16:creationId xmlns:a16="http://schemas.microsoft.com/office/drawing/2014/main" id="{A3851980-C9D6-65D8-750D-51E962DDD690}"/>
              </a:ext>
            </a:extLst>
          </p:cNvPr>
          <p:cNvSpPr txBox="1"/>
          <p:nvPr/>
        </p:nvSpPr>
        <p:spPr>
          <a:xfrm>
            <a:off x="6520860" y="4622627"/>
            <a:ext cx="5450316" cy="2031325"/>
          </a:xfrm>
          <a:prstGeom prst="rect">
            <a:avLst/>
          </a:prstGeom>
          <a:noFill/>
        </p:spPr>
        <p:txBody>
          <a:bodyPr wrap="square">
            <a:spAutoFit/>
          </a:bodyPr>
          <a:lstStyle/>
          <a:p>
            <a:r>
              <a:rPr lang="nl-NL" dirty="0"/>
              <a:t>Elke serie bestaat uit…</a:t>
            </a:r>
          </a:p>
          <a:p>
            <a:pPr marL="285750" indent="-285750">
              <a:buFont typeface="Arial" panose="020B0604020202020204" pitchFamily="34" charset="0"/>
              <a:buChar char="•"/>
            </a:pPr>
            <a:r>
              <a:rPr lang="nl-NL" dirty="0"/>
              <a:t>Een naam</a:t>
            </a:r>
          </a:p>
          <a:p>
            <a:pPr marL="285750" indent="-285750">
              <a:buFont typeface="Arial" panose="020B0604020202020204" pitchFamily="34" charset="0"/>
              <a:buChar char="•"/>
            </a:pPr>
            <a:r>
              <a:rPr lang="nl-NL" dirty="0"/>
              <a:t>Een datatype (int, </a:t>
            </a:r>
            <a:r>
              <a:rPr lang="nl-NL" dirty="0" err="1"/>
              <a:t>float</a:t>
            </a:r>
            <a:r>
              <a:rPr lang="nl-NL" dirty="0"/>
              <a:t>, </a:t>
            </a:r>
            <a:r>
              <a:rPr lang="nl-NL" dirty="0" err="1"/>
              <a:t>bool</a:t>
            </a:r>
            <a:r>
              <a:rPr lang="nl-NL" dirty="0"/>
              <a:t>, object, enzovoort)</a:t>
            </a:r>
          </a:p>
          <a:p>
            <a:pPr marL="285750" indent="-285750">
              <a:buFont typeface="Arial" panose="020B0604020202020204" pitchFamily="34" charset="0"/>
              <a:buChar char="•"/>
            </a:pPr>
            <a:r>
              <a:rPr lang="nl-NL" dirty="0"/>
              <a:t>Een index (</a:t>
            </a:r>
            <a:r>
              <a:rPr lang="nl-NL" dirty="0">
                <a:solidFill>
                  <a:srgbClr val="FF0000"/>
                </a:solidFill>
              </a:rPr>
              <a:t>rood gemarkeerd</a:t>
            </a:r>
            <a:r>
              <a:rPr lang="nl-NL" dirty="0"/>
              <a:t>): een label dat meegegeven wordt om elke rij uniek identificeerbaar te maken. </a:t>
            </a:r>
            <a:r>
              <a:rPr lang="nl-NL" b="1" dirty="0"/>
              <a:t>Welke kolom zou hier nog meer voor gebruikt kunnen worden?</a:t>
            </a:r>
            <a:endParaRPr lang="nl-NL" dirty="0"/>
          </a:p>
        </p:txBody>
      </p:sp>
      <p:sp>
        <p:nvSpPr>
          <p:cNvPr id="24" name="Rechthoek 23">
            <a:extLst>
              <a:ext uri="{FF2B5EF4-FFF2-40B4-BE49-F238E27FC236}">
                <a16:creationId xmlns:a16="http://schemas.microsoft.com/office/drawing/2014/main" id="{D7588425-21FD-1DD6-2BC0-E0D459EDA8B4}"/>
              </a:ext>
            </a:extLst>
          </p:cNvPr>
          <p:cNvSpPr/>
          <p:nvPr/>
        </p:nvSpPr>
        <p:spPr>
          <a:xfrm>
            <a:off x="6590145" y="2285689"/>
            <a:ext cx="296134" cy="159584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6" name="Rechthoek 25">
            <a:extLst>
              <a:ext uri="{FF2B5EF4-FFF2-40B4-BE49-F238E27FC236}">
                <a16:creationId xmlns:a16="http://schemas.microsoft.com/office/drawing/2014/main" id="{969CE5E4-E20B-5CD3-6827-8414B615D297}"/>
              </a:ext>
            </a:extLst>
          </p:cNvPr>
          <p:cNvSpPr/>
          <p:nvPr/>
        </p:nvSpPr>
        <p:spPr>
          <a:xfrm>
            <a:off x="9306639" y="2285689"/>
            <a:ext cx="296134" cy="159584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451546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xEl>
                                              <p:pRg st="3" end="3"/>
                                            </p:txEl>
                                          </p:spTgt>
                                        </p:tgtEl>
                                        <p:attrNameLst>
                                          <p:attrName>style.visibility</p:attrName>
                                        </p:attrNameLst>
                                      </p:cBhvr>
                                      <p:to>
                                        <p:strVal val="visible"/>
                                      </p:to>
                                    </p:set>
                                    <p:animEffect transition="in" filter="fade">
                                      <p:cBhvr>
                                        <p:cTn id="13" dur="500"/>
                                        <p:tgtEl>
                                          <p:spTgt spid="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BC8836E-6531-B080-70A6-CD4B298875E6}"/>
              </a:ext>
            </a:extLst>
          </p:cNvPr>
          <p:cNvSpPr>
            <a:spLocks noGrp="1"/>
          </p:cNvSpPr>
          <p:nvPr>
            <p:ph type="sldNum" sz="quarter" idx="12"/>
          </p:nvPr>
        </p:nvSpPr>
        <p:spPr>
          <a:xfrm>
            <a:off x="8601364" y="6381345"/>
            <a:ext cx="2743200" cy="365125"/>
          </a:xfrm>
        </p:spPr>
        <p:txBody>
          <a:bodyPr/>
          <a:lstStyle/>
          <a:p>
            <a:fld id="{587C737D-49A5-4740-8401-0C4DFF2B9D4A}" type="slidenum">
              <a:rPr lang="nl-NL" smtClean="0"/>
              <a:pPr/>
              <a:t>11</a:t>
            </a:fld>
            <a:endParaRPr lang="nl-NL"/>
          </a:p>
        </p:txBody>
      </p:sp>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531828" y="-990"/>
            <a:ext cx="8636105"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err="1">
                <a:solidFill>
                  <a:srgbClr val="829C30"/>
                </a:solidFill>
                <a:latin typeface="Arial"/>
                <a:ea typeface="MS PGothic" charset="0"/>
              </a:rPr>
              <a:t>Combinaties</a:t>
            </a:r>
            <a:r>
              <a:rPr lang="en-US" sz="3000" b="1">
                <a:solidFill>
                  <a:srgbClr val="829C30"/>
                </a:solidFill>
                <a:latin typeface="Arial"/>
                <a:ea typeface="MS PGothic" charset="0"/>
              </a:rPr>
              <a:t> met </a:t>
            </a:r>
            <a:r>
              <a:rPr lang="en-US" sz="3000" b="1" err="1">
                <a:solidFill>
                  <a:srgbClr val="829C30"/>
                </a:solidFill>
                <a:latin typeface="Arial"/>
                <a:ea typeface="MS PGothic" charset="0"/>
              </a:rPr>
              <a:t>andere</a:t>
            </a:r>
            <a:r>
              <a:rPr lang="en-US" sz="3000" b="1">
                <a:solidFill>
                  <a:srgbClr val="829C30"/>
                </a:solidFill>
                <a:latin typeface="Arial"/>
                <a:ea typeface="MS PGothic" charset="0"/>
              </a:rPr>
              <a:t> </a:t>
            </a:r>
            <a:r>
              <a:rPr lang="en-US" sz="3000" b="1" err="1">
                <a:solidFill>
                  <a:srgbClr val="829C30"/>
                </a:solidFill>
                <a:latin typeface="Arial"/>
                <a:ea typeface="MS PGothic" charset="0"/>
              </a:rPr>
              <a:t>datastructuren</a:t>
            </a:r>
            <a:endParaRPr lang="en-US" sz="3000" b="1">
              <a:solidFill>
                <a:srgbClr val="829C30"/>
              </a:solidFill>
              <a:latin typeface="Arial"/>
              <a:ea typeface="MS PGothic" charset="0"/>
            </a:endParaRP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4" name="Tekstvak 3">
            <a:extLst>
              <a:ext uri="{FF2B5EF4-FFF2-40B4-BE49-F238E27FC236}">
                <a16:creationId xmlns:a16="http://schemas.microsoft.com/office/drawing/2014/main" id="{BF553125-104D-F44F-7987-BC364347D607}"/>
              </a:ext>
            </a:extLst>
          </p:cNvPr>
          <p:cNvSpPr txBox="1"/>
          <p:nvPr/>
        </p:nvSpPr>
        <p:spPr>
          <a:xfrm>
            <a:off x="988290" y="934509"/>
            <a:ext cx="11065141" cy="369332"/>
          </a:xfrm>
          <a:prstGeom prst="rect">
            <a:avLst/>
          </a:prstGeom>
          <a:noFill/>
        </p:spPr>
        <p:txBody>
          <a:bodyPr wrap="square">
            <a:spAutoFit/>
          </a:bodyPr>
          <a:lstStyle/>
          <a:p>
            <a:pPr algn="ctr"/>
            <a:r>
              <a:rPr lang="nl-NL"/>
              <a:t>Vanuit een lijst kan je een serie maken. Vanuit een </a:t>
            </a:r>
            <a:r>
              <a:rPr lang="nl-NL" err="1"/>
              <a:t>dictionary</a:t>
            </a:r>
            <a:r>
              <a:rPr lang="nl-NL"/>
              <a:t> kan je een serie en een </a:t>
            </a:r>
            <a:r>
              <a:rPr lang="nl-NL" err="1"/>
              <a:t>DataFrame</a:t>
            </a:r>
            <a:r>
              <a:rPr lang="nl-NL"/>
              <a:t> maken.</a:t>
            </a:r>
          </a:p>
        </p:txBody>
      </p:sp>
      <p:cxnSp>
        <p:nvCxnSpPr>
          <p:cNvPr id="8" name="Straight Connector 10">
            <a:extLst>
              <a:ext uri="{FF2B5EF4-FFF2-40B4-BE49-F238E27FC236}">
                <a16:creationId xmlns:a16="http://schemas.microsoft.com/office/drawing/2014/main" id="{BECEC915-F7F5-3684-E372-97F5BB7111FB}"/>
              </a:ext>
            </a:extLst>
          </p:cNvPr>
          <p:cNvCxnSpPr>
            <a:cxnSpLocks/>
          </p:cNvCxnSpPr>
          <p:nvPr/>
        </p:nvCxnSpPr>
        <p:spPr>
          <a:xfrm>
            <a:off x="988290" y="1349277"/>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cxnSp>
        <p:nvCxnSpPr>
          <p:cNvPr id="9" name="Straight Connector 10">
            <a:extLst>
              <a:ext uri="{FF2B5EF4-FFF2-40B4-BE49-F238E27FC236}">
                <a16:creationId xmlns:a16="http://schemas.microsoft.com/office/drawing/2014/main" id="{0D6B0761-1501-E39C-15E8-C9B9CEDCC9DE}"/>
              </a:ext>
            </a:extLst>
          </p:cNvPr>
          <p:cNvCxnSpPr>
            <a:cxnSpLocks/>
          </p:cNvCxnSpPr>
          <p:nvPr/>
        </p:nvCxnSpPr>
        <p:spPr>
          <a:xfrm flipV="1">
            <a:off x="6385329" y="1349277"/>
            <a:ext cx="0" cy="2526809"/>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cxnSp>
        <p:nvCxnSpPr>
          <p:cNvPr id="15" name="Straight Connector 10">
            <a:extLst>
              <a:ext uri="{FF2B5EF4-FFF2-40B4-BE49-F238E27FC236}">
                <a16:creationId xmlns:a16="http://schemas.microsoft.com/office/drawing/2014/main" id="{1B1A6F72-1B72-D5DE-409A-BC09816C0E5C}"/>
              </a:ext>
            </a:extLst>
          </p:cNvPr>
          <p:cNvCxnSpPr>
            <a:cxnSpLocks/>
          </p:cNvCxnSpPr>
          <p:nvPr/>
        </p:nvCxnSpPr>
        <p:spPr>
          <a:xfrm>
            <a:off x="919005" y="3876086"/>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18" name="Afbeelding 17">
            <a:extLst>
              <a:ext uri="{FF2B5EF4-FFF2-40B4-BE49-F238E27FC236}">
                <a16:creationId xmlns:a16="http://schemas.microsoft.com/office/drawing/2014/main" id="{5828E62D-25F1-572A-43FD-7A90C79E7A90}"/>
              </a:ext>
            </a:extLst>
          </p:cNvPr>
          <p:cNvPicPr>
            <a:picLocks noChangeAspect="1"/>
          </p:cNvPicPr>
          <p:nvPr/>
        </p:nvPicPr>
        <p:blipFill>
          <a:blip r:embed="rId2"/>
          <a:stretch>
            <a:fillRect/>
          </a:stretch>
        </p:blipFill>
        <p:spPr>
          <a:xfrm>
            <a:off x="1074216" y="1510568"/>
            <a:ext cx="3649019" cy="1731442"/>
          </a:xfrm>
          <a:prstGeom prst="rect">
            <a:avLst/>
          </a:prstGeom>
        </p:spPr>
      </p:pic>
      <p:pic>
        <p:nvPicPr>
          <p:cNvPr id="25" name="Afbeelding 24">
            <a:extLst>
              <a:ext uri="{FF2B5EF4-FFF2-40B4-BE49-F238E27FC236}">
                <a16:creationId xmlns:a16="http://schemas.microsoft.com/office/drawing/2014/main" id="{310085E8-ABD5-9078-0E9B-4E9B6A58671D}"/>
              </a:ext>
            </a:extLst>
          </p:cNvPr>
          <p:cNvPicPr>
            <a:picLocks noChangeAspect="1"/>
          </p:cNvPicPr>
          <p:nvPr/>
        </p:nvPicPr>
        <p:blipFill>
          <a:blip r:embed="rId3"/>
          <a:stretch>
            <a:fillRect/>
          </a:stretch>
        </p:blipFill>
        <p:spPr>
          <a:xfrm>
            <a:off x="4940097" y="1511434"/>
            <a:ext cx="1344008" cy="1731437"/>
          </a:xfrm>
          <a:prstGeom prst="rect">
            <a:avLst/>
          </a:prstGeom>
        </p:spPr>
      </p:pic>
      <p:sp>
        <p:nvSpPr>
          <p:cNvPr id="28" name="Tekstvak 27">
            <a:extLst>
              <a:ext uri="{FF2B5EF4-FFF2-40B4-BE49-F238E27FC236}">
                <a16:creationId xmlns:a16="http://schemas.microsoft.com/office/drawing/2014/main" id="{D244CE26-6E4B-4BCC-696D-9A8C8F29C9BB}"/>
              </a:ext>
            </a:extLst>
          </p:cNvPr>
          <p:cNvSpPr txBox="1"/>
          <p:nvPr/>
        </p:nvSpPr>
        <p:spPr>
          <a:xfrm>
            <a:off x="1049910" y="3367634"/>
            <a:ext cx="5436643" cy="369332"/>
          </a:xfrm>
          <a:prstGeom prst="rect">
            <a:avLst/>
          </a:prstGeom>
          <a:noFill/>
        </p:spPr>
        <p:txBody>
          <a:bodyPr wrap="square">
            <a:spAutoFit/>
          </a:bodyPr>
          <a:lstStyle/>
          <a:p>
            <a:r>
              <a:rPr lang="nl-NL"/>
              <a:t>Let op: het datatype ‘</a:t>
            </a:r>
            <a:r>
              <a:rPr lang="nl-NL" err="1"/>
              <a:t>str</a:t>
            </a:r>
            <a:r>
              <a:rPr lang="nl-NL"/>
              <a:t>’ is gelijk aan ‘object’ in </a:t>
            </a:r>
            <a:r>
              <a:rPr lang="nl-NL" err="1"/>
              <a:t>pandas</a:t>
            </a:r>
            <a:r>
              <a:rPr lang="nl-NL"/>
              <a:t>!</a:t>
            </a:r>
          </a:p>
        </p:txBody>
      </p:sp>
      <p:pic>
        <p:nvPicPr>
          <p:cNvPr id="30" name="Afbeelding 29">
            <a:extLst>
              <a:ext uri="{FF2B5EF4-FFF2-40B4-BE49-F238E27FC236}">
                <a16:creationId xmlns:a16="http://schemas.microsoft.com/office/drawing/2014/main" id="{FAFCBD61-FFA0-C749-F980-A63BDD55C2EF}"/>
              </a:ext>
            </a:extLst>
          </p:cNvPr>
          <p:cNvPicPr>
            <a:picLocks noChangeAspect="1"/>
          </p:cNvPicPr>
          <p:nvPr/>
        </p:nvPicPr>
        <p:blipFill>
          <a:blip r:embed="rId4"/>
          <a:stretch>
            <a:fillRect/>
          </a:stretch>
        </p:blipFill>
        <p:spPr>
          <a:xfrm>
            <a:off x="6486553" y="1507181"/>
            <a:ext cx="5533105" cy="1715301"/>
          </a:xfrm>
          <a:prstGeom prst="rect">
            <a:avLst/>
          </a:prstGeom>
        </p:spPr>
      </p:pic>
      <p:pic>
        <p:nvPicPr>
          <p:cNvPr id="32" name="Afbeelding 31">
            <a:extLst>
              <a:ext uri="{FF2B5EF4-FFF2-40B4-BE49-F238E27FC236}">
                <a16:creationId xmlns:a16="http://schemas.microsoft.com/office/drawing/2014/main" id="{E287C82F-2A39-21A5-E053-0D6B72BCE007}"/>
              </a:ext>
            </a:extLst>
          </p:cNvPr>
          <p:cNvPicPr>
            <a:picLocks noChangeAspect="1"/>
          </p:cNvPicPr>
          <p:nvPr/>
        </p:nvPicPr>
        <p:blipFill>
          <a:blip r:embed="rId5"/>
          <a:stretch>
            <a:fillRect/>
          </a:stretch>
        </p:blipFill>
        <p:spPr>
          <a:xfrm>
            <a:off x="1049911" y="4008944"/>
            <a:ext cx="10990496" cy="2266379"/>
          </a:xfrm>
          <a:prstGeom prst="rect">
            <a:avLst/>
          </a:prstGeom>
        </p:spPr>
      </p:pic>
      <p:sp>
        <p:nvSpPr>
          <p:cNvPr id="36" name="Tekstvak 35">
            <a:extLst>
              <a:ext uri="{FF2B5EF4-FFF2-40B4-BE49-F238E27FC236}">
                <a16:creationId xmlns:a16="http://schemas.microsoft.com/office/drawing/2014/main" id="{9CC46EF1-CADF-3DB1-5C3F-2BEEFFCFDB6E}"/>
              </a:ext>
            </a:extLst>
          </p:cNvPr>
          <p:cNvSpPr txBox="1"/>
          <p:nvPr/>
        </p:nvSpPr>
        <p:spPr>
          <a:xfrm>
            <a:off x="6587776" y="3215086"/>
            <a:ext cx="5591588" cy="646331"/>
          </a:xfrm>
          <a:prstGeom prst="rect">
            <a:avLst/>
          </a:prstGeom>
          <a:noFill/>
        </p:spPr>
        <p:txBody>
          <a:bodyPr wrap="square">
            <a:spAutoFit/>
          </a:bodyPr>
          <a:lstStyle/>
          <a:p>
            <a:r>
              <a:rPr lang="nl-NL"/>
              <a:t>Elke waarde in de </a:t>
            </a:r>
            <a:r>
              <a:rPr lang="nl-NL" err="1"/>
              <a:t>dict</a:t>
            </a:r>
            <a:r>
              <a:rPr lang="nl-NL"/>
              <a:t> bestaat uit slechts één string!</a:t>
            </a:r>
          </a:p>
          <a:p>
            <a:r>
              <a:rPr lang="nl-NL"/>
              <a:t>Elke </a:t>
            </a:r>
            <a:r>
              <a:rPr lang="nl-NL" err="1"/>
              <a:t>key</a:t>
            </a:r>
            <a:r>
              <a:rPr lang="nl-NL"/>
              <a:t> in de </a:t>
            </a:r>
            <a:r>
              <a:rPr lang="nl-NL" err="1"/>
              <a:t>dict</a:t>
            </a:r>
            <a:r>
              <a:rPr lang="nl-NL"/>
              <a:t> wordt een index in de serie</a:t>
            </a:r>
          </a:p>
        </p:txBody>
      </p:sp>
      <p:sp>
        <p:nvSpPr>
          <p:cNvPr id="37" name="Rechthoek 36">
            <a:extLst>
              <a:ext uri="{FF2B5EF4-FFF2-40B4-BE49-F238E27FC236}">
                <a16:creationId xmlns:a16="http://schemas.microsoft.com/office/drawing/2014/main" id="{EE91AFD3-221E-0148-6D40-D09B70989470}"/>
              </a:ext>
            </a:extLst>
          </p:cNvPr>
          <p:cNvSpPr/>
          <p:nvPr/>
        </p:nvSpPr>
        <p:spPr>
          <a:xfrm>
            <a:off x="8532196" y="1625780"/>
            <a:ext cx="1576795" cy="25350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8" name="Rechthoek 37">
            <a:extLst>
              <a:ext uri="{FF2B5EF4-FFF2-40B4-BE49-F238E27FC236}">
                <a16:creationId xmlns:a16="http://schemas.microsoft.com/office/drawing/2014/main" id="{3264C0C0-0E91-8223-4815-8D1612E972E2}"/>
              </a:ext>
            </a:extLst>
          </p:cNvPr>
          <p:cNvSpPr/>
          <p:nvPr/>
        </p:nvSpPr>
        <p:spPr>
          <a:xfrm>
            <a:off x="10634596" y="1632860"/>
            <a:ext cx="1385062" cy="24642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hthoek 39">
            <a:extLst>
              <a:ext uri="{FF2B5EF4-FFF2-40B4-BE49-F238E27FC236}">
                <a16:creationId xmlns:a16="http://schemas.microsoft.com/office/drawing/2014/main" id="{8EAD53C0-EAA9-6CF1-7E1D-D4256127BC9F}"/>
              </a:ext>
            </a:extLst>
          </p:cNvPr>
          <p:cNvSpPr/>
          <p:nvPr/>
        </p:nvSpPr>
        <p:spPr>
          <a:xfrm>
            <a:off x="4613660" y="4008944"/>
            <a:ext cx="3342563" cy="25350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hthoek 40">
            <a:extLst>
              <a:ext uri="{FF2B5EF4-FFF2-40B4-BE49-F238E27FC236}">
                <a16:creationId xmlns:a16="http://schemas.microsoft.com/office/drawing/2014/main" id="{CD176651-0A7A-2938-1339-CEEC2971A498}"/>
              </a:ext>
            </a:extLst>
          </p:cNvPr>
          <p:cNvSpPr/>
          <p:nvPr/>
        </p:nvSpPr>
        <p:spPr>
          <a:xfrm>
            <a:off x="9079592" y="4008945"/>
            <a:ext cx="2816939" cy="25350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Tekstvak 41">
            <a:extLst>
              <a:ext uri="{FF2B5EF4-FFF2-40B4-BE49-F238E27FC236}">
                <a16:creationId xmlns:a16="http://schemas.microsoft.com/office/drawing/2014/main" id="{6F9383F3-4088-EE9F-D81C-DF4B6D7BC1FC}"/>
              </a:ext>
            </a:extLst>
          </p:cNvPr>
          <p:cNvSpPr txBox="1"/>
          <p:nvPr/>
        </p:nvSpPr>
        <p:spPr>
          <a:xfrm>
            <a:off x="1203649" y="6255868"/>
            <a:ext cx="10975715" cy="646331"/>
          </a:xfrm>
          <a:prstGeom prst="rect">
            <a:avLst/>
          </a:prstGeom>
          <a:noFill/>
        </p:spPr>
        <p:txBody>
          <a:bodyPr wrap="square">
            <a:spAutoFit/>
          </a:bodyPr>
          <a:lstStyle/>
          <a:p>
            <a:pPr algn="ctr"/>
            <a:r>
              <a:rPr lang="nl-NL"/>
              <a:t>Elke waarde in de </a:t>
            </a:r>
            <a:r>
              <a:rPr lang="nl-NL" err="1"/>
              <a:t>dict</a:t>
            </a:r>
            <a:r>
              <a:rPr lang="nl-NL"/>
              <a:t> bestaat uit een lijst met meerdere strings</a:t>
            </a:r>
          </a:p>
          <a:p>
            <a:pPr algn="ctr"/>
            <a:r>
              <a:rPr lang="nl-NL"/>
              <a:t>Elke </a:t>
            </a:r>
            <a:r>
              <a:rPr lang="nl-NL" err="1"/>
              <a:t>key</a:t>
            </a:r>
            <a:r>
              <a:rPr lang="nl-NL"/>
              <a:t> in de </a:t>
            </a:r>
            <a:r>
              <a:rPr lang="nl-NL" err="1"/>
              <a:t>dict</a:t>
            </a:r>
            <a:r>
              <a:rPr lang="nl-NL"/>
              <a:t> wordt een kolom. De indexen in de serie worden automatisch gemaakt.</a:t>
            </a:r>
          </a:p>
        </p:txBody>
      </p:sp>
    </p:spTree>
    <p:extLst>
      <p:ext uri="{BB962C8B-B14F-4D97-AF65-F5344CB8AC3E}">
        <p14:creationId xmlns:p14="http://schemas.microsoft.com/office/powerpoint/2010/main" val="2140939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500"/>
                                        <p:tgtEl>
                                          <p:spTgt spid="41"/>
                                        </p:tgtEl>
                                      </p:cBhvr>
                                    </p:animEffect>
                                  </p:childTnLst>
                                </p:cTn>
                              </p:par>
                              <p:par>
                                <p:cTn id="25" presetID="10"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animBg="1"/>
      <p:bldP spid="38" grpId="0" animBg="1"/>
      <p:bldP spid="40" grpId="0" animBg="1"/>
      <p:bldP spid="41" grpId="0" animBg="1"/>
      <p:bldP spid="4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BC8836E-6531-B080-70A6-CD4B298875E6}"/>
              </a:ext>
            </a:extLst>
          </p:cNvPr>
          <p:cNvSpPr>
            <a:spLocks noGrp="1"/>
          </p:cNvSpPr>
          <p:nvPr>
            <p:ph type="sldNum" sz="quarter" idx="12"/>
          </p:nvPr>
        </p:nvSpPr>
        <p:spPr>
          <a:xfrm>
            <a:off x="8601364" y="6381345"/>
            <a:ext cx="2743200" cy="365125"/>
          </a:xfrm>
        </p:spPr>
        <p:txBody>
          <a:bodyPr/>
          <a:lstStyle/>
          <a:p>
            <a:fld id="{587C737D-49A5-4740-8401-0C4DFF2B9D4A}" type="slidenum">
              <a:rPr lang="nl-NL" smtClean="0"/>
              <a:pPr/>
              <a:t>12</a:t>
            </a:fld>
            <a:endParaRPr lang="nl-NL"/>
          </a:p>
        </p:txBody>
      </p:sp>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531828" y="-990"/>
            <a:ext cx="8636105"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err="1">
                <a:solidFill>
                  <a:srgbClr val="829C30"/>
                </a:solidFill>
                <a:latin typeface="Arial"/>
                <a:ea typeface="MS PGothic" charset="0"/>
              </a:rPr>
              <a:t>Benodigde</a:t>
            </a:r>
            <a:r>
              <a:rPr lang="en-US" sz="3000" b="1">
                <a:solidFill>
                  <a:srgbClr val="829C30"/>
                </a:solidFill>
                <a:latin typeface="Arial"/>
                <a:ea typeface="MS PGothic" charset="0"/>
              </a:rPr>
              <a:t> </a:t>
            </a:r>
            <a:r>
              <a:rPr lang="en-US" sz="3000" b="1" err="1">
                <a:solidFill>
                  <a:srgbClr val="829C30"/>
                </a:solidFill>
                <a:latin typeface="Arial"/>
                <a:ea typeface="MS PGothic" charset="0"/>
              </a:rPr>
              <a:t>wijzigingsacties</a:t>
            </a:r>
            <a:endParaRPr lang="en-US" sz="3000" b="1">
              <a:solidFill>
                <a:srgbClr val="829C30"/>
              </a:solidFill>
              <a:latin typeface="Arial"/>
              <a:ea typeface="MS PGothic" charset="0"/>
            </a:endParaRP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graphicFrame>
        <p:nvGraphicFramePr>
          <p:cNvPr id="6" name="Tabel 5">
            <a:extLst>
              <a:ext uri="{FF2B5EF4-FFF2-40B4-BE49-F238E27FC236}">
                <a16:creationId xmlns:a16="http://schemas.microsoft.com/office/drawing/2014/main" id="{68893D65-8B2E-B0A7-A15E-D77522DC4732}"/>
              </a:ext>
            </a:extLst>
          </p:cNvPr>
          <p:cNvGraphicFramePr>
            <a:graphicFrameLocks noGrp="1"/>
          </p:cNvGraphicFramePr>
          <p:nvPr>
            <p:extLst>
              <p:ext uri="{D42A27DB-BD31-4B8C-83A1-F6EECF244321}">
                <p14:modId xmlns:p14="http://schemas.microsoft.com/office/powerpoint/2010/main" val="1950652345"/>
              </p:ext>
            </p:extLst>
          </p:nvPr>
        </p:nvGraphicFramePr>
        <p:xfrm>
          <a:off x="1498099" y="1913831"/>
          <a:ext cx="9846465" cy="2743200"/>
        </p:xfrm>
        <a:graphic>
          <a:graphicData uri="http://schemas.openxmlformats.org/drawingml/2006/table">
            <a:tbl>
              <a:tblPr firstRow="1" firstCol="1" bandRow="1">
                <a:tableStyleId>{93296810-A885-4BE3-A3E7-6D5BEEA58F35}</a:tableStyleId>
              </a:tblPr>
              <a:tblGrid>
                <a:gridCol w="2145322">
                  <a:extLst>
                    <a:ext uri="{9D8B030D-6E8A-4147-A177-3AD203B41FA5}">
                      <a16:colId xmlns:a16="http://schemas.microsoft.com/office/drawing/2014/main" val="1617302660"/>
                    </a:ext>
                  </a:extLst>
                </a:gridCol>
                <a:gridCol w="3573625">
                  <a:extLst>
                    <a:ext uri="{9D8B030D-6E8A-4147-A177-3AD203B41FA5}">
                      <a16:colId xmlns:a16="http://schemas.microsoft.com/office/drawing/2014/main" val="213060598"/>
                    </a:ext>
                  </a:extLst>
                </a:gridCol>
                <a:gridCol w="4127518">
                  <a:extLst>
                    <a:ext uri="{9D8B030D-6E8A-4147-A177-3AD203B41FA5}">
                      <a16:colId xmlns:a16="http://schemas.microsoft.com/office/drawing/2014/main" val="833466312"/>
                    </a:ext>
                  </a:extLst>
                </a:gridCol>
              </a:tblGrid>
              <a:tr h="0">
                <a:tc>
                  <a:txBody>
                    <a:bodyPr/>
                    <a:lstStyle/>
                    <a:p>
                      <a:r>
                        <a:rPr lang="nl-NL" sz="1800" kern="100">
                          <a:effectLst/>
                        </a:rPr>
                        <a:t>Soort doel</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a:effectLst/>
                        </a:rPr>
                        <a:t>Doel</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a:effectLst/>
                        </a:rPr>
                        <a:t>Techniek</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44602121"/>
                  </a:ext>
                </a:extLst>
              </a:tr>
              <a:tr h="0">
                <a:tc rowSpan="2">
                  <a:txBody>
                    <a:bodyPr/>
                    <a:lstStyle/>
                    <a:p>
                      <a:r>
                        <a:rPr lang="nl-NL" sz="1800" kern="100">
                          <a:effectLst/>
                        </a:rPr>
                        <a:t>Data toevoegen</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a:effectLst/>
                        </a:rPr>
                        <a:t>Rijen toevoegen</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a:effectLst/>
                        </a:rPr>
                        <a:t>Dictionary met nieuwe waarden maken, converteren en toevoegen</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6457095"/>
                  </a:ext>
                </a:extLst>
              </a:tr>
              <a:tr h="0">
                <a:tc vMerge="1">
                  <a:txBody>
                    <a:bodyPr/>
                    <a:lstStyle/>
                    <a:p>
                      <a:endParaRPr lang="nl-NL"/>
                    </a:p>
                  </a:txBody>
                  <a:tcPr/>
                </a:tc>
                <a:tc>
                  <a:txBody>
                    <a:bodyPr/>
                    <a:lstStyle/>
                    <a:p>
                      <a:r>
                        <a:rPr lang="nl-NL" sz="1800" kern="100">
                          <a:effectLst/>
                        </a:rPr>
                        <a:t>Kolommen toevoegen</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a:effectLst/>
                        </a:rPr>
                        <a:t>Reeds bestaande kolommen combineren</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3798715"/>
                  </a:ext>
                </a:extLst>
              </a:tr>
              <a:tr h="0">
                <a:tc rowSpan="3">
                  <a:txBody>
                    <a:bodyPr/>
                    <a:lstStyle/>
                    <a:p>
                      <a:r>
                        <a:rPr lang="nl-NL" sz="1800" kern="100">
                          <a:effectLst/>
                        </a:rPr>
                        <a:t>Data wijzigen</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2">
                  <a:txBody>
                    <a:bodyPr/>
                    <a:lstStyle/>
                    <a:p>
                      <a:r>
                        <a:rPr lang="nl-NL" sz="1800" kern="100">
                          <a:effectLst/>
                        </a:rPr>
                        <a:t>Waarden in rijen wijzigen</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a:effectLst/>
                        </a:rPr>
                        <a:t>Kolomoverschrijving</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2387577"/>
                  </a:ext>
                </a:extLst>
              </a:tr>
              <a:tr h="0">
                <a:tc vMerge="1">
                  <a:txBody>
                    <a:bodyPr/>
                    <a:lstStyle/>
                    <a:p>
                      <a:endParaRPr lang="nl-NL"/>
                    </a:p>
                  </a:txBody>
                  <a:tcPr/>
                </a:tc>
                <a:tc vMerge="1">
                  <a:txBody>
                    <a:bodyPr/>
                    <a:lstStyle/>
                    <a:p>
                      <a:endParaRPr lang="nl-NL"/>
                    </a:p>
                  </a:txBody>
                  <a:tcPr/>
                </a:tc>
                <a:tc>
                  <a:txBody>
                    <a:bodyPr/>
                    <a:lstStyle/>
                    <a:p>
                      <a:r>
                        <a:rPr lang="nl-NL" sz="1800" kern="100">
                          <a:effectLst/>
                        </a:rPr>
                        <a:t>.</a:t>
                      </a:r>
                      <a:r>
                        <a:rPr lang="nl-NL" sz="1800" kern="100" err="1">
                          <a:effectLst/>
                        </a:rPr>
                        <a:t>replace</a:t>
                      </a:r>
                      <a:r>
                        <a:rPr lang="nl-NL" sz="1800" kern="100">
                          <a:effectLst/>
                        </a:rPr>
                        <a:t>()</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2093661"/>
                  </a:ext>
                </a:extLst>
              </a:tr>
              <a:tr h="0">
                <a:tc vMerge="1">
                  <a:txBody>
                    <a:bodyPr/>
                    <a:lstStyle/>
                    <a:p>
                      <a:endParaRPr lang="nl-NL"/>
                    </a:p>
                  </a:txBody>
                  <a:tcPr/>
                </a:tc>
                <a:tc>
                  <a:txBody>
                    <a:bodyPr/>
                    <a:lstStyle/>
                    <a:p>
                      <a:r>
                        <a:rPr lang="nl-NL" sz="1800" kern="100">
                          <a:effectLst/>
                        </a:rPr>
                        <a:t>Kolomnamen wijzigen</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a:effectLst/>
                        </a:rPr>
                        <a:t>.</a:t>
                      </a:r>
                      <a:r>
                        <a:rPr lang="nl-NL" sz="1800" kern="100" err="1">
                          <a:effectLst/>
                        </a:rPr>
                        <a:t>rename</a:t>
                      </a:r>
                      <a:r>
                        <a:rPr lang="nl-NL" sz="1800" kern="100">
                          <a:effectLst/>
                        </a:rPr>
                        <a:t>(columns = &lt;</a:t>
                      </a:r>
                      <a:r>
                        <a:rPr lang="nl-NL" sz="1800" kern="100" err="1">
                          <a:effectLst/>
                        </a:rPr>
                        <a:t>dict</a:t>
                      </a:r>
                      <a:r>
                        <a:rPr lang="nl-NL" sz="1800" kern="100">
                          <a:effectLst/>
                        </a:rPr>
                        <a:t>&gt;)</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94875340"/>
                  </a:ext>
                </a:extLst>
              </a:tr>
              <a:tr h="0">
                <a:tc rowSpan="2">
                  <a:txBody>
                    <a:bodyPr/>
                    <a:lstStyle/>
                    <a:p>
                      <a:r>
                        <a:rPr lang="nl-NL" sz="1800" kern="100">
                          <a:effectLst/>
                        </a:rPr>
                        <a:t>Data verwijderen</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a:effectLst/>
                        </a:rPr>
                        <a:t>Rijen verwijderen op basis van index</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a:effectLst/>
                          <a:latin typeface="Calibri" panose="020F0502020204030204" pitchFamily="34" charset="0"/>
                          <a:ea typeface="Calibri" panose="020F0502020204030204" pitchFamily="34" charset="0"/>
                          <a:cs typeface="Times New Roman" panose="02020603050405020304" pitchFamily="18" charset="0"/>
                        </a:rPr>
                        <a:t>.drop(</a:t>
                      </a:r>
                      <a:r>
                        <a:rPr lang="nl-NL" sz="1800" kern="100" err="1">
                          <a:effectLst/>
                          <a:latin typeface="Calibri" panose="020F0502020204030204" pitchFamily="34" charset="0"/>
                          <a:ea typeface="Calibri" panose="020F0502020204030204" pitchFamily="34" charset="0"/>
                          <a:cs typeface="Times New Roman" panose="02020603050405020304" pitchFamily="18" charset="0"/>
                        </a:rPr>
                        <a:t>axis</a:t>
                      </a:r>
                      <a:r>
                        <a:rPr lang="nl-NL" sz="1800" kern="100">
                          <a:effectLst/>
                          <a:latin typeface="Calibri" panose="020F0502020204030204" pitchFamily="34" charset="0"/>
                          <a:ea typeface="Calibri" panose="020F0502020204030204" pitchFamily="34" charset="0"/>
                          <a:cs typeface="Times New Roman" panose="02020603050405020304" pitchFamily="18" charset="0"/>
                        </a:rPr>
                        <a:t> = 0)</a:t>
                      </a:r>
                    </a:p>
                  </a:txBody>
                  <a:tcPr marL="68580" marR="68580" marT="0" marB="0"/>
                </a:tc>
                <a:extLst>
                  <a:ext uri="{0D108BD9-81ED-4DB2-BD59-A6C34878D82A}">
                    <a16:rowId xmlns:a16="http://schemas.microsoft.com/office/drawing/2014/main" val="693526100"/>
                  </a:ext>
                </a:extLst>
              </a:tr>
              <a:tr h="0">
                <a:tc vMerge="1">
                  <a:txBody>
                    <a:bodyPr/>
                    <a:lstStyle/>
                    <a:p>
                      <a:r>
                        <a:rPr lang="nl-NL" sz="1800" kern="100">
                          <a:effectLst/>
                        </a:rPr>
                        <a:t>Data verwijderen</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a:effectLst/>
                        </a:rPr>
                        <a:t>Kolommen verwijderen op basis van naam</a:t>
                      </a:r>
                      <a:endParaRPr lang="nl-NL"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nl-NL" sz="1800" kern="100" dirty="0">
                          <a:effectLst/>
                        </a:rPr>
                        <a:t>.drop(</a:t>
                      </a:r>
                      <a:r>
                        <a:rPr lang="nl-NL" sz="1800" kern="100" dirty="0" err="1">
                          <a:effectLst/>
                        </a:rPr>
                        <a:t>axis</a:t>
                      </a:r>
                      <a:r>
                        <a:rPr lang="nl-NL" sz="1800" kern="100" dirty="0">
                          <a:effectLst/>
                        </a:rPr>
                        <a:t> = 1)</a:t>
                      </a:r>
                      <a:endParaRPr lang="nl-NL"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6014319"/>
                  </a:ext>
                </a:extLst>
              </a:tr>
            </a:tbl>
          </a:graphicData>
        </a:graphic>
      </p:graphicFrame>
    </p:spTree>
    <p:extLst>
      <p:ext uri="{BB962C8B-B14F-4D97-AF65-F5344CB8AC3E}">
        <p14:creationId xmlns:p14="http://schemas.microsoft.com/office/powerpoint/2010/main" val="791965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BC8836E-6531-B080-70A6-CD4B298875E6}"/>
              </a:ext>
            </a:extLst>
          </p:cNvPr>
          <p:cNvSpPr>
            <a:spLocks noGrp="1"/>
          </p:cNvSpPr>
          <p:nvPr>
            <p:ph type="sldNum" sz="quarter" idx="12"/>
          </p:nvPr>
        </p:nvSpPr>
        <p:spPr>
          <a:xfrm>
            <a:off x="8601364" y="6381345"/>
            <a:ext cx="2743200" cy="365125"/>
          </a:xfrm>
        </p:spPr>
        <p:txBody>
          <a:bodyPr/>
          <a:lstStyle/>
          <a:p>
            <a:fld id="{587C737D-49A5-4740-8401-0C4DFF2B9D4A}" type="slidenum">
              <a:rPr lang="nl-NL" smtClean="0"/>
              <a:pPr/>
              <a:t>13</a:t>
            </a:fld>
            <a:endParaRPr lang="nl-NL"/>
          </a:p>
        </p:txBody>
      </p:sp>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531828" y="-990"/>
            <a:ext cx="8636105"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err="1">
                <a:solidFill>
                  <a:srgbClr val="829C30"/>
                </a:solidFill>
                <a:latin typeface="Arial"/>
                <a:ea typeface="MS PGothic" charset="0"/>
              </a:rPr>
              <a:t>Rijen</a:t>
            </a:r>
            <a:r>
              <a:rPr lang="en-US" sz="3000" b="1">
                <a:solidFill>
                  <a:srgbClr val="829C30"/>
                </a:solidFill>
                <a:latin typeface="Arial"/>
                <a:ea typeface="MS PGothic" charset="0"/>
              </a:rPr>
              <a:t> </a:t>
            </a:r>
            <a:r>
              <a:rPr lang="en-US" sz="3000" b="1" err="1">
                <a:solidFill>
                  <a:srgbClr val="829C30"/>
                </a:solidFill>
                <a:latin typeface="Arial"/>
                <a:ea typeface="MS PGothic" charset="0"/>
              </a:rPr>
              <a:t>toevoegen</a:t>
            </a:r>
            <a:endParaRPr lang="en-US" sz="3000" b="1">
              <a:solidFill>
                <a:srgbClr val="829C30"/>
              </a:solidFill>
              <a:latin typeface="Arial"/>
              <a:ea typeface="MS PGothic" charset="0"/>
            </a:endParaRP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4" name="Tekstvak 3">
            <a:extLst>
              <a:ext uri="{FF2B5EF4-FFF2-40B4-BE49-F238E27FC236}">
                <a16:creationId xmlns:a16="http://schemas.microsoft.com/office/drawing/2014/main" id="{BF553125-104D-F44F-7987-BC364347D607}"/>
              </a:ext>
            </a:extLst>
          </p:cNvPr>
          <p:cNvSpPr txBox="1"/>
          <p:nvPr/>
        </p:nvSpPr>
        <p:spPr>
          <a:xfrm>
            <a:off x="988290" y="934509"/>
            <a:ext cx="11065141" cy="369332"/>
          </a:xfrm>
          <a:prstGeom prst="rect">
            <a:avLst/>
          </a:prstGeom>
          <a:noFill/>
        </p:spPr>
        <p:txBody>
          <a:bodyPr wrap="square">
            <a:spAutoFit/>
          </a:bodyPr>
          <a:lstStyle/>
          <a:p>
            <a:pPr algn="ctr"/>
            <a:r>
              <a:rPr lang="nl-NL"/>
              <a:t>Medewerkers ‘Henk’ en ‘Marleen’ moeten nieuw toegevoegd worden als rij.</a:t>
            </a:r>
          </a:p>
        </p:txBody>
      </p:sp>
      <p:cxnSp>
        <p:nvCxnSpPr>
          <p:cNvPr id="8" name="Straight Connector 10">
            <a:extLst>
              <a:ext uri="{FF2B5EF4-FFF2-40B4-BE49-F238E27FC236}">
                <a16:creationId xmlns:a16="http://schemas.microsoft.com/office/drawing/2014/main" id="{BECEC915-F7F5-3684-E372-97F5BB7111FB}"/>
              </a:ext>
            </a:extLst>
          </p:cNvPr>
          <p:cNvCxnSpPr>
            <a:cxnSpLocks/>
          </p:cNvCxnSpPr>
          <p:nvPr/>
        </p:nvCxnSpPr>
        <p:spPr>
          <a:xfrm>
            <a:off x="988290" y="1349277"/>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cxnSp>
        <p:nvCxnSpPr>
          <p:cNvPr id="9" name="Straight Connector 10">
            <a:extLst>
              <a:ext uri="{FF2B5EF4-FFF2-40B4-BE49-F238E27FC236}">
                <a16:creationId xmlns:a16="http://schemas.microsoft.com/office/drawing/2014/main" id="{0D6B0761-1501-E39C-15E8-C9B9CEDCC9DE}"/>
              </a:ext>
            </a:extLst>
          </p:cNvPr>
          <p:cNvCxnSpPr>
            <a:cxnSpLocks/>
          </p:cNvCxnSpPr>
          <p:nvPr/>
        </p:nvCxnSpPr>
        <p:spPr>
          <a:xfrm flipH="1" flipV="1">
            <a:off x="4976398" y="1349277"/>
            <a:ext cx="8" cy="5563521"/>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11" name="Afbeelding 10">
            <a:extLst>
              <a:ext uri="{FF2B5EF4-FFF2-40B4-BE49-F238E27FC236}">
                <a16:creationId xmlns:a16="http://schemas.microsoft.com/office/drawing/2014/main" id="{8BBAE822-263F-01C1-4F34-7D8B3692485B}"/>
              </a:ext>
            </a:extLst>
          </p:cNvPr>
          <p:cNvPicPr>
            <a:picLocks noChangeAspect="1"/>
          </p:cNvPicPr>
          <p:nvPr/>
        </p:nvPicPr>
        <p:blipFill>
          <a:blip r:embed="rId2"/>
          <a:stretch>
            <a:fillRect/>
          </a:stretch>
        </p:blipFill>
        <p:spPr>
          <a:xfrm>
            <a:off x="1136402" y="2427689"/>
            <a:ext cx="3657917" cy="3276884"/>
          </a:xfrm>
          <a:prstGeom prst="rect">
            <a:avLst/>
          </a:prstGeom>
        </p:spPr>
      </p:pic>
      <p:sp>
        <p:nvSpPr>
          <p:cNvPr id="12" name="TextBox 1">
            <a:extLst>
              <a:ext uri="{FF2B5EF4-FFF2-40B4-BE49-F238E27FC236}">
                <a16:creationId xmlns:a16="http://schemas.microsoft.com/office/drawing/2014/main" id="{A73CD82F-359F-BE91-CA0B-FC87B5EE158C}"/>
              </a:ext>
            </a:extLst>
          </p:cNvPr>
          <p:cNvSpPr txBox="1"/>
          <p:nvPr/>
        </p:nvSpPr>
        <p:spPr>
          <a:xfrm>
            <a:off x="1136402" y="1404075"/>
            <a:ext cx="3657914" cy="872483"/>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2000" err="1">
                <a:latin typeface="Arial"/>
                <a:ea typeface="MS PGothic" charset="0"/>
              </a:rPr>
              <a:t>Stap</a:t>
            </a:r>
            <a:r>
              <a:rPr lang="en-US" sz="2000">
                <a:latin typeface="Arial"/>
                <a:ea typeface="MS PGothic" charset="0"/>
              </a:rPr>
              <a:t> 1:</a:t>
            </a:r>
          </a:p>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2000" err="1">
                <a:latin typeface="Arial"/>
                <a:ea typeface="MS PGothic" charset="0"/>
              </a:rPr>
              <a:t>Een</a:t>
            </a:r>
            <a:r>
              <a:rPr lang="en-US" sz="2000">
                <a:latin typeface="Arial"/>
                <a:ea typeface="MS PGothic" charset="0"/>
              </a:rPr>
              <a:t> </a:t>
            </a:r>
            <a:r>
              <a:rPr lang="en-US" sz="2000" err="1">
                <a:latin typeface="Arial"/>
                <a:ea typeface="MS PGothic" charset="0"/>
              </a:rPr>
              <a:t>nieuwe</a:t>
            </a:r>
            <a:r>
              <a:rPr lang="en-US" sz="2000">
                <a:latin typeface="Arial"/>
                <a:ea typeface="MS PGothic" charset="0"/>
              </a:rPr>
              <a:t> dictionary </a:t>
            </a:r>
            <a:r>
              <a:rPr lang="en-US" sz="2000" err="1">
                <a:latin typeface="Arial"/>
                <a:ea typeface="MS PGothic" charset="0"/>
              </a:rPr>
              <a:t>maken</a:t>
            </a:r>
            <a:endParaRPr lang="en-US" sz="2000">
              <a:latin typeface="Arial"/>
              <a:ea typeface="MS PGothic" charset="0"/>
            </a:endParaRPr>
          </a:p>
        </p:txBody>
      </p:sp>
      <p:sp>
        <p:nvSpPr>
          <p:cNvPr id="13" name="Tekstvak 12">
            <a:extLst>
              <a:ext uri="{FF2B5EF4-FFF2-40B4-BE49-F238E27FC236}">
                <a16:creationId xmlns:a16="http://schemas.microsoft.com/office/drawing/2014/main" id="{EDFC7CAD-52A6-3F18-3EF2-B92B127AD2AF}"/>
              </a:ext>
            </a:extLst>
          </p:cNvPr>
          <p:cNvSpPr txBox="1"/>
          <p:nvPr/>
        </p:nvSpPr>
        <p:spPr>
          <a:xfrm>
            <a:off x="988289" y="5855704"/>
            <a:ext cx="3988109" cy="923330"/>
          </a:xfrm>
          <a:prstGeom prst="rect">
            <a:avLst/>
          </a:prstGeom>
          <a:noFill/>
        </p:spPr>
        <p:txBody>
          <a:bodyPr wrap="square">
            <a:spAutoFit/>
          </a:bodyPr>
          <a:lstStyle/>
          <a:p>
            <a:r>
              <a:rPr lang="nl-NL" err="1"/>
              <a:t>Remember</a:t>
            </a:r>
            <a:r>
              <a:rPr lang="nl-NL"/>
              <a:t>! Om een </a:t>
            </a:r>
            <a:r>
              <a:rPr lang="nl-NL" err="1"/>
              <a:t>dictionary</a:t>
            </a:r>
            <a:r>
              <a:rPr lang="nl-NL"/>
              <a:t> naar een </a:t>
            </a:r>
            <a:r>
              <a:rPr lang="nl-NL" err="1"/>
              <a:t>DataFrame</a:t>
            </a:r>
            <a:r>
              <a:rPr lang="nl-NL"/>
              <a:t> om te zetten, moeten per kolom alle waarden in een lijst staan!</a:t>
            </a:r>
          </a:p>
        </p:txBody>
      </p:sp>
      <p:sp>
        <p:nvSpPr>
          <p:cNvPr id="16" name="TextBox 1">
            <a:extLst>
              <a:ext uri="{FF2B5EF4-FFF2-40B4-BE49-F238E27FC236}">
                <a16:creationId xmlns:a16="http://schemas.microsoft.com/office/drawing/2014/main" id="{470E5C21-6AF3-C3F7-1112-08DF3B424218}"/>
              </a:ext>
            </a:extLst>
          </p:cNvPr>
          <p:cNvSpPr txBox="1"/>
          <p:nvPr/>
        </p:nvSpPr>
        <p:spPr>
          <a:xfrm>
            <a:off x="5020923" y="1425549"/>
            <a:ext cx="7171060" cy="1284904"/>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2000" err="1">
                <a:latin typeface="Arial"/>
                <a:ea typeface="MS PGothic" charset="0"/>
              </a:rPr>
              <a:t>Stap</a:t>
            </a:r>
            <a:r>
              <a:rPr lang="en-US" sz="2000">
                <a:latin typeface="Arial"/>
                <a:ea typeface="MS PGothic" charset="0"/>
              </a:rPr>
              <a:t> 2:</a:t>
            </a:r>
          </a:p>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2000" err="1">
                <a:latin typeface="Arial"/>
                <a:ea typeface="MS PGothic" charset="0"/>
              </a:rPr>
              <a:t>Converteren</a:t>
            </a:r>
            <a:r>
              <a:rPr lang="en-US" sz="2000">
                <a:latin typeface="Arial"/>
                <a:ea typeface="MS PGothic" charset="0"/>
              </a:rPr>
              <a:t> </a:t>
            </a:r>
            <a:r>
              <a:rPr lang="en-US" sz="2000" err="1">
                <a:latin typeface="Arial"/>
                <a:ea typeface="MS PGothic" charset="0"/>
              </a:rPr>
              <a:t>naar</a:t>
            </a:r>
            <a:r>
              <a:rPr lang="en-US" sz="2000">
                <a:latin typeface="Arial"/>
                <a:ea typeface="MS PGothic" charset="0"/>
              </a:rPr>
              <a:t> </a:t>
            </a:r>
            <a:r>
              <a:rPr lang="en-US" sz="2000" err="1">
                <a:latin typeface="Arial"/>
                <a:ea typeface="MS PGothic" charset="0"/>
              </a:rPr>
              <a:t>een</a:t>
            </a:r>
            <a:r>
              <a:rPr lang="en-US" sz="2000">
                <a:latin typeface="Arial"/>
                <a:ea typeface="MS PGothic" charset="0"/>
              </a:rPr>
              <a:t> </a:t>
            </a:r>
            <a:r>
              <a:rPr lang="en-US" sz="2000" err="1">
                <a:latin typeface="Arial"/>
                <a:ea typeface="MS PGothic" charset="0"/>
              </a:rPr>
              <a:t>nieuw</a:t>
            </a:r>
            <a:r>
              <a:rPr lang="en-US" sz="2000">
                <a:latin typeface="Arial"/>
                <a:ea typeface="MS PGothic" charset="0"/>
              </a:rPr>
              <a:t> </a:t>
            </a:r>
            <a:r>
              <a:rPr lang="en-US" sz="2000" err="1">
                <a:latin typeface="Arial"/>
                <a:ea typeface="MS PGothic" charset="0"/>
              </a:rPr>
              <a:t>DataFrame</a:t>
            </a:r>
            <a:r>
              <a:rPr lang="en-US" sz="2000">
                <a:latin typeface="Arial"/>
                <a:ea typeface="MS PGothic" charset="0"/>
              </a:rPr>
              <a:t> </a:t>
            </a:r>
            <a:r>
              <a:rPr lang="en-US" sz="2000" err="1">
                <a:latin typeface="Arial"/>
                <a:ea typeface="MS PGothic" charset="0"/>
              </a:rPr>
              <a:t>en</a:t>
            </a:r>
            <a:r>
              <a:rPr lang="en-US" sz="2000">
                <a:latin typeface="Arial"/>
                <a:ea typeface="MS PGothic" charset="0"/>
              </a:rPr>
              <a:t> </a:t>
            </a:r>
            <a:r>
              <a:rPr lang="en-US" sz="2000" err="1">
                <a:latin typeface="Arial"/>
                <a:ea typeface="MS PGothic" charset="0"/>
              </a:rPr>
              <a:t>deze</a:t>
            </a:r>
            <a:r>
              <a:rPr lang="en-US" sz="2000">
                <a:latin typeface="Arial"/>
                <a:ea typeface="MS PGothic" charset="0"/>
              </a:rPr>
              <a:t> met </a:t>
            </a:r>
            <a:r>
              <a:rPr lang="en-US" sz="2000" err="1">
                <a:latin typeface="Arial"/>
                <a:ea typeface="MS PGothic" charset="0"/>
              </a:rPr>
              <a:t>concat</a:t>
            </a:r>
            <a:r>
              <a:rPr lang="en-US" sz="2000">
                <a:latin typeface="Arial"/>
                <a:ea typeface="MS PGothic" charset="0"/>
              </a:rPr>
              <a:t>() </a:t>
            </a:r>
            <a:r>
              <a:rPr lang="en-US" sz="2000" err="1">
                <a:latin typeface="Arial"/>
                <a:ea typeface="MS PGothic" charset="0"/>
              </a:rPr>
              <a:t>toevoegen</a:t>
            </a:r>
            <a:r>
              <a:rPr lang="en-US" sz="2000">
                <a:latin typeface="Arial"/>
                <a:ea typeface="MS PGothic" charset="0"/>
              </a:rPr>
              <a:t> </a:t>
            </a:r>
            <a:r>
              <a:rPr lang="en-US" sz="2000" err="1">
                <a:latin typeface="Arial"/>
                <a:ea typeface="MS PGothic" charset="0"/>
              </a:rPr>
              <a:t>aan</a:t>
            </a:r>
            <a:r>
              <a:rPr lang="en-US" sz="2000">
                <a:latin typeface="Arial"/>
                <a:ea typeface="MS PGothic" charset="0"/>
              </a:rPr>
              <a:t> het </a:t>
            </a:r>
            <a:r>
              <a:rPr lang="en-US" sz="2000" err="1">
                <a:latin typeface="Arial"/>
                <a:ea typeface="MS PGothic" charset="0"/>
              </a:rPr>
              <a:t>originele</a:t>
            </a:r>
            <a:r>
              <a:rPr lang="en-US" sz="2000">
                <a:latin typeface="Arial"/>
                <a:ea typeface="MS PGothic" charset="0"/>
              </a:rPr>
              <a:t> </a:t>
            </a:r>
            <a:r>
              <a:rPr lang="en-US" sz="2000" err="1">
                <a:latin typeface="Arial"/>
                <a:ea typeface="MS PGothic" charset="0"/>
              </a:rPr>
              <a:t>DataFrame</a:t>
            </a:r>
            <a:endParaRPr lang="en-US" sz="2000">
              <a:latin typeface="Arial"/>
              <a:ea typeface="MS PGothic" charset="0"/>
            </a:endParaRPr>
          </a:p>
        </p:txBody>
      </p:sp>
      <p:pic>
        <p:nvPicPr>
          <p:cNvPr id="24" name="Afbeelding 23">
            <a:extLst>
              <a:ext uri="{FF2B5EF4-FFF2-40B4-BE49-F238E27FC236}">
                <a16:creationId xmlns:a16="http://schemas.microsoft.com/office/drawing/2014/main" id="{51A7C2C4-0A8B-5AD9-FB2F-B99BA6FEA161}"/>
              </a:ext>
            </a:extLst>
          </p:cNvPr>
          <p:cNvPicPr>
            <a:picLocks noChangeAspect="1"/>
          </p:cNvPicPr>
          <p:nvPr/>
        </p:nvPicPr>
        <p:blipFill>
          <a:blip r:embed="rId3"/>
          <a:stretch>
            <a:fillRect/>
          </a:stretch>
        </p:blipFill>
        <p:spPr>
          <a:xfrm>
            <a:off x="5120218" y="2756777"/>
            <a:ext cx="6933204" cy="2781541"/>
          </a:xfrm>
          <a:prstGeom prst="rect">
            <a:avLst/>
          </a:prstGeom>
        </p:spPr>
      </p:pic>
      <p:sp>
        <p:nvSpPr>
          <p:cNvPr id="26" name="Tekstvak 25">
            <a:extLst>
              <a:ext uri="{FF2B5EF4-FFF2-40B4-BE49-F238E27FC236}">
                <a16:creationId xmlns:a16="http://schemas.microsoft.com/office/drawing/2014/main" id="{547AAAD0-B78E-CA51-A723-9FEAB1422714}"/>
              </a:ext>
            </a:extLst>
          </p:cNvPr>
          <p:cNvSpPr txBox="1"/>
          <p:nvPr/>
        </p:nvSpPr>
        <p:spPr>
          <a:xfrm>
            <a:off x="5665750" y="5859273"/>
            <a:ext cx="5871227" cy="646331"/>
          </a:xfrm>
          <a:prstGeom prst="rect">
            <a:avLst/>
          </a:prstGeom>
          <a:noFill/>
        </p:spPr>
        <p:txBody>
          <a:bodyPr wrap="square">
            <a:spAutoFit/>
          </a:bodyPr>
          <a:lstStyle/>
          <a:p>
            <a:pPr algn="ctr"/>
            <a:r>
              <a:rPr lang="nl-NL" err="1"/>
              <a:t>ignore_index</a:t>
            </a:r>
            <a:r>
              <a:rPr lang="nl-NL"/>
              <a:t> = True betekent dat de index in het </a:t>
            </a:r>
            <a:r>
              <a:rPr lang="nl-NL" err="1"/>
              <a:t>DataFrame</a:t>
            </a:r>
            <a:r>
              <a:rPr lang="nl-NL"/>
              <a:t> automatisch optelt (naar “6” en “7” in dit geval).</a:t>
            </a:r>
          </a:p>
        </p:txBody>
      </p:sp>
    </p:spTree>
    <p:extLst>
      <p:ext uri="{BB962C8B-B14F-4D97-AF65-F5344CB8AC3E}">
        <p14:creationId xmlns:p14="http://schemas.microsoft.com/office/powerpoint/2010/main" val="62016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531828" y="-990"/>
            <a:ext cx="8636105"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err="1">
                <a:solidFill>
                  <a:srgbClr val="829C30"/>
                </a:solidFill>
                <a:latin typeface="Arial"/>
                <a:ea typeface="MS PGothic" charset="0"/>
              </a:rPr>
              <a:t>Kolommen</a:t>
            </a:r>
            <a:r>
              <a:rPr lang="en-US" sz="3000" b="1">
                <a:solidFill>
                  <a:srgbClr val="829C30"/>
                </a:solidFill>
                <a:latin typeface="Arial"/>
                <a:ea typeface="MS PGothic" charset="0"/>
              </a:rPr>
              <a:t> </a:t>
            </a:r>
            <a:r>
              <a:rPr lang="en-US" sz="3000" b="1" err="1">
                <a:solidFill>
                  <a:srgbClr val="829C30"/>
                </a:solidFill>
                <a:latin typeface="Arial"/>
                <a:ea typeface="MS PGothic" charset="0"/>
              </a:rPr>
              <a:t>toevoegen</a:t>
            </a:r>
            <a:endParaRPr lang="en-US" sz="3000" b="1">
              <a:solidFill>
                <a:srgbClr val="829C30"/>
              </a:solidFill>
              <a:latin typeface="Arial"/>
              <a:ea typeface="MS PGothic" charset="0"/>
            </a:endParaRP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15" name="Afbeelding 14">
            <a:extLst>
              <a:ext uri="{FF2B5EF4-FFF2-40B4-BE49-F238E27FC236}">
                <a16:creationId xmlns:a16="http://schemas.microsoft.com/office/drawing/2014/main" id="{FFAB7611-374F-7167-1D72-5DF0794B55C3}"/>
              </a:ext>
            </a:extLst>
          </p:cNvPr>
          <p:cNvPicPr>
            <a:picLocks noChangeAspect="1"/>
          </p:cNvPicPr>
          <p:nvPr/>
        </p:nvPicPr>
        <p:blipFill>
          <a:blip r:embed="rId2"/>
          <a:stretch>
            <a:fillRect/>
          </a:stretch>
        </p:blipFill>
        <p:spPr>
          <a:xfrm>
            <a:off x="7053943" y="1688844"/>
            <a:ext cx="4986891" cy="4422701"/>
          </a:xfrm>
          <a:prstGeom prst="rect">
            <a:avLst/>
          </a:prstGeom>
        </p:spPr>
      </p:pic>
      <p:pic>
        <p:nvPicPr>
          <p:cNvPr id="5" name="Afbeelding 4">
            <a:extLst>
              <a:ext uri="{FF2B5EF4-FFF2-40B4-BE49-F238E27FC236}">
                <a16:creationId xmlns:a16="http://schemas.microsoft.com/office/drawing/2014/main" id="{D686DBB9-A303-447F-1826-7B7D7CDBA757}"/>
              </a:ext>
            </a:extLst>
          </p:cNvPr>
          <p:cNvPicPr>
            <a:picLocks noChangeAspect="1"/>
          </p:cNvPicPr>
          <p:nvPr/>
        </p:nvPicPr>
        <p:blipFill>
          <a:blip r:embed="rId3"/>
          <a:stretch>
            <a:fillRect/>
          </a:stretch>
        </p:blipFill>
        <p:spPr>
          <a:xfrm>
            <a:off x="1052975" y="1688844"/>
            <a:ext cx="3760993" cy="4422705"/>
          </a:xfrm>
          <a:prstGeom prst="rect">
            <a:avLst/>
          </a:prstGeom>
        </p:spPr>
      </p:pic>
      <p:cxnSp>
        <p:nvCxnSpPr>
          <p:cNvPr id="6" name="Rechte verbindingslijn met pijl 5">
            <a:extLst>
              <a:ext uri="{FF2B5EF4-FFF2-40B4-BE49-F238E27FC236}">
                <a16:creationId xmlns:a16="http://schemas.microsoft.com/office/drawing/2014/main" id="{CB40531B-3C52-B8B8-D6C7-4F59B1450FC7}"/>
              </a:ext>
            </a:extLst>
          </p:cNvPr>
          <p:cNvCxnSpPr>
            <a:cxnSpLocks/>
            <a:stCxn id="5" idx="3"/>
            <a:endCxn id="15" idx="1"/>
          </p:cNvCxnSpPr>
          <p:nvPr/>
        </p:nvCxnSpPr>
        <p:spPr>
          <a:xfrm flipV="1">
            <a:off x="4813968" y="3900195"/>
            <a:ext cx="2239975" cy="2"/>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1" name="Tekstvak 10">
            <a:extLst>
              <a:ext uri="{FF2B5EF4-FFF2-40B4-BE49-F238E27FC236}">
                <a16:creationId xmlns:a16="http://schemas.microsoft.com/office/drawing/2014/main" id="{930A89AF-F9A1-B75A-97AB-5D2D220F0A65}"/>
              </a:ext>
            </a:extLst>
          </p:cNvPr>
          <p:cNvSpPr txBox="1"/>
          <p:nvPr/>
        </p:nvSpPr>
        <p:spPr>
          <a:xfrm>
            <a:off x="4935218" y="4100804"/>
            <a:ext cx="1997474" cy="646331"/>
          </a:xfrm>
          <a:prstGeom prst="rect">
            <a:avLst/>
          </a:prstGeom>
          <a:noFill/>
        </p:spPr>
        <p:txBody>
          <a:bodyPr wrap="square">
            <a:spAutoFit/>
          </a:bodyPr>
          <a:lstStyle/>
          <a:p>
            <a:pPr algn="ctr"/>
            <a:r>
              <a:rPr lang="nl-NL"/>
              <a:t>Kolom “afkomst”</a:t>
            </a:r>
          </a:p>
          <a:p>
            <a:pPr algn="ctr"/>
            <a:r>
              <a:rPr lang="nl-NL"/>
              <a:t>toegevoegd</a:t>
            </a:r>
          </a:p>
        </p:txBody>
      </p:sp>
      <p:sp>
        <p:nvSpPr>
          <p:cNvPr id="14" name="Tekstvak 13">
            <a:extLst>
              <a:ext uri="{FF2B5EF4-FFF2-40B4-BE49-F238E27FC236}">
                <a16:creationId xmlns:a16="http://schemas.microsoft.com/office/drawing/2014/main" id="{B1CAF721-9A05-93AA-AE4C-BAE40C2C2FFC}"/>
              </a:ext>
            </a:extLst>
          </p:cNvPr>
          <p:cNvSpPr txBox="1"/>
          <p:nvPr/>
        </p:nvSpPr>
        <p:spPr>
          <a:xfrm>
            <a:off x="988290" y="934509"/>
            <a:ext cx="11065141" cy="369332"/>
          </a:xfrm>
          <a:prstGeom prst="rect">
            <a:avLst/>
          </a:prstGeom>
          <a:noFill/>
        </p:spPr>
        <p:txBody>
          <a:bodyPr wrap="square">
            <a:spAutoFit/>
          </a:bodyPr>
          <a:lstStyle/>
          <a:p>
            <a:pPr algn="ctr"/>
            <a:r>
              <a:rPr lang="nl-NL"/>
              <a:t>Nieuwe kolommen kan je toevoegen door combinaties van reeds bestaande kolommen te maken.</a:t>
            </a:r>
          </a:p>
        </p:txBody>
      </p:sp>
      <p:cxnSp>
        <p:nvCxnSpPr>
          <p:cNvPr id="16" name="Straight Connector 10">
            <a:extLst>
              <a:ext uri="{FF2B5EF4-FFF2-40B4-BE49-F238E27FC236}">
                <a16:creationId xmlns:a16="http://schemas.microsoft.com/office/drawing/2014/main" id="{6EF6DF0E-2D64-FCA3-A698-0F99F793E3FA}"/>
              </a:ext>
            </a:extLst>
          </p:cNvPr>
          <p:cNvCxnSpPr>
            <a:cxnSpLocks/>
          </p:cNvCxnSpPr>
          <p:nvPr/>
        </p:nvCxnSpPr>
        <p:spPr>
          <a:xfrm>
            <a:off x="988290" y="1349277"/>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303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095376" y="10559"/>
            <a:ext cx="9509006"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err="1">
                <a:solidFill>
                  <a:srgbClr val="829C30"/>
                </a:solidFill>
                <a:latin typeface="Arial"/>
                <a:ea typeface="MS PGothic" charset="0"/>
              </a:rPr>
              <a:t>Waarden</a:t>
            </a:r>
            <a:r>
              <a:rPr lang="en-US" sz="3000" b="1">
                <a:solidFill>
                  <a:srgbClr val="829C30"/>
                </a:solidFill>
                <a:latin typeface="Arial"/>
                <a:ea typeface="MS PGothic" charset="0"/>
              </a:rPr>
              <a:t> in </a:t>
            </a:r>
            <a:r>
              <a:rPr lang="en-US" sz="3000" b="1" err="1">
                <a:solidFill>
                  <a:srgbClr val="829C30"/>
                </a:solidFill>
                <a:latin typeface="Arial"/>
                <a:ea typeface="MS PGothic" charset="0"/>
              </a:rPr>
              <a:t>rijen</a:t>
            </a:r>
            <a:r>
              <a:rPr lang="en-US" sz="3000" b="1">
                <a:solidFill>
                  <a:srgbClr val="829C30"/>
                </a:solidFill>
                <a:latin typeface="Arial"/>
                <a:ea typeface="MS PGothic" charset="0"/>
              </a:rPr>
              <a:t> </a:t>
            </a:r>
            <a:r>
              <a:rPr lang="en-US" sz="3000" b="1" err="1">
                <a:solidFill>
                  <a:srgbClr val="829C30"/>
                </a:solidFill>
                <a:latin typeface="Arial"/>
                <a:ea typeface="MS PGothic" charset="0"/>
              </a:rPr>
              <a:t>wijzigen</a:t>
            </a:r>
            <a:r>
              <a:rPr lang="en-US" sz="3000" b="1">
                <a:solidFill>
                  <a:srgbClr val="829C30"/>
                </a:solidFill>
                <a:latin typeface="Arial"/>
                <a:ea typeface="MS PGothic" charset="0"/>
              </a:rPr>
              <a:t> met </a:t>
            </a:r>
            <a:r>
              <a:rPr lang="en-US" sz="3000" b="1" err="1">
                <a:solidFill>
                  <a:srgbClr val="829C30"/>
                </a:solidFill>
                <a:latin typeface="Arial"/>
                <a:ea typeface="MS PGothic" charset="0"/>
              </a:rPr>
              <a:t>kolomoverschrijving</a:t>
            </a:r>
            <a:endParaRPr lang="en-US" sz="3000" b="1">
              <a:solidFill>
                <a:srgbClr val="829C30"/>
              </a:solidFill>
              <a:latin typeface="Arial"/>
              <a:ea typeface="MS PGothic" charset="0"/>
            </a:endParaRP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6" name="Afbeelding 5">
            <a:extLst>
              <a:ext uri="{FF2B5EF4-FFF2-40B4-BE49-F238E27FC236}">
                <a16:creationId xmlns:a16="http://schemas.microsoft.com/office/drawing/2014/main" id="{271B84D9-5EB8-17D5-0A22-D6DD0F429347}"/>
              </a:ext>
            </a:extLst>
          </p:cNvPr>
          <p:cNvPicPr>
            <a:picLocks noChangeAspect="1"/>
          </p:cNvPicPr>
          <p:nvPr/>
        </p:nvPicPr>
        <p:blipFill>
          <a:blip r:embed="rId2"/>
          <a:stretch>
            <a:fillRect/>
          </a:stretch>
        </p:blipFill>
        <p:spPr>
          <a:xfrm>
            <a:off x="1146910" y="1651522"/>
            <a:ext cx="3760993" cy="4777267"/>
          </a:xfrm>
          <a:prstGeom prst="rect">
            <a:avLst/>
          </a:prstGeom>
        </p:spPr>
      </p:pic>
      <p:pic>
        <p:nvPicPr>
          <p:cNvPr id="11" name="Afbeelding 10">
            <a:extLst>
              <a:ext uri="{FF2B5EF4-FFF2-40B4-BE49-F238E27FC236}">
                <a16:creationId xmlns:a16="http://schemas.microsoft.com/office/drawing/2014/main" id="{C17ECED7-C23C-274D-00C8-39806E180988}"/>
              </a:ext>
            </a:extLst>
          </p:cNvPr>
          <p:cNvPicPr>
            <a:picLocks noChangeAspect="1"/>
          </p:cNvPicPr>
          <p:nvPr/>
        </p:nvPicPr>
        <p:blipFill>
          <a:blip r:embed="rId3"/>
          <a:stretch>
            <a:fillRect/>
          </a:stretch>
        </p:blipFill>
        <p:spPr>
          <a:xfrm>
            <a:off x="8145625" y="1651519"/>
            <a:ext cx="3848556" cy="4777266"/>
          </a:xfrm>
          <a:prstGeom prst="rect">
            <a:avLst/>
          </a:prstGeom>
        </p:spPr>
      </p:pic>
      <p:cxnSp>
        <p:nvCxnSpPr>
          <p:cNvPr id="14" name="Rechte verbindingslijn met pijl 13">
            <a:extLst>
              <a:ext uri="{FF2B5EF4-FFF2-40B4-BE49-F238E27FC236}">
                <a16:creationId xmlns:a16="http://schemas.microsoft.com/office/drawing/2014/main" id="{D236E068-BD85-078F-C435-A3DDE0EA20DF}"/>
              </a:ext>
            </a:extLst>
          </p:cNvPr>
          <p:cNvCxnSpPr>
            <a:cxnSpLocks/>
            <a:stCxn id="6" idx="3"/>
            <a:endCxn id="11" idx="1"/>
          </p:cNvCxnSpPr>
          <p:nvPr/>
        </p:nvCxnSpPr>
        <p:spPr>
          <a:xfrm flipV="1">
            <a:off x="4907903" y="4040152"/>
            <a:ext cx="3237722" cy="4"/>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8" name="Tekstvak 17">
            <a:extLst>
              <a:ext uri="{FF2B5EF4-FFF2-40B4-BE49-F238E27FC236}">
                <a16:creationId xmlns:a16="http://schemas.microsoft.com/office/drawing/2014/main" id="{07E01795-5BC8-4ADB-D3BC-C44C36AB9085}"/>
              </a:ext>
            </a:extLst>
          </p:cNvPr>
          <p:cNvSpPr txBox="1"/>
          <p:nvPr/>
        </p:nvSpPr>
        <p:spPr>
          <a:xfrm>
            <a:off x="5528027" y="3544293"/>
            <a:ext cx="1997474" cy="369332"/>
          </a:xfrm>
          <a:prstGeom prst="rect">
            <a:avLst/>
          </a:prstGeom>
          <a:noFill/>
        </p:spPr>
        <p:txBody>
          <a:bodyPr wrap="square">
            <a:spAutoFit/>
          </a:bodyPr>
          <a:lstStyle/>
          <a:p>
            <a:r>
              <a:rPr lang="nl-NL"/>
              <a:t>Alle uurlonen +10%</a:t>
            </a:r>
          </a:p>
        </p:txBody>
      </p:sp>
    </p:spTree>
    <p:extLst>
      <p:ext uri="{BB962C8B-B14F-4D97-AF65-F5344CB8AC3E}">
        <p14:creationId xmlns:p14="http://schemas.microsoft.com/office/powerpoint/2010/main" val="394026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095376" y="10559"/>
            <a:ext cx="9509006"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err="1">
                <a:solidFill>
                  <a:srgbClr val="829C30"/>
                </a:solidFill>
                <a:latin typeface="Arial"/>
                <a:ea typeface="MS PGothic" charset="0"/>
              </a:rPr>
              <a:t>Waarden</a:t>
            </a:r>
            <a:r>
              <a:rPr lang="en-US" sz="3000" b="1">
                <a:solidFill>
                  <a:srgbClr val="829C30"/>
                </a:solidFill>
                <a:latin typeface="Arial"/>
                <a:ea typeface="MS PGothic" charset="0"/>
              </a:rPr>
              <a:t> in </a:t>
            </a:r>
            <a:r>
              <a:rPr lang="en-US" sz="3000" b="1" err="1">
                <a:solidFill>
                  <a:srgbClr val="829C30"/>
                </a:solidFill>
                <a:latin typeface="Arial"/>
                <a:ea typeface="MS PGothic" charset="0"/>
              </a:rPr>
              <a:t>rijen</a:t>
            </a:r>
            <a:r>
              <a:rPr lang="en-US" sz="3000" b="1">
                <a:solidFill>
                  <a:srgbClr val="829C30"/>
                </a:solidFill>
                <a:latin typeface="Arial"/>
                <a:ea typeface="MS PGothic" charset="0"/>
              </a:rPr>
              <a:t> </a:t>
            </a:r>
            <a:r>
              <a:rPr lang="en-US" sz="3000" b="1" err="1">
                <a:solidFill>
                  <a:srgbClr val="829C30"/>
                </a:solidFill>
                <a:latin typeface="Arial"/>
                <a:ea typeface="MS PGothic" charset="0"/>
              </a:rPr>
              <a:t>wijzigen</a:t>
            </a:r>
            <a:r>
              <a:rPr lang="en-US" sz="3000" b="1">
                <a:solidFill>
                  <a:srgbClr val="829C30"/>
                </a:solidFill>
                <a:latin typeface="Arial"/>
                <a:ea typeface="MS PGothic" charset="0"/>
              </a:rPr>
              <a:t> met .replace()</a:t>
            </a: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6" name="Afbeelding 5">
            <a:extLst>
              <a:ext uri="{FF2B5EF4-FFF2-40B4-BE49-F238E27FC236}">
                <a16:creationId xmlns:a16="http://schemas.microsoft.com/office/drawing/2014/main" id="{271B84D9-5EB8-17D5-0A22-D6DD0F429347}"/>
              </a:ext>
            </a:extLst>
          </p:cNvPr>
          <p:cNvPicPr>
            <a:picLocks noChangeAspect="1"/>
          </p:cNvPicPr>
          <p:nvPr/>
        </p:nvPicPr>
        <p:blipFill>
          <a:blip r:embed="rId2"/>
          <a:stretch>
            <a:fillRect/>
          </a:stretch>
        </p:blipFill>
        <p:spPr>
          <a:xfrm>
            <a:off x="1146910" y="1651522"/>
            <a:ext cx="3760993" cy="4777267"/>
          </a:xfrm>
          <a:prstGeom prst="rect">
            <a:avLst/>
          </a:prstGeom>
        </p:spPr>
      </p:pic>
      <p:cxnSp>
        <p:nvCxnSpPr>
          <p:cNvPr id="14" name="Rechte verbindingslijn met pijl 13">
            <a:extLst>
              <a:ext uri="{FF2B5EF4-FFF2-40B4-BE49-F238E27FC236}">
                <a16:creationId xmlns:a16="http://schemas.microsoft.com/office/drawing/2014/main" id="{D236E068-BD85-078F-C435-A3DDE0EA20DF}"/>
              </a:ext>
            </a:extLst>
          </p:cNvPr>
          <p:cNvCxnSpPr>
            <a:cxnSpLocks/>
            <a:stCxn id="6" idx="3"/>
          </p:cNvCxnSpPr>
          <p:nvPr/>
        </p:nvCxnSpPr>
        <p:spPr>
          <a:xfrm>
            <a:off x="4907903" y="4040156"/>
            <a:ext cx="273581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8" name="Tekstvak 17">
            <a:extLst>
              <a:ext uri="{FF2B5EF4-FFF2-40B4-BE49-F238E27FC236}">
                <a16:creationId xmlns:a16="http://schemas.microsoft.com/office/drawing/2014/main" id="{07E01795-5BC8-4ADB-D3BC-C44C36AB9085}"/>
              </a:ext>
            </a:extLst>
          </p:cNvPr>
          <p:cNvSpPr txBox="1"/>
          <p:nvPr/>
        </p:nvSpPr>
        <p:spPr>
          <a:xfrm>
            <a:off x="4907903" y="3224171"/>
            <a:ext cx="2964386" cy="646331"/>
          </a:xfrm>
          <a:prstGeom prst="rect">
            <a:avLst/>
          </a:prstGeom>
          <a:noFill/>
        </p:spPr>
        <p:txBody>
          <a:bodyPr wrap="square">
            <a:spAutoFit/>
          </a:bodyPr>
          <a:lstStyle/>
          <a:p>
            <a:r>
              <a:rPr lang="nl-NL"/>
              <a:t>‘Leiden’ wordt telkens gewijzigd naar ‘Leeuwarden’</a:t>
            </a:r>
          </a:p>
        </p:txBody>
      </p:sp>
      <p:pic>
        <p:nvPicPr>
          <p:cNvPr id="9" name="Afbeelding 8">
            <a:extLst>
              <a:ext uri="{FF2B5EF4-FFF2-40B4-BE49-F238E27FC236}">
                <a16:creationId xmlns:a16="http://schemas.microsoft.com/office/drawing/2014/main" id="{7189B9B7-3930-7AFD-5E44-2CB58A9E513C}"/>
              </a:ext>
            </a:extLst>
          </p:cNvPr>
          <p:cNvPicPr>
            <a:picLocks noChangeAspect="1"/>
          </p:cNvPicPr>
          <p:nvPr/>
        </p:nvPicPr>
        <p:blipFill>
          <a:blip r:embed="rId3"/>
          <a:stretch>
            <a:fillRect/>
          </a:stretch>
        </p:blipFill>
        <p:spPr>
          <a:xfrm>
            <a:off x="7643713" y="1651522"/>
            <a:ext cx="4397121" cy="4777264"/>
          </a:xfrm>
          <a:prstGeom prst="rect">
            <a:avLst/>
          </a:prstGeom>
        </p:spPr>
      </p:pic>
    </p:spTree>
    <p:extLst>
      <p:ext uri="{BB962C8B-B14F-4D97-AF65-F5344CB8AC3E}">
        <p14:creationId xmlns:p14="http://schemas.microsoft.com/office/powerpoint/2010/main" val="3911819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095376" y="10559"/>
            <a:ext cx="9509006"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err="1">
                <a:solidFill>
                  <a:srgbClr val="829C30"/>
                </a:solidFill>
                <a:latin typeface="Arial"/>
                <a:ea typeface="MS PGothic" charset="0"/>
              </a:rPr>
              <a:t>Kolomnamen</a:t>
            </a:r>
            <a:r>
              <a:rPr lang="en-US" sz="3000" b="1">
                <a:solidFill>
                  <a:srgbClr val="829C30"/>
                </a:solidFill>
                <a:latin typeface="Arial"/>
                <a:ea typeface="MS PGothic" charset="0"/>
              </a:rPr>
              <a:t> </a:t>
            </a:r>
            <a:r>
              <a:rPr lang="en-US" sz="3000" b="1" err="1">
                <a:solidFill>
                  <a:srgbClr val="829C30"/>
                </a:solidFill>
                <a:latin typeface="Arial"/>
                <a:ea typeface="MS PGothic" charset="0"/>
              </a:rPr>
              <a:t>wijzigen</a:t>
            </a:r>
            <a:endParaRPr lang="en-US" sz="3000" b="1">
              <a:solidFill>
                <a:srgbClr val="829C30"/>
              </a:solidFill>
              <a:latin typeface="Arial"/>
              <a:ea typeface="MS PGothic" charset="0"/>
            </a:endParaRP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18" name="Tekstvak 17">
            <a:extLst>
              <a:ext uri="{FF2B5EF4-FFF2-40B4-BE49-F238E27FC236}">
                <a16:creationId xmlns:a16="http://schemas.microsoft.com/office/drawing/2014/main" id="{07E01795-5BC8-4ADB-D3BC-C44C36AB9085}"/>
              </a:ext>
            </a:extLst>
          </p:cNvPr>
          <p:cNvSpPr txBox="1"/>
          <p:nvPr/>
        </p:nvSpPr>
        <p:spPr>
          <a:xfrm>
            <a:off x="988289" y="2444545"/>
            <a:ext cx="3238477" cy="2862322"/>
          </a:xfrm>
          <a:prstGeom prst="rect">
            <a:avLst/>
          </a:prstGeom>
          <a:noFill/>
        </p:spPr>
        <p:txBody>
          <a:bodyPr wrap="square">
            <a:spAutoFit/>
          </a:bodyPr>
          <a:lstStyle/>
          <a:p>
            <a:r>
              <a:rPr lang="nl-NL"/>
              <a:t>Wijzigingen…</a:t>
            </a:r>
          </a:p>
          <a:p>
            <a:pPr marL="285750" indent="-285750">
              <a:buFont typeface="Arial" panose="020B0604020202020204" pitchFamily="34" charset="0"/>
              <a:buChar char="•"/>
            </a:pPr>
            <a:r>
              <a:rPr lang="nl-NL"/>
              <a:t>De kolomnaam ‘baas’ is ‘leidinggevende’ geworden.</a:t>
            </a:r>
          </a:p>
          <a:p>
            <a:pPr marL="285750" indent="-285750">
              <a:buFont typeface="Arial" panose="020B0604020202020204" pitchFamily="34" charset="0"/>
              <a:buChar char="•"/>
            </a:pPr>
            <a:r>
              <a:rPr lang="nl-NL"/>
              <a:t>De kolomnaam ‘uurloon’ is ‘salaris’ geworden.</a:t>
            </a:r>
          </a:p>
          <a:p>
            <a:endParaRPr lang="nl-NL"/>
          </a:p>
          <a:p>
            <a:r>
              <a:rPr lang="nl-NL"/>
              <a:t>Er wordt dus een </a:t>
            </a:r>
            <a:r>
              <a:rPr lang="nl-NL" err="1"/>
              <a:t>dictionary</a:t>
            </a:r>
            <a:r>
              <a:rPr lang="nl-NL"/>
              <a:t> gemaakt, waarin de </a:t>
            </a:r>
            <a:r>
              <a:rPr lang="nl-NL" err="1"/>
              <a:t>keys</a:t>
            </a:r>
            <a:r>
              <a:rPr lang="nl-NL"/>
              <a:t> de oude kolomnamen weergeven en de </a:t>
            </a:r>
            <a:r>
              <a:rPr lang="nl-NL" err="1"/>
              <a:t>values</a:t>
            </a:r>
            <a:r>
              <a:rPr lang="nl-NL"/>
              <a:t> de nieuwe.</a:t>
            </a:r>
          </a:p>
        </p:txBody>
      </p:sp>
      <p:pic>
        <p:nvPicPr>
          <p:cNvPr id="5" name="Afbeelding 4">
            <a:extLst>
              <a:ext uri="{FF2B5EF4-FFF2-40B4-BE49-F238E27FC236}">
                <a16:creationId xmlns:a16="http://schemas.microsoft.com/office/drawing/2014/main" id="{A26D52F9-39A8-7CFD-4BE4-2E2FF7540AF5}"/>
              </a:ext>
            </a:extLst>
          </p:cNvPr>
          <p:cNvPicPr>
            <a:picLocks noChangeAspect="1"/>
          </p:cNvPicPr>
          <p:nvPr/>
        </p:nvPicPr>
        <p:blipFill>
          <a:blip r:embed="rId2"/>
          <a:stretch>
            <a:fillRect/>
          </a:stretch>
        </p:blipFill>
        <p:spPr>
          <a:xfrm>
            <a:off x="4111537" y="1694327"/>
            <a:ext cx="7935664" cy="4267932"/>
          </a:xfrm>
          <a:prstGeom prst="rect">
            <a:avLst/>
          </a:prstGeom>
        </p:spPr>
      </p:pic>
    </p:spTree>
    <p:extLst>
      <p:ext uri="{BB962C8B-B14F-4D97-AF65-F5344CB8AC3E}">
        <p14:creationId xmlns:p14="http://schemas.microsoft.com/office/powerpoint/2010/main" val="1347475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2531828" y="-990"/>
            <a:ext cx="8636105"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err="1">
                <a:solidFill>
                  <a:srgbClr val="829C30"/>
                </a:solidFill>
                <a:latin typeface="Arial"/>
                <a:ea typeface="MS PGothic" charset="0"/>
              </a:rPr>
              <a:t>Rijen</a:t>
            </a:r>
            <a:r>
              <a:rPr lang="en-US" sz="3000" b="1">
                <a:solidFill>
                  <a:srgbClr val="829C30"/>
                </a:solidFill>
                <a:latin typeface="Arial"/>
                <a:ea typeface="MS PGothic" charset="0"/>
              </a:rPr>
              <a:t> </a:t>
            </a:r>
            <a:r>
              <a:rPr lang="en-US" sz="3000" b="1" err="1">
                <a:solidFill>
                  <a:srgbClr val="829C30"/>
                </a:solidFill>
                <a:latin typeface="Arial"/>
                <a:ea typeface="MS PGothic" charset="0"/>
              </a:rPr>
              <a:t>verwijderen</a:t>
            </a:r>
            <a:r>
              <a:rPr lang="en-US" sz="3000" b="1">
                <a:solidFill>
                  <a:srgbClr val="829C30"/>
                </a:solidFill>
                <a:latin typeface="Arial"/>
                <a:ea typeface="MS PGothic" charset="0"/>
              </a:rPr>
              <a:t> met </a:t>
            </a:r>
            <a:r>
              <a:rPr lang="en-US" sz="3000" b="1" err="1">
                <a:solidFill>
                  <a:srgbClr val="829C30"/>
                </a:solidFill>
                <a:latin typeface="Arial"/>
                <a:ea typeface="MS PGothic" charset="0"/>
              </a:rPr>
              <a:t>behulp</a:t>
            </a:r>
            <a:r>
              <a:rPr lang="en-US" sz="3000" b="1">
                <a:solidFill>
                  <a:srgbClr val="829C30"/>
                </a:solidFill>
                <a:latin typeface="Arial"/>
                <a:ea typeface="MS PGothic" charset="0"/>
              </a:rPr>
              <a:t> van index</a:t>
            </a: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4" name="Tekstvak 3">
            <a:extLst>
              <a:ext uri="{FF2B5EF4-FFF2-40B4-BE49-F238E27FC236}">
                <a16:creationId xmlns:a16="http://schemas.microsoft.com/office/drawing/2014/main" id="{BF553125-104D-F44F-7987-BC364347D607}"/>
              </a:ext>
            </a:extLst>
          </p:cNvPr>
          <p:cNvSpPr txBox="1"/>
          <p:nvPr/>
        </p:nvSpPr>
        <p:spPr>
          <a:xfrm>
            <a:off x="988290" y="893525"/>
            <a:ext cx="11065141" cy="646331"/>
          </a:xfrm>
          <a:prstGeom prst="rect">
            <a:avLst/>
          </a:prstGeom>
          <a:noFill/>
        </p:spPr>
        <p:txBody>
          <a:bodyPr wrap="square">
            <a:spAutoFit/>
          </a:bodyPr>
          <a:lstStyle/>
          <a:p>
            <a:pPr algn="ctr"/>
            <a:r>
              <a:rPr lang="nl-NL"/>
              <a:t>Met .drop() in combinatie met ‘</a:t>
            </a:r>
            <a:r>
              <a:rPr lang="nl-NL" err="1"/>
              <a:t>axis</a:t>
            </a:r>
            <a:r>
              <a:rPr lang="nl-NL"/>
              <a:t> = 0’ kunnen we kolommen verwijderen.</a:t>
            </a:r>
          </a:p>
          <a:p>
            <a:pPr algn="ctr"/>
            <a:r>
              <a:rPr lang="nl-NL"/>
              <a:t>Deze specificatie van de </a:t>
            </a:r>
            <a:r>
              <a:rPr lang="nl-NL" err="1"/>
              <a:t>axis</a:t>
            </a:r>
            <a:r>
              <a:rPr lang="nl-NL"/>
              <a:t>-parameter mag je hier ook weglaten, 0 is namelijk de standaardwaarde.</a:t>
            </a:r>
          </a:p>
        </p:txBody>
      </p:sp>
      <p:cxnSp>
        <p:nvCxnSpPr>
          <p:cNvPr id="8" name="Straight Connector 10">
            <a:extLst>
              <a:ext uri="{FF2B5EF4-FFF2-40B4-BE49-F238E27FC236}">
                <a16:creationId xmlns:a16="http://schemas.microsoft.com/office/drawing/2014/main" id="{BECEC915-F7F5-3684-E372-97F5BB7111FB}"/>
              </a:ext>
            </a:extLst>
          </p:cNvPr>
          <p:cNvCxnSpPr>
            <a:cxnSpLocks/>
          </p:cNvCxnSpPr>
          <p:nvPr/>
        </p:nvCxnSpPr>
        <p:spPr>
          <a:xfrm>
            <a:off x="919005" y="1539856"/>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6" name="Afbeelding 5">
            <a:extLst>
              <a:ext uri="{FF2B5EF4-FFF2-40B4-BE49-F238E27FC236}">
                <a16:creationId xmlns:a16="http://schemas.microsoft.com/office/drawing/2014/main" id="{ABBD1D82-86DF-D346-92FF-47988D5FD766}"/>
              </a:ext>
            </a:extLst>
          </p:cNvPr>
          <p:cNvPicPr>
            <a:picLocks noChangeAspect="1"/>
          </p:cNvPicPr>
          <p:nvPr/>
        </p:nvPicPr>
        <p:blipFill>
          <a:blip r:embed="rId2"/>
          <a:stretch>
            <a:fillRect/>
          </a:stretch>
        </p:blipFill>
        <p:spPr>
          <a:xfrm>
            <a:off x="8080310" y="1782149"/>
            <a:ext cx="3996293" cy="4777261"/>
          </a:xfrm>
          <a:prstGeom prst="rect">
            <a:avLst/>
          </a:prstGeom>
        </p:spPr>
      </p:pic>
      <p:pic>
        <p:nvPicPr>
          <p:cNvPr id="10" name="Afbeelding 9">
            <a:extLst>
              <a:ext uri="{FF2B5EF4-FFF2-40B4-BE49-F238E27FC236}">
                <a16:creationId xmlns:a16="http://schemas.microsoft.com/office/drawing/2014/main" id="{AEAB4805-7D69-3C35-775C-8FA718717671}"/>
              </a:ext>
            </a:extLst>
          </p:cNvPr>
          <p:cNvPicPr>
            <a:picLocks noChangeAspect="1"/>
          </p:cNvPicPr>
          <p:nvPr/>
        </p:nvPicPr>
        <p:blipFill>
          <a:blip r:embed="rId3"/>
          <a:stretch>
            <a:fillRect/>
          </a:stretch>
        </p:blipFill>
        <p:spPr>
          <a:xfrm>
            <a:off x="1053604" y="1782150"/>
            <a:ext cx="3760993" cy="4777267"/>
          </a:xfrm>
          <a:prstGeom prst="rect">
            <a:avLst/>
          </a:prstGeom>
        </p:spPr>
      </p:pic>
      <p:cxnSp>
        <p:nvCxnSpPr>
          <p:cNvPr id="11" name="Rechte verbindingslijn met pijl 10">
            <a:extLst>
              <a:ext uri="{FF2B5EF4-FFF2-40B4-BE49-F238E27FC236}">
                <a16:creationId xmlns:a16="http://schemas.microsoft.com/office/drawing/2014/main" id="{4600B6B1-FDCF-17A8-4882-196F9AD82888}"/>
              </a:ext>
            </a:extLst>
          </p:cNvPr>
          <p:cNvCxnSpPr>
            <a:cxnSpLocks/>
          </p:cNvCxnSpPr>
          <p:nvPr/>
        </p:nvCxnSpPr>
        <p:spPr>
          <a:xfrm>
            <a:off x="4814597" y="4040156"/>
            <a:ext cx="3265713"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 name="Tekstvak 12">
            <a:extLst>
              <a:ext uri="{FF2B5EF4-FFF2-40B4-BE49-F238E27FC236}">
                <a16:creationId xmlns:a16="http://schemas.microsoft.com/office/drawing/2014/main" id="{01F0619C-5740-C83B-8941-CA3CA99B05F2}"/>
              </a:ext>
            </a:extLst>
          </p:cNvPr>
          <p:cNvSpPr txBox="1"/>
          <p:nvPr/>
        </p:nvSpPr>
        <p:spPr>
          <a:xfrm>
            <a:off x="5120649" y="3281621"/>
            <a:ext cx="2800421" cy="646331"/>
          </a:xfrm>
          <a:prstGeom prst="rect">
            <a:avLst/>
          </a:prstGeom>
          <a:noFill/>
        </p:spPr>
        <p:txBody>
          <a:bodyPr wrap="square">
            <a:spAutoFit/>
          </a:bodyPr>
          <a:lstStyle/>
          <a:p>
            <a:pPr algn="ctr"/>
            <a:r>
              <a:rPr lang="nl-NL"/>
              <a:t>De medewerker op index 6 wordt verwijderd.</a:t>
            </a:r>
          </a:p>
        </p:txBody>
      </p:sp>
    </p:spTree>
    <p:extLst>
      <p:ext uri="{BB962C8B-B14F-4D97-AF65-F5344CB8AC3E}">
        <p14:creationId xmlns:p14="http://schemas.microsoft.com/office/powerpoint/2010/main" val="14971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a:solidFill>
                  <a:schemeClr val="bg1"/>
                </a:solidFill>
                <a:latin typeface="+mn-lt"/>
              </a:rPr>
              <a:t>Jelle van Barneveld</a:t>
            </a:r>
          </a:p>
        </p:txBody>
      </p:sp>
      <p:sp>
        <p:nvSpPr>
          <p:cNvPr id="2" name="TextBox 1">
            <a:extLst>
              <a:ext uri="{FF2B5EF4-FFF2-40B4-BE49-F238E27FC236}">
                <a16:creationId xmlns:a16="http://schemas.microsoft.com/office/drawing/2014/main" id="{042711C9-B8C6-980A-6A8E-B70FC6573C7F}"/>
              </a:ext>
            </a:extLst>
          </p:cNvPr>
          <p:cNvSpPr txBox="1"/>
          <p:nvPr/>
        </p:nvSpPr>
        <p:spPr>
          <a:xfrm>
            <a:off x="1990329" y="-38144"/>
            <a:ext cx="9616143"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err="1">
                <a:solidFill>
                  <a:srgbClr val="829C30"/>
                </a:solidFill>
                <a:latin typeface="Arial"/>
                <a:ea typeface="MS PGothic" charset="0"/>
              </a:rPr>
              <a:t>Kolommen</a:t>
            </a:r>
            <a:r>
              <a:rPr lang="en-US" sz="3000" b="1">
                <a:solidFill>
                  <a:srgbClr val="829C30"/>
                </a:solidFill>
                <a:latin typeface="Arial"/>
                <a:ea typeface="MS PGothic" charset="0"/>
              </a:rPr>
              <a:t> </a:t>
            </a:r>
            <a:r>
              <a:rPr lang="en-US" sz="3000" b="1" err="1">
                <a:solidFill>
                  <a:srgbClr val="829C30"/>
                </a:solidFill>
                <a:latin typeface="Arial"/>
                <a:ea typeface="MS PGothic" charset="0"/>
              </a:rPr>
              <a:t>verwijderen</a:t>
            </a:r>
            <a:r>
              <a:rPr lang="en-US" sz="3000" b="1">
                <a:solidFill>
                  <a:srgbClr val="829C30"/>
                </a:solidFill>
                <a:latin typeface="Arial"/>
                <a:ea typeface="MS PGothic" charset="0"/>
              </a:rPr>
              <a:t> met </a:t>
            </a:r>
            <a:r>
              <a:rPr lang="en-US" sz="3000" b="1" err="1">
                <a:solidFill>
                  <a:srgbClr val="829C30"/>
                </a:solidFill>
                <a:latin typeface="Arial"/>
                <a:ea typeface="MS PGothic" charset="0"/>
              </a:rPr>
              <a:t>behulp</a:t>
            </a:r>
            <a:r>
              <a:rPr lang="en-US" sz="3000" b="1">
                <a:solidFill>
                  <a:srgbClr val="829C30"/>
                </a:solidFill>
                <a:latin typeface="Arial"/>
                <a:ea typeface="MS PGothic" charset="0"/>
              </a:rPr>
              <a:t> van </a:t>
            </a:r>
            <a:r>
              <a:rPr lang="en-US" sz="3000" b="1" err="1">
                <a:solidFill>
                  <a:srgbClr val="829C30"/>
                </a:solidFill>
                <a:latin typeface="Arial"/>
                <a:ea typeface="MS PGothic" charset="0"/>
              </a:rPr>
              <a:t>kolomnaam</a:t>
            </a:r>
            <a:endParaRPr lang="en-US" sz="3000" b="1">
              <a:solidFill>
                <a:srgbClr val="829C30"/>
              </a:solidFill>
              <a:latin typeface="Arial"/>
              <a:ea typeface="MS PGothic" charset="0"/>
            </a:endParaRPr>
          </a:p>
        </p:txBody>
      </p:sp>
      <p:cxnSp>
        <p:nvCxnSpPr>
          <p:cNvPr id="3" name="Straight Connector 10">
            <a:extLst>
              <a:ext uri="{FF2B5EF4-FFF2-40B4-BE49-F238E27FC236}">
                <a16:creationId xmlns:a16="http://schemas.microsoft.com/office/drawing/2014/main" id="{6D403D28-38E6-E976-8636-3F973FB2541F}"/>
              </a:ext>
            </a:extLst>
          </p:cNvPr>
          <p:cNvCxnSpPr>
            <a:cxnSpLocks/>
          </p:cNvCxnSpPr>
          <p:nvPr/>
        </p:nvCxnSpPr>
        <p:spPr>
          <a:xfrm>
            <a:off x="988290" y="812800"/>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sp>
        <p:nvSpPr>
          <p:cNvPr id="4" name="Tekstvak 3">
            <a:extLst>
              <a:ext uri="{FF2B5EF4-FFF2-40B4-BE49-F238E27FC236}">
                <a16:creationId xmlns:a16="http://schemas.microsoft.com/office/drawing/2014/main" id="{BF553125-104D-F44F-7987-BC364347D607}"/>
              </a:ext>
            </a:extLst>
          </p:cNvPr>
          <p:cNvSpPr txBox="1"/>
          <p:nvPr/>
        </p:nvSpPr>
        <p:spPr>
          <a:xfrm>
            <a:off x="975693" y="896232"/>
            <a:ext cx="11065141" cy="369332"/>
          </a:xfrm>
          <a:prstGeom prst="rect">
            <a:avLst/>
          </a:prstGeom>
          <a:noFill/>
        </p:spPr>
        <p:txBody>
          <a:bodyPr wrap="square">
            <a:spAutoFit/>
          </a:bodyPr>
          <a:lstStyle/>
          <a:p>
            <a:pPr algn="ctr"/>
            <a:r>
              <a:rPr lang="nl-NL"/>
              <a:t>Met .drop() in combinatie met ‘</a:t>
            </a:r>
            <a:r>
              <a:rPr lang="nl-NL" err="1"/>
              <a:t>axis</a:t>
            </a:r>
            <a:r>
              <a:rPr lang="nl-NL"/>
              <a:t> = 1’ kunnen we kolommen verwijderen.</a:t>
            </a:r>
          </a:p>
        </p:txBody>
      </p:sp>
      <p:cxnSp>
        <p:nvCxnSpPr>
          <p:cNvPr id="8" name="Straight Connector 10">
            <a:extLst>
              <a:ext uri="{FF2B5EF4-FFF2-40B4-BE49-F238E27FC236}">
                <a16:creationId xmlns:a16="http://schemas.microsoft.com/office/drawing/2014/main" id="{BECEC915-F7F5-3684-E372-97F5BB7111FB}"/>
              </a:ext>
            </a:extLst>
          </p:cNvPr>
          <p:cNvCxnSpPr>
            <a:cxnSpLocks/>
          </p:cNvCxnSpPr>
          <p:nvPr/>
        </p:nvCxnSpPr>
        <p:spPr>
          <a:xfrm>
            <a:off x="874879" y="1303841"/>
            <a:ext cx="11203710" cy="0"/>
          </a:xfrm>
          <a:prstGeom prst="line">
            <a:avLst/>
          </a:prstGeom>
          <a:ln w="57150">
            <a:solidFill>
              <a:srgbClr val="829C30"/>
            </a:solidFill>
          </a:ln>
        </p:spPr>
        <p:style>
          <a:lnRef idx="1">
            <a:schemeClr val="accent1"/>
          </a:lnRef>
          <a:fillRef idx="0">
            <a:schemeClr val="accent1"/>
          </a:fillRef>
          <a:effectRef idx="0">
            <a:schemeClr val="accent1"/>
          </a:effectRef>
          <a:fontRef idx="minor">
            <a:schemeClr val="tx1"/>
          </a:fontRef>
        </p:style>
      </p:cxnSp>
      <p:pic>
        <p:nvPicPr>
          <p:cNvPr id="25" name="Afbeelding 24">
            <a:extLst>
              <a:ext uri="{FF2B5EF4-FFF2-40B4-BE49-F238E27FC236}">
                <a16:creationId xmlns:a16="http://schemas.microsoft.com/office/drawing/2014/main" id="{A35F6ED8-441E-CAA6-187A-02951E3CD8A4}"/>
              </a:ext>
            </a:extLst>
          </p:cNvPr>
          <p:cNvPicPr>
            <a:picLocks noChangeAspect="1"/>
          </p:cNvPicPr>
          <p:nvPr/>
        </p:nvPicPr>
        <p:blipFill>
          <a:blip r:embed="rId2"/>
          <a:stretch>
            <a:fillRect/>
          </a:stretch>
        </p:blipFill>
        <p:spPr>
          <a:xfrm>
            <a:off x="7567622" y="1599159"/>
            <a:ext cx="4441682" cy="4446034"/>
          </a:xfrm>
          <a:prstGeom prst="rect">
            <a:avLst/>
          </a:prstGeom>
        </p:spPr>
      </p:pic>
      <p:pic>
        <p:nvPicPr>
          <p:cNvPr id="10" name="Afbeelding 9">
            <a:extLst>
              <a:ext uri="{FF2B5EF4-FFF2-40B4-BE49-F238E27FC236}">
                <a16:creationId xmlns:a16="http://schemas.microsoft.com/office/drawing/2014/main" id="{842249DE-E085-857A-DCDA-1E316B601976}"/>
              </a:ext>
            </a:extLst>
          </p:cNvPr>
          <p:cNvPicPr>
            <a:picLocks noChangeAspect="1"/>
          </p:cNvPicPr>
          <p:nvPr/>
        </p:nvPicPr>
        <p:blipFill>
          <a:blip r:embed="rId3"/>
          <a:stretch>
            <a:fillRect/>
          </a:stretch>
        </p:blipFill>
        <p:spPr>
          <a:xfrm>
            <a:off x="1113387" y="1599159"/>
            <a:ext cx="5685013" cy="4446035"/>
          </a:xfrm>
          <a:prstGeom prst="rect">
            <a:avLst/>
          </a:prstGeom>
        </p:spPr>
      </p:pic>
      <p:sp>
        <p:nvSpPr>
          <p:cNvPr id="11" name="Tekstvak 10">
            <a:extLst>
              <a:ext uri="{FF2B5EF4-FFF2-40B4-BE49-F238E27FC236}">
                <a16:creationId xmlns:a16="http://schemas.microsoft.com/office/drawing/2014/main" id="{8DD66122-2A63-F706-87E4-926B7CE24779}"/>
              </a:ext>
            </a:extLst>
          </p:cNvPr>
          <p:cNvSpPr txBox="1"/>
          <p:nvPr/>
        </p:nvSpPr>
        <p:spPr>
          <a:xfrm>
            <a:off x="4006988" y="6335739"/>
            <a:ext cx="5988482" cy="369332"/>
          </a:xfrm>
          <a:prstGeom prst="rect">
            <a:avLst/>
          </a:prstGeom>
          <a:noFill/>
        </p:spPr>
        <p:txBody>
          <a:bodyPr wrap="square">
            <a:spAutoFit/>
          </a:bodyPr>
          <a:lstStyle/>
          <a:p>
            <a:r>
              <a:rPr lang="nl-NL"/>
              <a:t>Met bovenstaande code wordt de kolom ‘afkomst’ verwijderd.</a:t>
            </a:r>
          </a:p>
        </p:txBody>
      </p:sp>
    </p:spTree>
    <p:extLst>
      <p:ext uri="{BB962C8B-B14F-4D97-AF65-F5344CB8AC3E}">
        <p14:creationId xmlns:p14="http://schemas.microsoft.com/office/powerpoint/2010/main" val="877723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BC8836E-6531-B080-70A6-CD4B298875E6}"/>
              </a:ext>
            </a:extLst>
          </p:cNvPr>
          <p:cNvSpPr>
            <a:spLocks noGrp="1"/>
          </p:cNvSpPr>
          <p:nvPr>
            <p:ph type="sldNum" sz="quarter" idx="12"/>
          </p:nvPr>
        </p:nvSpPr>
        <p:spPr>
          <a:xfrm>
            <a:off x="8601364" y="6381345"/>
            <a:ext cx="2743200" cy="365125"/>
          </a:xfrm>
        </p:spPr>
        <p:txBody>
          <a:bodyPr/>
          <a:lstStyle/>
          <a:p>
            <a:fld id="{587C737D-49A5-4740-8401-0C4DFF2B9D4A}" type="slidenum">
              <a:rPr lang="nl-NL" smtClean="0"/>
              <a:pPr/>
              <a:t>20</a:t>
            </a:fld>
            <a:endParaRPr lang="nl-NL"/>
          </a:p>
        </p:txBody>
      </p:sp>
      <p:sp>
        <p:nvSpPr>
          <p:cNvPr id="6" name="TextBox 1">
            <a:extLst>
              <a:ext uri="{FF2B5EF4-FFF2-40B4-BE49-F238E27FC236}">
                <a16:creationId xmlns:a16="http://schemas.microsoft.com/office/drawing/2014/main" id="{7CD2F944-88DB-C3A7-45F7-E30B87964246}"/>
              </a:ext>
            </a:extLst>
          </p:cNvPr>
          <p:cNvSpPr txBox="1"/>
          <p:nvPr/>
        </p:nvSpPr>
        <p:spPr>
          <a:xfrm>
            <a:off x="3255649" y="0"/>
            <a:ext cx="6493163" cy="643831"/>
          </a:xfrm>
          <a:prstGeom prst="rect">
            <a:avLst/>
          </a:prstGeom>
          <a:noFill/>
        </p:spPr>
        <p:txBody>
          <a:bodyPr wrap="square" rtlCol="0">
            <a:spAutoFit/>
          </a:bodyPr>
          <a:lstStyle/>
          <a:p>
            <a:pPr algn="ctr" defTabSz="457200" eaLnBrk="0" fontAlgn="base" hangingPunct="0">
              <a:lnSpc>
                <a:spcPct val="134000"/>
              </a:lnSpc>
              <a:spcBef>
                <a:spcPct val="0"/>
              </a:spcBef>
              <a:spcAft>
                <a:spcPct val="0"/>
              </a:spcAft>
              <a:buClr>
                <a:srgbClr val="080808"/>
              </a:buClr>
              <a:buSzPct val="100000"/>
              <a:buFont typeface="Times New Roman" charset="0"/>
              <a:buNone/>
            </a:pPr>
            <a:r>
              <a:rPr lang="en-US" sz="3000" b="1" dirty="0">
                <a:solidFill>
                  <a:srgbClr val="829C30"/>
                </a:solidFill>
                <a:latin typeface="Arial"/>
                <a:ea typeface="MS PGothic" charset="0"/>
              </a:rPr>
              <a:t>Na </a:t>
            </a:r>
            <a:r>
              <a:rPr lang="en-US" sz="3000" b="1" dirty="0" err="1">
                <a:solidFill>
                  <a:srgbClr val="829C30"/>
                </a:solidFill>
                <a:latin typeface="Arial"/>
                <a:ea typeface="MS PGothic" charset="0"/>
              </a:rPr>
              <a:t>vandaag</a:t>
            </a:r>
            <a:r>
              <a:rPr lang="en-US" sz="3000" b="1" dirty="0">
                <a:solidFill>
                  <a:srgbClr val="829C30"/>
                </a:solidFill>
                <a:latin typeface="Arial"/>
                <a:ea typeface="MS PGothic" charset="0"/>
              </a:rPr>
              <a:t>…</a:t>
            </a:r>
          </a:p>
        </p:txBody>
      </p:sp>
      <p:sp>
        <p:nvSpPr>
          <p:cNvPr id="7" name="Tekstvak 7">
            <a:extLst>
              <a:ext uri="{FF2B5EF4-FFF2-40B4-BE49-F238E27FC236}">
                <a16:creationId xmlns:a16="http://schemas.microsoft.com/office/drawing/2014/main" id="{44D485DA-CE64-C41D-89EA-EE617D435320}"/>
              </a:ext>
            </a:extLst>
          </p:cNvPr>
          <p:cNvSpPr txBox="1"/>
          <p:nvPr/>
        </p:nvSpPr>
        <p:spPr>
          <a:xfrm rot="16200000">
            <a:off x="-760560" y="982747"/>
            <a:ext cx="2192786" cy="369332"/>
          </a:xfrm>
          <a:prstGeom prst="rect">
            <a:avLst/>
          </a:prstGeom>
          <a:noFill/>
        </p:spPr>
        <p:txBody>
          <a:bodyPr wrap="square" rtlCol="0">
            <a:spAutoFit/>
          </a:bodyPr>
          <a:lstStyle/>
          <a:p>
            <a:r>
              <a:rPr lang="nl-NL" sz="1800" dirty="0">
                <a:solidFill>
                  <a:schemeClr val="bg1"/>
                </a:solidFill>
                <a:latin typeface="+mn-lt"/>
              </a:rPr>
              <a:t>Jelle van Barneveld</a:t>
            </a:r>
          </a:p>
        </p:txBody>
      </p:sp>
      <p:pic>
        <p:nvPicPr>
          <p:cNvPr id="1026" name="Picture 2" descr="Venn Diagram | DHH Resources for Teachers | UMN">
            <a:extLst>
              <a:ext uri="{FF2B5EF4-FFF2-40B4-BE49-F238E27FC236}">
                <a16:creationId xmlns:a16="http://schemas.microsoft.com/office/drawing/2014/main" id="{7ED165F3-95C7-4DFE-96C3-50E651F0E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863" y="1025768"/>
            <a:ext cx="11101137" cy="589417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3DB3ED1-9C68-BDE4-72B5-350E2AA23947}"/>
              </a:ext>
            </a:extLst>
          </p:cNvPr>
          <p:cNvSpPr txBox="1"/>
          <p:nvPr/>
        </p:nvSpPr>
        <p:spPr>
          <a:xfrm>
            <a:off x="1317285" y="3151504"/>
            <a:ext cx="4107833" cy="646331"/>
          </a:xfrm>
          <a:prstGeom prst="rect">
            <a:avLst/>
          </a:prstGeom>
          <a:noFill/>
        </p:spPr>
        <p:txBody>
          <a:bodyPr wrap="square" rtlCol="0">
            <a:spAutoFit/>
          </a:bodyPr>
          <a:lstStyle/>
          <a:p>
            <a:pPr algn="ctr"/>
            <a:r>
              <a:rPr lang="en-US" dirty="0">
                <a:solidFill>
                  <a:srgbClr val="213343"/>
                </a:solidFill>
                <a:latin typeface="Arial" panose="020B0604020202020204" pitchFamily="34" charset="0"/>
                <a:cs typeface="Arial" panose="020B0604020202020204" pitchFamily="34" charset="0"/>
              </a:rPr>
              <a:t>Wat het backwards-</a:t>
            </a:r>
            <a:r>
              <a:rPr lang="en-US" dirty="0" err="1">
                <a:solidFill>
                  <a:srgbClr val="213343"/>
                </a:solidFill>
                <a:latin typeface="Arial" panose="020B0604020202020204" pitchFamily="34" charset="0"/>
                <a:cs typeface="Arial" panose="020B0604020202020204" pitchFamily="34" charset="0"/>
              </a:rPr>
              <a:t>compatibilityprobleem</a:t>
            </a:r>
            <a:r>
              <a:rPr lang="en-US" dirty="0">
                <a:solidFill>
                  <a:srgbClr val="213343"/>
                </a:solidFill>
                <a:latin typeface="Arial" panose="020B0604020202020204" pitchFamily="34" charset="0"/>
                <a:cs typeface="Arial" panose="020B0604020202020204" pitchFamily="34" charset="0"/>
              </a:rPr>
              <a:t> is van Python</a:t>
            </a:r>
          </a:p>
        </p:txBody>
      </p:sp>
      <p:sp>
        <p:nvSpPr>
          <p:cNvPr id="13" name="TextBox 12">
            <a:extLst>
              <a:ext uri="{FF2B5EF4-FFF2-40B4-BE49-F238E27FC236}">
                <a16:creationId xmlns:a16="http://schemas.microsoft.com/office/drawing/2014/main" id="{AF490D3E-EF89-C010-3F4B-F601B3E08A37}"/>
              </a:ext>
            </a:extLst>
          </p:cNvPr>
          <p:cNvSpPr txBox="1"/>
          <p:nvPr/>
        </p:nvSpPr>
        <p:spPr>
          <a:xfrm>
            <a:off x="3576418" y="683609"/>
            <a:ext cx="1294162" cy="369332"/>
          </a:xfrm>
          <a:prstGeom prst="rect">
            <a:avLst/>
          </a:prstGeom>
          <a:noFill/>
        </p:spPr>
        <p:txBody>
          <a:bodyPr wrap="square" rtlCol="0">
            <a:spAutoFit/>
          </a:bodyPr>
          <a:lstStyle/>
          <a:p>
            <a:r>
              <a:rPr lang="en-US" b="1" dirty="0">
                <a:solidFill>
                  <a:srgbClr val="213343"/>
                </a:solidFill>
                <a:latin typeface="Arial" panose="020B0604020202020204" pitchFamily="34" charset="0"/>
                <a:cs typeface="Arial" panose="020B0604020202020204" pitchFamily="34" charset="0"/>
              </a:rPr>
              <a:t>Weet je…</a:t>
            </a:r>
          </a:p>
        </p:txBody>
      </p:sp>
      <p:sp>
        <p:nvSpPr>
          <p:cNvPr id="14" name="TextBox 13">
            <a:extLst>
              <a:ext uri="{FF2B5EF4-FFF2-40B4-BE49-F238E27FC236}">
                <a16:creationId xmlns:a16="http://schemas.microsoft.com/office/drawing/2014/main" id="{1D0EF7E7-CD2F-7741-9C29-123FB8D93DDC}"/>
              </a:ext>
            </a:extLst>
          </p:cNvPr>
          <p:cNvSpPr txBox="1"/>
          <p:nvPr/>
        </p:nvSpPr>
        <p:spPr>
          <a:xfrm>
            <a:off x="8107256" y="703521"/>
            <a:ext cx="1131266" cy="369332"/>
          </a:xfrm>
          <a:prstGeom prst="rect">
            <a:avLst/>
          </a:prstGeom>
          <a:noFill/>
        </p:spPr>
        <p:txBody>
          <a:bodyPr wrap="square" rtlCol="0">
            <a:spAutoFit/>
          </a:bodyPr>
          <a:lstStyle/>
          <a:p>
            <a:r>
              <a:rPr lang="en-US" b="1" dirty="0">
                <a:solidFill>
                  <a:srgbClr val="213343"/>
                </a:solidFill>
                <a:latin typeface="Arial" panose="020B0604020202020204" pitchFamily="34" charset="0"/>
                <a:cs typeface="Arial" panose="020B0604020202020204" pitchFamily="34" charset="0"/>
              </a:rPr>
              <a:t>Kan je…</a:t>
            </a:r>
          </a:p>
        </p:txBody>
      </p:sp>
      <p:sp>
        <p:nvSpPr>
          <p:cNvPr id="15" name="TextBox 14">
            <a:extLst>
              <a:ext uri="{FF2B5EF4-FFF2-40B4-BE49-F238E27FC236}">
                <a16:creationId xmlns:a16="http://schemas.microsoft.com/office/drawing/2014/main" id="{B00320AE-CE57-9D64-F411-B113070D2BCC}"/>
              </a:ext>
            </a:extLst>
          </p:cNvPr>
          <p:cNvSpPr txBox="1"/>
          <p:nvPr/>
        </p:nvSpPr>
        <p:spPr>
          <a:xfrm>
            <a:off x="5808945" y="2475078"/>
            <a:ext cx="1368098" cy="369332"/>
          </a:xfrm>
          <a:prstGeom prst="rect">
            <a:avLst/>
          </a:prstGeom>
          <a:noFill/>
        </p:spPr>
        <p:txBody>
          <a:bodyPr wrap="square" rtlCol="0">
            <a:spAutoFit/>
          </a:bodyPr>
          <a:lstStyle/>
          <a:p>
            <a:pPr algn="ctr"/>
            <a:r>
              <a:rPr lang="en-US" b="1" dirty="0">
                <a:solidFill>
                  <a:srgbClr val="213343"/>
                </a:solidFill>
                <a:latin typeface="Arial" panose="020B0604020202020204" pitchFamily="34" charset="0"/>
                <a:cs typeface="Arial" panose="020B0604020202020204" pitchFamily="34" charset="0"/>
              </a:rPr>
              <a:t>HC </a:t>
            </a:r>
            <a:r>
              <a:rPr lang="en-US" b="1">
                <a:solidFill>
                  <a:srgbClr val="213343"/>
                </a:solidFill>
                <a:latin typeface="Arial" panose="020B0604020202020204" pitchFamily="34" charset="0"/>
                <a:cs typeface="Arial" panose="020B0604020202020204" pitchFamily="34" charset="0"/>
              </a:rPr>
              <a:t>+ WC</a:t>
            </a:r>
            <a:endParaRPr lang="en-US" b="1" dirty="0">
              <a:solidFill>
                <a:srgbClr val="213343"/>
              </a:solidFill>
              <a:latin typeface="Arial" panose="020B0604020202020204" pitchFamily="34" charset="0"/>
              <a:cs typeface="Arial" panose="020B0604020202020204" pitchFamily="34" charset="0"/>
            </a:endParaRPr>
          </a:p>
        </p:txBody>
      </p:sp>
      <p:pic>
        <p:nvPicPr>
          <p:cNvPr id="1030" name="Picture 6" descr="Smile Emoji Happy - Free vector graphic on Pixabay">
            <a:extLst>
              <a:ext uri="{FF2B5EF4-FFF2-40B4-BE49-F238E27FC236}">
                <a16:creationId xmlns:a16="http://schemas.microsoft.com/office/drawing/2014/main" id="{A359608D-0FAD-B299-A99E-0045AC944A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40" y="3275345"/>
            <a:ext cx="1523028" cy="152302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4BAD723B-5928-12D5-4623-9987E18E1F55}"/>
              </a:ext>
            </a:extLst>
          </p:cNvPr>
          <p:cNvSpPr txBox="1"/>
          <p:nvPr/>
        </p:nvSpPr>
        <p:spPr>
          <a:xfrm>
            <a:off x="7862020" y="2874505"/>
            <a:ext cx="3091224" cy="923330"/>
          </a:xfrm>
          <a:prstGeom prst="rect">
            <a:avLst/>
          </a:prstGeom>
          <a:noFill/>
        </p:spPr>
        <p:txBody>
          <a:bodyPr wrap="square" rtlCol="0">
            <a:spAutoFit/>
          </a:bodyPr>
          <a:lstStyle/>
          <a:p>
            <a:r>
              <a:rPr lang="en-US" dirty="0" err="1">
                <a:solidFill>
                  <a:srgbClr val="213343"/>
                </a:solidFill>
                <a:latin typeface="Arial" panose="020B0604020202020204" pitchFamily="34" charset="0"/>
                <a:cs typeface="Arial" panose="020B0604020202020204" pitchFamily="34" charset="0"/>
              </a:rPr>
              <a:t>Een</a:t>
            </a:r>
            <a:r>
              <a:rPr lang="en-US" dirty="0">
                <a:solidFill>
                  <a:srgbClr val="213343"/>
                </a:solidFill>
                <a:latin typeface="Arial" panose="020B0604020202020204" pitchFamily="34" charset="0"/>
                <a:cs typeface="Arial" panose="020B0604020202020204" pitchFamily="34" charset="0"/>
              </a:rPr>
              <a:t> virtual environment </a:t>
            </a:r>
            <a:r>
              <a:rPr lang="en-US" dirty="0" err="1">
                <a:solidFill>
                  <a:srgbClr val="213343"/>
                </a:solidFill>
                <a:latin typeface="Arial" panose="020B0604020202020204" pitchFamily="34" charset="0"/>
                <a:cs typeface="Arial" panose="020B0604020202020204" pitchFamily="34" charset="0"/>
              </a:rPr>
              <a:t>voor</a:t>
            </a:r>
            <a:r>
              <a:rPr lang="en-US" dirty="0">
                <a:solidFill>
                  <a:srgbClr val="213343"/>
                </a:solidFill>
                <a:latin typeface="Arial" panose="020B0604020202020204" pitchFamily="34" charset="0"/>
                <a:cs typeface="Arial" panose="020B0604020202020204" pitchFamily="34" charset="0"/>
              </a:rPr>
              <a:t> Python in </a:t>
            </a:r>
            <a:r>
              <a:rPr lang="en-US" dirty="0" err="1">
                <a:solidFill>
                  <a:srgbClr val="213343"/>
                </a:solidFill>
                <a:latin typeface="Arial" panose="020B0604020202020204" pitchFamily="34" charset="0"/>
                <a:cs typeface="Arial" panose="020B0604020202020204" pitchFamily="34" charset="0"/>
              </a:rPr>
              <a:t>VSCode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maken</a:t>
            </a:r>
            <a:r>
              <a:rPr lang="en-US" dirty="0">
                <a:solidFill>
                  <a:srgbClr val="213343"/>
                </a:solidFill>
                <a:latin typeface="Arial" panose="020B0604020202020204" pitchFamily="34" charset="0"/>
                <a:cs typeface="Arial" panose="020B0604020202020204" pitchFamily="34" charset="0"/>
              </a:rPr>
              <a:t> met </a:t>
            </a:r>
            <a:r>
              <a:rPr lang="en-US" dirty="0" err="1">
                <a:solidFill>
                  <a:srgbClr val="213343"/>
                </a:solidFill>
                <a:latin typeface="Arial" panose="020B0604020202020204" pitchFamily="34" charset="0"/>
                <a:cs typeface="Arial" panose="020B0604020202020204" pitchFamily="34" charset="0"/>
              </a:rPr>
              <a:t>behulp</a:t>
            </a:r>
            <a:r>
              <a:rPr lang="en-US" dirty="0">
                <a:solidFill>
                  <a:srgbClr val="213343"/>
                </a:solidFill>
                <a:latin typeface="Arial" panose="020B0604020202020204" pitchFamily="34" charset="0"/>
                <a:cs typeface="Arial" panose="020B0604020202020204" pitchFamily="34" charset="0"/>
              </a:rPr>
              <a:t> van poetry</a:t>
            </a:r>
          </a:p>
        </p:txBody>
      </p:sp>
      <p:sp>
        <p:nvSpPr>
          <p:cNvPr id="17" name="TextBox 16">
            <a:extLst>
              <a:ext uri="{FF2B5EF4-FFF2-40B4-BE49-F238E27FC236}">
                <a16:creationId xmlns:a16="http://schemas.microsoft.com/office/drawing/2014/main" id="{0438445A-45D3-7C98-56F6-3E54DD78BFFD}"/>
              </a:ext>
            </a:extLst>
          </p:cNvPr>
          <p:cNvSpPr txBox="1"/>
          <p:nvPr/>
        </p:nvSpPr>
        <p:spPr>
          <a:xfrm>
            <a:off x="2717026" y="1663641"/>
            <a:ext cx="3118040" cy="1200329"/>
          </a:xfrm>
          <a:prstGeom prst="rect">
            <a:avLst/>
          </a:prstGeom>
          <a:noFill/>
        </p:spPr>
        <p:txBody>
          <a:bodyPr wrap="square" rtlCol="0">
            <a:spAutoFit/>
          </a:bodyPr>
          <a:lstStyle/>
          <a:p>
            <a:r>
              <a:rPr lang="en-US" dirty="0" err="1">
                <a:solidFill>
                  <a:srgbClr val="213343"/>
                </a:solidFill>
                <a:latin typeface="Arial" panose="020B0604020202020204" pitchFamily="34" charset="0"/>
                <a:cs typeface="Arial" panose="020B0604020202020204" pitchFamily="34" charset="0"/>
              </a:rPr>
              <a:t>Welke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verschillende</a:t>
            </a:r>
            <a:r>
              <a:rPr lang="en-US" dirty="0">
                <a:solidFill>
                  <a:srgbClr val="213343"/>
                </a:solidFill>
                <a:latin typeface="Arial" panose="020B0604020202020204" pitchFamily="34" charset="0"/>
                <a:cs typeface="Arial" panose="020B0604020202020204" pitchFamily="34" charset="0"/>
              </a:rPr>
              <a:t> Python-</a:t>
            </a:r>
            <a:r>
              <a:rPr lang="en-US" dirty="0" err="1">
                <a:solidFill>
                  <a:srgbClr val="213343"/>
                </a:solidFill>
                <a:latin typeface="Arial" panose="020B0604020202020204" pitchFamily="34" charset="0"/>
                <a:cs typeface="Arial" panose="020B0604020202020204" pitchFamily="34" charset="0"/>
              </a:rPr>
              <a:t>datastructuren</a:t>
            </a:r>
            <a:r>
              <a:rPr lang="en-US" dirty="0">
                <a:solidFill>
                  <a:srgbClr val="213343"/>
                </a:solidFill>
                <a:latin typeface="Arial" panose="020B0604020202020204" pitchFamily="34" charset="0"/>
                <a:cs typeface="Arial" panose="020B0604020202020204" pitchFamily="34" charset="0"/>
              </a:rPr>
              <a:t> er </a:t>
            </a:r>
            <a:r>
              <a:rPr lang="en-US" dirty="0" err="1">
                <a:solidFill>
                  <a:srgbClr val="213343"/>
                </a:solidFill>
                <a:latin typeface="Arial" panose="020B0604020202020204" pitchFamily="34" charset="0"/>
                <a:cs typeface="Arial" panose="020B0604020202020204" pitchFamily="34" charset="0"/>
              </a:rPr>
              <a:t>zijn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en</a:t>
            </a:r>
            <a:r>
              <a:rPr lang="en-US" dirty="0">
                <a:solidFill>
                  <a:srgbClr val="213343"/>
                </a:solidFill>
                <a:latin typeface="Arial" panose="020B0604020202020204" pitchFamily="34" charset="0"/>
                <a:cs typeface="Arial" panose="020B0604020202020204" pitchFamily="34" charset="0"/>
              </a:rPr>
              <a:t> hoe </a:t>
            </a:r>
            <a:r>
              <a:rPr lang="en-US" dirty="0" err="1">
                <a:solidFill>
                  <a:srgbClr val="213343"/>
                </a:solidFill>
                <a:latin typeface="Arial" panose="020B0604020202020204" pitchFamily="34" charset="0"/>
                <a:cs typeface="Arial" panose="020B0604020202020204" pitchFamily="34" charset="0"/>
              </a:rPr>
              <a:t>deze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overeenkomen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verschillen</a:t>
            </a:r>
            <a:r>
              <a:rPr lang="en-US" dirty="0">
                <a:solidFill>
                  <a:srgbClr val="213343"/>
                </a:solidFill>
                <a:latin typeface="Arial" panose="020B0604020202020204" pitchFamily="34" charset="0"/>
                <a:cs typeface="Arial" panose="020B0604020202020204" pitchFamily="34" charset="0"/>
              </a:rPr>
              <a:t> van </a:t>
            </a:r>
            <a:r>
              <a:rPr lang="en-US" dirty="0" err="1">
                <a:solidFill>
                  <a:srgbClr val="213343"/>
                </a:solidFill>
                <a:latin typeface="Arial" panose="020B0604020202020204" pitchFamily="34" charset="0"/>
                <a:cs typeface="Arial" panose="020B0604020202020204" pitchFamily="34" charset="0"/>
              </a:rPr>
              <a:t>elkaar</a:t>
            </a:r>
            <a:endParaRPr lang="en-US" dirty="0">
              <a:solidFill>
                <a:srgbClr val="213343"/>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8F0621E4-74F4-FAC7-0E0A-2A8DDEB96310}"/>
              </a:ext>
            </a:extLst>
          </p:cNvPr>
          <p:cNvSpPr txBox="1"/>
          <p:nvPr/>
        </p:nvSpPr>
        <p:spPr>
          <a:xfrm>
            <a:off x="7523799" y="1793617"/>
            <a:ext cx="3429445" cy="646331"/>
          </a:xfrm>
          <a:prstGeom prst="rect">
            <a:avLst/>
          </a:prstGeom>
          <a:noFill/>
        </p:spPr>
        <p:txBody>
          <a:bodyPr wrap="square" rtlCol="0">
            <a:spAutoFit/>
          </a:bodyPr>
          <a:lstStyle/>
          <a:p>
            <a:r>
              <a:rPr lang="en-US" dirty="0" err="1">
                <a:solidFill>
                  <a:srgbClr val="213343"/>
                </a:solidFill>
                <a:latin typeface="Arial" panose="020B0604020202020204" pitchFamily="34" charset="0"/>
                <a:cs typeface="Arial" panose="020B0604020202020204" pitchFamily="34" charset="0"/>
              </a:rPr>
              <a:t>Programmeertechnieken</a:t>
            </a:r>
            <a:r>
              <a:rPr lang="en-US" dirty="0">
                <a:solidFill>
                  <a:srgbClr val="213343"/>
                </a:solidFill>
                <a:latin typeface="Arial" panose="020B0604020202020204" pitchFamily="34" charset="0"/>
                <a:cs typeface="Arial" panose="020B0604020202020204" pitchFamily="34" charset="0"/>
              </a:rPr>
              <a:t> op </a:t>
            </a:r>
            <a:r>
              <a:rPr lang="en-US" dirty="0" err="1">
                <a:solidFill>
                  <a:srgbClr val="213343"/>
                </a:solidFill>
                <a:latin typeface="Arial" panose="020B0604020202020204" pitchFamily="34" charset="0"/>
                <a:cs typeface="Arial" panose="020B0604020202020204" pitchFamily="34" charset="0"/>
              </a:rPr>
              <a:t>basisniveau</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uitvoeren</a:t>
            </a:r>
            <a:r>
              <a:rPr lang="en-US" dirty="0">
                <a:solidFill>
                  <a:srgbClr val="213343"/>
                </a:solidFill>
                <a:latin typeface="Arial" panose="020B0604020202020204" pitchFamily="34" charset="0"/>
                <a:cs typeface="Arial" panose="020B0604020202020204" pitchFamily="34" charset="0"/>
              </a:rPr>
              <a:t> in Python</a:t>
            </a:r>
          </a:p>
        </p:txBody>
      </p:sp>
      <p:sp>
        <p:nvSpPr>
          <p:cNvPr id="3" name="TextBox 2">
            <a:extLst>
              <a:ext uri="{FF2B5EF4-FFF2-40B4-BE49-F238E27FC236}">
                <a16:creationId xmlns:a16="http://schemas.microsoft.com/office/drawing/2014/main" id="{AA9569FD-1C62-6555-4E41-5435D65CC9B6}"/>
              </a:ext>
            </a:extLst>
          </p:cNvPr>
          <p:cNvSpPr txBox="1"/>
          <p:nvPr/>
        </p:nvSpPr>
        <p:spPr>
          <a:xfrm>
            <a:off x="1772876" y="4179772"/>
            <a:ext cx="3283112" cy="923330"/>
          </a:xfrm>
          <a:prstGeom prst="rect">
            <a:avLst/>
          </a:prstGeom>
          <a:noFill/>
        </p:spPr>
        <p:txBody>
          <a:bodyPr wrap="square" rtlCol="0">
            <a:spAutoFit/>
          </a:bodyPr>
          <a:lstStyle/>
          <a:p>
            <a:pPr algn="ctr"/>
            <a:r>
              <a:rPr lang="en-US" dirty="0">
                <a:solidFill>
                  <a:srgbClr val="213343"/>
                </a:solidFill>
                <a:latin typeface="Arial" panose="020B0604020202020204" pitchFamily="34" charset="0"/>
                <a:cs typeface="Arial" panose="020B0604020202020204" pitchFamily="34" charset="0"/>
              </a:rPr>
              <a:t>De twee </a:t>
            </a:r>
            <a:r>
              <a:rPr lang="en-US" dirty="0" err="1">
                <a:solidFill>
                  <a:srgbClr val="213343"/>
                </a:solidFill>
                <a:latin typeface="Arial" panose="020B0604020202020204" pitchFamily="34" charset="0"/>
                <a:cs typeface="Arial" panose="020B0604020202020204" pitchFamily="34" charset="0"/>
              </a:rPr>
              <a:t>belangrijkste</a:t>
            </a:r>
            <a:r>
              <a:rPr lang="en-US" dirty="0">
                <a:solidFill>
                  <a:srgbClr val="213343"/>
                </a:solidFill>
                <a:latin typeface="Arial" panose="020B0604020202020204" pitchFamily="34" charset="0"/>
                <a:cs typeface="Arial" panose="020B0604020202020204" pitchFamily="34" charset="0"/>
              </a:rPr>
              <a:t> pandas-</a:t>
            </a:r>
            <a:r>
              <a:rPr lang="en-US" dirty="0" err="1">
                <a:solidFill>
                  <a:srgbClr val="213343"/>
                </a:solidFill>
                <a:latin typeface="Arial" panose="020B0604020202020204" pitchFamily="34" charset="0"/>
                <a:cs typeface="Arial" panose="020B0604020202020204" pitchFamily="34" charset="0"/>
              </a:rPr>
              <a:t>datastructuren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hun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structureringswijze</a:t>
            </a:r>
            <a:r>
              <a:rPr lang="en-US" dirty="0">
                <a:solidFill>
                  <a:srgbClr val="213343"/>
                </a:solidFill>
                <a:latin typeface="Arial" panose="020B0604020202020204" pitchFamily="34" charset="0"/>
                <a:cs typeface="Arial" panose="020B0604020202020204" pitchFamily="34" charset="0"/>
              </a:rPr>
              <a:t>.</a:t>
            </a:r>
          </a:p>
        </p:txBody>
      </p:sp>
      <p:sp>
        <p:nvSpPr>
          <p:cNvPr id="4" name="TextBox 3">
            <a:extLst>
              <a:ext uri="{FF2B5EF4-FFF2-40B4-BE49-F238E27FC236}">
                <a16:creationId xmlns:a16="http://schemas.microsoft.com/office/drawing/2014/main" id="{9E7BD257-D860-60C5-A131-112E56EF87F2}"/>
              </a:ext>
            </a:extLst>
          </p:cNvPr>
          <p:cNvSpPr txBox="1"/>
          <p:nvPr/>
        </p:nvSpPr>
        <p:spPr>
          <a:xfrm>
            <a:off x="3189445" y="5488545"/>
            <a:ext cx="2770697" cy="923330"/>
          </a:xfrm>
          <a:prstGeom prst="rect">
            <a:avLst/>
          </a:prstGeom>
          <a:noFill/>
        </p:spPr>
        <p:txBody>
          <a:bodyPr wrap="square" rtlCol="0">
            <a:spAutoFit/>
          </a:bodyPr>
          <a:lstStyle/>
          <a:p>
            <a:r>
              <a:rPr lang="en-US" dirty="0" err="1">
                <a:solidFill>
                  <a:srgbClr val="213343"/>
                </a:solidFill>
                <a:latin typeface="Arial" panose="020B0604020202020204" pitchFamily="34" charset="0"/>
                <a:cs typeface="Arial" panose="020B0604020202020204" pitchFamily="34" charset="0"/>
              </a:rPr>
              <a:t>Verschillende</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programmeertechnieken</a:t>
            </a:r>
            <a:r>
              <a:rPr lang="en-US" dirty="0">
                <a:solidFill>
                  <a:srgbClr val="213343"/>
                </a:solidFill>
                <a:latin typeface="Arial" panose="020B0604020202020204" pitchFamily="34" charset="0"/>
                <a:cs typeface="Arial" panose="020B0604020202020204" pitchFamily="34" charset="0"/>
              </a:rPr>
              <a:t> per </a:t>
            </a:r>
            <a:r>
              <a:rPr lang="en-US" dirty="0" err="1">
                <a:solidFill>
                  <a:srgbClr val="213343"/>
                </a:solidFill>
                <a:latin typeface="Arial" panose="020B0604020202020204" pitchFamily="34" charset="0"/>
                <a:cs typeface="Arial" panose="020B0604020202020204" pitchFamily="34" charset="0"/>
              </a:rPr>
              <a:t>wijzigingsactie</a:t>
            </a:r>
            <a:endParaRPr lang="en-US" dirty="0">
              <a:solidFill>
                <a:srgbClr val="213343"/>
              </a:solidFill>
              <a:latin typeface="Arial" panose="020B0604020202020204" pitchFamily="34" charset="0"/>
              <a:cs typeface="Arial" panose="020B0604020202020204" pitchFamily="34" charset="0"/>
            </a:endParaRPr>
          </a:p>
        </p:txBody>
      </p:sp>
      <p:sp>
        <p:nvSpPr>
          <p:cNvPr id="8" name="TextBox 8">
            <a:extLst>
              <a:ext uri="{FF2B5EF4-FFF2-40B4-BE49-F238E27FC236}">
                <a16:creationId xmlns:a16="http://schemas.microsoft.com/office/drawing/2014/main" id="{6F1E5FC4-4CD6-79DC-E337-6D112EEC881D}"/>
              </a:ext>
            </a:extLst>
          </p:cNvPr>
          <p:cNvSpPr txBox="1"/>
          <p:nvPr/>
        </p:nvSpPr>
        <p:spPr>
          <a:xfrm>
            <a:off x="7312902" y="5621682"/>
            <a:ext cx="2743200" cy="646331"/>
          </a:xfrm>
          <a:prstGeom prst="rect">
            <a:avLst/>
          </a:prstGeom>
          <a:noFill/>
        </p:spPr>
        <p:txBody>
          <a:bodyPr wrap="square" rtlCol="0">
            <a:spAutoFit/>
          </a:bodyPr>
          <a:lstStyle/>
          <a:p>
            <a:r>
              <a:rPr lang="en-US" dirty="0" err="1">
                <a:solidFill>
                  <a:srgbClr val="213343"/>
                </a:solidFill>
                <a:latin typeface="Arial" panose="020B0604020202020204" pitchFamily="34" charset="0"/>
                <a:cs typeface="Arial" panose="020B0604020202020204" pitchFamily="34" charset="0"/>
              </a:rPr>
              <a:t>Rijen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kolommen</a:t>
            </a:r>
            <a:r>
              <a:rPr lang="en-US" dirty="0">
                <a:solidFill>
                  <a:srgbClr val="213343"/>
                </a:solidFill>
                <a:latin typeface="Arial" panose="020B0604020202020204" pitchFamily="34" charset="0"/>
                <a:cs typeface="Arial" panose="020B0604020202020204" pitchFamily="34" charset="0"/>
              </a:rPr>
              <a:t> in </a:t>
            </a:r>
            <a:r>
              <a:rPr lang="en-US" dirty="0" err="1">
                <a:solidFill>
                  <a:srgbClr val="213343"/>
                </a:solidFill>
                <a:latin typeface="Arial" panose="020B0604020202020204" pitchFamily="34" charset="0"/>
                <a:cs typeface="Arial" panose="020B0604020202020204" pitchFamily="34" charset="0"/>
              </a:rPr>
              <a:t>DataFrames</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wijzigen</a:t>
            </a:r>
            <a:endParaRPr lang="en-US" dirty="0">
              <a:solidFill>
                <a:srgbClr val="213343"/>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71B1ACB-2161-F2BF-C467-26383361E728}"/>
              </a:ext>
            </a:extLst>
          </p:cNvPr>
          <p:cNvSpPr txBox="1"/>
          <p:nvPr/>
        </p:nvSpPr>
        <p:spPr>
          <a:xfrm>
            <a:off x="8122214" y="4127470"/>
            <a:ext cx="2570835" cy="1200329"/>
          </a:xfrm>
          <a:prstGeom prst="rect">
            <a:avLst/>
          </a:prstGeom>
          <a:noFill/>
        </p:spPr>
        <p:txBody>
          <a:bodyPr wrap="square" rtlCol="0">
            <a:spAutoFit/>
          </a:bodyPr>
          <a:lstStyle/>
          <a:p>
            <a:r>
              <a:rPr lang="en-US" dirty="0">
                <a:solidFill>
                  <a:srgbClr val="213343"/>
                </a:solidFill>
                <a:latin typeface="Arial" panose="020B0604020202020204" pitchFamily="34" charset="0"/>
                <a:cs typeface="Arial" panose="020B0604020202020204" pitchFamily="34" charset="0"/>
              </a:rPr>
              <a:t>Data </a:t>
            </a:r>
            <a:r>
              <a:rPr lang="en-US" dirty="0" err="1">
                <a:solidFill>
                  <a:srgbClr val="213343"/>
                </a:solidFill>
                <a:latin typeface="Arial" panose="020B0604020202020204" pitchFamily="34" charset="0"/>
                <a:cs typeface="Arial" panose="020B0604020202020204" pitchFamily="34" charset="0"/>
              </a:rPr>
              <a:t>uit</a:t>
            </a:r>
            <a:r>
              <a:rPr lang="en-US" dirty="0">
                <a:solidFill>
                  <a:srgbClr val="213343"/>
                </a:solidFill>
                <a:latin typeface="Arial" panose="020B0604020202020204" pitchFamily="34" charset="0"/>
                <a:cs typeface="Arial" panose="020B0604020202020204" pitchFamily="34" charset="0"/>
              </a:rPr>
              <a:t> externe </a:t>
            </a:r>
            <a:r>
              <a:rPr lang="en-US" dirty="0" err="1">
                <a:solidFill>
                  <a:srgbClr val="213343"/>
                </a:solidFill>
                <a:latin typeface="Arial" panose="020B0604020202020204" pitchFamily="34" charset="0"/>
                <a:cs typeface="Arial" panose="020B0604020202020204" pitchFamily="34" charset="0"/>
              </a:rPr>
              <a:t>bestanden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converteren</a:t>
            </a:r>
            <a:r>
              <a:rPr lang="en-US" dirty="0">
                <a:solidFill>
                  <a:srgbClr val="213343"/>
                </a:solidFill>
                <a:latin typeface="Arial" panose="020B0604020202020204" pitchFamily="34" charset="0"/>
                <a:cs typeface="Arial" panose="020B0604020202020204" pitchFamily="34" charset="0"/>
              </a:rPr>
              <a:t> </a:t>
            </a:r>
            <a:r>
              <a:rPr lang="en-US" dirty="0" err="1">
                <a:solidFill>
                  <a:srgbClr val="213343"/>
                </a:solidFill>
                <a:latin typeface="Arial" panose="020B0604020202020204" pitchFamily="34" charset="0"/>
                <a:cs typeface="Arial" panose="020B0604020202020204" pitchFamily="34" charset="0"/>
              </a:rPr>
              <a:t>naar</a:t>
            </a:r>
            <a:r>
              <a:rPr lang="en-US" dirty="0">
                <a:solidFill>
                  <a:srgbClr val="213343"/>
                </a:solidFill>
                <a:latin typeface="Arial" panose="020B0604020202020204" pitchFamily="34" charset="0"/>
                <a:cs typeface="Arial" panose="020B0604020202020204" pitchFamily="34" charset="0"/>
              </a:rPr>
              <a:t> pandas-</a:t>
            </a:r>
            <a:r>
              <a:rPr lang="en-US" dirty="0" err="1">
                <a:solidFill>
                  <a:srgbClr val="213343"/>
                </a:solidFill>
                <a:latin typeface="Arial" panose="020B0604020202020204" pitchFamily="34" charset="0"/>
                <a:cs typeface="Arial" panose="020B0604020202020204" pitchFamily="34" charset="0"/>
              </a:rPr>
              <a:t>datastructuren</a:t>
            </a:r>
            <a:r>
              <a:rPr lang="en-US" dirty="0">
                <a:solidFill>
                  <a:srgbClr val="213343"/>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818442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2f5a426-4411-422f-b9c8-9b9c919dd02d">
      <Terms xmlns="http://schemas.microsoft.com/office/infopath/2007/PartnerControls"/>
    </lcf76f155ced4ddcb4097134ff3c332f>
    <TaxCatchAll xmlns="d11bdb94-d558-4ffe-a4b0-092cbde2148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769D13FFC5C7A4C8E8F8F4D202D83D0" ma:contentTypeVersion="16" ma:contentTypeDescription="Een nieuw document maken." ma:contentTypeScope="" ma:versionID="b2ec890ea17184f49c4a58d4bd1095a2">
  <xsd:schema xmlns:xsd="http://www.w3.org/2001/XMLSchema" xmlns:xs="http://www.w3.org/2001/XMLSchema" xmlns:p="http://schemas.microsoft.com/office/2006/metadata/properties" xmlns:ns2="32f5a426-4411-422f-b9c8-9b9c919dd02d" xmlns:ns3="597a471e-0b75-4fc5-bc4a-75c43d0a6ad2" xmlns:ns4="d11bdb94-d558-4ffe-a4b0-092cbde21480" targetNamespace="http://schemas.microsoft.com/office/2006/metadata/properties" ma:root="true" ma:fieldsID="f90993f1e063ba2c6886d3a92126f3a0" ns2:_="" ns3:_="" ns4:_="">
    <xsd:import namespace="32f5a426-4411-422f-b9c8-9b9c919dd02d"/>
    <xsd:import namespace="597a471e-0b75-4fc5-bc4a-75c43d0a6ad2"/>
    <xsd:import namespace="d11bdb94-d558-4ffe-a4b0-092cbde2148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f5a426-4411-422f-b9c8-9b9c919dd0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9cfe35b6-4a65-43a7-bc9f-cf1ea54c88f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97a471e-0b75-4fc5-bc4a-75c43d0a6ad2"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11bdb94-d558-4ffe-a4b0-092cbde2148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26a33bc-5304-44c1-9510-c7646694e7db}" ma:internalName="TaxCatchAll" ma:showField="CatchAllData" ma:web="597a471e-0b75-4fc5-bc4a-75c43d0a6a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D9655C-1C2C-48B5-82B4-3A7F45A8375C}">
  <ds:schemaRefs>
    <ds:schemaRef ds:uri="http://schemas.microsoft.com/sharepoint/v3/contenttype/forms"/>
  </ds:schemaRefs>
</ds:datastoreItem>
</file>

<file path=customXml/itemProps2.xml><?xml version="1.0" encoding="utf-8"?>
<ds:datastoreItem xmlns:ds="http://schemas.openxmlformats.org/officeDocument/2006/customXml" ds:itemID="{F5BE1DEE-A5FD-46E7-8E9A-FE7F03B28CB1}">
  <ds:schemaRefs>
    <ds:schemaRef ds:uri="http://purl.org/dc/dcmitype/"/>
    <ds:schemaRef ds:uri="http://www.w3.org/XML/1998/namespace"/>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d11bdb94-d558-4ffe-a4b0-092cbde21480"/>
    <ds:schemaRef ds:uri="597a471e-0b75-4fc5-bc4a-75c43d0a6ad2"/>
    <ds:schemaRef ds:uri="32f5a426-4411-422f-b9c8-9b9c919dd02d"/>
    <ds:schemaRef ds:uri="http://schemas.microsoft.com/office/2006/metadata/properties"/>
  </ds:schemaRefs>
</ds:datastoreItem>
</file>

<file path=customXml/itemProps3.xml><?xml version="1.0" encoding="utf-8"?>
<ds:datastoreItem xmlns:ds="http://schemas.openxmlformats.org/officeDocument/2006/customXml" ds:itemID="{23B5E14A-9404-41F4-9DA4-08F147485A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f5a426-4411-422f-b9c8-9b9c919dd02d"/>
    <ds:schemaRef ds:uri="597a471e-0b75-4fc5-bc4a-75c43d0a6ad2"/>
    <ds:schemaRef ds:uri="d11bdb94-d558-4ffe-a4b0-092cbde2148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3828</TotalTime>
  <Words>1286</Words>
  <Application>Microsoft Office PowerPoint</Application>
  <PresentationFormat>Widescreen</PresentationFormat>
  <Paragraphs>194</Paragraphs>
  <Slides>20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Söhne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Haagse Hogeschool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Jelle van Barneveld</dc:creator>
  <cp:lastModifiedBy>Jelle van Barneveld</cp:lastModifiedBy>
  <cp:revision>11</cp:revision>
  <dcterms:created xsi:type="dcterms:W3CDTF">2022-11-02T10:35:39Z</dcterms:created>
  <dcterms:modified xsi:type="dcterms:W3CDTF">2026-02-09T11:41:08Z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0x0101007769D13FFC5C7A4C8E8F8F4D202D83D0</vt:lpwstr>
  </property>
  <property fmtid="{D5CDD505-2E9C-101B-9397-08002B2CF9AE}" pid="3" name="MediaServiceImageTags">
    <vt:lpwstr/>
  </property>
</Properties>
</file>