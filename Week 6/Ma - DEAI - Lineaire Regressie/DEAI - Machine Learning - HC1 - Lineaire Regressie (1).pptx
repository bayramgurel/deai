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7" r:id="rId5"/>
    <p:sldId id="258" r:id="rId6"/>
    <p:sldId id="301" r:id="rId7"/>
    <p:sldId id="308" r:id="rId8"/>
    <p:sldId id="282" r:id="rId9"/>
    <p:sldId id="287" r:id="rId10"/>
    <p:sldId id="302" r:id="rId11"/>
    <p:sldId id="293" r:id="rId12"/>
    <p:sldId id="304" r:id="rId13"/>
    <p:sldId id="271" r:id="rId14"/>
    <p:sldId id="284" r:id="rId15"/>
    <p:sldId id="291" r:id="rId16"/>
    <p:sldId id="322" r:id="rId17"/>
    <p:sldId id="321" r:id="rId18"/>
    <p:sldId id="324" r:id="rId19"/>
    <p:sldId id="320" r:id="rId20"/>
    <p:sldId id="297" r:id="rId21"/>
    <p:sldId id="323" r:id="rId22"/>
    <p:sldId id="326" r:id="rId23"/>
    <p:sldId id="305" r:id="rId24"/>
    <p:sldId id="325" r:id="rId2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8EB64A-E865-966A-8332-0D130CF50B9A}" name="Bas van Zon" initials="BvZ" userId="S::ejbvzon@hhs.nl::307771b7-d926-4cce-8fc9-5ebdd4ab6e47" providerId="AD"/>
  <p188:author id="{8E86956B-D5D2-9C10-7703-AED3979430FE}" name="Jelle van Barneveld" initials="JB" userId="S::jhbarnev@hhs.nl::bc7ecfdf-3719-43bf-9ebf-4e7030cd47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5B9FD-CBCB-47A8-B170-87B557C1A36A}" v="595" dt="2026-03-22T16:31:50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9" autoAdjust="0"/>
  </p:normalViewPr>
  <p:slideViewPr>
    <p:cSldViewPr snapToGrid="0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van Barneveld" userId="bc7ecfdf-3719-43bf-9ebf-4e7030cd4705" providerId="ADAL" clId="{8FBCD94A-1B0B-4C78-B10A-8D7F43414B78}"/>
    <pc:docChg chg="undo redo custSel addSld delSld modSld sldOrd delMainMaster">
      <pc:chgData name="Jelle van Barneveld" userId="bc7ecfdf-3719-43bf-9ebf-4e7030cd4705" providerId="ADAL" clId="{8FBCD94A-1B0B-4C78-B10A-8D7F43414B78}" dt="2026-03-22T16:33:29.658" v="7258" actId="47"/>
      <pc:docMkLst>
        <pc:docMk/>
      </pc:docMkLst>
      <pc:sldChg chg="addSp delSp modSp add del mod addAnim delAnim modAnim">
        <pc:chgData name="Jelle van Barneveld" userId="bc7ecfdf-3719-43bf-9ebf-4e7030cd4705" providerId="ADAL" clId="{8FBCD94A-1B0B-4C78-B10A-8D7F43414B78}" dt="2026-03-22T16:33:29.658" v="7258" actId="47"/>
        <pc:sldMkLst>
          <pc:docMk/>
          <pc:sldMk cId="0" sldId="261"/>
        </pc:sldMkLst>
        <pc:spChg chg="del">
          <ac:chgData name="Jelle van Barneveld" userId="bc7ecfdf-3719-43bf-9ebf-4e7030cd4705" providerId="ADAL" clId="{8FBCD94A-1B0B-4C78-B10A-8D7F43414B78}" dt="2026-03-22T16:22:01.856" v="7019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Jelle van Barneveld" userId="bc7ecfdf-3719-43bf-9ebf-4e7030cd4705" providerId="ADAL" clId="{8FBCD94A-1B0B-4C78-B10A-8D7F43414B78}" dt="2026-03-22T16:22:16.645" v="7022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Jelle van Barneveld" userId="bc7ecfdf-3719-43bf-9ebf-4e7030cd4705" providerId="ADAL" clId="{8FBCD94A-1B0B-4C78-B10A-8D7F43414B78}" dt="2026-03-22T16:29:27.818" v="7187" actId="14100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Jelle van Barneveld" userId="bc7ecfdf-3719-43bf-9ebf-4e7030cd4705" providerId="ADAL" clId="{8FBCD94A-1B0B-4C78-B10A-8D7F43414B78}" dt="2026-03-22T16:19:24.469" v="6992"/>
          <ac:spMkLst>
            <pc:docMk/>
            <pc:sldMk cId="0" sldId="261"/>
            <ac:spMk id="7" creationId="{6D64194C-2E2D-9B12-EF4A-CE57EC087C68}"/>
          </ac:spMkLst>
        </pc:spChg>
        <pc:spChg chg="add mod">
          <ac:chgData name="Jelle van Barneveld" userId="bc7ecfdf-3719-43bf-9ebf-4e7030cd4705" providerId="ADAL" clId="{8FBCD94A-1B0B-4C78-B10A-8D7F43414B78}" dt="2026-03-22T16:19:24.469" v="6992"/>
          <ac:spMkLst>
            <pc:docMk/>
            <pc:sldMk cId="0" sldId="261"/>
            <ac:spMk id="8" creationId="{37EE10BC-E351-3347-8AE8-FD509D69FB96}"/>
          </ac:spMkLst>
        </pc:spChg>
        <pc:spChg chg="add mod">
          <ac:chgData name="Jelle van Barneveld" userId="bc7ecfdf-3719-43bf-9ebf-4e7030cd4705" providerId="ADAL" clId="{8FBCD94A-1B0B-4C78-B10A-8D7F43414B78}" dt="2026-03-22T16:22:02.287" v="7020"/>
          <ac:spMkLst>
            <pc:docMk/>
            <pc:sldMk cId="0" sldId="261"/>
            <ac:spMk id="9" creationId="{7EC45E31-B0FD-87AB-2643-0681B32CB126}"/>
          </ac:spMkLst>
        </pc:spChg>
        <pc:spChg chg="add del mod">
          <ac:chgData name="Jelle van Barneveld" userId="bc7ecfdf-3719-43bf-9ebf-4e7030cd4705" providerId="ADAL" clId="{8FBCD94A-1B0B-4C78-B10A-8D7F43414B78}" dt="2026-03-22T16:22:18.562" v="7023" actId="478"/>
          <ac:spMkLst>
            <pc:docMk/>
            <pc:sldMk cId="0" sldId="261"/>
            <ac:spMk id="11" creationId="{B8B4F889-30A9-5D21-60E6-320245F6B2B3}"/>
          </ac:spMkLst>
        </pc:spChg>
        <pc:spChg chg="add mod">
          <ac:chgData name="Jelle van Barneveld" userId="bc7ecfdf-3719-43bf-9ebf-4e7030cd4705" providerId="ADAL" clId="{8FBCD94A-1B0B-4C78-B10A-8D7F43414B78}" dt="2026-03-22T16:22:19.068" v="7024"/>
          <ac:spMkLst>
            <pc:docMk/>
            <pc:sldMk cId="0" sldId="261"/>
            <ac:spMk id="12" creationId="{6DEFC148-C8A2-D0BE-7C2C-A7B01355C14C}"/>
          </ac:spMkLst>
        </pc:spChg>
        <pc:spChg chg="add">
          <ac:chgData name="Jelle van Barneveld" userId="bc7ecfdf-3719-43bf-9ebf-4e7030cd4705" providerId="ADAL" clId="{8FBCD94A-1B0B-4C78-B10A-8D7F43414B78}" dt="2026-03-22T16:27:52.380" v="7173"/>
          <ac:spMkLst>
            <pc:docMk/>
            <pc:sldMk cId="0" sldId="261"/>
            <ac:spMk id="13" creationId="{EB56D3E3-5883-9827-EA19-3C59D7315547}"/>
          </ac:spMkLst>
        </pc:spChg>
        <pc:spChg chg="add mod">
          <ac:chgData name="Jelle van Barneveld" userId="bc7ecfdf-3719-43bf-9ebf-4e7030cd4705" providerId="ADAL" clId="{8FBCD94A-1B0B-4C78-B10A-8D7F43414B78}" dt="2026-03-22T16:29:32.943" v="7188" actId="1076"/>
          <ac:spMkLst>
            <pc:docMk/>
            <pc:sldMk cId="0" sldId="261"/>
            <ac:spMk id="17" creationId="{34D6D563-F595-0139-AEA4-51B58E86C230}"/>
          </ac:spMkLst>
        </pc:spChg>
        <pc:spChg chg="add mod">
          <ac:chgData name="Jelle van Barneveld" userId="bc7ecfdf-3719-43bf-9ebf-4e7030cd4705" providerId="ADAL" clId="{8FBCD94A-1B0B-4C78-B10A-8D7F43414B78}" dt="2026-03-22T16:31:10.333" v="7198" actId="14100"/>
          <ac:spMkLst>
            <pc:docMk/>
            <pc:sldMk cId="0" sldId="261"/>
            <ac:spMk id="19" creationId="{4F4087CD-A89D-885B-8E3F-2E05C1B0AC8C}"/>
          </ac:spMkLst>
        </pc:spChg>
        <pc:spChg chg="add mod">
          <ac:chgData name="Jelle van Barneveld" userId="bc7ecfdf-3719-43bf-9ebf-4e7030cd4705" providerId="ADAL" clId="{8FBCD94A-1B0B-4C78-B10A-8D7F43414B78}" dt="2026-03-22T16:33:18.394" v="7257" actId="20577"/>
          <ac:spMkLst>
            <pc:docMk/>
            <pc:sldMk cId="0" sldId="261"/>
            <ac:spMk id="23" creationId="{7DC527EC-6FDC-0A98-A917-5984A7FA8554}"/>
          </ac:spMkLst>
        </pc:spChg>
        <pc:picChg chg="add mod">
          <ac:chgData name="Jelle van Barneveld" userId="bc7ecfdf-3719-43bf-9ebf-4e7030cd4705" providerId="ADAL" clId="{8FBCD94A-1B0B-4C78-B10A-8D7F43414B78}" dt="2026-03-22T16:30:58.147" v="7195" actId="1076"/>
          <ac:picMkLst>
            <pc:docMk/>
            <pc:sldMk cId="0" sldId="261"/>
            <ac:picMk id="15" creationId="{C7ABDB0D-0838-30BC-A090-A483114E93DA}"/>
          </ac:picMkLst>
        </pc:picChg>
        <pc:picChg chg="add mod">
          <ac:chgData name="Jelle van Barneveld" userId="bc7ecfdf-3719-43bf-9ebf-4e7030cd4705" providerId="ADAL" clId="{8FBCD94A-1B0B-4C78-B10A-8D7F43414B78}" dt="2026-03-22T16:31:16.770" v="7200" actId="1076"/>
          <ac:picMkLst>
            <pc:docMk/>
            <pc:sldMk cId="0" sldId="261"/>
            <ac:picMk id="20" creationId="{D6EAD3A1-A875-4290-7D67-801906338B6E}"/>
          </ac:picMkLst>
        </pc:picChg>
        <pc:picChg chg="add mod">
          <ac:chgData name="Jelle van Barneveld" userId="bc7ecfdf-3719-43bf-9ebf-4e7030cd4705" providerId="ADAL" clId="{8FBCD94A-1B0B-4C78-B10A-8D7F43414B78}" dt="2026-03-22T16:31:21.057" v="7201" actId="1076"/>
          <ac:picMkLst>
            <pc:docMk/>
            <pc:sldMk cId="0" sldId="261"/>
            <ac:picMk id="21" creationId="{A14E0B9B-C9E2-B865-73E9-F8EF4010003F}"/>
          </ac:picMkLst>
        </pc:picChg>
        <pc:picChg chg="add mod">
          <ac:chgData name="Jelle van Barneveld" userId="bc7ecfdf-3719-43bf-9ebf-4e7030cd4705" providerId="ADAL" clId="{8FBCD94A-1B0B-4C78-B10A-8D7F43414B78}" dt="2026-03-22T16:29:01.718" v="7183" actId="1076"/>
          <ac:picMkLst>
            <pc:docMk/>
            <pc:sldMk cId="0" sldId="261"/>
            <ac:picMk id="1028" creationId="{CB925CFC-8E61-26AB-3A48-9E1AA6BCBFDA}"/>
          </ac:picMkLst>
        </pc:picChg>
        <pc:cxnChg chg="add mod">
          <ac:chgData name="Jelle van Barneveld" userId="bc7ecfdf-3719-43bf-9ebf-4e7030cd4705" providerId="ADAL" clId="{8FBCD94A-1B0B-4C78-B10A-8D7F43414B78}" dt="2026-03-22T16:19:15.979" v="6991"/>
          <ac:cxnSpMkLst>
            <pc:docMk/>
            <pc:sldMk cId="0" sldId="261"/>
            <ac:cxnSpMk id="5" creationId="{81A601F3-0FD2-7954-0B6A-3404ECC74B87}"/>
          </ac:cxnSpMkLst>
        </pc:cxnChg>
        <pc:cxnChg chg="add mod">
          <ac:chgData name="Jelle van Barneveld" userId="bc7ecfdf-3719-43bf-9ebf-4e7030cd4705" providerId="ADAL" clId="{8FBCD94A-1B0B-4C78-B10A-8D7F43414B78}" dt="2026-03-22T16:19:15.979" v="6991"/>
          <ac:cxnSpMkLst>
            <pc:docMk/>
            <pc:sldMk cId="0" sldId="261"/>
            <ac:cxnSpMk id="6" creationId="{1D8B6891-34BC-3BCF-4826-F4312EE69739}"/>
          </ac:cxnSpMkLst>
        </pc:cxnChg>
      </pc:sldChg>
      <pc:sldChg chg="modSp mod modAnim">
        <pc:chgData name="Jelle van Barneveld" userId="bc7ecfdf-3719-43bf-9ebf-4e7030cd4705" providerId="ADAL" clId="{8FBCD94A-1B0B-4C78-B10A-8D7F43414B78}" dt="2026-03-06T10:19:34.693" v="6060" actId="20577"/>
        <pc:sldMkLst>
          <pc:docMk/>
          <pc:sldMk cId="2160507419" sldId="287"/>
        </pc:sldMkLst>
        <pc:spChg chg="mod">
          <ac:chgData name="Jelle van Barneveld" userId="bc7ecfdf-3719-43bf-9ebf-4e7030cd4705" providerId="ADAL" clId="{8FBCD94A-1B0B-4C78-B10A-8D7F43414B78}" dt="2026-02-25T13:21:39.007" v="6050" actId="14100"/>
          <ac:spMkLst>
            <pc:docMk/>
            <pc:sldMk cId="2160507419" sldId="287"/>
            <ac:spMk id="22" creationId="{4E2F28F4-A12E-6CD9-CBEF-18DE13FE3969}"/>
          </ac:spMkLst>
        </pc:spChg>
        <pc:spChg chg="mod">
          <ac:chgData name="Jelle van Barneveld" userId="bc7ecfdf-3719-43bf-9ebf-4e7030cd4705" providerId="ADAL" clId="{8FBCD94A-1B0B-4C78-B10A-8D7F43414B78}" dt="2026-03-06T10:19:34.693" v="6060" actId="20577"/>
          <ac:spMkLst>
            <pc:docMk/>
            <pc:sldMk cId="2160507419" sldId="287"/>
            <ac:spMk id="24" creationId="{6F9E254D-525D-DF19-4B8A-BFA999B64FAE}"/>
          </ac:spMkLst>
        </pc:spChg>
      </pc:sldChg>
      <pc:sldChg chg="addSp delSp modSp mod delAnim modAnim">
        <pc:chgData name="Jelle van Barneveld" userId="bc7ecfdf-3719-43bf-9ebf-4e7030cd4705" providerId="ADAL" clId="{8FBCD94A-1B0B-4C78-B10A-8D7F43414B78}" dt="2026-02-25T13:23:35.619" v="6055"/>
        <pc:sldMkLst>
          <pc:docMk/>
          <pc:sldMk cId="573910597" sldId="291"/>
        </pc:sldMkLst>
        <pc:spChg chg="add mod">
          <ac:chgData name="Jelle van Barneveld" userId="bc7ecfdf-3719-43bf-9ebf-4e7030cd4705" providerId="ADAL" clId="{8FBCD94A-1B0B-4C78-B10A-8D7F43414B78}" dt="2026-02-25T13:23:35.619" v="6055"/>
          <ac:spMkLst>
            <pc:docMk/>
            <pc:sldMk cId="573910597" sldId="291"/>
            <ac:spMk id="4" creationId="{6F2A068F-2B9C-C860-D21F-EF3BBC2A6BFF}"/>
          </ac:spMkLst>
        </pc:spChg>
      </pc:sldChg>
      <pc:sldChg chg="addSp delSp modSp mod delAnim modAnim">
        <pc:chgData name="Jelle van Barneveld" userId="bc7ecfdf-3719-43bf-9ebf-4e7030cd4705" providerId="ADAL" clId="{8FBCD94A-1B0B-4C78-B10A-8D7F43414B78}" dt="2026-03-22T13:26:43.924" v="6987" actId="20577"/>
        <pc:sldMkLst>
          <pc:docMk/>
          <pc:sldMk cId="2382823142" sldId="297"/>
        </pc:sldMkLst>
        <pc:spChg chg="add mod">
          <ac:chgData name="Jelle van Barneveld" userId="bc7ecfdf-3719-43bf-9ebf-4e7030cd4705" providerId="ADAL" clId="{8FBCD94A-1B0B-4C78-B10A-8D7F43414B78}" dt="2026-03-22T13:26:43.924" v="6987" actId="20577"/>
          <ac:spMkLst>
            <pc:docMk/>
            <pc:sldMk cId="2382823142" sldId="297"/>
            <ac:spMk id="43" creationId="{3A788379-0553-3C2C-AD18-463653F02629}"/>
          </ac:spMkLst>
        </pc:spChg>
      </pc:sldChg>
      <pc:sldChg chg="modSp mod">
        <pc:chgData name="Jelle van Barneveld" userId="bc7ecfdf-3719-43bf-9ebf-4e7030cd4705" providerId="ADAL" clId="{8FBCD94A-1B0B-4C78-B10A-8D7F43414B78}" dt="2026-03-22T16:32:58.657" v="7241" actId="20577"/>
        <pc:sldMkLst>
          <pc:docMk/>
          <pc:sldMk cId="4046126420" sldId="301"/>
        </pc:sldMkLst>
        <pc:spChg chg="mod">
          <ac:chgData name="Jelle van Barneveld" userId="bc7ecfdf-3719-43bf-9ebf-4e7030cd4705" providerId="ADAL" clId="{8FBCD94A-1B0B-4C78-B10A-8D7F43414B78}" dt="2026-03-22T16:32:58.657" v="7241" actId="20577"/>
          <ac:spMkLst>
            <pc:docMk/>
            <pc:sldMk cId="4046126420" sldId="301"/>
            <ac:spMk id="11" creationId="{A0D72E47-D935-6286-B3A7-4B72D3762E71}"/>
          </ac:spMkLst>
        </pc:spChg>
      </pc:sldChg>
      <pc:sldChg chg="addSp delSp modSp add mod ord addAnim delAnim modAnim">
        <pc:chgData name="Jelle van Barneveld" userId="bc7ecfdf-3719-43bf-9ebf-4e7030cd4705" providerId="ADAL" clId="{8FBCD94A-1B0B-4C78-B10A-8D7F43414B78}" dt="2026-02-25T13:23:35.619" v="6055"/>
        <pc:sldMkLst>
          <pc:docMk/>
          <pc:sldMk cId="1339419099" sldId="321"/>
        </pc:sldMkLst>
        <pc:spChg chg="mod">
          <ac:chgData name="Jelle van Barneveld" userId="bc7ecfdf-3719-43bf-9ebf-4e7030cd4705" providerId="ADAL" clId="{8FBCD94A-1B0B-4C78-B10A-8D7F43414B78}" dt="2026-02-25T13:23:35.619" v="6055"/>
          <ac:spMkLst>
            <pc:docMk/>
            <pc:sldMk cId="1339419099" sldId="321"/>
            <ac:spMk id="4" creationId="{B66FEBF0-22B5-D55F-923A-E512C22B1301}"/>
          </ac:spMkLst>
        </pc:spChg>
      </pc:sldChg>
      <pc:sldChg chg="modSp add mod modAnim">
        <pc:chgData name="Jelle van Barneveld" userId="bc7ecfdf-3719-43bf-9ebf-4e7030cd4705" providerId="ADAL" clId="{8FBCD94A-1B0B-4C78-B10A-8D7F43414B78}" dt="2026-02-25T13:23:18.982" v="6054" actId="20577"/>
        <pc:sldMkLst>
          <pc:docMk/>
          <pc:sldMk cId="3488796307" sldId="322"/>
        </pc:sldMkLst>
        <pc:spChg chg="mod">
          <ac:chgData name="Jelle van Barneveld" userId="bc7ecfdf-3719-43bf-9ebf-4e7030cd4705" providerId="ADAL" clId="{8FBCD94A-1B0B-4C78-B10A-8D7F43414B78}" dt="2026-02-25T13:23:18.982" v="6054" actId="20577"/>
          <ac:spMkLst>
            <pc:docMk/>
            <pc:sldMk cId="3488796307" sldId="322"/>
            <ac:spMk id="4" creationId="{0D0BDFC1-E18F-0084-A1D7-5319DDEE9E7C}"/>
          </ac:spMkLst>
        </pc:spChg>
      </pc:sldChg>
      <pc:sldChg chg="addSp delSp modSp add mod delAnim modAnim">
        <pc:chgData name="Jelle van Barneveld" userId="bc7ecfdf-3719-43bf-9ebf-4e7030cd4705" providerId="ADAL" clId="{8FBCD94A-1B0B-4C78-B10A-8D7F43414B78}" dt="2026-03-17T08:46:56.276" v="6074" actId="14100"/>
        <pc:sldMkLst>
          <pc:docMk/>
          <pc:sldMk cId="806468837" sldId="323"/>
        </pc:sldMkLst>
        <pc:spChg chg="mod">
          <ac:chgData name="Jelle van Barneveld" userId="bc7ecfdf-3719-43bf-9ebf-4e7030cd4705" providerId="ADAL" clId="{8FBCD94A-1B0B-4C78-B10A-8D7F43414B78}" dt="2026-03-17T08:46:40.195" v="6068" actId="14100"/>
          <ac:spMkLst>
            <pc:docMk/>
            <pc:sldMk cId="806468837" sldId="323"/>
            <ac:spMk id="29" creationId="{89420569-8B16-D6AB-B7D2-DCB7B5E44736}"/>
          </ac:spMkLst>
        </pc:spChg>
        <pc:spChg chg="mod">
          <ac:chgData name="Jelle van Barneveld" userId="bc7ecfdf-3719-43bf-9ebf-4e7030cd4705" providerId="ADAL" clId="{8FBCD94A-1B0B-4C78-B10A-8D7F43414B78}" dt="2026-03-17T08:46:50.654" v="6072" actId="14100"/>
          <ac:spMkLst>
            <pc:docMk/>
            <pc:sldMk cId="806468837" sldId="323"/>
            <ac:spMk id="30" creationId="{3332474C-9C2E-41ED-B70E-FA63E24073AE}"/>
          </ac:spMkLst>
        </pc:spChg>
        <pc:spChg chg="mod">
          <ac:chgData name="Jelle van Barneveld" userId="bc7ecfdf-3719-43bf-9ebf-4e7030cd4705" providerId="ADAL" clId="{8FBCD94A-1B0B-4C78-B10A-8D7F43414B78}" dt="2026-03-17T08:46:42.894" v="6069" actId="14100"/>
          <ac:spMkLst>
            <pc:docMk/>
            <pc:sldMk cId="806468837" sldId="323"/>
            <ac:spMk id="33" creationId="{5FD72CA2-FFD0-3B00-D0DE-1312EE62893B}"/>
          </ac:spMkLst>
        </pc:spChg>
        <pc:spChg chg="mod">
          <ac:chgData name="Jelle van Barneveld" userId="bc7ecfdf-3719-43bf-9ebf-4e7030cd4705" providerId="ADAL" clId="{8FBCD94A-1B0B-4C78-B10A-8D7F43414B78}" dt="2026-03-17T08:46:56.276" v="6074" actId="14100"/>
          <ac:spMkLst>
            <pc:docMk/>
            <pc:sldMk cId="806468837" sldId="323"/>
            <ac:spMk id="34" creationId="{AB1EA4C2-09DC-C9A0-BDB4-AD7B834A4024}"/>
          </ac:spMkLst>
        </pc:spChg>
        <pc:cxnChg chg="mod">
          <ac:chgData name="Jelle van Barneveld" userId="bc7ecfdf-3719-43bf-9ebf-4e7030cd4705" providerId="ADAL" clId="{8FBCD94A-1B0B-4C78-B10A-8D7F43414B78}" dt="2026-03-17T08:46:45.859" v="6070" actId="1076"/>
          <ac:cxnSpMkLst>
            <pc:docMk/>
            <pc:sldMk cId="806468837" sldId="323"/>
            <ac:cxnSpMk id="27" creationId="{88902C58-770B-0F6A-F0B3-21D231299062}"/>
          </ac:cxnSpMkLst>
        </pc:cxnChg>
      </pc:sldChg>
      <pc:sldChg chg="addSp delSp modSp add mod addAnim delAnim modAnim">
        <pc:chgData name="Jelle van Barneveld" userId="bc7ecfdf-3719-43bf-9ebf-4e7030cd4705" providerId="ADAL" clId="{8FBCD94A-1B0B-4C78-B10A-8D7F43414B78}" dt="2026-03-17T09:15:29.955" v="6961" actId="20577"/>
        <pc:sldMkLst>
          <pc:docMk/>
          <pc:sldMk cId="156354798" sldId="326"/>
        </pc:sldMkLst>
        <pc:spChg chg="mod">
          <ac:chgData name="Jelle van Barneveld" userId="bc7ecfdf-3719-43bf-9ebf-4e7030cd4705" providerId="ADAL" clId="{8FBCD94A-1B0B-4C78-B10A-8D7F43414B78}" dt="2026-03-17T09:01:08.842" v="6261" actId="20577"/>
          <ac:spMkLst>
            <pc:docMk/>
            <pc:sldMk cId="156354798" sldId="326"/>
            <ac:spMk id="2" creationId="{55360B6D-4F37-4D50-3F1D-95CEB4A99C3B}"/>
          </ac:spMkLst>
        </pc:spChg>
        <pc:spChg chg="add mod">
          <ac:chgData name="Jelle van Barneveld" userId="bc7ecfdf-3719-43bf-9ebf-4e7030cd4705" providerId="ADAL" clId="{8FBCD94A-1B0B-4C78-B10A-8D7F43414B78}" dt="2026-03-17T09:08:22.344" v="6720" actId="5793"/>
          <ac:spMkLst>
            <pc:docMk/>
            <pc:sldMk cId="156354798" sldId="326"/>
            <ac:spMk id="19" creationId="{7B4B4491-4837-D7D8-062A-623BE113DACB}"/>
          </ac:spMkLst>
        </pc:spChg>
        <pc:spChg chg="add mod">
          <ac:chgData name="Jelle van Barneveld" userId="bc7ecfdf-3719-43bf-9ebf-4e7030cd4705" providerId="ADAL" clId="{8FBCD94A-1B0B-4C78-B10A-8D7F43414B78}" dt="2026-03-17T09:15:29.955" v="6961" actId="20577"/>
          <ac:spMkLst>
            <pc:docMk/>
            <pc:sldMk cId="156354798" sldId="326"/>
            <ac:spMk id="24" creationId="{244EFB39-8EE7-637C-C012-6A54CAECD1F0}"/>
          </ac:spMkLst>
        </pc:spChg>
        <pc:spChg chg="add del mod">
          <ac:chgData name="Jelle van Barneveld" userId="bc7ecfdf-3719-43bf-9ebf-4e7030cd4705" providerId="ADAL" clId="{8FBCD94A-1B0B-4C78-B10A-8D7F43414B78}" dt="2026-03-17T09:15:28.571" v="6959" actId="1076"/>
          <ac:spMkLst>
            <pc:docMk/>
            <pc:sldMk cId="156354798" sldId="326"/>
            <ac:spMk id="33" creationId="{8C65DE2A-08B2-5C1E-0411-F987CBD7D8C7}"/>
          </ac:spMkLst>
        </pc:spChg>
        <pc:picChg chg="add del mod">
          <ac:chgData name="Jelle van Barneveld" userId="bc7ecfdf-3719-43bf-9ebf-4e7030cd4705" providerId="ADAL" clId="{8FBCD94A-1B0B-4C78-B10A-8D7F43414B78}" dt="2026-03-17T09:08:30.339" v="6722" actId="1076"/>
          <ac:picMkLst>
            <pc:docMk/>
            <pc:sldMk cId="156354798" sldId="326"/>
            <ac:picMk id="18" creationId="{32FA4FCA-4CDB-D5BA-7A39-585E00E13A34}"/>
          </ac:picMkLst>
        </pc:picChg>
      </pc:sldChg>
      <pc:sldMasterChg chg="del delSldLayout">
        <pc:chgData name="Jelle van Barneveld" userId="bc7ecfdf-3719-43bf-9ebf-4e7030cd4705" providerId="ADAL" clId="{8FBCD94A-1B0B-4C78-B10A-8D7F43414B78}" dt="2026-03-22T16:33:29.658" v="7258" actId="47"/>
        <pc:sldMasterMkLst>
          <pc:docMk/>
          <pc:sldMasterMk cId="1618148493" sldId="2147483672"/>
        </pc:sldMasterMkLst>
        <pc:sldLayoutChg chg="del">
          <pc:chgData name="Jelle van Barneveld" userId="bc7ecfdf-3719-43bf-9ebf-4e7030cd4705" providerId="ADAL" clId="{8FBCD94A-1B0B-4C78-B10A-8D7F43414B78}" dt="2026-03-22T16:33:29.658" v="7258" actId="47"/>
          <pc:sldLayoutMkLst>
            <pc:docMk/>
            <pc:sldMasterMk cId="1618148493" sldId="2147483672"/>
            <pc:sldLayoutMk cId="4008909476" sldId="2147483673"/>
          </pc:sldLayoutMkLst>
        </pc:sldLayoutChg>
        <pc:sldLayoutChg chg="del">
          <pc:chgData name="Jelle van Barneveld" userId="bc7ecfdf-3719-43bf-9ebf-4e7030cd4705" providerId="ADAL" clId="{8FBCD94A-1B0B-4C78-B10A-8D7F43414B78}" dt="2026-03-22T16:33:29.658" v="7258" actId="47"/>
          <pc:sldLayoutMkLst>
            <pc:docMk/>
            <pc:sldMasterMk cId="1618148493" sldId="2147483672"/>
            <pc:sldLayoutMk cId="4234967907" sldId="2147483674"/>
          </pc:sldLayoutMkLst>
        </pc:sldLayoutChg>
        <pc:sldLayoutChg chg="del">
          <pc:chgData name="Jelle van Barneveld" userId="bc7ecfdf-3719-43bf-9ebf-4e7030cd4705" providerId="ADAL" clId="{8FBCD94A-1B0B-4C78-B10A-8D7F43414B78}" dt="2026-03-22T16:33:29.658" v="7258" actId="47"/>
          <pc:sldLayoutMkLst>
            <pc:docMk/>
            <pc:sldMasterMk cId="1618148493" sldId="2147483672"/>
            <pc:sldLayoutMk cId="2741436960" sldId="2147483675"/>
          </pc:sldLayoutMkLst>
        </pc:sldLayoutChg>
        <pc:sldLayoutChg chg="del">
          <pc:chgData name="Jelle van Barneveld" userId="bc7ecfdf-3719-43bf-9ebf-4e7030cd4705" providerId="ADAL" clId="{8FBCD94A-1B0B-4C78-B10A-8D7F43414B78}" dt="2026-03-22T16:33:29.658" v="7258" actId="47"/>
          <pc:sldLayoutMkLst>
            <pc:docMk/>
            <pc:sldMasterMk cId="1618148493" sldId="2147483672"/>
            <pc:sldLayoutMk cId="4112799347" sldId="2147483676"/>
          </pc:sldLayoutMkLst>
        </pc:sldLayoutChg>
        <pc:sldLayoutChg chg="del">
          <pc:chgData name="Jelle van Barneveld" userId="bc7ecfdf-3719-43bf-9ebf-4e7030cd4705" providerId="ADAL" clId="{8FBCD94A-1B0B-4C78-B10A-8D7F43414B78}" dt="2026-03-22T16:33:29.658" v="7258" actId="47"/>
          <pc:sldLayoutMkLst>
            <pc:docMk/>
            <pc:sldMasterMk cId="1618148493" sldId="2147483672"/>
            <pc:sldLayoutMk cId="3444664625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65027-F512-4E23-AAE8-48F1D030813D}" type="datetimeFigureOut">
              <a:rPr lang="nl-NL" smtClean="0"/>
              <a:t>22-3-2026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0558C-2C0C-4286-A12D-99DDC6836E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333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  <a:cs typeface="+mn-cs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Wellicht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slide die de term ‘machine-learning’ </a:t>
            </a:r>
            <a:r>
              <a:rPr lang="en-US" dirty="0" err="1"/>
              <a:t>introduceerd</a:t>
            </a:r>
            <a:r>
              <a:rPr lang="en-US" dirty="0"/>
              <a:t>?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0558C-2C0C-4286-A12D-99DDC6836E83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90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250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4CDA-86AD-E9E2-5AC5-0E2128F3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5767C59-AC8E-CEDF-A2F5-B8F02095D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F69BC80-9064-A672-DEEC-63C016496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DA51FDD-5C71-1982-BF7B-5110DC03D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848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F6016-CD01-FE11-3E74-1C2B14FE4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9544662-A4D4-1635-FA7E-3D87D8FC5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0A8ACB2-B505-05DC-EAB5-F66CE1069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448A5D3-4A86-3671-7909-2E1EF63C6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127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FD88-4D81-EEA0-F8C3-B9977E8C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31294F5-A5EB-7133-724F-A0C9599E9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F5EB567-4FDD-7015-8D20-BFF30C2FB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CEE1881-391A-B694-559B-081DA8842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833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7F13-EFD6-F771-9EBA-8803DDF2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5E5A616-8D4C-3817-0E12-ED52785D7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E4E5D6A-524F-D7DC-9C6D-DECD2DEAA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1B4D09C-5867-351F-6E75-9304AE54C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20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24403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514566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58354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552300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096879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039380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996512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712965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664309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497604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156606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043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Regressiemodellen in Machine Learning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1032" name="Picture 8" descr="Titanic blijft na 25 jaar nog altijd aangrijpend | Trouw">
            <a:extLst>
              <a:ext uri="{FF2B5EF4-FFF2-40B4-BE49-F238E27FC236}">
                <a16:creationId xmlns:a16="http://schemas.microsoft.com/office/drawing/2014/main" id="{F1F0CDDF-8A8F-AEE1-780D-58DF51996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384" y="1370833"/>
            <a:ext cx="8791103" cy="470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329" y="3053050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0621E4-74F4-FAC7-0E0A-2A8DDEB96310}"/>
              </a:ext>
            </a:extLst>
          </p:cNvPr>
          <p:cNvSpPr txBox="1"/>
          <p:nvPr/>
        </p:nvSpPr>
        <p:spPr>
          <a:xfrm>
            <a:off x="7332875" y="5448211"/>
            <a:ext cx="3062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uitkomsten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regressiemodellen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interpreteren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1588108" y="2813680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supervised &amp; unsupervised Machine Learning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7CAAFDE4-0C43-6A31-5BEA-5A7B81EF0A7F}"/>
              </a:ext>
            </a:extLst>
          </p:cNvPr>
          <p:cNvSpPr txBox="1"/>
          <p:nvPr/>
        </p:nvSpPr>
        <p:spPr>
          <a:xfrm>
            <a:off x="1588109" y="4118947"/>
            <a:ext cx="3335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supervised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wanneer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gebruikt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4829D23-8DDF-78CB-8E82-6543A045E278}"/>
              </a:ext>
            </a:extLst>
          </p:cNvPr>
          <p:cNvSpPr txBox="1"/>
          <p:nvPr/>
        </p:nvSpPr>
        <p:spPr>
          <a:xfrm>
            <a:off x="8296482" y="3429000"/>
            <a:ext cx="2904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Supervised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regressiemodellen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train-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testbaar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D45E8F2A-7908-3223-8685-00434AE8F1EB}"/>
              </a:ext>
            </a:extLst>
          </p:cNvPr>
          <p:cNvSpPr txBox="1"/>
          <p:nvPr/>
        </p:nvSpPr>
        <p:spPr>
          <a:xfrm>
            <a:off x="2472537" y="152451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Machine Lea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traditionele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AI”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AA48B3D-AF62-AAE5-5125-C485F4535EC3}"/>
              </a:ext>
            </a:extLst>
          </p:cNvPr>
          <p:cNvSpPr txBox="1"/>
          <p:nvPr/>
        </p:nvSpPr>
        <p:spPr>
          <a:xfrm>
            <a:off x="7332875" y="1614983"/>
            <a:ext cx="3062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Datasets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prepareren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toepassen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Machine-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Learningmodellen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67CDB-4E2E-FB88-152A-27F8BE4A6CB1}"/>
              </a:ext>
            </a:extLst>
          </p:cNvPr>
          <p:cNvSpPr txBox="1"/>
          <p:nvPr/>
        </p:nvSpPr>
        <p:spPr>
          <a:xfrm>
            <a:off x="3033506" y="5509066"/>
            <a:ext cx="3062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Hoe het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lineaire-regressiealgoritme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werkt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3" grpId="0"/>
      <p:bldP spid="10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Machine Learning vs. “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Traditionele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AI”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850701" y="837429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Traditionele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AI</a:t>
            </a:r>
            <a:endParaRPr lang="nl-NL" sz="2000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8344530" y="879137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Machine Learning</a:t>
            </a:r>
            <a:endParaRPr lang="nl-NL" sz="2000" dirty="0"/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637112" y="5211380"/>
            <a:ext cx="5478687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 dirty="0">
                <a:latin typeface="Arial"/>
                <a:ea typeface="MS PGothic" charset="0"/>
              </a:rPr>
              <a:t>We laten computers </a:t>
            </a:r>
            <a:r>
              <a:rPr lang="en-US" dirty="0" err="1">
                <a:latin typeface="Arial"/>
                <a:ea typeface="MS PGothic" charset="0"/>
              </a:rPr>
              <a:t>zelf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denken</a:t>
            </a:r>
            <a:r>
              <a:rPr lang="en-US" dirty="0">
                <a:latin typeface="Arial"/>
                <a:ea typeface="MS PGothic" charset="0"/>
              </a:rPr>
              <a:t> door hen inputs </a:t>
            </a:r>
            <a:r>
              <a:rPr lang="en-US" dirty="0" err="1">
                <a:latin typeface="Arial"/>
                <a:ea typeface="MS PGothic" charset="0"/>
              </a:rPr>
              <a:t>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antwoorden</a:t>
            </a:r>
            <a:r>
              <a:rPr lang="en-US" dirty="0">
                <a:latin typeface="Arial"/>
                <a:ea typeface="MS PGothic" charset="0"/>
              </a:rPr>
              <a:t> mee </a:t>
            </a:r>
            <a:r>
              <a:rPr lang="en-US" dirty="0" err="1">
                <a:latin typeface="Arial"/>
                <a:ea typeface="MS PGothic" charset="0"/>
              </a:rPr>
              <a:t>te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geven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vervolgens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te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zeggen</a:t>
            </a:r>
            <a:r>
              <a:rPr lang="en-US" dirty="0">
                <a:latin typeface="Arial"/>
                <a:ea typeface="MS PGothic" charset="0"/>
              </a:rPr>
              <a:t>: “</a:t>
            </a:r>
            <a:r>
              <a:rPr lang="en-US" dirty="0" err="1">
                <a:latin typeface="Arial"/>
                <a:ea typeface="MS PGothic" charset="0"/>
              </a:rPr>
              <a:t>bepaal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zelf</a:t>
            </a:r>
            <a:r>
              <a:rPr lang="en-US" dirty="0">
                <a:latin typeface="Arial"/>
                <a:ea typeface="MS PGothic" charset="0"/>
              </a:rPr>
              <a:t> maar met </a:t>
            </a:r>
            <a:r>
              <a:rPr lang="en-US" dirty="0" err="1">
                <a:latin typeface="Arial"/>
                <a:ea typeface="MS PGothic" charset="0"/>
              </a:rPr>
              <a:t>welke</a:t>
            </a:r>
            <a:r>
              <a:rPr lang="en-US" dirty="0">
                <a:latin typeface="Arial"/>
                <a:ea typeface="MS PGothic" charset="0"/>
              </a:rPr>
              <a:t> regels je van inputs tot de </a:t>
            </a:r>
            <a:r>
              <a:rPr lang="en-US" dirty="0" err="1">
                <a:latin typeface="Arial"/>
                <a:ea typeface="MS PGothic" charset="0"/>
              </a:rPr>
              <a:t>juiste</a:t>
            </a:r>
            <a:r>
              <a:rPr lang="en-US" dirty="0">
                <a:latin typeface="Arial"/>
                <a:ea typeface="MS PGothic" charset="0"/>
              </a:rPr>
              <a:t> outputs </a:t>
            </a:r>
            <a:r>
              <a:rPr lang="en-US" dirty="0" err="1">
                <a:latin typeface="Arial"/>
                <a:ea typeface="MS PGothic" charset="0"/>
              </a:rPr>
              <a:t>komt</a:t>
            </a:r>
            <a:r>
              <a:rPr lang="en-US" dirty="0">
                <a:latin typeface="Arial"/>
                <a:ea typeface="MS PGothic" charset="0"/>
              </a:rPr>
              <a:t>”.</a:t>
            </a:r>
          </a:p>
        </p:txBody>
      </p:sp>
      <p:pic>
        <p:nvPicPr>
          <p:cNvPr id="1026" name="Picture 2" descr="Elektronisch Schaakbord - Schaakcomputer - Schaakspel - 8 in 1 Spel | Games  | bol">
            <a:extLst>
              <a:ext uri="{FF2B5EF4-FFF2-40B4-BE49-F238E27FC236}">
                <a16:creationId xmlns:a16="http://schemas.microsoft.com/office/drawing/2014/main" id="{9E4652B9-82EF-AC55-FF1D-47F4532B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568" y="1450322"/>
            <a:ext cx="3561508" cy="227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23D37ADE-6155-8CB6-B819-E247182DF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467" y="3759369"/>
            <a:ext cx="4697711" cy="1202727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A0D72E47-D935-6286-B3A7-4B72D3762E71}"/>
              </a:ext>
            </a:extLst>
          </p:cNvPr>
          <p:cNvSpPr txBox="1"/>
          <p:nvPr/>
        </p:nvSpPr>
        <p:spPr>
          <a:xfrm>
            <a:off x="1011934" y="5157275"/>
            <a:ext cx="5349108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 dirty="0">
                <a:latin typeface="Arial"/>
                <a:ea typeface="MS PGothic" charset="0"/>
              </a:rPr>
              <a:t>In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bepaalde</a:t>
            </a:r>
            <a:r>
              <a:rPr lang="en-US" dirty="0">
                <a:latin typeface="Arial"/>
                <a:ea typeface="MS PGothic" charset="0"/>
              </a:rPr>
              <a:t> setting </a:t>
            </a:r>
            <a:r>
              <a:rPr lang="en-US" dirty="0" err="1">
                <a:latin typeface="Arial"/>
                <a:ea typeface="MS PGothic" charset="0"/>
              </a:rPr>
              <a:t>werd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voor</a:t>
            </a:r>
            <a:r>
              <a:rPr lang="en-US" dirty="0">
                <a:latin typeface="Arial"/>
                <a:ea typeface="MS PGothic" charset="0"/>
              </a:rPr>
              <a:t> elk </a:t>
            </a:r>
            <a:r>
              <a:rPr lang="en-US" dirty="0" err="1">
                <a:latin typeface="Arial"/>
                <a:ea typeface="MS PGothic" charset="0"/>
              </a:rPr>
              <a:t>denkbaar</a:t>
            </a:r>
            <a:r>
              <a:rPr lang="en-US" dirty="0">
                <a:latin typeface="Arial"/>
                <a:ea typeface="MS PGothic" charset="0"/>
              </a:rPr>
              <a:t> scenario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regel</a:t>
            </a:r>
            <a:r>
              <a:rPr lang="nl-NL" dirty="0">
                <a:latin typeface="Arial"/>
                <a:ea typeface="MS PGothic" charset="0"/>
              </a:rPr>
              <a:t>/algoritme </a:t>
            </a:r>
            <a:r>
              <a:rPr lang="en-US" dirty="0" err="1">
                <a:latin typeface="Arial"/>
                <a:ea typeface="MS PGothic" charset="0"/>
              </a:rPr>
              <a:t>geprogrammeerd</a:t>
            </a:r>
            <a:r>
              <a:rPr lang="en-US" dirty="0">
                <a:latin typeface="Arial"/>
                <a:ea typeface="MS PGothic" charset="0"/>
              </a:rPr>
              <a:t>, </a:t>
            </a:r>
            <a:r>
              <a:rPr lang="en-US" dirty="0" err="1">
                <a:latin typeface="Arial"/>
                <a:ea typeface="MS PGothic" charset="0"/>
              </a:rPr>
              <a:t>waarmee</a:t>
            </a:r>
            <a:r>
              <a:rPr lang="en-US" dirty="0">
                <a:latin typeface="Arial"/>
                <a:ea typeface="MS PGothic" charset="0"/>
              </a:rPr>
              <a:t> computers tot de </a:t>
            </a:r>
            <a:r>
              <a:rPr lang="en-US" dirty="0" err="1">
                <a:latin typeface="Arial"/>
                <a:ea typeface="MS PGothic" charset="0"/>
              </a:rPr>
              <a:t>juiste</a:t>
            </a:r>
            <a:r>
              <a:rPr lang="en-US" dirty="0">
                <a:latin typeface="Arial"/>
                <a:ea typeface="MS PGothic" charset="0"/>
              </a:rPr>
              <a:t> / </a:t>
            </a:r>
            <a:r>
              <a:rPr lang="en-US" dirty="0" err="1">
                <a:latin typeface="Arial"/>
                <a:ea typeface="MS PGothic" charset="0"/>
              </a:rPr>
              <a:t>meest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optimale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antwoorden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kwamen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339045F-7F3A-189D-8CA0-1E716DB12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838" y="3907444"/>
            <a:ext cx="4600469" cy="1054652"/>
          </a:xfrm>
          <a:prstGeom prst="rect">
            <a:avLst/>
          </a:prstGeom>
        </p:spPr>
      </p:pic>
      <p:pic>
        <p:nvPicPr>
          <p:cNvPr id="1032" name="Picture 8" descr="Persbericht - De toekomst van zelfrijdende auto's | MT/Sprout">
            <a:extLst>
              <a:ext uri="{FF2B5EF4-FFF2-40B4-BE49-F238E27FC236}">
                <a16:creationId xmlns:a16="http://schemas.microsoft.com/office/drawing/2014/main" id="{A8123182-0ACC-27E9-36C6-86026B6CD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249" y="1450322"/>
            <a:ext cx="5221581" cy="227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12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72A99-783D-7E30-4554-3CBAE243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4</a:t>
            </a:fld>
            <a:endParaRPr lang="nl-NL"/>
          </a:p>
        </p:txBody>
      </p:sp>
      <p:pic>
        <p:nvPicPr>
          <p:cNvPr id="1028" name="Picture 4" descr="Differences Between Supervised and Unsupervised Learning - Shiksha Online">
            <a:extLst>
              <a:ext uri="{FF2B5EF4-FFF2-40B4-BE49-F238E27FC236}">
                <a16:creationId xmlns:a16="http://schemas.microsoft.com/office/drawing/2014/main" id="{DA04D4D7-4E20-0336-F727-39968BF60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90" y="731031"/>
            <a:ext cx="11203710" cy="562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BB3E5694-40D9-E2F8-7770-51C4F50AC5E2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Soorten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Machine-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Learningmodellen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(1)</a:t>
            </a:r>
          </a:p>
        </p:txBody>
      </p: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9CB1F5E5-EB00-4D86-DBEE-B0CD8FEC3235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3FBCC34A-041C-B7B3-8889-B3D504F5A1C4}"/>
              </a:ext>
            </a:extLst>
          </p:cNvPr>
          <p:cNvSpPr txBox="1"/>
          <p:nvPr/>
        </p:nvSpPr>
        <p:spPr>
          <a:xfrm>
            <a:off x="988290" y="1328913"/>
            <a:ext cx="268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voorspellingen</a:t>
            </a:r>
            <a:r>
              <a:rPr lang="nl-NL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modellen kunnen gecontroleerd worden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142709C6-4631-E82A-0721-E3178EC06C59}"/>
              </a:ext>
            </a:extLst>
          </p:cNvPr>
          <p:cNvSpPr txBox="1"/>
          <p:nvPr/>
        </p:nvSpPr>
        <p:spPr>
          <a:xfrm>
            <a:off x="8372400" y="1190414"/>
            <a:ext cx="37076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Je vraagt je modellen zélf op zoek te gaan naar patronen in de data, zonder menselijke input. Er zijn geen “juiste antwoorden”.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F702FF1D-89F1-20F1-4038-1987EF3C0E21}"/>
              </a:ext>
            </a:extLst>
          </p:cNvPr>
          <p:cNvSpPr/>
          <p:nvPr/>
        </p:nvSpPr>
        <p:spPr>
          <a:xfrm>
            <a:off x="988290" y="3543690"/>
            <a:ext cx="5496486" cy="257637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CDEB533E-0B76-E844-2D98-23AA6F96C379}"/>
              </a:ext>
            </a:extLst>
          </p:cNvPr>
          <p:cNvSpPr/>
          <p:nvPr/>
        </p:nvSpPr>
        <p:spPr>
          <a:xfrm>
            <a:off x="6484776" y="3543689"/>
            <a:ext cx="5595257" cy="257637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8" name="Rechte verbindingslijn 27">
            <a:extLst>
              <a:ext uri="{FF2B5EF4-FFF2-40B4-BE49-F238E27FC236}">
                <a16:creationId xmlns:a16="http://schemas.microsoft.com/office/drawing/2014/main" id="{36A0846F-209C-3F5E-7212-03A4B8D809E7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329565" y="2252243"/>
            <a:ext cx="1" cy="129144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3969E108-CCE1-3FA1-5EF7-6B1AD709EDD1}"/>
              </a:ext>
            </a:extLst>
          </p:cNvPr>
          <p:cNvCxnSpPr>
            <a:cxnSpLocks/>
          </p:cNvCxnSpPr>
          <p:nvPr/>
        </p:nvCxnSpPr>
        <p:spPr>
          <a:xfrm>
            <a:off x="10562275" y="2321493"/>
            <a:ext cx="0" cy="122219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6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Soorten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Machine-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Learningmodellen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(2)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118876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422997" y="1213391"/>
            <a:ext cx="0" cy="5644609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617156" y="1213391"/>
            <a:ext cx="4331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Supervised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deze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volgende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les)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6737629" y="1243733"/>
            <a:ext cx="542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Unsupervised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123A045A-3F4D-0BA3-1B94-5D543E9BA9B8}"/>
              </a:ext>
            </a:extLst>
          </p:cNvPr>
          <p:cNvSpPr txBox="1"/>
          <p:nvPr/>
        </p:nvSpPr>
        <p:spPr>
          <a:xfrm>
            <a:off x="975693" y="725202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Doel: het produceren van voorspellingen die zoveel mogelijk overeenkomen met de werkelijkheid</a:t>
            </a:r>
          </a:p>
        </p:txBody>
      </p:sp>
      <p:pic>
        <p:nvPicPr>
          <p:cNvPr id="2052" name="Picture 4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4BD0112F-4202-EC67-C7F8-1B4169303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33" y="3516436"/>
            <a:ext cx="1769804" cy="176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obot Face Emoji (U+1F916)">
            <a:extLst>
              <a:ext uri="{FF2B5EF4-FFF2-40B4-BE49-F238E27FC236}">
                <a16:creationId xmlns:a16="http://schemas.microsoft.com/office/drawing/2014/main" id="{1D3829F1-1F95-54F9-65C7-4DA6227EE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457" y="3413194"/>
            <a:ext cx="1941825" cy="194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kstballon: ovaal 16">
            <a:extLst>
              <a:ext uri="{FF2B5EF4-FFF2-40B4-BE49-F238E27FC236}">
                <a16:creationId xmlns:a16="http://schemas.microsoft.com/office/drawing/2014/main" id="{2A7F00C3-BC4C-E469-7EC8-43D6ABEF7D55}"/>
              </a:ext>
            </a:extLst>
          </p:cNvPr>
          <p:cNvSpPr/>
          <p:nvPr/>
        </p:nvSpPr>
        <p:spPr>
          <a:xfrm>
            <a:off x="4579993" y="2654710"/>
            <a:ext cx="1189011" cy="518080"/>
          </a:xfrm>
          <a:prstGeom prst="wedgeEllipseCallout">
            <a:avLst>
              <a:gd name="adj1" fmla="val -1022"/>
              <a:gd name="adj2" fmla="val 719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Nee</a:t>
            </a:r>
          </a:p>
        </p:txBody>
      </p:sp>
      <p:sp>
        <p:nvSpPr>
          <p:cNvPr id="18" name="Tekstballon: ovaal 17">
            <a:extLst>
              <a:ext uri="{FF2B5EF4-FFF2-40B4-BE49-F238E27FC236}">
                <a16:creationId xmlns:a16="http://schemas.microsoft.com/office/drawing/2014/main" id="{599CE431-EDBD-1C42-54B3-527ABC1ED1C9}"/>
              </a:ext>
            </a:extLst>
          </p:cNvPr>
          <p:cNvSpPr/>
          <p:nvPr/>
        </p:nvSpPr>
        <p:spPr>
          <a:xfrm>
            <a:off x="1010386" y="2449404"/>
            <a:ext cx="2630360" cy="1042219"/>
          </a:xfrm>
          <a:prstGeom prst="wedgeEllipseCallout">
            <a:avLst>
              <a:gd name="adj1" fmla="val -1022"/>
              <a:gd name="adj2" fmla="val 719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Heeft &lt;passagier&gt; de ramp met de Titanic overleefd?</a:t>
            </a:r>
          </a:p>
        </p:txBody>
      </p:sp>
      <p:sp>
        <p:nvSpPr>
          <p:cNvPr id="20" name="Tekstballon: ovaal 19">
            <a:extLst>
              <a:ext uri="{FF2B5EF4-FFF2-40B4-BE49-F238E27FC236}">
                <a16:creationId xmlns:a16="http://schemas.microsoft.com/office/drawing/2014/main" id="{A8644CC6-2DCE-6EF5-A3A5-412975FF67AE}"/>
              </a:ext>
            </a:extLst>
          </p:cNvPr>
          <p:cNvSpPr/>
          <p:nvPr/>
        </p:nvSpPr>
        <p:spPr>
          <a:xfrm>
            <a:off x="2891123" y="6045827"/>
            <a:ext cx="1189011" cy="518080"/>
          </a:xfrm>
          <a:prstGeom prst="wedgeEllipseCallout">
            <a:avLst>
              <a:gd name="adj1" fmla="val -72965"/>
              <a:gd name="adj2" fmla="val -2127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Juist wel!</a:t>
            </a:r>
          </a:p>
        </p:txBody>
      </p:sp>
      <p:pic>
        <p:nvPicPr>
          <p:cNvPr id="33" name="Picture 4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2C96BB8F-EEEA-5EA0-AD8A-128784B7A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360" y="3541249"/>
            <a:ext cx="1769804" cy="176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Robot Face Emoji (U+1F916)">
            <a:extLst>
              <a:ext uri="{FF2B5EF4-FFF2-40B4-BE49-F238E27FC236}">
                <a16:creationId xmlns:a16="http://schemas.microsoft.com/office/drawing/2014/main" id="{CEA139BC-C618-6B39-696B-536DB5EEF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784" y="3438007"/>
            <a:ext cx="1941825" cy="194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kstballon: ovaal 34">
            <a:extLst>
              <a:ext uri="{FF2B5EF4-FFF2-40B4-BE49-F238E27FC236}">
                <a16:creationId xmlns:a16="http://schemas.microsoft.com/office/drawing/2014/main" id="{3B3CD2CC-D629-4E77-47DD-E63F208024F9}"/>
              </a:ext>
            </a:extLst>
          </p:cNvPr>
          <p:cNvSpPr/>
          <p:nvPr/>
        </p:nvSpPr>
        <p:spPr>
          <a:xfrm>
            <a:off x="9128641" y="2238583"/>
            <a:ext cx="2542859" cy="1253040"/>
          </a:xfrm>
          <a:prstGeom prst="wedgeEllipseCallout">
            <a:avLst>
              <a:gd name="adj1" fmla="val 4538"/>
              <a:gd name="adj2" fmla="val 617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Klanten 1, 3 en 4 vormen een groep en klanten 2, 5 en 6 ook</a:t>
            </a:r>
          </a:p>
        </p:txBody>
      </p:sp>
      <p:sp>
        <p:nvSpPr>
          <p:cNvPr id="36" name="Tekstballon: ovaal 35">
            <a:extLst>
              <a:ext uri="{FF2B5EF4-FFF2-40B4-BE49-F238E27FC236}">
                <a16:creationId xmlns:a16="http://schemas.microsoft.com/office/drawing/2014/main" id="{2F462D0A-3E1A-F434-5AD7-333F427CC777}"/>
              </a:ext>
            </a:extLst>
          </p:cNvPr>
          <p:cNvSpPr/>
          <p:nvPr/>
        </p:nvSpPr>
        <p:spPr>
          <a:xfrm>
            <a:off x="6585713" y="2474217"/>
            <a:ext cx="2456819" cy="1042219"/>
          </a:xfrm>
          <a:prstGeom prst="wedgeEllipseCallout">
            <a:avLst>
              <a:gd name="adj1" fmla="val -1022"/>
              <a:gd name="adj2" fmla="val 719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Kan je mijn 6 klanten opdelen in 2 groepen?</a:t>
            </a:r>
          </a:p>
        </p:txBody>
      </p:sp>
      <p:sp>
        <p:nvSpPr>
          <p:cNvPr id="37" name="Tekstballon: ovaal 36">
            <a:extLst>
              <a:ext uri="{FF2B5EF4-FFF2-40B4-BE49-F238E27FC236}">
                <a16:creationId xmlns:a16="http://schemas.microsoft.com/office/drawing/2014/main" id="{2E0E0CA6-DED2-4E90-56AB-5ABB7068B094}"/>
              </a:ext>
            </a:extLst>
          </p:cNvPr>
          <p:cNvSpPr/>
          <p:nvPr/>
        </p:nvSpPr>
        <p:spPr>
          <a:xfrm>
            <a:off x="7413530" y="5820697"/>
            <a:ext cx="2241932" cy="768023"/>
          </a:xfrm>
          <a:prstGeom prst="wedgeEllipseCallout">
            <a:avLst>
              <a:gd name="adj1" fmla="val -17268"/>
              <a:gd name="adj2" fmla="val -1218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err="1"/>
              <a:t>Oke</a:t>
            </a:r>
            <a:r>
              <a:rPr lang="nl-NL"/>
              <a:t>… als jij het zegt… ;-)</a:t>
            </a:r>
          </a:p>
        </p:txBody>
      </p:sp>
    </p:spTree>
    <p:extLst>
      <p:ext uri="{BB962C8B-B14F-4D97-AF65-F5344CB8AC3E}">
        <p14:creationId xmlns:p14="http://schemas.microsoft.com/office/powerpoint/2010/main" val="139380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5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Soorten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Supervised Machine-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Learningmodellen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422997" y="642841"/>
            <a:ext cx="0" cy="2519566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623681" y="703046"/>
            <a:ext cx="4331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Regressiemodellen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vandaag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</a:p>
          <a:p>
            <a:pPr lvl="0" algn="ctr"/>
            <a:r>
              <a:rPr lang="nl-NL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 je continue data wilt voorspellen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6761361" y="703046"/>
            <a:ext cx="542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Classificatiemodellen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volgende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AI-les)</a:t>
            </a:r>
          </a:p>
          <a:p>
            <a:pPr algn="ctr"/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 je</a:t>
            </a:r>
            <a:r>
              <a:rPr kumimoji="0" lang="nl-NL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categorische of discrete data wilt voorspellen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F00E466-C43D-699A-A301-E7BDF904E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3267696"/>
            <a:ext cx="11065531" cy="1920406"/>
          </a:xfrm>
          <a:prstGeom prst="rect">
            <a:avLst/>
          </a:prstGeom>
        </p:spPr>
      </p:pic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1F1CCE43-5CFD-8933-C56B-BC4E90822335}"/>
              </a:ext>
            </a:extLst>
          </p:cNvPr>
          <p:cNvCxnSpPr>
            <a:cxnSpLocks/>
          </p:cNvCxnSpPr>
          <p:nvPr/>
        </p:nvCxnSpPr>
        <p:spPr>
          <a:xfrm>
            <a:off x="985831" y="316240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2F759362-972B-4A59-10BB-1F29B1CC1583}"/>
              </a:ext>
            </a:extLst>
          </p:cNvPr>
          <p:cNvSpPr txBox="1"/>
          <p:nvPr/>
        </p:nvSpPr>
        <p:spPr>
          <a:xfrm>
            <a:off x="1048074" y="1544443"/>
            <a:ext cx="5257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Continue data: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die “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tussenwaarden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”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kunnen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hebben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X,1; X,5; X,9;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enzovoort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).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lengte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gewicht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/of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temperatuur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4E2F28F4-A12E-6CD9-CBEF-18DE13FE3969}"/>
              </a:ext>
            </a:extLst>
          </p:cNvPr>
          <p:cNvSpPr txBox="1"/>
          <p:nvPr/>
        </p:nvSpPr>
        <p:spPr>
          <a:xfrm>
            <a:off x="6494769" y="1454665"/>
            <a:ext cx="56188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Categorische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data: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niet-numerieke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data.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geslacht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of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burgerlijke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staat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Discrete data: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numerieke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data, maar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decimale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tussenwaarden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niet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mogelijk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. Dit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getalsmatige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categorieën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. 1 of 2, maar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niet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2,5).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“ratings” van 1 t/m 5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927D8258-43C6-29C3-2567-9B41F83E76BD}"/>
              </a:ext>
            </a:extLst>
          </p:cNvPr>
          <p:cNvSpPr txBox="1"/>
          <p:nvPr/>
        </p:nvSpPr>
        <p:spPr>
          <a:xfrm>
            <a:off x="1082508" y="5799660"/>
            <a:ext cx="3755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Age is </a:t>
            </a:r>
            <a:r>
              <a:rPr lang="en-US" sz="1600" b="1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continu</a:t>
            </a:r>
            <a:endParaRPr lang="en-US" sz="1600" b="1" dirty="0">
              <a:solidFill>
                <a:prstClr val="black"/>
              </a:solidFill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Iemand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kan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22,5; 38,5;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enzovoort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jaar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oud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6F9E254D-525D-DF19-4B8A-BFA999B64FAE}"/>
              </a:ext>
            </a:extLst>
          </p:cNvPr>
          <p:cNvSpPr txBox="1"/>
          <p:nvPr/>
        </p:nvSpPr>
        <p:spPr>
          <a:xfrm>
            <a:off x="8498140" y="5795387"/>
            <a:ext cx="3755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Survived is discreet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Je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kan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hier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alleen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de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0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1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invullen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!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0,5; 0,2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enzovoort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hier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dus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niet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mogelijk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9C4EFA2C-F0DE-99AA-A52B-6D2F70A075B0}"/>
              </a:ext>
            </a:extLst>
          </p:cNvPr>
          <p:cNvSpPr txBox="1"/>
          <p:nvPr/>
        </p:nvSpPr>
        <p:spPr>
          <a:xfrm>
            <a:off x="4790324" y="5795386"/>
            <a:ext cx="3755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Ticket is </a:t>
            </a:r>
            <a:r>
              <a:rPr lang="en-US" sz="1600" b="1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categorisch</a:t>
            </a:r>
            <a:endParaRPr lang="en-US" sz="1600" b="1" dirty="0">
              <a:solidFill>
                <a:prstClr val="black"/>
              </a:solidFill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Hier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namelijk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deels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)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ingevuld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6050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Onafhankelijke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afhankelijke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variabelen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AA2BA045-8B04-6A83-F966-2BA7FE05CB93}"/>
              </a:ext>
            </a:extLst>
          </p:cNvPr>
          <p:cNvSpPr txBox="1"/>
          <p:nvPr/>
        </p:nvSpPr>
        <p:spPr>
          <a:xfrm>
            <a:off x="823678" y="844247"/>
            <a:ext cx="11532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b="1" u="sng" dirty="0">
                <a:solidFill>
                  <a:srgbClr val="0070C0"/>
                </a:solidFill>
              </a:rPr>
              <a:t>afhankelijke variabele (target)</a:t>
            </a:r>
            <a:r>
              <a:rPr lang="nl-NL" dirty="0">
                <a:solidFill>
                  <a:srgbClr val="0070C0"/>
                </a:solidFill>
              </a:rPr>
              <a:t> </a:t>
            </a:r>
            <a:r>
              <a:rPr lang="nl-NL" dirty="0"/>
              <a:t>is datgene wat je wilt voorspellen op basis van de </a:t>
            </a:r>
            <a:r>
              <a:rPr lang="nl-NL" b="1" u="sng" dirty="0">
                <a:solidFill>
                  <a:srgbClr val="7030A0"/>
                </a:solidFill>
              </a:rPr>
              <a:t>onafhankelijke variabelen (features)</a:t>
            </a:r>
          </a:p>
          <a:p>
            <a:pPr algn="ctr"/>
            <a:r>
              <a:rPr lang="nl-NL" dirty="0"/>
              <a:t>Voorbeeld leeftijdsvoorspeller (vandaag):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6EB6567-41C8-B888-7B75-BB6016F07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1667496"/>
            <a:ext cx="11065531" cy="1920406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B66AA7A8-99F8-57F2-8FF7-F4E98BE17CFC}"/>
              </a:ext>
            </a:extLst>
          </p:cNvPr>
          <p:cNvSpPr/>
          <p:nvPr/>
        </p:nvSpPr>
        <p:spPr>
          <a:xfrm>
            <a:off x="988290" y="1667496"/>
            <a:ext cx="10143536" cy="1920406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14FB4152-C814-CB87-AF3F-BEB9752B50A7}"/>
              </a:ext>
            </a:extLst>
          </p:cNvPr>
          <p:cNvSpPr/>
          <p:nvPr/>
        </p:nvSpPr>
        <p:spPr>
          <a:xfrm>
            <a:off x="11131825" y="1667496"/>
            <a:ext cx="921605" cy="1920406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BC9DBD6A-9277-FB41-479D-C0767BE17665}"/>
              </a:ext>
            </a:extLst>
          </p:cNvPr>
          <p:cNvCxnSpPr>
            <a:cxnSpLocks/>
          </p:cNvCxnSpPr>
          <p:nvPr/>
        </p:nvCxnSpPr>
        <p:spPr>
          <a:xfrm>
            <a:off x="988290" y="379785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8A1E9AB5-30B7-6E60-C21B-5155E5429B18}"/>
              </a:ext>
            </a:extLst>
          </p:cNvPr>
          <p:cNvSpPr txBox="1"/>
          <p:nvPr/>
        </p:nvSpPr>
        <p:spPr>
          <a:xfrm>
            <a:off x="3652631" y="3925164"/>
            <a:ext cx="611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Voorbeeld </a:t>
            </a:r>
            <a:r>
              <a:rPr lang="nl-NL" dirty="0" err="1"/>
              <a:t>survived</a:t>
            </a:r>
            <a:r>
              <a:rPr lang="nl-NL" dirty="0"/>
              <a:t>-voorspeller (volgende AI-les):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8ACA0ACB-00C4-D863-D3BC-8A4CBB91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79" y="4442597"/>
            <a:ext cx="11065531" cy="2216620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1FBD0C74-90E6-1E49-AD2D-D5A10383DD37}"/>
              </a:ext>
            </a:extLst>
          </p:cNvPr>
          <p:cNvSpPr/>
          <p:nvPr/>
        </p:nvSpPr>
        <p:spPr>
          <a:xfrm>
            <a:off x="1057379" y="4421806"/>
            <a:ext cx="9289256" cy="223740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9B3DF69-FE0F-5275-11BE-25FB18C6C3D7}"/>
              </a:ext>
            </a:extLst>
          </p:cNvPr>
          <p:cNvSpPr/>
          <p:nvPr/>
        </p:nvSpPr>
        <p:spPr>
          <a:xfrm>
            <a:off x="11270395" y="4421804"/>
            <a:ext cx="921605" cy="2237408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F2EF58C0-FB92-6C2C-86F3-9BF212CEE6CE}"/>
              </a:ext>
            </a:extLst>
          </p:cNvPr>
          <p:cNvSpPr/>
          <p:nvPr/>
        </p:nvSpPr>
        <p:spPr>
          <a:xfrm>
            <a:off x="10346635" y="4421804"/>
            <a:ext cx="921605" cy="223740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23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/>
      <p:bldP spid="14" grpId="0" animBg="1"/>
      <p:bldP spid="16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975693" y="-990"/>
            <a:ext cx="1125908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Het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afhandelen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van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niet-numerieke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onafhankelijke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variabelen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E339E64B-EB1F-647E-CD87-86EE450E58FE}"/>
              </a:ext>
            </a:extLst>
          </p:cNvPr>
          <p:cNvCxnSpPr>
            <a:cxnSpLocks/>
          </p:cNvCxnSpPr>
          <p:nvPr/>
        </p:nvCxnSpPr>
        <p:spPr>
          <a:xfrm>
            <a:off x="988290" y="1331954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5087821D-1F15-77AF-B3C0-358B9CA2D35D}"/>
              </a:ext>
            </a:extLst>
          </p:cNvPr>
          <p:cNvSpPr txBox="1"/>
          <p:nvPr/>
        </p:nvSpPr>
        <p:spPr>
          <a:xfrm>
            <a:off x="1021749" y="649257"/>
            <a:ext cx="1106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In regressiemodellen moeten onafhankelijke variabelen numeriek zijn!</a:t>
            </a:r>
          </a:p>
          <a:p>
            <a:pPr algn="ctr"/>
            <a:r>
              <a:rPr lang="nl-NL" dirty="0"/>
              <a:t>Met </a:t>
            </a:r>
            <a:r>
              <a:rPr lang="nl-NL" dirty="0" err="1"/>
              <a:t>one</a:t>
            </a:r>
            <a:r>
              <a:rPr lang="nl-NL" dirty="0"/>
              <a:t>-hot </a:t>
            </a:r>
            <a:r>
              <a:rPr lang="nl-NL" dirty="0" err="1"/>
              <a:t>encoding</a:t>
            </a:r>
            <a:r>
              <a:rPr lang="nl-NL" dirty="0"/>
              <a:t> kun je categorische variabelen naar numerieke omzetten.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EEF4B9FE-F73D-49E7-5A13-494AC532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40" y="1574193"/>
            <a:ext cx="5524979" cy="4091112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DE12D68E-27AB-A1DD-1ACA-32780BB91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85" y="1574192"/>
            <a:ext cx="2512749" cy="4091112"/>
          </a:xfrm>
          <a:prstGeom prst="rect">
            <a:avLst/>
          </a:prstGeom>
        </p:spPr>
      </p:pic>
      <p:sp>
        <p:nvSpPr>
          <p:cNvPr id="20" name="Pijl: rechts 19">
            <a:extLst>
              <a:ext uri="{FF2B5EF4-FFF2-40B4-BE49-F238E27FC236}">
                <a16:creationId xmlns:a16="http://schemas.microsoft.com/office/drawing/2014/main" id="{18ABD6C1-0592-7687-E881-67C42B8ED585}"/>
              </a:ext>
            </a:extLst>
          </p:cNvPr>
          <p:cNvSpPr/>
          <p:nvPr/>
        </p:nvSpPr>
        <p:spPr>
          <a:xfrm>
            <a:off x="6784827" y="2604059"/>
            <a:ext cx="2594113" cy="7752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One</a:t>
            </a:r>
            <a:r>
              <a:rPr lang="nl-NL" dirty="0"/>
              <a:t>-hot </a:t>
            </a:r>
            <a:r>
              <a:rPr lang="nl-NL" dirty="0" err="1"/>
              <a:t>encoding</a:t>
            </a:r>
            <a:endParaRPr lang="nl-NL" dirty="0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90BF1A2D-8543-8CEF-F51F-443503F4E22D}"/>
              </a:ext>
            </a:extLst>
          </p:cNvPr>
          <p:cNvSpPr txBox="1"/>
          <p:nvPr/>
        </p:nvSpPr>
        <p:spPr>
          <a:xfrm>
            <a:off x="6784827" y="3478695"/>
            <a:ext cx="25127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Per mogelijke waarde van een niet-numerieke kolom ontstaat een extra wel-numerieke kolom.</a:t>
            </a:r>
          </a:p>
          <a:p>
            <a:pPr algn="ctr"/>
            <a:endParaRPr lang="nl-NL" dirty="0"/>
          </a:p>
          <a:p>
            <a:pPr algn="ctr"/>
            <a:r>
              <a:rPr lang="nl-NL" dirty="0" err="1"/>
              <a:t>False</a:t>
            </a:r>
            <a:r>
              <a:rPr lang="nl-NL" dirty="0"/>
              <a:t> &amp; True refereren automatisch naar 0 en 1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7A33514B-9495-F40E-1D11-AC518F01E562}"/>
              </a:ext>
            </a:extLst>
          </p:cNvPr>
          <p:cNvSpPr txBox="1"/>
          <p:nvPr/>
        </p:nvSpPr>
        <p:spPr>
          <a:xfrm>
            <a:off x="1021749" y="6024724"/>
            <a:ext cx="11057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u="sng" dirty="0"/>
              <a:t>Let op:</a:t>
            </a:r>
            <a:r>
              <a:rPr lang="nl-NL" dirty="0"/>
              <a:t> verwijder kolommen waarvan de waarde per rij verschilt (bijv. ‘Name’), i.p.v. deze te </a:t>
            </a:r>
            <a:r>
              <a:rPr lang="nl-NL" dirty="0" err="1"/>
              <a:t>one</a:t>
            </a:r>
            <a:r>
              <a:rPr lang="nl-NL" dirty="0"/>
              <a:t>-hot </a:t>
            </a:r>
            <a:r>
              <a:rPr lang="nl-NL" dirty="0" err="1"/>
              <a:t>encoden</a:t>
            </a:r>
            <a:r>
              <a:rPr lang="nl-NL" dirty="0"/>
              <a:t>.</a:t>
            </a:r>
          </a:p>
          <a:p>
            <a:pPr algn="ctr"/>
            <a:r>
              <a:rPr lang="nl-NL" dirty="0"/>
              <a:t>Anders krijg je namelijk enorm veel extra kolommen die amper extra voorspellende waarde hebben.</a:t>
            </a:r>
          </a:p>
        </p:txBody>
      </p:sp>
    </p:spTree>
    <p:extLst>
      <p:ext uri="{BB962C8B-B14F-4D97-AF65-F5344CB8AC3E}">
        <p14:creationId xmlns:p14="http://schemas.microsoft.com/office/powerpoint/2010/main" val="164286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Afbeelding 46">
            <a:extLst>
              <a:ext uri="{FF2B5EF4-FFF2-40B4-BE49-F238E27FC236}">
                <a16:creationId xmlns:a16="http://schemas.microsoft.com/office/drawing/2014/main" id="{B42C0EED-ACB2-DB99-0709-0D307B7AC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158" y="2324092"/>
            <a:ext cx="5362791" cy="4454393"/>
          </a:xfrm>
          <a:prstGeom prst="rect">
            <a:avLst/>
          </a:prstGeom>
        </p:spPr>
      </p:pic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train- en de 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testset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600083" y="1432339"/>
            <a:ext cx="0" cy="5425661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987372" y="1482154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Trainset</a:t>
            </a:r>
            <a:endParaRPr lang="nl-NL" sz="2000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8276118" y="1458866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Testset</a:t>
            </a:r>
            <a:endParaRPr lang="nl-NL" sz="2000" dirty="0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57750D54-BD22-476C-2E8A-E4F71F8EEE40}"/>
              </a:ext>
            </a:extLst>
          </p:cNvPr>
          <p:cNvSpPr txBox="1"/>
          <p:nvPr/>
        </p:nvSpPr>
        <p:spPr>
          <a:xfrm>
            <a:off x="988290" y="934509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Alle rijen uit een bepaalde dataset worden onderverdeeld in een </a:t>
            </a:r>
            <a:r>
              <a:rPr lang="nl-NL" dirty="0" err="1"/>
              <a:t>trainset</a:t>
            </a:r>
            <a:r>
              <a:rPr lang="nl-NL" dirty="0"/>
              <a:t> (ong. 85%) en een </a:t>
            </a:r>
            <a:r>
              <a:rPr lang="nl-NL" dirty="0" err="1"/>
              <a:t>testset</a:t>
            </a:r>
            <a:r>
              <a:rPr lang="nl-NL" dirty="0"/>
              <a:t> (ong. 15%)</a:t>
            </a:r>
          </a:p>
        </p:txBody>
      </p: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8329CA9E-1D50-2CF2-0A97-7935D598C791}"/>
              </a:ext>
            </a:extLst>
          </p:cNvPr>
          <p:cNvCxnSpPr>
            <a:cxnSpLocks/>
          </p:cNvCxnSpPr>
          <p:nvPr/>
        </p:nvCxnSpPr>
        <p:spPr>
          <a:xfrm>
            <a:off x="988290" y="1432339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1074943" y="5692296"/>
            <a:ext cx="5614072" cy="116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het </a:t>
            </a:r>
            <a:r>
              <a:rPr lang="en-US" dirty="0" err="1">
                <a:latin typeface="Arial"/>
                <a:ea typeface="MS PGothic" charset="0"/>
              </a:rPr>
              <a:t>maken</a:t>
            </a:r>
            <a:r>
              <a:rPr lang="en-US" dirty="0">
                <a:latin typeface="Arial"/>
                <a:ea typeface="MS PGothic" charset="0"/>
              </a:rPr>
              <a:t>/</a:t>
            </a:r>
            <a:r>
              <a:rPr lang="en-US" dirty="0" err="1">
                <a:latin typeface="Arial"/>
                <a:ea typeface="MS PGothic" charset="0"/>
              </a:rPr>
              <a:t>trainen</a:t>
            </a:r>
            <a:r>
              <a:rPr lang="en-US" dirty="0">
                <a:latin typeface="Arial"/>
                <a:ea typeface="MS PGothic" charset="0"/>
              </a:rPr>
              <a:t> van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leeftijdsvoorspeller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geven</a:t>
            </a:r>
            <a:r>
              <a:rPr lang="en-US" dirty="0">
                <a:latin typeface="Arial"/>
                <a:ea typeface="MS PGothic" charset="0"/>
              </a:rPr>
              <a:t> we </a:t>
            </a:r>
            <a:r>
              <a:rPr lang="en-US" dirty="0" err="1">
                <a:latin typeface="Arial"/>
                <a:ea typeface="MS PGothic" charset="0"/>
              </a:rPr>
              <a:t>ons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regressiemodel</a:t>
            </a:r>
            <a:r>
              <a:rPr lang="en-US" dirty="0">
                <a:latin typeface="Arial"/>
                <a:ea typeface="MS PGothic" charset="0"/>
              </a:rPr>
              <a:t> de trainset mee, </a:t>
            </a:r>
            <a:r>
              <a:rPr lang="en-US" dirty="0" err="1">
                <a:latin typeface="Arial"/>
                <a:ea typeface="MS PGothic" charset="0"/>
              </a:rPr>
              <a:t>zodat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patronen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gevonden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kunnen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worden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</p:txBody>
      </p:sp>
      <p:sp>
        <p:nvSpPr>
          <p:cNvPr id="37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724062" y="1759466"/>
            <a:ext cx="5362794" cy="423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 dirty="0">
                <a:latin typeface="Arial"/>
                <a:ea typeface="MS PGothic" charset="0"/>
              </a:rPr>
              <a:t>Hoe </a:t>
            </a:r>
            <a:r>
              <a:rPr lang="en-US" dirty="0" err="1">
                <a:latin typeface="Arial"/>
                <a:ea typeface="MS PGothic" charset="0"/>
              </a:rPr>
              <a:t>dicht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liggen</a:t>
            </a:r>
            <a:r>
              <a:rPr lang="en-US" dirty="0">
                <a:latin typeface="Arial"/>
                <a:ea typeface="MS PGothic" charset="0"/>
              </a:rPr>
              <a:t> de </a:t>
            </a:r>
            <a:r>
              <a:rPr lang="en-US" dirty="0" err="1">
                <a:latin typeface="Arial"/>
                <a:ea typeface="MS PGothic" charset="0"/>
              </a:rPr>
              <a:t>voorspellingen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de </a:t>
            </a:r>
            <a:r>
              <a:rPr lang="en-US" dirty="0" err="1">
                <a:latin typeface="Arial"/>
                <a:ea typeface="MS PGothic" charset="0"/>
              </a:rPr>
              <a:t>realiteit</a:t>
            </a:r>
            <a:r>
              <a:rPr lang="en-US" dirty="0">
                <a:latin typeface="Arial"/>
                <a:ea typeface="MS PGothic" charset="0"/>
              </a:rPr>
              <a:t>?</a:t>
            </a:r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0B78D163-8259-0437-1E7D-435FF81991E5}"/>
              </a:ext>
            </a:extLst>
          </p:cNvPr>
          <p:cNvSpPr/>
          <p:nvPr/>
        </p:nvSpPr>
        <p:spPr>
          <a:xfrm>
            <a:off x="6817080" y="4999383"/>
            <a:ext cx="5139692" cy="3997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DB9AC511-A906-85CA-113D-5F3C4F7F8481}"/>
              </a:ext>
            </a:extLst>
          </p:cNvPr>
          <p:cNvSpPr/>
          <p:nvPr/>
        </p:nvSpPr>
        <p:spPr>
          <a:xfrm>
            <a:off x="6905707" y="4077389"/>
            <a:ext cx="5139692" cy="3997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9C90C76D-9B6A-987D-1A8E-A2A7F67C8EF8}"/>
              </a:ext>
            </a:extLst>
          </p:cNvPr>
          <p:cNvSpPr/>
          <p:nvPr/>
        </p:nvSpPr>
        <p:spPr>
          <a:xfrm>
            <a:off x="6905707" y="2742903"/>
            <a:ext cx="5139692" cy="39975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86712BB1-F472-D9DA-1245-E546EA93AE84}"/>
              </a:ext>
            </a:extLst>
          </p:cNvPr>
          <p:cNvSpPr/>
          <p:nvPr/>
        </p:nvSpPr>
        <p:spPr>
          <a:xfrm>
            <a:off x="6905707" y="3596956"/>
            <a:ext cx="5139692" cy="39975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5" name="Afbeelding 44">
            <a:extLst>
              <a:ext uri="{FF2B5EF4-FFF2-40B4-BE49-F238E27FC236}">
                <a16:creationId xmlns:a16="http://schemas.microsoft.com/office/drawing/2014/main" id="{E7F6AE6E-0E6A-2D0F-770C-53FA43ACB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137" y="1884803"/>
            <a:ext cx="3891126" cy="378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2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Afbeelding 18">
            <a:extLst>
              <a:ext uri="{FF2B5EF4-FFF2-40B4-BE49-F238E27FC236}">
                <a16:creationId xmlns:a16="http://schemas.microsoft.com/office/drawing/2014/main" id="{8BE96CCB-1651-7D72-073B-297C4156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840" y="919528"/>
            <a:ext cx="4468427" cy="4423803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H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et </a:t>
            </a: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splitsproc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AA2BA045-8B04-6A83-F966-2BA7FE05CB93}"/>
              </a:ext>
            </a:extLst>
          </p:cNvPr>
          <p:cNvSpPr txBox="1"/>
          <p:nvPr/>
        </p:nvSpPr>
        <p:spPr>
          <a:xfrm>
            <a:off x="8539465" y="3268366"/>
            <a:ext cx="36525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willen de waarde van “Age” bepalen: dit is onze afhankelijke variabele. Elke overige kolom 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is een onafhankelijke variabele.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C8FA6EA3-1F04-DDCF-1C74-3007A14CCE91}"/>
              </a:ext>
            </a:extLst>
          </p:cNvPr>
          <p:cNvCxnSpPr>
            <a:cxnSpLocks/>
          </p:cNvCxnSpPr>
          <p:nvPr/>
        </p:nvCxnSpPr>
        <p:spPr>
          <a:xfrm>
            <a:off x="7842223" y="919528"/>
            <a:ext cx="0" cy="442380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4E4D311A-7A2B-6447-AC29-024AD2A183D3}"/>
              </a:ext>
            </a:extLst>
          </p:cNvPr>
          <p:cNvCxnSpPr>
            <a:cxnSpLocks/>
          </p:cNvCxnSpPr>
          <p:nvPr/>
        </p:nvCxnSpPr>
        <p:spPr>
          <a:xfrm>
            <a:off x="3972840" y="3418420"/>
            <a:ext cx="446842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F029F73E-6BD2-F9B2-29E0-1DCA55F7B5C3}"/>
              </a:ext>
            </a:extLst>
          </p:cNvPr>
          <p:cNvSpPr txBox="1"/>
          <p:nvPr/>
        </p:nvSpPr>
        <p:spPr>
          <a:xfrm>
            <a:off x="988290" y="2391409"/>
            <a:ext cx="27488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willen onze dataset opsplitsen in een train- en een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testset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De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trainset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(ongeveer 85%): wordt gebruikt om het model te trainen: datapatronen te laten herkennen.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testset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(ongeveer 15%): wordt gebruikt als “zogenaamd” nieuwe data om modelprestaties te meten.</a:t>
            </a:r>
          </a:p>
        </p:txBody>
      </p:sp>
    </p:spTree>
    <p:extLst>
      <p:ext uri="{BB962C8B-B14F-4D97-AF65-F5344CB8AC3E}">
        <p14:creationId xmlns:p14="http://schemas.microsoft.com/office/powerpoint/2010/main" val="117135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D7A28C99-11C1-8B66-36A6-3B667C1C6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02" y="992523"/>
            <a:ext cx="10988932" cy="5722903"/>
          </a:xfrm>
          <a:prstGeom prst="rect">
            <a:avLst/>
          </a:prstGeom>
        </p:spPr>
      </p:pic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C8FA6EA3-1F04-DDCF-1C74-3007A14CCE91}"/>
              </a:ext>
            </a:extLst>
          </p:cNvPr>
          <p:cNvCxnSpPr>
            <a:cxnSpLocks/>
          </p:cNvCxnSpPr>
          <p:nvPr/>
        </p:nvCxnSpPr>
        <p:spPr>
          <a:xfrm>
            <a:off x="11130116" y="992524"/>
            <a:ext cx="0" cy="586547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4E4D311A-7A2B-6447-AC29-024AD2A183D3}"/>
              </a:ext>
            </a:extLst>
          </p:cNvPr>
          <p:cNvCxnSpPr>
            <a:cxnSpLocks/>
          </p:cNvCxnSpPr>
          <p:nvPr/>
        </p:nvCxnSpPr>
        <p:spPr>
          <a:xfrm>
            <a:off x="1051902" y="5555226"/>
            <a:ext cx="1114009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hoek 4">
            <a:extLst>
              <a:ext uri="{FF2B5EF4-FFF2-40B4-BE49-F238E27FC236}">
                <a16:creationId xmlns:a16="http://schemas.microsoft.com/office/drawing/2014/main" id="{07D9FE47-DA2A-C035-A93F-7E0D08690B8A}"/>
              </a:ext>
            </a:extLst>
          </p:cNvPr>
          <p:cNvSpPr/>
          <p:nvPr/>
        </p:nvSpPr>
        <p:spPr>
          <a:xfrm>
            <a:off x="988291" y="992524"/>
            <a:ext cx="10097654" cy="45086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X_train</a:t>
            </a:r>
            <a:endParaRPr lang="nl-NL" dirty="0"/>
          </a:p>
          <a:p>
            <a:pPr algn="ctr"/>
            <a:endParaRPr lang="nl-NL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X staat voor alle kolommen die onafhankelijke variabelen bevatten.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y staat voor de kolom waarin de afhankelijke (te voorspellen) variabele zit.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0A62ABA1-04ED-D2FB-A9A3-2EA1CDF90EA1}"/>
              </a:ext>
            </a:extLst>
          </p:cNvPr>
          <p:cNvSpPr/>
          <p:nvPr/>
        </p:nvSpPr>
        <p:spPr>
          <a:xfrm>
            <a:off x="988290" y="5589634"/>
            <a:ext cx="10097655" cy="1197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err="1"/>
              <a:t>X_test</a:t>
            </a:r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F135143C-9F88-42A3-AB23-E58BBA9BEA06}"/>
              </a:ext>
            </a:extLst>
          </p:cNvPr>
          <p:cNvSpPr/>
          <p:nvPr/>
        </p:nvSpPr>
        <p:spPr>
          <a:xfrm>
            <a:off x="11174288" y="992522"/>
            <a:ext cx="1017712" cy="45086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err="1"/>
              <a:t>y_train</a:t>
            </a:r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8878C457-4EE0-D838-A5FF-F3FD20656D97}"/>
              </a:ext>
            </a:extLst>
          </p:cNvPr>
          <p:cNvSpPr/>
          <p:nvPr/>
        </p:nvSpPr>
        <p:spPr>
          <a:xfrm>
            <a:off x="11149556" y="5589634"/>
            <a:ext cx="1042444" cy="11798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err="1"/>
              <a:t>y_test</a:t>
            </a:r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35E4C-3331-8752-2879-00F013692A83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Het </a:t>
            </a: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splitsproc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10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werking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van 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r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egressie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fbeelding 4">
            <a:extLst>
              <a:ext uri="{FF2B5EF4-FFF2-40B4-BE49-F238E27FC236}">
                <a16:creationId xmlns:a16="http://schemas.microsoft.com/office/drawing/2014/main" id="{02C1B0EA-D9FE-A4BA-DBEB-DEA08BDD0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18" y="992524"/>
            <a:ext cx="4619929" cy="566481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F61D3D35-ACD4-54BC-A2BF-D7960DD3F720}"/>
              </a:ext>
            </a:extLst>
          </p:cNvPr>
          <p:cNvSpPr txBox="1"/>
          <p:nvPr/>
        </p:nvSpPr>
        <p:spPr>
          <a:xfrm>
            <a:off x="7046840" y="100654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A41653E-0B40-72F0-D77A-5DBC622D2D12}"/>
              </a:ext>
            </a:extLst>
          </p:cNvPr>
          <p:cNvSpPr txBox="1"/>
          <p:nvPr/>
        </p:nvSpPr>
        <p:spPr>
          <a:xfrm>
            <a:off x="11652871" y="618098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A7C781-7A1E-2DD2-A98E-51806E624E61}"/>
              </a:ext>
            </a:extLst>
          </p:cNvPr>
          <p:cNvCxnSpPr>
            <a:cxnSpLocks/>
          </p:cNvCxnSpPr>
          <p:nvPr/>
        </p:nvCxnSpPr>
        <p:spPr>
          <a:xfrm flipV="1">
            <a:off x="7240822" y="2498846"/>
            <a:ext cx="4216325" cy="93015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kstvak 16">
            <a:extLst>
              <a:ext uri="{FF2B5EF4-FFF2-40B4-BE49-F238E27FC236}">
                <a16:creationId xmlns:a16="http://schemas.microsoft.com/office/drawing/2014/main" id="{6F2A068F-2B9C-C860-D21F-EF3BBC2A6BFF}"/>
              </a:ext>
            </a:extLst>
          </p:cNvPr>
          <p:cNvSpPr txBox="1"/>
          <p:nvPr/>
        </p:nvSpPr>
        <p:spPr>
          <a:xfrm>
            <a:off x="988290" y="943687"/>
            <a:ext cx="567228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Het lineaire-regressie-algoritme probeert een rechte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lijn te tekenen die (ongeveer) door alle te voorspellen datapunten heenloopt.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nl-NL" dirty="0">
                <a:solidFill>
                  <a:prstClr val="black"/>
                </a:solidFill>
              </a:rPr>
              <a:t>De formule van de lijn is:</a:t>
            </a:r>
          </a:p>
          <a:p>
            <a:pPr lvl="0">
              <a:defRPr/>
            </a:pPr>
            <a:r>
              <a:rPr lang="nl-NL" dirty="0">
                <a:solidFill>
                  <a:prstClr val="black"/>
                </a:solidFill>
              </a:rPr>
              <a:t>y = a * X + b</a:t>
            </a:r>
          </a:p>
          <a:p>
            <a:pPr lvl="0">
              <a:defRPr/>
            </a:pPr>
            <a:endParaRPr lang="nl-NL" dirty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nl-NL" dirty="0">
                <a:solidFill>
                  <a:prstClr val="black"/>
                </a:solidFill>
              </a:rPr>
              <a:t>a heet ook wel de ‘</a:t>
            </a:r>
            <a:r>
              <a:rPr lang="nl-NL" dirty="0" err="1">
                <a:solidFill>
                  <a:prstClr val="black"/>
                </a:solidFill>
              </a:rPr>
              <a:t>slope</a:t>
            </a:r>
            <a:r>
              <a:rPr lang="nl-NL" dirty="0">
                <a:solidFill>
                  <a:prstClr val="black"/>
                </a:solidFill>
              </a:rPr>
              <a:t>’</a:t>
            </a:r>
          </a:p>
          <a:p>
            <a:pPr lvl="0">
              <a:defRPr/>
            </a:pPr>
            <a:r>
              <a:rPr lang="nl-NL" dirty="0">
                <a:solidFill>
                  <a:prstClr val="black"/>
                </a:solidFill>
              </a:rPr>
              <a:t>b heet ook wel de ‘</a:t>
            </a:r>
            <a:r>
              <a:rPr lang="nl-NL" dirty="0" err="1">
                <a:solidFill>
                  <a:prstClr val="black"/>
                </a:solidFill>
              </a:rPr>
              <a:t>intercept</a:t>
            </a:r>
            <a:r>
              <a:rPr lang="nl-NL" dirty="0">
                <a:solidFill>
                  <a:prstClr val="black"/>
                </a:solidFill>
              </a:rPr>
              <a:t>’</a:t>
            </a: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2 bewegingen die de lijn kan maken: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Als a verandert </a:t>
            </a: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roteert de lijn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Groter: naar links (steiler)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Kleiner: naar rechts (vlakker)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Als b verandert </a:t>
            </a: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verschuift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de lijn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Groter: naar boven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Onder: naar beneden.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dit geval is er 1 onafhankelijke variabele en 1 afhankelijke variabele.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>
                <a:solidFill>
                  <a:prstClr val="black"/>
                </a:solidFill>
                <a:latin typeface="Calibri" panose="020F0502020204030204"/>
              </a:rPr>
              <a:t>2 variabelen in totaal: een zogenoemde </a:t>
            </a:r>
            <a:r>
              <a:rPr lang="nl-NL" b="1" noProof="0" dirty="0" err="1">
                <a:solidFill>
                  <a:prstClr val="black"/>
                </a:solidFill>
                <a:latin typeface="Calibri" panose="020F0502020204030204"/>
              </a:rPr>
              <a:t>bivariate</a:t>
            </a:r>
            <a:r>
              <a:rPr lang="nl-NL" b="1" noProof="0" dirty="0">
                <a:solidFill>
                  <a:prstClr val="black"/>
                </a:solidFill>
                <a:latin typeface="Calibri" panose="020F0502020204030204"/>
              </a:rPr>
              <a:t> analyse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91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72C2-81FB-9EF9-4DCF-E362AF79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25A1C549-522E-509E-6752-FC44AE17845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8632D97-73DE-F93E-0568-979CF9C6210E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(Voor) d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eerste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regressie-iteratie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CB5B149-CF00-40CC-8863-FDA0934DF0C0}"/>
              </a:ext>
            </a:extLst>
          </p:cNvPr>
          <p:cNvCxnSpPr>
            <a:cxnSpLocks/>
          </p:cNvCxnSpPr>
          <p:nvPr/>
        </p:nvCxnSpPr>
        <p:spPr>
          <a:xfrm>
            <a:off x="988290" y="63307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fbeelding 4">
            <a:extLst>
              <a:ext uri="{FF2B5EF4-FFF2-40B4-BE49-F238E27FC236}">
                <a16:creationId xmlns:a16="http://schemas.microsoft.com/office/drawing/2014/main" id="{5493DAED-C933-9B87-3C3F-92B078486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18" y="992524"/>
            <a:ext cx="4619929" cy="566481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6FC78618-C464-1E87-EBAB-1E8E249C6158}"/>
              </a:ext>
            </a:extLst>
          </p:cNvPr>
          <p:cNvSpPr txBox="1"/>
          <p:nvPr/>
        </p:nvSpPr>
        <p:spPr>
          <a:xfrm>
            <a:off x="7046840" y="100654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B998EAEF-39D6-AEF4-41E7-8B37B568FF2C}"/>
              </a:ext>
            </a:extLst>
          </p:cNvPr>
          <p:cNvSpPr txBox="1"/>
          <p:nvPr/>
        </p:nvSpPr>
        <p:spPr>
          <a:xfrm>
            <a:off x="11652871" y="618098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A72443-ECFC-C99C-2D18-4155884B3EAA}"/>
              </a:ext>
            </a:extLst>
          </p:cNvPr>
          <p:cNvCxnSpPr>
            <a:cxnSpLocks/>
          </p:cNvCxnSpPr>
          <p:nvPr/>
        </p:nvCxnSpPr>
        <p:spPr>
          <a:xfrm flipV="1">
            <a:off x="7240822" y="6045200"/>
            <a:ext cx="4064487" cy="27133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kstvak 16">
            <a:extLst>
              <a:ext uri="{FF2B5EF4-FFF2-40B4-BE49-F238E27FC236}">
                <a16:creationId xmlns:a16="http://schemas.microsoft.com/office/drawing/2014/main" id="{0D0BDFC1-E18F-0084-A1D7-5319DDEE9E7C}"/>
              </a:ext>
            </a:extLst>
          </p:cNvPr>
          <p:cNvSpPr txBox="1"/>
          <p:nvPr/>
        </p:nvSpPr>
        <p:spPr>
          <a:xfrm>
            <a:off x="988290" y="671691"/>
            <a:ext cx="605680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Voordat je het algoritme toepast, stel je het volgende in: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Het 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trainingsiteraties, ook wel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epochs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genoemd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</a:t>
            </a:r>
            <a:r>
              <a:rPr lang="nl-NL" noProof="0" dirty="0" err="1">
                <a:solidFill>
                  <a:prstClr val="black"/>
                </a:solidFill>
                <a:latin typeface="Calibri" panose="020F0502020204030204"/>
              </a:rPr>
              <a:t>_rate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: een getal tussen 0 en 1. In dit geval: 0,01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In de eerste iteratie…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Wordt er een willekeurige regressielijn getekend.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In dit geval is de formule: y = 0,5X + 0,2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Wordt er een willekeurig datapunt uitgekozen waar de lijn zich naartoe moet bewegen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Op basis hiervan roteert de lijn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De nieuwe a moet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groter 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worden, want de lijn moet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steiler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worden.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De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learning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rate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zorgt voor een verhoging van de huidige 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Nieuwe a: 0,5 x (0,01 + 1) = 0,505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nl-NL" u="sng" dirty="0">
              <a:solidFill>
                <a:prstClr val="black"/>
              </a:solidFill>
              <a:latin typeface="Calibri" panose="020F0502020204030204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</a:rPr>
              <a:t>Op basis hiervan verschuift de lijn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</a:rPr>
              <a:t>De nieuwe b moet </a:t>
            </a:r>
            <a:r>
              <a:rPr lang="nl-NL" u="sng" dirty="0">
                <a:solidFill>
                  <a:prstClr val="black"/>
                </a:solidFill>
              </a:rPr>
              <a:t>groter</a:t>
            </a:r>
            <a:r>
              <a:rPr lang="nl-NL" dirty="0">
                <a:solidFill>
                  <a:prstClr val="black"/>
                </a:solidFill>
              </a:rPr>
              <a:t> worden, want de lijn moet </a:t>
            </a:r>
            <a:r>
              <a:rPr lang="nl-NL" u="sng" dirty="0">
                <a:solidFill>
                  <a:prstClr val="black"/>
                </a:solidFill>
              </a:rPr>
              <a:t>omhoog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</a:rPr>
              <a:t>De </a:t>
            </a:r>
            <a:r>
              <a:rPr lang="nl-NL" dirty="0" err="1">
                <a:solidFill>
                  <a:prstClr val="black"/>
                </a:solidFill>
              </a:rPr>
              <a:t>learning</a:t>
            </a:r>
            <a:r>
              <a:rPr lang="nl-NL" dirty="0">
                <a:solidFill>
                  <a:prstClr val="black"/>
                </a:solidFill>
              </a:rPr>
              <a:t> </a:t>
            </a:r>
            <a:r>
              <a:rPr lang="nl-NL" dirty="0" err="1">
                <a:solidFill>
                  <a:prstClr val="black"/>
                </a:solidFill>
              </a:rPr>
              <a:t>rate</a:t>
            </a:r>
            <a:r>
              <a:rPr lang="nl-NL" dirty="0">
                <a:solidFill>
                  <a:prstClr val="black"/>
                </a:solidFill>
              </a:rPr>
              <a:t> zorgt voor een verhoging van de huidige b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 err="1">
                <a:solidFill>
                  <a:prstClr val="black"/>
                </a:solidFill>
              </a:rPr>
              <a:t>Niewe</a:t>
            </a:r>
            <a:r>
              <a:rPr lang="nl-NL" dirty="0">
                <a:solidFill>
                  <a:prstClr val="black"/>
                </a:solidFill>
              </a:rPr>
              <a:t> b: 0,2 x (0,01 + 1) = 0,202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69217E46-D8E7-4F3E-2CA8-CFB49E67B8EE}"/>
              </a:ext>
            </a:extLst>
          </p:cNvPr>
          <p:cNvSpPr/>
          <p:nvPr/>
        </p:nvSpPr>
        <p:spPr>
          <a:xfrm>
            <a:off x="9347061" y="1006546"/>
            <a:ext cx="1575044" cy="488373"/>
          </a:xfrm>
          <a:prstGeom prst="wedgeEllipseCallout">
            <a:avLst>
              <a:gd name="adj1" fmla="val -21493"/>
              <a:gd name="adj2" fmla="val 10079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Kom hier!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79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9F89-0366-17FF-2336-C435A2D2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C452D0FB-3F68-3DC6-CB75-B72CE3E618A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AC6F9B05-9DEB-8F52-F4F0-7BA55D0F2077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Volgende 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epochs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000D7580-2431-A247-B63A-B05D72CECB33}"/>
              </a:ext>
            </a:extLst>
          </p:cNvPr>
          <p:cNvCxnSpPr>
            <a:cxnSpLocks/>
          </p:cNvCxnSpPr>
          <p:nvPr/>
        </p:nvCxnSpPr>
        <p:spPr>
          <a:xfrm>
            <a:off x="988290" y="63307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fbeelding 4">
            <a:extLst>
              <a:ext uri="{FF2B5EF4-FFF2-40B4-BE49-F238E27FC236}">
                <a16:creationId xmlns:a16="http://schemas.microsoft.com/office/drawing/2014/main" id="{5538F8A2-2C0D-E9C6-8E45-988E2D6F3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18" y="992524"/>
            <a:ext cx="4619929" cy="566481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B8E685DF-BA22-A375-D271-A1B669EAF4FF}"/>
              </a:ext>
            </a:extLst>
          </p:cNvPr>
          <p:cNvSpPr txBox="1"/>
          <p:nvPr/>
        </p:nvSpPr>
        <p:spPr>
          <a:xfrm>
            <a:off x="7046840" y="100654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B690F9B5-49FD-8E75-CF1D-03A2F8DDD240}"/>
              </a:ext>
            </a:extLst>
          </p:cNvPr>
          <p:cNvSpPr txBox="1"/>
          <p:nvPr/>
        </p:nvSpPr>
        <p:spPr>
          <a:xfrm>
            <a:off x="11652871" y="618098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C0CB31-BDEE-98AA-D704-0F0B521381C5}"/>
              </a:ext>
            </a:extLst>
          </p:cNvPr>
          <p:cNvCxnSpPr>
            <a:cxnSpLocks/>
          </p:cNvCxnSpPr>
          <p:nvPr/>
        </p:nvCxnSpPr>
        <p:spPr>
          <a:xfrm flipV="1">
            <a:off x="7240822" y="6045200"/>
            <a:ext cx="4064487" cy="27133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kstvak 16">
            <a:extLst>
              <a:ext uri="{FF2B5EF4-FFF2-40B4-BE49-F238E27FC236}">
                <a16:creationId xmlns:a16="http://schemas.microsoft.com/office/drawing/2014/main" id="{B66FEBF0-22B5-D55F-923A-E512C22B1301}"/>
              </a:ext>
            </a:extLst>
          </p:cNvPr>
          <p:cNvSpPr txBox="1"/>
          <p:nvPr/>
        </p:nvSpPr>
        <p:spPr>
          <a:xfrm>
            <a:off x="907794" y="992523"/>
            <a:ext cx="597631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nieuwe lijn </a:t>
            </a:r>
            <a:r>
              <a:rPr lang="nl-NL" noProof="0" dirty="0">
                <a:solidFill>
                  <a:prstClr val="black"/>
                </a:solidFill>
              </a:rPr>
              <a:t>is ietsje verbeterd t.o.v. de oude lijn.</a:t>
            </a:r>
          </a:p>
          <a:p>
            <a:pPr lvl="0">
              <a:defRPr/>
            </a:pPr>
            <a:r>
              <a:rPr kumimoji="0" lang="nl-NL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Oude</a:t>
            </a:r>
            <a:r>
              <a:rPr kumimoji="0" lang="nl-NL" sz="1800" b="0" i="0" u="none" strike="noStrike" kern="1200" cap="none" spc="0" normalizeH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formule: y = 0,5X + 0,2</a:t>
            </a:r>
          </a:p>
          <a:p>
            <a:pPr lvl="0">
              <a:defRPr/>
            </a:pPr>
            <a:r>
              <a:rPr lang="nl-NL" baseline="0" noProof="0" dirty="0">
                <a:solidFill>
                  <a:prstClr val="black"/>
                </a:solidFill>
                <a:latin typeface="Calibri" panose="020F0502020204030204"/>
              </a:rPr>
              <a:t>Nieuwe formule: y = 0,505X (steiler) + 0,202 (hoger)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In elke volgende iteratie…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Wordt er wéér een willekeurig datapunt uitgekozen waar de lijn zich naartoe moet bewegen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Op basis hiervan moet de lijn weer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roteren: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plus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learning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rate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als deze steiler moet worden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min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learning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rate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als deze vlakker moet worden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Ook moet de lijn weer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verschuiven: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plus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learning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rate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als deze omhoog moet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 </a:t>
            </a:r>
            <a:r>
              <a:rPr lang="nl-NL" u="sng" dirty="0">
                <a:solidFill>
                  <a:prstClr val="black"/>
                </a:solidFill>
                <a:latin typeface="Calibri" panose="020F0502020204030204"/>
              </a:rPr>
              <a:t>min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learning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rate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als deze omlaag moet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nl-NL" u="sng" dirty="0">
              <a:solidFill>
                <a:prstClr val="black"/>
              </a:solidFill>
              <a:latin typeface="Calibri" panose="020F0502020204030204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Dit proces van het wijzigen van a en b gaat zo door,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totdat het vooraf ingestelde aantal iteraties/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epochs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bereikt is.</a:t>
            </a:r>
            <a:endParaRPr lang="nl-NL" dirty="0">
              <a:solidFill>
                <a:prstClr val="black"/>
              </a:solidFill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0882D256-257E-C764-19C3-7CB57521CCE5}"/>
              </a:ext>
            </a:extLst>
          </p:cNvPr>
          <p:cNvSpPr/>
          <p:nvPr/>
        </p:nvSpPr>
        <p:spPr>
          <a:xfrm>
            <a:off x="9045724" y="2480008"/>
            <a:ext cx="1575044" cy="488373"/>
          </a:xfrm>
          <a:prstGeom prst="wedgeEllipseCallout">
            <a:avLst>
              <a:gd name="adj1" fmla="val -21493"/>
              <a:gd name="adj2" fmla="val 10079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Kom hier!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DF8E44-8CA2-B048-0CDF-43C0E9B3A300}"/>
              </a:ext>
            </a:extLst>
          </p:cNvPr>
          <p:cNvCxnSpPr>
            <a:cxnSpLocks/>
          </p:cNvCxnSpPr>
          <p:nvPr/>
        </p:nvCxnSpPr>
        <p:spPr>
          <a:xfrm flipV="1">
            <a:off x="7224512" y="5548745"/>
            <a:ext cx="3904152" cy="588062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41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EA7E-1587-22D2-7FBF-CBB4B6A0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4F1842D1-8F88-FD4E-0FF3-3B43091C0BC7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4933FF6-B134-ADBD-E923-E6BA3AA51630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Pas op met je 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learning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rate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!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0485E40B-618F-AC77-CD80-11462F4AD110}"/>
              </a:ext>
            </a:extLst>
          </p:cNvPr>
          <p:cNvCxnSpPr>
            <a:cxnSpLocks/>
          </p:cNvCxnSpPr>
          <p:nvPr/>
        </p:nvCxnSpPr>
        <p:spPr>
          <a:xfrm>
            <a:off x="988290" y="63307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fbeelding 4">
            <a:extLst>
              <a:ext uri="{FF2B5EF4-FFF2-40B4-BE49-F238E27FC236}">
                <a16:creationId xmlns:a16="http://schemas.microsoft.com/office/drawing/2014/main" id="{6D212804-8612-F850-0D74-01CB9DD9F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18" y="992524"/>
            <a:ext cx="4619929" cy="5664810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5623ECD5-E8EF-9A52-28B0-6CADA1E70A85}"/>
              </a:ext>
            </a:extLst>
          </p:cNvPr>
          <p:cNvSpPr txBox="1"/>
          <p:nvPr/>
        </p:nvSpPr>
        <p:spPr>
          <a:xfrm>
            <a:off x="7046840" y="100654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1EEFB56D-F2B2-074B-D49F-BADCBBB9B3D2}"/>
              </a:ext>
            </a:extLst>
          </p:cNvPr>
          <p:cNvSpPr txBox="1"/>
          <p:nvPr/>
        </p:nvSpPr>
        <p:spPr>
          <a:xfrm>
            <a:off x="11652871" y="6180986"/>
            <a:ext cx="38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60594F-6B55-B5E5-A4C0-C0471EB74F1D}"/>
              </a:ext>
            </a:extLst>
          </p:cNvPr>
          <p:cNvCxnSpPr>
            <a:cxnSpLocks/>
          </p:cNvCxnSpPr>
          <p:nvPr/>
        </p:nvCxnSpPr>
        <p:spPr>
          <a:xfrm flipV="1">
            <a:off x="7240822" y="5627595"/>
            <a:ext cx="4033314" cy="68893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kstvak 16">
            <a:extLst>
              <a:ext uri="{FF2B5EF4-FFF2-40B4-BE49-F238E27FC236}">
                <a16:creationId xmlns:a16="http://schemas.microsoft.com/office/drawing/2014/main" id="{2207B797-53E1-A24C-EFAE-97E84C506CBF}"/>
              </a:ext>
            </a:extLst>
          </p:cNvPr>
          <p:cNvSpPr txBox="1"/>
          <p:nvPr/>
        </p:nvSpPr>
        <p:spPr>
          <a:xfrm>
            <a:off x="965718" y="1276908"/>
            <a:ext cx="597631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De </a:t>
            </a:r>
            <a:r>
              <a:rPr lang="nl-NL" dirty="0" err="1">
                <a:solidFill>
                  <a:prstClr val="black"/>
                </a:solidFill>
              </a:rPr>
              <a:t>learning_rate</a:t>
            </a:r>
            <a:r>
              <a:rPr lang="nl-NL" dirty="0">
                <a:solidFill>
                  <a:prstClr val="black"/>
                </a:solidFill>
              </a:rPr>
              <a:t> is een getal tussen 0 en 1 dat bepaalt in welke mate a en b gewijzigd worden per </a:t>
            </a:r>
            <a:r>
              <a:rPr lang="nl-NL" dirty="0" err="1">
                <a:solidFill>
                  <a:prstClr val="black"/>
                </a:solidFill>
              </a:rPr>
              <a:t>epoch</a:t>
            </a:r>
            <a:r>
              <a:rPr lang="nl-NL" dirty="0">
                <a:solidFill>
                  <a:prstClr val="black"/>
                </a:solidFill>
              </a:rPr>
              <a:t>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“Moet mijn </a:t>
            </a:r>
            <a:r>
              <a:rPr lang="nl-NL" dirty="0" err="1">
                <a:solidFill>
                  <a:prstClr val="black"/>
                </a:solidFill>
              </a:rPr>
              <a:t>learning</a:t>
            </a:r>
            <a:r>
              <a:rPr lang="nl-NL" dirty="0">
                <a:solidFill>
                  <a:prstClr val="black"/>
                </a:solidFill>
              </a:rPr>
              <a:t> </a:t>
            </a:r>
            <a:r>
              <a:rPr lang="nl-NL" dirty="0" err="1">
                <a:solidFill>
                  <a:prstClr val="black"/>
                </a:solidFill>
              </a:rPr>
              <a:t>rate</a:t>
            </a:r>
            <a:r>
              <a:rPr lang="nl-NL" dirty="0">
                <a:solidFill>
                  <a:prstClr val="black"/>
                </a:solidFill>
              </a:rPr>
              <a:t> dan niet ‘gewoon’ zo hoog mogelijk zijn?”</a:t>
            </a: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</a:endParaRPr>
          </a:p>
          <a:p>
            <a:pPr lvl="0" algn="ctr">
              <a:defRPr/>
            </a:pPr>
            <a:r>
              <a:rPr lang="nl-NL" b="1" dirty="0">
                <a:solidFill>
                  <a:srgbClr val="FF0000"/>
                </a:solidFill>
              </a:rPr>
              <a:t>Nee!</a:t>
            </a:r>
          </a:p>
          <a:p>
            <a:pPr lvl="0" algn="ctr">
              <a:defRPr/>
            </a:pPr>
            <a:r>
              <a:rPr lang="nl-NL" dirty="0"/>
              <a:t>Op deze manier past de lineaire regressielijn zichzelf namelijk telkens veel te sterk aan, waardoor het om het </a:t>
            </a:r>
            <a:r>
              <a:rPr lang="nl-NL" dirty="0">
                <a:solidFill>
                  <a:srgbClr val="00B050"/>
                </a:solidFill>
              </a:rPr>
              <a:t>optimum</a:t>
            </a:r>
            <a:r>
              <a:rPr lang="nl-NL" dirty="0"/>
              <a:t> </a:t>
            </a:r>
            <a:r>
              <a:rPr lang="nl-NL"/>
              <a:t>heen blijft cirkelen</a:t>
            </a:r>
            <a:r>
              <a:rPr lang="nl-NL" dirty="0"/>
              <a:t>, maar deze </a:t>
            </a:r>
            <a:r>
              <a:rPr lang="nl-NL"/>
              <a:t>nooit bereikt.</a:t>
            </a:r>
            <a:endParaRPr lang="nl-NL" dirty="0"/>
          </a:p>
          <a:p>
            <a:pPr lvl="0" algn="ctr">
              <a:defRPr/>
            </a:pPr>
            <a:endParaRPr lang="nl-NL" dirty="0"/>
          </a:p>
          <a:p>
            <a:pPr lvl="0" algn="ctr">
              <a:defRPr/>
            </a:pPr>
            <a:r>
              <a:rPr lang="nl-NL" dirty="0"/>
              <a:t>Leren in Machine Learning vindt altijd plaats in </a:t>
            </a:r>
            <a:r>
              <a:rPr lang="nl-NL" u="sng" dirty="0"/>
              <a:t>kleine stapjes</a:t>
            </a:r>
            <a:r>
              <a:rPr lang="nl-NL" dirty="0"/>
              <a:t>, zodat er geen optimum over het hoofd gezien wordt.</a:t>
            </a:r>
          </a:p>
          <a:p>
            <a:pPr lvl="0" algn="ctr">
              <a:defRPr/>
            </a:pPr>
            <a:endParaRPr lang="nl-NL" dirty="0"/>
          </a:p>
          <a:p>
            <a:pPr lvl="0" algn="ctr">
              <a:defRPr/>
            </a:pPr>
            <a:r>
              <a:rPr lang="nl-NL" dirty="0"/>
              <a:t>Raar, maar waar:</a:t>
            </a:r>
          </a:p>
          <a:p>
            <a:pPr lvl="0" algn="ctr">
              <a:defRPr/>
            </a:pPr>
            <a:r>
              <a:rPr lang="nl-NL" dirty="0"/>
              <a:t>“Een </a:t>
            </a:r>
            <a:r>
              <a:rPr lang="nl-NL" u="sng" dirty="0"/>
              <a:t>hoge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 </a:t>
            </a:r>
            <a:r>
              <a:rPr lang="nl-NL" dirty="0" err="1"/>
              <a:t>rate</a:t>
            </a:r>
            <a:r>
              <a:rPr lang="nl-NL" dirty="0"/>
              <a:t> heeft als risico</a:t>
            </a:r>
          </a:p>
          <a:p>
            <a:pPr lvl="0" algn="ctr">
              <a:defRPr/>
            </a:pPr>
            <a:r>
              <a:rPr lang="nl-NL" dirty="0"/>
              <a:t>dat je model </a:t>
            </a:r>
            <a:r>
              <a:rPr lang="nl-NL" u="sng" dirty="0"/>
              <a:t>weinig leert”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1AA491-1957-714B-B92F-79212B889DD8}"/>
              </a:ext>
            </a:extLst>
          </p:cNvPr>
          <p:cNvCxnSpPr>
            <a:cxnSpLocks/>
          </p:cNvCxnSpPr>
          <p:nvPr/>
        </p:nvCxnSpPr>
        <p:spPr>
          <a:xfrm flipV="1">
            <a:off x="7240822" y="2867891"/>
            <a:ext cx="4412049" cy="126769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94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33333E-6 L -0.00833 -0.6847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-3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9455-B776-60C2-36D1-14577CB3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ABA604DC-D076-433C-B293-81622533FA1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90CC5EE-F61C-43EE-DDE8-B05B4E88C3AE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Bivariate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multivariate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analyse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8C79460C-A18D-7C2D-424B-BE8EC243E652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146068A-BFC6-4202-C701-8C532638F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26" y="2606813"/>
            <a:ext cx="4670275" cy="4167761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77BFB2B7-C21E-4DFA-7035-CE271900C389}"/>
              </a:ext>
            </a:extLst>
          </p:cNvPr>
          <p:cNvSpPr txBox="1"/>
          <p:nvPr/>
        </p:nvSpPr>
        <p:spPr>
          <a:xfrm>
            <a:off x="5908164" y="6405242"/>
            <a:ext cx="308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4D22E896-11B5-B3F2-95CC-2460C95D18BC}"/>
              </a:ext>
            </a:extLst>
          </p:cNvPr>
          <p:cNvSpPr txBox="1"/>
          <p:nvPr/>
        </p:nvSpPr>
        <p:spPr>
          <a:xfrm>
            <a:off x="1294359" y="2263806"/>
            <a:ext cx="335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</a:p>
        </p:txBody>
      </p:sp>
      <p:cxnSp>
        <p:nvCxnSpPr>
          <p:cNvPr id="2" name="Straight Connector 10">
            <a:extLst>
              <a:ext uri="{FF2B5EF4-FFF2-40B4-BE49-F238E27FC236}">
                <a16:creationId xmlns:a16="http://schemas.microsoft.com/office/drawing/2014/main" id="{A4976E6F-92E5-C05A-B427-56079C0353C1}"/>
              </a:ext>
            </a:extLst>
          </p:cNvPr>
          <p:cNvCxnSpPr>
            <a:cxnSpLocks/>
          </p:cNvCxnSpPr>
          <p:nvPr/>
        </p:nvCxnSpPr>
        <p:spPr>
          <a:xfrm flipV="1">
            <a:off x="6317667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A16C3C-1935-5203-4258-9A929C11367D}"/>
              </a:ext>
            </a:extLst>
          </p:cNvPr>
          <p:cNvSpPr txBox="1"/>
          <p:nvPr/>
        </p:nvSpPr>
        <p:spPr>
          <a:xfrm>
            <a:off x="988290" y="860426"/>
            <a:ext cx="5329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Bivariate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analyse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E2C165-8ABB-1CCE-1074-D96D2852504B}"/>
              </a:ext>
            </a:extLst>
          </p:cNvPr>
          <p:cNvSpPr txBox="1"/>
          <p:nvPr/>
        </p:nvSpPr>
        <p:spPr>
          <a:xfrm>
            <a:off x="988290" y="1248142"/>
            <a:ext cx="5329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Als er in totaal 2 variabelen zijn, 1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feature`en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 target, is er sprake van een </a:t>
            </a:r>
            <a:r>
              <a:rPr kumimoji="0" lang="nl-NL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bivariate</a:t>
            </a:r>
            <a:r>
              <a:rPr kumimoji="0" lang="nl-NL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analyse</a:t>
            </a:r>
            <a:r>
              <a:rPr kumimoji="0" lang="nl-NL" sz="1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u="none" dirty="0">
                <a:solidFill>
                  <a:prstClr val="black"/>
                </a:solidFill>
                <a:latin typeface="Calibri" panose="020F0502020204030204"/>
              </a:rPr>
              <a:t>Deze kan gevisualiseerd worden in een 2D-tekening.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71A014-6E49-9F73-5C8C-CE66384390DE}"/>
              </a:ext>
            </a:extLst>
          </p:cNvPr>
          <p:cNvSpPr txBox="1"/>
          <p:nvPr/>
        </p:nvSpPr>
        <p:spPr>
          <a:xfrm>
            <a:off x="6422997" y="860426"/>
            <a:ext cx="5769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Multi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variate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analyse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AB719-01EC-4A7E-F15B-C6477E8F4D45}"/>
              </a:ext>
            </a:extLst>
          </p:cNvPr>
          <p:cNvSpPr txBox="1"/>
          <p:nvPr/>
        </p:nvSpPr>
        <p:spPr>
          <a:xfrm>
            <a:off x="6216277" y="1201977"/>
            <a:ext cx="60832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Als er in totaal meer dan 2 variabelen zijn, meerdere features en 1 target, is er sprake van een </a:t>
            </a:r>
            <a:r>
              <a:rPr lang="nl-NL" u="sng" dirty="0" err="1">
                <a:solidFill>
                  <a:prstClr val="black"/>
                </a:solidFill>
                <a:latin typeface="Calibri" panose="020F0502020204030204"/>
              </a:rPr>
              <a:t>multi</a:t>
            </a:r>
            <a:r>
              <a:rPr kumimoji="0" lang="nl-NL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variate</a:t>
            </a:r>
            <a:r>
              <a:rPr kumimoji="0" lang="nl-NL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analyse</a:t>
            </a:r>
            <a:r>
              <a:rPr kumimoji="0" lang="nl-NL" sz="1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Bij 2 features wordt de formule dan: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y = a1 * X1 + a2 * X2 +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de formule bij 3 features is:</a:t>
            </a:r>
          </a:p>
          <a:p>
            <a:pPr algn="ctr">
              <a:defRPr/>
            </a:pPr>
            <a:r>
              <a:rPr lang="nl-NL" b="1" dirty="0">
                <a:solidFill>
                  <a:prstClr val="black"/>
                </a:solidFill>
              </a:rPr>
              <a:t>y = a1 * X1 + a2 * X2 + a3 * X3 + b</a:t>
            </a:r>
          </a:p>
          <a:p>
            <a:pPr algn="ctr">
              <a:defRPr/>
            </a:pPr>
            <a:endParaRPr lang="nl-NL" b="1" dirty="0">
              <a:solidFill>
                <a:prstClr val="black"/>
              </a:solidFill>
            </a:endParaRP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Elke feature krijgt dus zijn eigen </a:t>
            </a:r>
            <a:r>
              <a:rPr lang="nl-NL" dirty="0" err="1">
                <a:solidFill>
                  <a:prstClr val="black"/>
                </a:solidFill>
              </a:rPr>
              <a:t>slope</a:t>
            </a:r>
            <a:r>
              <a:rPr lang="nl-NL" dirty="0">
                <a:solidFill>
                  <a:prstClr val="black"/>
                </a:solidFill>
              </a:rPr>
              <a:t> (a),</a:t>
            </a: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wel blijft er in totaal maar 1 </a:t>
            </a:r>
            <a:r>
              <a:rPr lang="nl-NL" dirty="0" err="1">
                <a:solidFill>
                  <a:prstClr val="black"/>
                </a:solidFill>
              </a:rPr>
              <a:t>intercept</a:t>
            </a:r>
            <a:r>
              <a:rPr lang="nl-NL" dirty="0">
                <a:solidFill>
                  <a:prstClr val="black"/>
                </a:solidFill>
              </a:rPr>
              <a:t> (b) bestaan.</a:t>
            </a:r>
          </a:p>
          <a:p>
            <a:pPr algn="ctr">
              <a:defRPr/>
            </a:pPr>
            <a:r>
              <a:rPr lang="nl-NL" dirty="0">
                <a:solidFill>
                  <a:prstClr val="black"/>
                </a:solidFill>
              </a:rPr>
              <a:t>Dit kan gevisualiseerd worden in een 3D-tekening.</a:t>
            </a:r>
          </a:p>
        </p:txBody>
      </p:sp>
      <p:pic>
        <p:nvPicPr>
          <p:cNvPr id="1026" name="Picture 2" descr="Plots and Graphs | NCSS Statistical Software | NCSS.com">
            <a:extLst>
              <a:ext uri="{FF2B5EF4-FFF2-40B4-BE49-F238E27FC236}">
                <a16:creationId xmlns:a16="http://schemas.microsoft.com/office/drawing/2014/main" id="{1DEC4244-6109-46E9-C024-A6CB4CF0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058" y="4341298"/>
            <a:ext cx="2683925" cy="235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9152C59-E75B-EEE8-7D53-B8DCE1CB4B13}"/>
              </a:ext>
            </a:extLst>
          </p:cNvPr>
          <p:cNvSpPr txBox="1"/>
          <p:nvPr/>
        </p:nvSpPr>
        <p:spPr>
          <a:xfrm>
            <a:off x="8899813" y="4722486"/>
            <a:ext cx="33997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Om multivariate analyses te kunnen visualiseren mag je maximaal 2 features hebben</a:t>
            </a: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</a:endParaRP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Ons menselijk oog kan namelijk slechts 3 dimensies zien.</a:t>
            </a:r>
          </a:p>
        </p:txBody>
      </p:sp>
    </p:spTree>
    <p:extLst>
      <p:ext uri="{BB962C8B-B14F-4D97-AF65-F5344CB8AC3E}">
        <p14:creationId xmlns:p14="http://schemas.microsoft.com/office/powerpoint/2010/main" val="1164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988290" y="-990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Regressiemodellen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evalueren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negatief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=&gt;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positief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75966AE4-5DAE-A7CD-BEED-A834663483CC}"/>
              </a:ext>
            </a:extLst>
          </p:cNvPr>
          <p:cNvSpPr txBox="1"/>
          <p:nvPr/>
        </p:nvSpPr>
        <p:spPr>
          <a:xfrm>
            <a:off x="7450283" y="642841"/>
            <a:ext cx="4127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Regressie-uitkomst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236E0E-B649-24C6-1EA0-ED54CB82AA26}"/>
              </a:ext>
            </a:extLst>
          </p:cNvPr>
          <p:cNvSpPr/>
          <p:nvPr/>
        </p:nvSpPr>
        <p:spPr>
          <a:xfrm>
            <a:off x="6712527" y="1113316"/>
            <a:ext cx="5234789" cy="5623497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68A827-8D3A-5381-5C4E-F0684BC183F0}"/>
              </a:ext>
            </a:extLst>
          </p:cNvPr>
          <p:cNvCxnSpPr>
            <a:cxnSpLocks/>
          </p:cNvCxnSpPr>
          <p:nvPr/>
        </p:nvCxnSpPr>
        <p:spPr>
          <a:xfrm flipV="1">
            <a:off x="6712527" y="1113317"/>
            <a:ext cx="4208319" cy="572463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6E91591-CF85-60F7-EB02-E31D6CCEEDAC}"/>
              </a:ext>
            </a:extLst>
          </p:cNvPr>
          <p:cNvSpPr/>
          <p:nvPr/>
        </p:nvSpPr>
        <p:spPr>
          <a:xfrm>
            <a:off x="8094518" y="3679057"/>
            <a:ext cx="363682" cy="3429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C40EEC-47B3-FFF0-E2A6-8D652EE3E667}"/>
              </a:ext>
            </a:extLst>
          </p:cNvPr>
          <p:cNvSpPr/>
          <p:nvPr/>
        </p:nvSpPr>
        <p:spPr>
          <a:xfrm>
            <a:off x="10276608" y="2555425"/>
            <a:ext cx="363682" cy="3429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7B33739-8691-9228-AE1F-FA3EF834B987}"/>
              </a:ext>
            </a:extLst>
          </p:cNvPr>
          <p:cNvCxnSpPr>
            <a:cxnSpLocks/>
          </p:cNvCxnSpPr>
          <p:nvPr/>
        </p:nvCxnSpPr>
        <p:spPr>
          <a:xfrm>
            <a:off x="8276359" y="4029532"/>
            <a:ext cx="0" cy="62288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15">
            <a:extLst>
              <a:ext uri="{FF2B5EF4-FFF2-40B4-BE49-F238E27FC236}">
                <a16:creationId xmlns:a16="http://schemas.microsoft.com/office/drawing/2014/main" id="{8C9D7DF5-8849-D750-642E-BC5A88CBC56B}"/>
              </a:ext>
            </a:extLst>
          </p:cNvPr>
          <p:cNvSpPr txBox="1"/>
          <p:nvPr/>
        </p:nvSpPr>
        <p:spPr>
          <a:xfrm>
            <a:off x="7202632" y="4156310"/>
            <a:ext cx="1073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Error: -2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A14267C-E292-2717-2A81-5B6BD61FB9FF}"/>
              </a:ext>
            </a:extLst>
          </p:cNvPr>
          <p:cNvCxnSpPr/>
          <p:nvPr/>
        </p:nvCxnSpPr>
        <p:spPr>
          <a:xfrm>
            <a:off x="10458449" y="1758331"/>
            <a:ext cx="0" cy="8104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kstvak 15">
            <a:extLst>
              <a:ext uri="{FF2B5EF4-FFF2-40B4-BE49-F238E27FC236}">
                <a16:creationId xmlns:a16="http://schemas.microsoft.com/office/drawing/2014/main" id="{9D2C9356-B9E8-5FD8-E350-FB97DA3D7BC2}"/>
              </a:ext>
            </a:extLst>
          </p:cNvPr>
          <p:cNvSpPr txBox="1"/>
          <p:nvPr/>
        </p:nvSpPr>
        <p:spPr>
          <a:xfrm>
            <a:off x="10458449" y="1934966"/>
            <a:ext cx="1223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Error: +2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788379-0553-3C2C-AD18-463653F02629}"/>
              </a:ext>
            </a:extLst>
          </p:cNvPr>
          <p:cNvSpPr txBox="1"/>
          <p:nvPr/>
        </p:nvSpPr>
        <p:spPr>
          <a:xfrm>
            <a:off x="1062141" y="827507"/>
            <a:ext cx="518799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evalueren regressiemodellen door naar de afstanden te kijken tussen regressielijn enerzijds en werkelijke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datapunten anderzijds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“Kan ik ‘gewoon’ deze afstanden optellen?”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dirty="0">
                <a:solidFill>
                  <a:srgbClr val="FF0000"/>
                </a:solidFill>
                <a:latin typeface="Calibri" panose="020F0502020204030204"/>
              </a:rPr>
              <a:t>Nee!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</a:rPr>
              <a:t>In dit voorbeeld zou onze totale errorwaarde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b="1" dirty="0">
                <a:solidFill>
                  <a:prstClr val="black"/>
                </a:solidFill>
              </a:rPr>
              <a:t>(-2 + 2) = 0</a:t>
            </a:r>
            <a:r>
              <a:rPr lang="nl-NL" dirty="0">
                <a:solidFill>
                  <a:prstClr val="black"/>
                </a:solidFill>
              </a:rPr>
              <a:t> zijn.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</a:rPr>
              <a:t>Maar… we hebben wel degelijk </a:t>
            </a:r>
            <a:r>
              <a:rPr lang="nl-NL" dirty="0" err="1">
                <a:solidFill>
                  <a:prstClr val="black"/>
                </a:solidFill>
              </a:rPr>
              <a:t>errors</a:t>
            </a:r>
            <a:r>
              <a:rPr lang="nl-NL" dirty="0">
                <a:solidFill>
                  <a:prstClr val="black"/>
                </a:solidFill>
              </a:rPr>
              <a:t>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</a:rPr>
              <a:t>Simpelweg waarden bij elkaar optellen geeft dus een té positief beeld van het model.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</a:endParaRPr>
          </a:p>
          <a:p>
            <a:pPr algn="ctr">
              <a:defRPr/>
            </a:pPr>
            <a:r>
              <a:rPr lang="nl-NL" dirty="0">
                <a:solidFill>
                  <a:prstClr val="black"/>
                </a:solidFill>
              </a:rPr>
              <a:t>Je wilt voorkomen dat positieve- en negatieve </a:t>
            </a:r>
            <a:r>
              <a:rPr lang="nl-NL" dirty="0" err="1">
                <a:solidFill>
                  <a:prstClr val="black"/>
                </a:solidFill>
              </a:rPr>
              <a:t>errors</a:t>
            </a:r>
            <a:r>
              <a:rPr lang="nl-NL" dirty="0">
                <a:solidFill>
                  <a:prstClr val="black"/>
                </a:solidFill>
              </a:rPr>
              <a:t> elkaar opheffen, daarom moet elke negatieve error een positieve worden.</a:t>
            </a:r>
          </a:p>
          <a:p>
            <a:pPr algn="ctr">
              <a:defRPr/>
            </a:pPr>
            <a:endParaRPr lang="nl-NL" dirty="0">
              <a:solidFill>
                <a:prstClr val="black"/>
              </a:solidFill>
            </a:endParaRPr>
          </a:p>
          <a:p>
            <a:pPr algn="ctr">
              <a:defRPr/>
            </a:pPr>
            <a:r>
              <a:rPr lang="nl-NL" dirty="0">
                <a:solidFill>
                  <a:prstClr val="black"/>
                </a:solidFill>
              </a:rPr>
              <a:t>2 veelgebruikte methoden: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</a:rPr>
              <a:t>Kwadrateren: </a:t>
            </a:r>
            <a:r>
              <a:rPr lang="nl-NL" b="1" dirty="0">
                <a:solidFill>
                  <a:prstClr val="black"/>
                </a:solidFill>
              </a:rPr>
              <a:t>-2^2 wordt </a:t>
            </a:r>
            <a:r>
              <a:rPr lang="nl-NL" b="1" u="sng" dirty="0">
                <a:solidFill>
                  <a:prstClr val="black"/>
                </a:solidFill>
              </a:rPr>
              <a:t>+</a:t>
            </a:r>
            <a:r>
              <a:rPr lang="nl-NL" b="1" dirty="0">
                <a:solidFill>
                  <a:prstClr val="black"/>
                </a:solidFill>
              </a:rPr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l-NL" dirty="0">
                <a:solidFill>
                  <a:prstClr val="black"/>
                </a:solidFill>
              </a:rPr>
              <a:t>Elke negatieve waarde vermenigvuldigen met -1.</a:t>
            </a:r>
          </a:p>
          <a:p>
            <a:pPr>
              <a:defRPr/>
            </a:pPr>
            <a:r>
              <a:rPr lang="nl-NL" b="1">
                <a:solidFill>
                  <a:prstClr val="black"/>
                </a:solidFill>
              </a:rPr>
              <a:t>      -2 </a:t>
            </a:r>
            <a:r>
              <a:rPr lang="nl-NL" b="1" dirty="0">
                <a:solidFill>
                  <a:prstClr val="black"/>
                </a:solidFill>
              </a:rPr>
              <a:t>* -1 wordt </a:t>
            </a:r>
            <a:r>
              <a:rPr lang="nl-NL" b="1" u="sng" dirty="0">
                <a:solidFill>
                  <a:prstClr val="black"/>
                </a:solidFill>
              </a:rPr>
              <a:t>+</a:t>
            </a:r>
            <a:r>
              <a:rPr lang="nl-NL" b="1" dirty="0">
                <a:solidFill>
                  <a:prstClr val="black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282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F319-1D09-CE36-DE7A-0238BA1B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744AB5A6-6684-282B-98D2-476A776494C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C7C7A-3D65-4F06-C838-63248EBB56B2}"/>
              </a:ext>
            </a:extLst>
          </p:cNvPr>
          <p:cNvSpPr txBox="1"/>
          <p:nvPr/>
        </p:nvSpPr>
        <p:spPr>
          <a:xfrm>
            <a:off x="2531828" y="-99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Evaluatiemetrieken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F52BBF69-8C92-BBFD-3D80-FAB6EAD85208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B788E308-A050-A0D8-2F6E-9424EA32E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42" y="769148"/>
            <a:ext cx="3538330" cy="3636899"/>
          </a:xfrm>
          <a:prstGeom prst="rect">
            <a:avLst/>
          </a:prstGeom>
        </p:spPr>
      </p:pic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DB3224CC-1C03-4769-BF69-536A1116D615}"/>
              </a:ext>
            </a:extLst>
          </p:cNvPr>
          <p:cNvCxnSpPr>
            <a:cxnSpLocks/>
          </p:cNvCxnSpPr>
          <p:nvPr/>
        </p:nvCxnSpPr>
        <p:spPr>
          <a:xfrm>
            <a:off x="988290" y="479077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vak 5">
            <a:extLst>
              <a:ext uri="{FF2B5EF4-FFF2-40B4-BE49-F238E27FC236}">
                <a16:creationId xmlns:a16="http://schemas.microsoft.com/office/drawing/2014/main" id="{3E44CACA-1A75-9645-FC36-30F18DC9FF15}"/>
              </a:ext>
            </a:extLst>
          </p:cNvPr>
          <p:cNvSpPr txBox="1"/>
          <p:nvPr/>
        </p:nvSpPr>
        <p:spPr>
          <a:xfrm>
            <a:off x="9849141" y="1898876"/>
            <a:ext cx="23428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“Wat is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algemene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accuraatheid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model?”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694F69D-1C27-D7C7-24D1-E840EC328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05" y="1182888"/>
            <a:ext cx="3880468" cy="3223159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F036273A-6222-E822-9A44-A7F3DF528477}"/>
              </a:ext>
            </a:extLst>
          </p:cNvPr>
          <p:cNvSpPr/>
          <p:nvPr/>
        </p:nvSpPr>
        <p:spPr>
          <a:xfrm>
            <a:off x="1077572" y="3101530"/>
            <a:ext cx="3719036" cy="2802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736E8419-6BA9-CF54-F5D0-4862144E681B}"/>
              </a:ext>
            </a:extLst>
          </p:cNvPr>
          <p:cNvSpPr/>
          <p:nvPr/>
        </p:nvSpPr>
        <p:spPr>
          <a:xfrm>
            <a:off x="1131121" y="2436578"/>
            <a:ext cx="3719036" cy="2802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C7D57AB-8791-87B7-BA08-2BCEDE3044E5}"/>
              </a:ext>
            </a:extLst>
          </p:cNvPr>
          <p:cNvSpPr/>
          <p:nvPr/>
        </p:nvSpPr>
        <p:spPr>
          <a:xfrm>
            <a:off x="1161953" y="1484814"/>
            <a:ext cx="3719036" cy="28022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C4E68085-C0A5-B3EC-3865-09DC0D719850}"/>
              </a:ext>
            </a:extLst>
          </p:cNvPr>
          <p:cNvSpPr/>
          <p:nvPr/>
        </p:nvSpPr>
        <p:spPr>
          <a:xfrm>
            <a:off x="1131121" y="2117428"/>
            <a:ext cx="3719036" cy="28022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BCE07F54-08BA-E7C3-9A45-CED204F5A022}"/>
              </a:ext>
            </a:extLst>
          </p:cNvPr>
          <p:cNvSpPr txBox="1"/>
          <p:nvPr/>
        </p:nvSpPr>
        <p:spPr>
          <a:xfrm>
            <a:off x="2531828" y="752951"/>
            <a:ext cx="1115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Testset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6141AEC6-50C4-D5F7-B530-4D0F9AEE3A60}"/>
              </a:ext>
            </a:extLst>
          </p:cNvPr>
          <p:cNvSpPr txBox="1"/>
          <p:nvPr/>
        </p:nvSpPr>
        <p:spPr>
          <a:xfrm>
            <a:off x="6590145" y="746847"/>
            <a:ext cx="2202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Regressie-uitkomst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D38F75EE-D6F4-539B-D179-430F6547092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930873" y="2716805"/>
            <a:ext cx="80956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67C8C3DB-D382-1C52-E41E-E9EFBF53BE9B}"/>
              </a:ext>
            </a:extLst>
          </p:cNvPr>
          <p:cNvCxnSpPr>
            <a:cxnSpLocks/>
          </p:cNvCxnSpPr>
          <p:nvPr/>
        </p:nvCxnSpPr>
        <p:spPr>
          <a:xfrm>
            <a:off x="9157654" y="2576691"/>
            <a:ext cx="6914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0">
            <a:extLst>
              <a:ext uri="{FF2B5EF4-FFF2-40B4-BE49-F238E27FC236}">
                <a16:creationId xmlns:a16="http://schemas.microsoft.com/office/drawing/2014/main" id="{88902C58-770B-0F6A-F0B3-21D231299062}"/>
              </a:ext>
            </a:extLst>
          </p:cNvPr>
          <p:cNvCxnSpPr>
            <a:cxnSpLocks/>
          </p:cNvCxnSpPr>
          <p:nvPr/>
        </p:nvCxnSpPr>
        <p:spPr>
          <a:xfrm flipV="1">
            <a:off x="6459154" y="4790772"/>
            <a:ext cx="0" cy="2067228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1">
            <a:extLst>
              <a:ext uri="{FF2B5EF4-FFF2-40B4-BE49-F238E27FC236}">
                <a16:creationId xmlns:a16="http://schemas.microsoft.com/office/drawing/2014/main" id="{89420569-8B16-D6AB-B7D2-DCB7B5E44736}"/>
              </a:ext>
            </a:extLst>
          </p:cNvPr>
          <p:cNvSpPr txBox="1"/>
          <p:nvPr/>
        </p:nvSpPr>
        <p:spPr>
          <a:xfrm>
            <a:off x="1046789" y="4804420"/>
            <a:ext cx="5049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Mean Squared Error (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SE)</a:t>
            </a:r>
            <a:endParaRPr lang="nl-NL" sz="2000" dirty="0"/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3332474C-9C2E-41ED-B70E-FA63E24073AE}"/>
              </a:ext>
            </a:extLst>
          </p:cNvPr>
          <p:cNvSpPr txBox="1"/>
          <p:nvPr/>
        </p:nvSpPr>
        <p:spPr>
          <a:xfrm>
            <a:off x="6590144" y="4846533"/>
            <a:ext cx="5601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Mean Absolute Error (MAE)</a:t>
            </a:r>
            <a:endParaRPr lang="nl-NL" sz="2000" dirty="0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CD3E70D2-1985-0252-AF53-E31075FDA3DA}"/>
              </a:ext>
            </a:extLst>
          </p:cNvPr>
          <p:cNvSpPr txBox="1"/>
          <p:nvPr/>
        </p:nvSpPr>
        <p:spPr>
          <a:xfrm>
            <a:off x="6590145" y="1481944"/>
            <a:ext cx="134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Errorgrootte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5FD72CA2-FFD0-3B00-D0DE-1312EE62893B}"/>
              </a:ext>
            </a:extLst>
          </p:cNvPr>
          <p:cNvSpPr txBox="1"/>
          <p:nvPr/>
        </p:nvSpPr>
        <p:spPr>
          <a:xfrm>
            <a:off x="966074" y="5204530"/>
            <a:ext cx="51299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Kwadrateer elke errorgrootte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Bereken de som van alle kwadraten (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Sum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of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Squared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Errors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=&gt; SSE)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Bereken uit deze som het gemiddelde van alle kwadraten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AB1EA4C2-09DC-C9A0-BDB4-AD7B834A4024}"/>
              </a:ext>
            </a:extLst>
          </p:cNvPr>
          <p:cNvSpPr txBox="1"/>
          <p:nvPr/>
        </p:nvSpPr>
        <p:spPr>
          <a:xfrm>
            <a:off x="6459152" y="5302403"/>
            <a:ext cx="56018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Verander elke min-errorgrootte in een plus-errorgrootte (-1 -&gt; 1, -3 -&gt; 3, enzovoort).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Bereken het gemiddelde van alle errorgroottes.</a:t>
            </a:r>
          </a:p>
        </p:txBody>
      </p:sp>
    </p:spTree>
    <p:extLst>
      <p:ext uri="{BB962C8B-B14F-4D97-AF65-F5344CB8AC3E}">
        <p14:creationId xmlns:p14="http://schemas.microsoft.com/office/powerpoint/2010/main" val="80646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29" grpId="0"/>
      <p:bldP spid="30" grpId="0"/>
      <p:bldP spid="31" grpId="0"/>
      <p:bldP spid="33" grpId="0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5C6E-3926-D03F-C6D5-2B17B4E7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ADA154DC-6572-1247-8D5C-236D6384016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360B6D-4F37-4D50-3F1D-95CEB4A99C3B}"/>
              </a:ext>
            </a:extLst>
          </p:cNvPr>
          <p:cNvSpPr txBox="1"/>
          <p:nvPr/>
        </p:nvSpPr>
        <p:spPr>
          <a:xfrm>
            <a:off x="2531828" y="-99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derde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evaluatiemetriek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: de R^2-score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B894DFAD-C54C-4A0E-C328-718AF31D1B54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kstvak 32">
            <a:extLst>
              <a:ext uri="{FF2B5EF4-FFF2-40B4-BE49-F238E27FC236}">
                <a16:creationId xmlns:a16="http://schemas.microsoft.com/office/drawing/2014/main" id="{8C65DE2A-08B2-5C1E-0411-F987CBD7D8C7}"/>
              </a:ext>
            </a:extLst>
          </p:cNvPr>
          <p:cNvSpPr txBox="1"/>
          <p:nvPr/>
        </p:nvSpPr>
        <p:spPr>
          <a:xfrm>
            <a:off x="914709" y="2720599"/>
            <a:ext cx="25974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Volgens de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linkeruitkomst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(“high R^2”) worden verschillen in studiepunten in </a:t>
            </a: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hoge mate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verklaard door verschillen in studie-uren.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De R^2 zit dan in de “range” van 75-100%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FA4FCA-4CDB-D5BA-7A39-585E00E13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198" y="1726287"/>
            <a:ext cx="5799323" cy="4359018"/>
          </a:xfrm>
          <a:prstGeom prst="rect">
            <a:avLst/>
          </a:prstGeom>
        </p:spPr>
      </p:pic>
      <p:sp>
        <p:nvSpPr>
          <p:cNvPr id="19" name="Tekstvak 22">
            <a:extLst>
              <a:ext uri="{FF2B5EF4-FFF2-40B4-BE49-F238E27FC236}">
                <a16:creationId xmlns:a16="http://schemas.microsoft.com/office/drawing/2014/main" id="{7B4B4491-4837-D7D8-062A-623BE113DACB}"/>
              </a:ext>
            </a:extLst>
          </p:cNvPr>
          <p:cNvSpPr txBox="1"/>
          <p:nvPr/>
        </p:nvSpPr>
        <p:spPr>
          <a:xfrm>
            <a:off x="988290" y="699895"/>
            <a:ext cx="1106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R^2 geeft weer hoeveel procent van de variatie in de afhankelijke variabele wordt verklaard door je model</a:t>
            </a:r>
          </a:p>
          <a:p>
            <a:pPr algn="ctr"/>
            <a:r>
              <a:rPr lang="nl-NL" dirty="0">
                <a:solidFill>
                  <a:prstClr val="black"/>
                </a:solidFill>
              </a:rPr>
              <a:t>Stel dat we in het model aantallen studie-uren gebruiken om aantallen studiepunten te voorspellen…</a:t>
            </a:r>
            <a:r>
              <a:rPr lang="nl-NL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4EFB39-8EE7-637C-C012-6A54CAECD1F0}"/>
              </a:ext>
            </a:extLst>
          </p:cNvPr>
          <p:cNvSpPr txBox="1"/>
          <p:nvPr/>
        </p:nvSpPr>
        <p:spPr>
          <a:xfrm>
            <a:off x="9463694" y="2582099"/>
            <a:ext cx="25897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Volgens de rechteruitkomst (“low R^2”) worden verschillen in studiepunten </a:t>
            </a:r>
            <a:r>
              <a:rPr lang="nl-NL" b="1" dirty="0">
                <a:solidFill>
                  <a:prstClr val="black"/>
                </a:solidFill>
                <a:latin typeface="Calibri" panose="020F0502020204030204"/>
              </a:rPr>
              <a:t>niet of nauwelijks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verklaard door verschillen in studie-uren.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nl-NL" dirty="0">
                <a:solidFill>
                  <a:prstClr val="black"/>
                </a:solidFill>
              </a:rPr>
              <a:t>De R^2 zit dan in de “range” van </a:t>
            </a:r>
            <a:r>
              <a:rPr lang="nl-NL">
                <a:solidFill>
                  <a:prstClr val="black"/>
                </a:solidFill>
              </a:rPr>
              <a:t>0-25%</a:t>
            </a:r>
            <a:endParaRPr lang="nl-N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5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259112" y="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Demo time</a:t>
            </a:r>
          </a:p>
        </p:txBody>
      </p:sp>
      <p:pic>
        <p:nvPicPr>
          <p:cNvPr id="1026" name="Picture 2" descr="Demo - Applied Post">
            <a:extLst>
              <a:ext uri="{FF2B5EF4-FFF2-40B4-BE49-F238E27FC236}">
                <a16:creationId xmlns:a16="http://schemas.microsoft.com/office/drawing/2014/main" id="{19C11DEA-9AEF-E535-1DCA-25F98AC40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151" y="900504"/>
            <a:ext cx="9626630" cy="548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02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329" y="3053050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0621E4-74F4-FAC7-0E0A-2A8DDEB96310}"/>
              </a:ext>
            </a:extLst>
          </p:cNvPr>
          <p:cNvSpPr txBox="1"/>
          <p:nvPr/>
        </p:nvSpPr>
        <p:spPr>
          <a:xfrm>
            <a:off x="7332875" y="5448211"/>
            <a:ext cx="3062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uitkomsten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regressiemodellen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interpreteren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1588108" y="2813680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supervised &amp; unsupervised Machine Learning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7CAAFDE4-0C43-6A31-5BEA-5A7B81EF0A7F}"/>
              </a:ext>
            </a:extLst>
          </p:cNvPr>
          <p:cNvSpPr txBox="1"/>
          <p:nvPr/>
        </p:nvSpPr>
        <p:spPr>
          <a:xfrm>
            <a:off x="1588109" y="4118947"/>
            <a:ext cx="3335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supervised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wanneer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gebruikt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4829D23-8DDF-78CB-8E82-6543A045E278}"/>
              </a:ext>
            </a:extLst>
          </p:cNvPr>
          <p:cNvSpPr txBox="1"/>
          <p:nvPr/>
        </p:nvSpPr>
        <p:spPr>
          <a:xfrm>
            <a:off x="8296482" y="3429000"/>
            <a:ext cx="2904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Supervised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regressiemodellen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train-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testbaar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D45E8F2A-7908-3223-8685-00434AE8F1EB}"/>
              </a:ext>
            </a:extLst>
          </p:cNvPr>
          <p:cNvSpPr txBox="1"/>
          <p:nvPr/>
        </p:nvSpPr>
        <p:spPr>
          <a:xfrm>
            <a:off x="2472537" y="152451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Machine Lea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traditionele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AI”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AA48B3D-AF62-AAE5-5125-C485F4535EC3}"/>
              </a:ext>
            </a:extLst>
          </p:cNvPr>
          <p:cNvSpPr txBox="1"/>
          <p:nvPr/>
        </p:nvSpPr>
        <p:spPr>
          <a:xfrm>
            <a:off x="7332875" y="1614983"/>
            <a:ext cx="3062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Datasets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prepareren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toepassen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Machine-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Learningmodellen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67CDB-4E2E-FB88-152A-27F8BE4A6CB1}"/>
              </a:ext>
            </a:extLst>
          </p:cNvPr>
          <p:cNvSpPr txBox="1"/>
          <p:nvPr/>
        </p:nvSpPr>
        <p:spPr>
          <a:xfrm>
            <a:off x="3033506" y="5509066"/>
            <a:ext cx="3062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Hoe het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lineaire-regressiealgoritme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werkt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33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Props1.xml><?xml version="1.0" encoding="utf-8"?>
<ds:datastoreItem xmlns:ds="http://schemas.openxmlformats.org/officeDocument/2006/customXml" ds:itemID="{986BC38E-BBBF-4CC9-84F0-6834CFC6EA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B2502E-B601-4830-AD85-AC6C7AE32A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404759-93F7-4AF1-A261-76AFD7CC837B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d11bdb94-d558-4ffe-a4b0-092cbde21480"/>
    <ds:schemaRef ds:uri="597a471e-0b75-4fc5-bc4a-75c43d0a6ad2"/>
    <ds:schemaRef ds:uri="32f5a426-4411-422f-b9c8-9b9c919dd02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1921</Words>
  <Application>Microsoft Office PowerPoint</Application>
  <PresentationFormat>Widescreen</PresentationFormat>
  <Paragraphs>261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Cascadia Code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Jelle van Barneveld</dc:creator>
  <cp:lastModifiedBy>Jelle van Barneveld</cp:lastModifiedBy>
  <cp:revision>3</cp:revision>
  <dcterms:created xsi:type="dcterms:W3CDTF">2024-03-19T14:51:52Z</dcterms:created>
  <dcterms:modified xsi:type="dcterms:W3CDTF">2026-03-22T16:33:31Z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