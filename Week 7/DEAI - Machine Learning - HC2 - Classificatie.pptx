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7" r:id="rId5"/>
    <p:sldId id="258" r:id="rId6"/>
    <p:sldId id="308" r:id="rId7"/>
    <p:sldId id="310" r:id="rId8"/>
    <p:sldId id="313" r:id="rId9"/>
    <p:sldId id="312" r:id="rId10"/>
    <p:sldId id="318" r:id="rId11"/>
    <p:sldId id="314" r:id="rId12"/>
    <p:sldId id="315" r:id="rId13"/>
    <p:sldId id="316" r:id="rId14"/>
    <p:sldId id="317" r:id="rId15"/>
    <p:sldId id="271" r:id="rId16"/>
    <p:sldId id="282" r:id="rId17"/>
    <p:sldId id="325" r:id="rId18"/>
    <p:sldId id="321" r:id="rId19"/>
    <p:sldId id="324" r:id="rId20"/>
    <p:sldId id="306" r:id="rId21"/>
    <p:sldId id="322" r:id="rId22"/>
    <p:sldId id="327" r:id="rId23"/>
    <p:sldId id="320" r:id="rId24"/>
    <p:sldId id="326" r:id="rId2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562BA4-41F4-C5E2-5A23-7E8C01CED8B4}" name="Jelle Krupe" initials="JK" userId="S::jkrupe@hhs.nl::3b0191f4-7327-4a02-a000-366715ccc7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33" autoAdjust="0"/>
  </p:normalViewPr>
  <p:slideViewPr>
    <p:cSldViewPr snapToGrid="0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lle van Barneveld" userId="bc7ecfdf-3719-43bf-9ebf-4e7030cd4705" providerId="ADAL" clId="{8FBCD94A-1B0B-4C78-B10A-8D7F43414B78}"/>
    <pc:docChg chg="undo redo custSel addSld delSld modSld sldOrd">
      <pc:chgData name="Jelle van Barneveld" userId="bc7ecfdf-3719-43bf-9ebf-4e7030cd4705" providerId="ADAL" clId="{8FBCD94A-1B0B-4C78-B10A-8D7F43414B78}" dt="2026-03-29T15:00:13.249" v="11667" actId="14100"/>
      <pc:docMkLst>
        <pc:docMk/>
      </pc:docMkLst>
      <pc:sldChg chg="modSp mod">
        <pc:chgData name="Jelle van Barneveld" userId="bc7ecfdf-3719-43bf-9ebf-4e7030cd4705" providerId="ADAL" clId="{8FBCD94A-1B0B-4C78-B10A-8D7F43414B78}" dt="2026-03-06T10:37:18.039" v="11592" actId="14100"/>
        <pc:sldMkLst>
          <pc:docMk/>
          <pc:sldMk cId="1171355929" sldId="271"/>
        </pc:sldMkLst>
        <pc:spChg chg="mod">
          <ac:chgData name="Jelle van Barneveld" userId="bc7ecfdf-3719-43bf-9ebf-4e7030cd4705" providerId="ADAL" clId="{8FBCD94A-1B0B-4C78-B10A-8D7F43414B78}" dt="2026-03-06T10:37:07.949" v="11590" actId="14100"/>
          <ac:spMkLst>
            <pc:docMk/>
            <pc:sldMk cId="1171355929" sldId="271"/>
            <ac:spMk id="4" creationId="{648B8451-036F-1433-93BE-6DDAB09964C8}"/>
          </ac:spMkLst>
        </pc:spChg>
        <pc:spChg chg="mod">
          <ac:chgData name="Jelle van Barneveld" userId="bc7ecfdf-3719-43bf-9ebf-4e7030cd4705" providerId="ADAL" clId="{8FBCD94A-1B0B-4C78-B10A-8D7F43414B78}" dt="2026-03-06T10:37:11.929" v="11591" actId="14100"/>
          <ac:spMkLst>
            <pc:docMk/>
            <pc:sldMk cId="1171355929" sldId="271"/>
            <ac:spMk id="11" creationId="{0B4FCBDB-369F-7B2B-7206-A4D11FB554EB}"/>
          </ac:spMkLst>
        </pc:spChg>
        <pc:spChg chg="mod">
          <ac:chgData name="Jelle van Barneveld" userId="bc7ecfdf-3719-43bf-9ebf-4e7030cd4705" providerId="ADAL" clId="{8FBCD94A-1B0B-4C78-B10A-8D7F43414B78}" dt="2026-03-06T10:37:18.039" v="11592" actId="14100"/>
          <ac:spMkLst>
            <pc:docMk/>
            <pc:sldMk cId="1171355929" sldId="271"/>
            <ac:spMk id="12" creationId="{A7E7BA95-D7A7-61CA-F1EB-DD574CB0CA73}"/>
          </ac:spMkLst>
        </pc:spChg>
        <pc:spChg chg="mod">
          <ac:chgData name="Jelle van Barneveld" userId="bc7ecfdf-3719-43bf-9ebf-4e7030cd4705" providerId="ADAL" clId="{8FBCD94A-1B0B-4C78-B10A-8D7F43414B78}" dt="2026-03-06T10:35:44.369" v="11586" actId="1076"/>
          <ac:spMkLst>
            <pc:docMk/>
            <pc:sldMk cId="1171355929" sldId="271"/>
            <ac:spMk id="15" creationId="{19B96C4F-F538-FCFF-CB8F-ADF8DB1F44C9}"/>
          </ac:spMkLst>
        </pc:spChg>
        <pc:spChg chg="mod">
          <ac:chgData name="Jelle van Barneveld" userId="bc7ecfdf-3719-43bf-9ebf-4e7030cd4705" providerId="ADAL" clId="{8FBCD94A-1B0B-4C78-B10A-8D7F43414B78}" dt="2026-03-06T10:35:49.666" v="11587" actId="1076"/>
          <ac:spMkLst>
            <pc:docMk/>
            <pc:sldMk cId="1171355929" sldId="271"/>
            <ac:spMk id="16" creationId="{E5436B5D-8CAD-BA91-E0F5-9A00E8E5E0FF}"/>
          </ac:spMkLst>
        </pc:spChg>
        <pc:spChg chg="mod">
          <ac:chgData name="Jelle van Barneveld" userId="bc7ecfdf-3719-43bf-9ebf-4e7030cd4705" providerId="ADAL" clId="{8FBCD94A-1B0B-4C78-B10A-8D7F43414B78}" dt="2026-03-06T10:34:24.653" v="11570" actId="20577"/>
          <ac:spMkLst>
            <pc:docMk/>
            <pc:sldMk cId="1171355929" sldId="271"/>
            <ac:spMk id="18" creationId="{4DE6D2D6-011D-0EEA-9175-515DC2A8A12C}"/>
          </ac:spMkLst>
        </pc:spChg>
        <pc:spChg chg="mod">
          <ac:chgData name="Jelle van Barneveld" userId="bc7ecfdf-3719-43bf-9ebf-4e7030cd4705" providerId="ADAL" clId="{8FBCD94A-1B0B-4C78-B10A-8D7F43414B78}" dt="2026-03-06T10:33:19.889" v="11535" actId="1076"/>
          <ac:spMkLst>
            <pc:docMk/>
            <pc:sldMk cId="1171355929" sldId="271"/>
            <ac:spMk id="19" creationId="{CE79E3B2-CB4B-EDAC-6A7B-588E4B0D553F}"/>
          </ac:spMkLst>
        </pc:spChg>
        <pc:spChg chg="mod">
          <ac:chgData name="Jelle van Barneveld" userId="bc7ecfdf-3719-43bf-9ebf-4e7030cd4705" providerId="ADAL" clId="{8FBCD94A-1B0B-4C78-B10A-8D7F43414B78}" dt="2026-03-06T10:33:45.902" v="11544" actId="20577"/>
          <ac:spMkLst>
            <pc:docMk/>
            <pc:sldMk cId="1171355929" sldId="271"/>
            <ac:spMk id="27" creationId="{AA2BA045-8B04-6A83-F966-2BA7FE05CB93}"/>
          </ac:spMkLst>
        </pc:spChg>
      </pc:sldChg>
      <pc:sldChg chg="addSp delSp modSp mod delAnim modAnim">
        <pc:chgData name="Jelle van Barneveld" userId="bc7ecfdf-3719-43bf-9ebf-4e7030cd4705" providerId="ADAL" clId="{8FBCD94A-1B0B-4C78-B10A-8D7F43414B78}" dt="2026-03-22T13:38:39.706" v="11636" actId="20577"/>
        <pc:sldMkLst>
          <pc:docMk/>
          <pc:sldMk cId="1393805958" sldId="282"/>
        </pc:sldMkLst>
        <pc:spChg chg="mod">
          <ac:chgData name="Jelle van Barneveld" userId="bc7ecfdf-3719-43bf-9ebf-4e7030cd4705" providerId="ADAL" clId="{8FBCD94A-1B0B-4C78-B10A-8D7F43414B78}" dt="2026-03-22T13:38:39.706" v="11636" actId="20577"/>
          <ac:spMkLst>
            <pc:docMk/>
            <pc:sldMk cId="1393805958" sldId="282"/>
            <ac:spMk id="2" creationId="{042711C9-B8C6-980A-6A8E-B70FC6573C7F}"/>
          </ac:spMkLst>
        </pc:spChg>
      </pc:sldChg>
      <pc:sldChg chg="modSp mod modNotesTx">
        <pc:chgData name="Jelle van Barneveld" userId="bc7ecfdf-3719-43bf-9ebf-4e7030cd4705" providerId="ADAL" clId="{8FBCD94A-1B0B-4C78-B10A-8D7F43414B78}" dt="2026-03-15T12:18:40.607" v="11608" actId="1076"/>
        <pc:sldMkLst>
          <pc:docMk/>
          <pc:sldMk cId="1590219975" sldId="306"/>
        </pc:sldMkLst>
        <pc:spChg chg="mod">
          <ac:chgData name="Jelle van Barneveld" userId="bc7ecfdf-3719-43bf-9ebf-4e7030cd4705" providerId="ADAL" clId="{8FBCD94A-1B0B-4C78-B10A-8D7F43414B78}" dt="2026-03-15T12:18:40.607" v="11608" actId="1076"/>
          <ac:spMkLst>
            <pc:docMk/>
            <pc:sldMk cId="1590219975" sldId="306"/>
            <ac:spMk id="9" creationId="{CD2DA21F-4971-3466-9F84-DFB7A7C18F65}"/>
          </ac:spMkLst>
        </pc:spChg>
      </pc:sldChg>
      <pc:sldChg chg="addSp delSp modSp mod delAnim modAnim">
        <pc:chgData name="Jelle van Barneveld" userId="bc7ecfdf-3719-43bf-9ebf-4e7030cd4705" providerId="ADAL" clId="{8FBCD94A-1B0B-4C78-B10A-8D7F43414B78}" dt="2026-03-27T16:27:16.316" v="11642" actId="20577"/>
        <pc:sldMkLst>
          <pc:docMk/>
          <pc:sldMk cId="1764428542" sldId="308"/>
        </pc:sldMkLst>
        <pc:spChg chg="mod">
          <ac:chgData name="Jelle van Barneveld" userId="bc7ecfdf-3719-43bf-9ebf-4e7030cd4705" providerId="ADAL" clId="{8FBCD94A-1B0B-4C78-B10A-8D7F43414B78}" dt="2026-03-27T16:27:16.316" v="11642" actId="20577"/>
          <ac:spMkLst>
            <pc:docMk/>
            <pc:sldMk cId="1764428542" sldId="308"/>
            <ac:spMk id="37" creationId="{0EB88838-C2CB-5B85-E19B-CD4CA21649A6}"/>
          </ac:spMkLst>
        </pc:spChg>
      </pc:sldChg>
      <pc:sldChg chg="addSp delSp modSp add mod addAnim delAnim modAnim">
        <pc:chgData name="Jelle van Barneveld" userId="bc7ecfdf-3719-43bf-9ebf-4e7030cd4705" providerId="ADAL" clId="{8FBCD94A-1B0B-4C78-B10A-8D7F43414B78}" dt="2026-03-02T11:09:07.990" v="10179" actId="20577"/>
        <pc:sldMkLst>
          <pc:docMk/>
          <pc:sldMk cId="2974288599" sldId="315"/>
        </pc:sldMkLst>
        <pc:spChg chg="mod">
          <ac:chgData name="Jelle van Barneveld" userId="bc7ecfdf-3719-43bf-9ebf-4e7030cd4705" providerId="ADAL" clId="{8FBCD94A-1B0B-4C78-B10A-8D7F43414B78}" dt="2026-03-02T11:09:07.990" v="10179" actId="20577"/>
          <ac:spMkLst>
            <pc:docMk/>
            <pc:sldMk cId="2974288599" sldId="315"/>
            <ac:spMk id="23" creationId="{7B19C881-D042-1151-98D9-FB2708A5C4F5}"/>
          </ac:spMkLst>
        </pc:spChg>
      </pc:sldChg>
      <pc:sldChg chg="addSp delSp modSp add mod addAnim delAnim modAnim">
        <pc:chgData name="Jelle van Barneveld" userId="bc7ecfdf-3719-43bf-9ebf-4e7030cd4705" providerId="ADAL" clId="{8FBCD94A-1B0B-4C78-B10A-8D7F43414B78}" dt="2026-03-02T11:09:16.945" v="10196" actId="20577"/>
        <pc:sldMkLst>
          <pc:docMk/>
          <pc:sldMk cId="566535489" sldId="316"/>
        </pc:sldMkLst>
        <pc:spChg chg="mod">
          <ac:chgData name="Jelle van Barneveld" userId="bc7ecfdf-3719-43bf-9ebf-4e7030cd4705" providerId="ADAL" clId="{8FBCD94A-1B0B-4C78-B10A-8D7F43414B78}" dt="2026-03-02T11:09:16.945" v="10196" actId="20577"/>
          <ac:spMkLst>
            <pc:docMk/>
            <pc:sldMk cId="566535489" sldId="316"/>
            <ac:spMk id="23" creationId="{24ED3BE0-1977-AE46-37A8-A61EC3B5D419}"/>
          </ac:spMkLst>
        </pc:spChg>
      </pc:sldChg>
      <pc:sldChg chg="modSp mod">
        <pc:chgData name="Jelle van Barneveld" userId="bc7ecfdf-3719-43bf-9ebf-4e7030cd4705" providerId="ADAL" clId="{8FBCD94A-1B0B-4C78-B10A-8D7F43414B78}" dt="2026-03-29T14:55:12.241" v="11665" actId="14100"/>
        <pc:sldMkLst>
          <pc:docMk/>
          <pc:sldMk cId="1899729551" sldId="317"/>
        </pc:sldMkLst>
        <pc:spChg chg="mod">
          <ac:chgData name="Jelle van Barneveld" userId="bc7ecfdf-3719-43bf-9ebf-4e7030cd4705" providerId="ADAL" clId="{8FBCD94A-1B0B-4C78-B10A-8D7F43414B78}" dt="2026-03-29T14:55:12.241" v="11665" actId="14100"/>
          <ac:spMkLst>
            <pc:docMk/>
            <pc:sldMk cId="1899729551" sldId="317"/>
            <ac:spMk id="32" creationId="{AAACAA08-D4CD-9279-8588-FFF291FA07A5}"/>
          </ac:spMkLst>
        </pc:spChg>
      </pc:sldChg>
      <pc:sldChg chg="addSp delSp modSp add mod ord addAnim delAnim modAnim">
        <pc:chgData name="Jelle van Barneveld" userId="bc7ecfdf-3719-43bf-9ebf-4e7030cd4705" providerId="ADAL" clId="{8FBCD94A-1B0B-4C78-B10A-8D7F43414B78}" dt="2026-03-27T16:31:04.275" v="11649" actId="20577"/>
        <pc:sldMkLst>
          <pc:docMk/>
          <pc:sldMk cId="634077954" sldId="318"/>
        </pc:sldMkLst>
        <pc:spChg chg="mod">
          <ac:chgData name="Jelle van Barneveld" userId="bc7ecfdf-3719-43bf-9ebf-4e7030cd4705" providerId="ADAL" clId="{8FBCD94A-1B0B-4C78-B10A-8D7F43414B78}" dt="2026-03-15T12:08:49.241" v="11595" actId="1036"/>
          <ac:spMkLst>
            <pc:docMk/>
            <pc:sldMk cId="634077954" sldId="318"/>
            <ac:spMk id="7" creationId="{3F486067-E434-B5B7-511D-BF6B43E35E83}"/>
          </ac:spMkLst>
        </pc:spChg>
        <pc:spChg chg="mod">
          <ac:chgData name="Jelle van Barneveld" userId="bc7ecfdf-3719-43bf-9ebf-4e7030cd4705" providerId="ADAL" clId="{8FBCD94A-1B0B-4C78-B10A-8D7F43414B78}" dt="2026-03-27T16:31:04.275" v="11649" actId="20577"/>
          <ac:spMkLst>
            <pc:docMk/>
            <pc:sldMk cId="634077954" sldId="318"/>
            <ac:spMk id="23" creationId="{D9A5E542-6EB7-69C5-1A5A-A83CA48DAD05}"/>
          </ac:spMkLst>
        </pc:spChg>
        <pc:picChg chg="mod">
          <ac:chgData name="Jelle van Barneveld" userId="bc7ecfdf-3719-43bf-9ebf-4e7030cd4705" providerId="ADAL" clId="{8FBCD94A-1B0B-4C78-B10A-8D7F43414B78}" dt="2026-03-15T11:55:56.516" v="11593" actId="1035"/>
          <ac:picMkLst>
            <pc:docMk/>
            <pc:sldMk cId="634077954" sldId="318"/>
            <ac:picMk id="11" creationId="{87515857-FA47-248F-136C-99436C154EAE}"/>
          </ac:picMkLst>
        </pc:picChg>
      </pc:sldChg>
      <pc:sldChg chg="modSp mod modAnim">
        <pc:chgData name="Jelle van Barneveld" userId="bc7ecfdf-3719-43bf-9ebf-4e7030cd4705" providerId="ADAL" clId="{8FBCD94A-1B0B-4C78-B10A-8D7F43414B78}" dt="2026-03-15T12:17:50.006" v="11598" actId="20577"/>
        <pc:sldMkLst>
          <pc:docMk/>
          <pc:sldMk cId="2706777671" sldId="321"/>
        </pc:sldMkLst>
        <pc:spChg chg="mod">
          <ac:chgData name="Jelle van Barneveld" userId="bc7ecfdf-3719-43bf-9ebf-4e7030cd4705" providerId="ADAL" clId="{8FBCD94A-1B0B-4C78-B10A-8D7F43414B78}" dt="2026-03-15T12:17:50.006" v="11598" actId="20577"/>
          <ac:spMkLst>
            <pc:docMk/>
            <pc:sldMk cId="2706777671" sldId="321"/>
            <ac:spMk id="4" creationId="{4EB8BB08-6CA7-0007-A3F7-2130F3987806}"/>
          </ac:spMkLst>
        </pc:spChg>
        <pc:spChg chg="mod">
          <ac:chgData name="Jelle van Barneveld" userId="bc7ecfdf-3719-43bf-9ebf-4e7030cd4705" providerId="ADAL" clId="{8FBCD94A-1B0B-4C78-B10A-8D7F43414B78}" dt="2026-03-15T12:17:45.745" v="11597" actId="1076"/>
          <ac:spMkLst>
            <pc:docMk/>
            <pc:sldMk cId="2706777671" sldId="321"/>
            <ac:spMk id="25" creationId="{34F64149-45AF-9769-1CBE-AC614AD9EC28}"/>
          </ac:spMkLst>
        </pc:spChg>
      </pc:sldChg>
      <pc:sldChg chg="modSp modNotesTx">
        <pc:chgData name="Jelle van Barneveld" userId="bc7ecfdf-3719-43bf-9ebf-4e7030cd4705" providerId="ADAL" clId="{8FBCD94A-1B0B-4C78-B10A-8D7F43414B78}" dt="2026-03-15T12:18:49.848" v="11610" actId="20577"/>
        <pc:sldMkLst>
          <pc:docMk/>
          <pc:sldMk cId="2557247803" sldId="322"/>
        </pc:sldMkLst>
        <pc:spChg chg="mod">
          <ac:chgData name="Jelle van Barneveld" userId="bc7ecfdf-3719-43bf-9ebf-4e7030cd4705" providerId="ADAL" clId="{8FBCD94A-1B0B-4C78-B10A-8D7F43414B78}" dt="2026-03-15T12:18:49.848" v="11610" actId="20577"/>
          <ac:spMkLst>
            <pc:docMk/>
            <pc:sldMk cId="2557247803" sldId="322"/>
            <ac:spMk id="9" creationId="{49C6102A-DD79-CA54-B94C-8A4EDFF028DC}"/>
          </ac:spMkLst>
        </pc:spChg>
      </pc:sldChg>
      <pc:sldChg chg="modNotesTx">
        <pc:chgData name="Jelle van Barneveld" userId="bc7ecfdf-3719-43bf-9ebf-4e7030cd4705" providerId="ADAL" clId="{8FBCD94A-1B0B-4C78-B10A-8D7F43414B78}" dt="2026-03-15T12:25:33.241" v="11618" actId="20577"/>
        <pc:sldMkLst>
          <pc:docMk/>
          <pc:sldMk cId="2263272000" sldId="326"/>
        </pc:sldMkLst>
      </pc:sldChg>
      <pc:sldChg chg="addSp delSp modSp add mod ord delAnim modAnim modNotesTx">
        <pc:chgData name="Jelle van Barneveld" userId="bc7ecfdf-3719-43bf-9ebf-4e7030cd4705" providerId="ADAL" clId="{8FBCD94A-1B0B-4C78-B10A-8D7F43414B78}" dt="2026-03-29T15:00:13.249" v="11667" actId="14100"/>
        <pc:sldMkLst>
          <pc:docMk/>
          <pc:sldMk cId="3499786105" sldId="327"/>
        </pc:sldMkLst>
        <pc:spChg chg="mod">
          <ac:chgData name="Jelle van Barneveld" userId="bc7ecfdf-3719-43bf-9ebf-4e7030cd4705" providerId="ADAL" clId="{8FBCD94A-1B0B-4C78-B10A-8D7F43414B78}" dt="2026-03-02T12:12:10.896" v="10232" actId="20577"/>
          <ac:spMkLst>
            <pc:docMk/>
            <pc:sldMk cId="3499786105" sldId="327"/>
            <ac:spMk id="2" creationId="{1CE4D218-DF2C-EB68-D8D5-92154D703FEB}"/>
          </ac:spMkLst>
        </pc:spChg>
        <pc:spChg chg="add mod">
          <ac:chgData name="Jelle van Barneveld" userId="bc7ecfdf-3719-43bf-9ebf-4e7030cd4705" providerId="ADAL" clId="{8FBCD94A-1B0B-4C78-B10A-8D7F43414B78}" dt="2026-03-15T12:18:01.228" v="11600" actId="20577"/>
          <ac:spMkLst>
            <pc:docMk/>
            <pc:sldMk cId="3499786105" sldId="327"/>
            <ac:spMk id="5" creationId="{4E736D9A-0F02-8D3B-01C6-A2B3134E62B9}"/>
          </ac:spMkLst>
        </pc:spChg>
        <pc:spChg chg="add mod">
          <ac:chgData name="Jelle van Barneveld" userId="bc7ecfdf-3719-43bf-9ebf-4e7030cd4705" providerId="ADAL" clId="{8FBCD94A-1B0B-4C78-B10A-8D7F43414B78}" dt="2026-03-29T15:00:13.249" v="11667" actId="14100"/>
          <ac:spMkLst>
            <pc:docMk/>
            <pc:sldMk cId="3499786105" sldId="327"/>
            <ac:spMk id="6" creationId="{B5411E67-8A19-7808-E76A-760A0E986192}"/>
          </ac:spMkLst>
        </pc:spChg>
        <pc:spChg chg="add mod">
          <ac:chgData name="Jelle van Barneveld" userId="bc7ecfdf-3719-43bf-9ebf-4e7030cd4705" providerId="ADAL" clId="{8FBCD94A-1B0B-4C78-B10A-8D7F43414B78}" dt="2026-03-02T12:19:28.972" v="10583" actId="20577"/>
          <ac:spMkLst>
            <pc:docMk/>
            <pc:sldMk cId="3499786105" sldId="327"/>
            <ac:spMk id="11" creationId="{9E358CAF-DFE1-A3B9-E445-370A9FCC81DD}"/>
          </ac:spMkLst>
        </pc:spChg>
        <pc:spChg chg="add mod">
          <ac:chgData name="Jelle van Barneveld" userId="bc7ecfdf-3719-43bf-9ebf-4e7030cd4705" providerId="ADAL" clId="{8FBCD94A-1B0B-4C78-B10A-8D7F43414B78}" dt="2026-03-02T12:20:09.561" v="10642" actId="20577"/>
          <ac:spMkLst>
            <pc:docMk/>
            <pc:sldMk cId="3499786105" sldId="327"/>
            <ac:spMk id="13" creationId="{A9CCF05D-660D-7D71-2FE3-3780156C745B}"/>
          </ac:spMkLst>
        </pc:spChg>
        <pc:spChg chg="add mod">
          <ac:chgData name="Jelle van Barneveld" userId="bc7ecfdf-3719-43bf-9ebf-4e7030cd4705" providerId="ADAL" clId="{8FBCD94A-1B0B-4C78-B10A-8D7F43414B78}" dt="2026-03-15T12:18:04.332" v="11602" actId="20577"/>
          <ac:spMkLst>
            <pc:docMk/>
            <pc:sldMk cId="3499786105" sldId="327"/>
            <ac:spMk id="14" creationId="{CF96D2A4-A170-DE9F-B19E-9BC0A54B85B6}"/>
          </ac:spMkLst>
        </pc:spChg>
        <pc:spChg chg="mod">
          <ac:chgData name="Jelle van Barneveld" userId="bc7ecfdf-3719-43bf-9ebf-4e7030cd4705" providerId="ADAL" clId="{8FBCD94A-1B0B-4C78-B10A-8D7F43414B78}" dt="2026-03-02T12:18:07.001" v="10554" actId="14100"/>
          <ac:spMkLst>
            <pc:docMk/>
            <pc:sldMk cId="3499786105" sldId="327"/>
            <ac:spMk id="30" creationId="{94E79190-213C-CE40-6FCD-A3B71AAD0EC4}"/>
          </ac:spMkLst>
        </pc:spChg>
        <pc:graphicFrameChg chg="add mod modGraphic">
          <ac:chgData name="Jelle van Barneveld" userId="bc7ecfdf-3719-43bf-9ebf-4e7030cd4705" providerId="ADAL" clId="{8FBCD94A-1B0B-4C78-B10A-8D7F43414B78}" dt="2026-03-02T12:20:25.716" v="10643" actId="122"/>
          <ac:graphicFrameMkLst>
            <pc:docMk/>
            <pc:sldMk cId="3499786105" sldId="327"/>
            <ac:graphicFrameMk id="8" creationId="{61CC98FA-7A24-87F0-856B-8FD1891ED0E0}"/>
          </ac:graphicFrameMkLst>
        </pc:graphicFrameChg>
        <pc:graphicFrameChg chg="add mod modGraphic">
          <ac:chgData name="Jelle van Barneveld" userId="bc7ecfdf-3719-43bf-9ebf-4e7030cd4705" providerId="ADAL" clId="{8FBCD94A-1B0B-4C78-B10A-8D7F43414B78}" dt="2026-03-02T12:19:57.647" v="10614" actId="20577"/>
          <ac:graphicFrameMkLst>
            <pc:docMk/>
            <pc:sldMk cId="3499786105" sldId="327"/>
            <ac:graphicFrameMk id="10" creationId="{4EF52FB6-ABBC-F98C-D6B2-249B36386669}"/>
          </ac:graphicFrameMkLst>
        </pc:graphicFrameChg>
        <pc:cxnChg chg="mod">
          <ac:chgData name="Jelle van Barneveld" userId="bc7ecfdf-3719-43bf-9ebf-4e7030cd4705" providerId="ADAL" clId="{8FBCD94A-1B0B-4C78-B10A-8D7F43414B78}" dt="2026-03-02T12:18:04.296" v="10553" actId="1076"/>
          <ac:cxnSpMkLst>
            <pc:docMk/>
            <pc:sldMk cId="3499786105" sldId="327"/>
            <ac:cxnSpMk id="17" creationId="{5206AF01-2E54-36C0-F0FB-9EF868CA288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23FC4-F631-4DAB-8B2D-96625DC5F7B9}" type="datetimeFigureOut">
              <a:rPr lang="nl-NL" smtClean="0"/>
              <a:t>29-3-2026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20DF8-DBF9-4B49-8A07-66DCB2DF97D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6526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  <a:cs typeface="+mn-cs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694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6F008-8B7D-B348-E5C3-E57507E5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8E24945-2400-E52C-2E88-2FF1E9842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05328CD-625C-9596-87AA-EDE4C7F10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1CFD0EF-6C95-AACD-F80D-12D1847C3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832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ECE80-AD58-95D0-A641-9D15B65D8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494BD6B-AF81-2B37-2709-E14B435B5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2B58A75-22BE-D5D8-188D-A6793A36D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1A723FC-7B59-3CFD-C427-A5B0035C9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614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8DDD3-8DC5-8656-EDB5-FCB87AA7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3D2FD54-AB17-08DC-321A-7E139C286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416E297-759D-162D-C636-62E786EDD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982355E-6DB6-77E9-DF8E-D9D86C70D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499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BB3F5-0426-F84D-8DDC-0F6759AE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4AF41E8-A7A9-CB13-205E-3928EAA89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B1D2043-E699-250D-8214-F9AB39411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D53DFF1-7309-CAAB-183F-78D4CEC02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463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3FB2-A1E1-710E-67AA-F89D52C7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77B1989-505A-7A05-F877-632D2A83E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59A2E76-C989-AE45-7DB2-1B8384A49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245D4EF-2FE2-01EB-0A80-054A30F0E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547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6A155-17E6-D98C-DBD5-DC176E14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C864B5E-DA8A-AEFE-612F-7901F5BEA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5C4D60B-9B79-982F-DF8E-7766512DC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69B07F1-7ED9-D143-47E4-880B53ED4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110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D268-C1C3-A432-F9D6-810E1144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A00B764-2D84-36CA-9A9B-55BC92DA8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3B57040-63E4-462C-2E08-CA4850501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C4E097E-E5EE-E276-27D1-C7C229494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536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57963-93EE-8AA1-3374-BDED4EE0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E5E1B1F-6FB9-12F0-7790-E040AF102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6890BC7-10D3-3C6C-8183-2903C1E4C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459ED86-5863-6D04-1BAC-3E324497F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151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Sturen op de juiste fitting: </a:t>
            </a:r>
            <a:r>
              <a:rPr lang="nl-NL" dirty="0" err="1"/>
              <a:t>zometeen</a:t>
            </a:r>
            <a:r>
              <a:rPr lang="nl-NL" dirty="0"/>
              <a:t> tijdens de Python-demonstratie zal er geëxperimenteerd worden met verschillende </a:t>
            </a:r>
            <a:r>
              <a:rPr lang="nl-NL" dirty="0" err="1"/>
              <a:t>max_depths</a:t>
            </a:r>
            <a:r>
              <a:rPr lang="nl-NL" dirty="0"/>
              <a:t>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20DF8-DBF9-4B49-8A07-66DCB2DF97DB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9549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9D32-A23B-D73F-ABA5-976AF3B0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881C1-5D7D-49A2-A686-92916F4E5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E6D27-E2DD-A3A0-E62C-E42700FFA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>
              <a:latin typeface="Arial"/>
              <a:ea typeface="MS PGothic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60258-460A-B072-C66A-77D1FBCD4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20DF8-DBF9-4B49-8A07-66DCB2DF97DB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4330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B401E-78D1-EB25-A161-5AC3ADD7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1D37DEB-5F8F-9ED0-1EB5-E31C9042E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54B0DB4-6E88-30F2-ECC4-F2444C04B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Sturen op de juiste fitting: </a:t>
            </a:r>
            <a:r>
              <a:rPr lang="nl-NL" dirty="0" err="1"/>
              <a:t>zometeen</a:t>
            </a:r>
            <a:r>
              <a:rPr lang="nl-NL" dirty="0"/>
              <a:t> tijdens de Python-demonstratie zal er geëxperimenteerd worden met verschillende </a:t>
            </a:r>
            <a:r>
              <a:rPr lang="nl-NL" dirty="0" err="1"/>
              <a:t>max_depths</a:t>
            </a:r>
            <a:r>
              <a:rPr lang="nl-NL" dirty="0"/>
              <a:t>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8B5DB71-BC59-8158-A9CA-81B054113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20DF8-DBF9-4B49-8A07-66DCB2DF97DB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4722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Accuracy</a:t>
            </a:r>
            <a:r>
              <a:rPr lang="nl-NL" dirty="0"/>
              <a:t>: (900 + 40) / (900 + 40 + 50 + 10) = 94%</a:t>
            </a:r>
          </a:p>
          <a:p>
            <a:r>
              <a:rPr lang="nl-NL" dirty="0" err="1"/>
              <a:t>Recall</a:t>
            </a:r>
            <a:r>
              <a:rPr lang="nl-NL" dirty="0"/>
              <a:t>: 40 / (40 + 50) = ong. 44%</a:t>
            </a:r>
          </a:p>
          <a:p>
            <a:r>
              <a:rPr lang="nl-NL" dirty="0"/>
              <a:t>Precision: 40 / (40 + 10) = 80%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20DF8-DBF9-4B49-8A07-66DCB2DF97DB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3019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 de Nederlandse rechtsstaat is men onschuldig totdat het tegendeel is bewezen. Daarom zijn </a:t>
            </a:r>
            <a:r>
              <a:rPr lang="nl-NL" dirty="0" err="1"/>
              <a:t>False</a:t>
            </a:r>
            <a:r>
              <a:rPr lang="nl-NL" dirty="0"/>
              <a:t> </a:t>
            </a:r>
            <a:r>
              <a:rPr lang="nl-NL" dirty="0" err="1"/>
              <a:t>Positives</a:t>
            </a:r>
            <a:r>
              <a:rPr lang="nl-NL" dirty="0"/>
              <a:t> erger dan </a:t>
            </a:r>
            <a:r>
              <a:rPr lang="nl-NL" dirty="0" err="1"/>
              <a:t>False</a:t>
            </a:r>
            <a:r>
              <a:rPr lang="nl-NL" dirty="0"/>
              <a:t> </a:t>
            </a:r>
            <a:r>
              <a:rPr lang="nl-NL" dirty="0" err="1"/>
              <a:t>Negatives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Accuracy</a:t>
            </a:r>
            <a:r>
              <a:rPr lang="nl-NL" dirty="0"/>
              <a:t>: (900 + 40) / (900 + 40 + 50 + 10) = 94%</a:t>
            </a:r>
          </a:p>
          <a:p>
            <a:r>
              <a:rPr lang="nl-NL" dirty="0" err="1"/>
              <a:t>Recall</a:t>
            </a:r>
            <a:r>
              <a:rPr lang="nl-NL" dirty="0"/>
              <a:t>: 40 / (40 + 10) = 80%</a:t>
            </a:r>
          </a:p>
          <a:p>
            <a:r>
              <a:rPr lang="nl-NL" dirty="0"/>
              <a:t>Precision: 40 / (40 + 50) = ong. 44%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20DF8-DBF9-4B49-8A07-66DCB2DF97DB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4665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A59D-6BA2-56BA-5060-ECF13D89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5DAEDB5-4B95-C5ED-B0DE-C8D591D7E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7F37EC7-E013-0BAD-BA9C-968488761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2x2</a:t>
            </a:r>
          </a:p>
          <a:p>
            <a:pPr marL="171450" indent="-171450">
              <a:buFontTx/>
              <a:buChar char="-"/>
            </a:pPr>
            <a:r>
              <a:rPr lang="nl-NL" dirty="0" err="1"/>
              <a:t>Accuracy</a:t>
            </a:r>
            <a:r>
              <a:rPr lang="nl-NL" dirty="0"/>
              <a:t>: (900 + 40) / (900 + 40 + 50 + 10) = 94%</a:t>
            </a:r>
          </a:p>
          <a:p>
            <a:pPr marL="171450" indent="-171450">
              <a:buFontTx/>
              <a:buChar char="-"/>
            </a:pPr>
            <a:r>
              <a:rPr lang="nl-NL" dirty="0" err="1"/>
              <a:t>Recall</a:t>
            </a:r>
            <a:r>
              <a:rPr lang="nl-NL" dirty="0"/>
              <a:t>: 40 / (40 + 10) = 80%</a:t>
            </a:r>
          </a:p>
          <a:p>
            <a:pPr marL="171450" indent="-171450">
              <a:buFontTx/>
              <a:buChar char="-"/>
            </a:pPr>
            <a:r>
              <a:rPr lang="nl-NL" dirty="0"/>
              <a:t>Precision: 40 / (40 + 50) = ong. 44%</a:t>
            </a:r>
          </a:p>
          <a:p>
            <a:pPr marL="0" indent="0">
              <a:buFontTx/>
              <a:buNone/>
            </a:pPr>
            <a:endParaRPr lang="nl-NL" dirty="0"/>
          </a:p>
          <a:p>
            <a:pPr marL="0" indent="0">
              <a:buFontTx/>
              <a:buNone/>
            </a:pPr>
            <a:r>
              <a:rPr lang="nl-NL" b="1" dirty="0"/>
              <a:t>3x3</a:t>
            </a:r>
          </a:p>
          <a:p>
            <a:pPr marL="171450" indent="-171450">
              <a:buFontTx/>
              <a:buChar char="-"/>
            </a:pPr>
            <a:r>
              <a:rPr lang="nl-NL" b="0" dirty="0" err="1"/>
              <a:t>Accuracy</a:t>
            </a:r>
            <a:r>
              <a:rPr lang="nl-NL" b="0" dirty="0"/>
              <a:t>: (40 + 900 + 30) / (40 + 10 + 50 + 50 + 900 + 40 + 10 + 20 + 30) = ong. 84,35%</a:t>
            </a:r>
          </a:p>
          <a:p>
            <a:pPr marL="171450" indent="-171450">
              <a:buFontTx/>
              <a:buChar char="-"/>
            </a:pPr>
            <a:endParaRPr lang="nl-NL" b="0" dirty="0"/>
          </a:p>
          <a:p>
            <a:pPr marL="171450" indent="-171450">
              <a:buFontTx/>
              <a:buChar char="-"/>
            </a:pPr>
            <a:r>
              <a:rPr lang="nl-NL" b="0" dirty="0" err="1"/>
              <a:t>Recalls</a:t>
            </a:r>
            <a:r>
              <a:rPr lang="nl-NL" b="0" dirty="0"/>
              <a:t>: TP / (TP + FN)</a:t>
            </a:r>
          </a:p>
          <a:p>
            <a:pPr marL="628650" lvl="1" indent="-171450">
              <a:buFontTx/>
              <a:buChar char="-"/>
            </a:pPr>
            <a:r>
              <a:rPr lang="nl-NL" b="0" dirty="0"/>
              <a:t>Label 0: 40 / (40 + 10 + 50) = 40%</a:t>
            </a:r>
          </a:p>
          <a:p>
            <a:pPr marL="628650" lvl="1" indent="-171450">
              <a:buFontTx/>
              <a:buChar char="-"/>
            </a:pPr>
            <a:r>
              <a:rPr lang="nl-NL" b="0" dirty="0"/>
              <a:t>Label 1: 900 / (900 + 50 + 40) = ong. 90,91%</a:t>
            </a:r>
          </a:p>
          <a:p>
            <a:pPr marL="628650" lvl="1" indent="-171450">
              <a:buFontTx/>
              <a:buChar char="-"/>
            </a:pPr>
            <a:r>
              <a:rPr lang="nl-NL" b="0" dirty="0"/>
              <a:t>Label 2: 30 / (30 + 20 + 10) = 50%</a:t>
            </a:r>
          </a:p>
          <a:p>
            <a:pPr marL="457200" lvl="1" indent="0">
              <a:buFontTx/>
              <a:buNone/>
            </a:pPr>
            <a:endParaRPr lang="nl-NL" b="0" dirty="0"/>
          </a:p>
          <a:p>
            <a:pPr marL="171450" indent="-171450">
              <a:buFontTx/>
              <a:buChar char="-"/>
            </a:pPr>
            <a:r>
              <a:rPr lang="nl-NL" b="0" dirty="0"/>
              <a:t>Precision: TP / (TP + FP)</a:t>
            </a:r>
          </a:p>
          <a:p>
            <a:pPr marL="628650" lvl="1" indent="-171450">
              <a:buFontTx/>
              <a:buChar char="-"/>
            </a:pPr>
            <a:r>
              <a:rPr lang="nl-NL" b="0" dirty="0"/>
              <a:t>Label 0: 40 / (40 + 50 + 10) = 40%</a:t>
            </a:r>
          </a:p>
          <a:p>
            <a:pPr marL="628650" lvl="1" indent="-171450">
              <a:buFontTx/>
              <a:buChar char="-"/>
            </a:pPr>
            <a:r>
              <a:rPr lang="nl-NL" b="0" dirty="0"/>
              <a:t>Label 1: 900 / (900 + 10 + 20) = ong. 96,77%</a:t>
            </a:r>
          </a:p>
          <a:p>
            <a:pPr marL="628650" lvl="1" indent="-171450">
              <a:buFontTx/>
              <a:buChar char="-"/>
            </a:pPr>
            <a:r>
              <a:rPr lang="nl-NL" b="0" dirty="0"/>
              <a:t>Label 2: 30 / (50 + 40 + 30) = 25%</a:t>
            </a:r>
            <a:endParaRPr lang="en-US" b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50D1E09-ED02-264C-6440-99E4B53C0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20DF8-DBF9-4B49-8A07-66DCB2DF97DB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6199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20DF8-DBF9-4B49-8A07-66DCB2DF97DB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051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4399539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344174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513547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085619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12141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104731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1502700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249981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197504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820758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408583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94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741C2C7D-5B58-7FD3-1C6D-43EE748DDB9B}"/>
              </a:ext>
            </a:extLst>
          </p:cNvPr>
          <p:cNvSpPr txBox="1"/>
          <p:nvPr/>
        </p:nvSpPr>
        <p:spPr>
          <a:xfrm>
            <a:off x="1636295" y="71020"/>
            <a:ext cx="1039177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Classificatiemodellen in Machine Learning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pic>
        <p:nvPicPr>
          <p:cNvPr id="1026" name="Picture 2" descr="The cat decision-making tree : r/funny">
            <a:extLst>
              <a:ext uri="{FF2B5EF4-FFF2-40B4-BE49-F238E27FC236}">
                <a16:creationId xmlns:a16="http://schemas.microsoft.com/office/drawing/2014/main" id="{416871D4-CAEB-C865-1E00-1A80B8C69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714" y="948198"/>
            <a:ext cx="59055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80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" y="1052941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716" y="3005096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6">
            <a:extLst>
              <a:ext uri="{FF2B5EF4-FFF2-40B4-BE49-F238E27FC236}">
                <a16:creationId xmlns:a16="http://schemas.microsoft.com/office/drawing/2014/main" id="{AB055838-C7ED-88C2-08DF-B247E02AFBB8}"/>
              </a:ext>
            </a:extLst>
          </p:cNvPr>
          <p:cNvSpPr txBox="1"/>
          <p:nvPr/>
        </p:nvSpPr>
        <p:spPr>
          <a:xfrm>
            <a:off x="2150925" y="5161035"/>
            <a:ext cx="3407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confusion matrix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hoe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lezen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classificatie-modellen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AEA3AA8-35CC-2788-97C3-0F3FAA58E0AD}"/>
              </a:ext>
            </a:extLst>
          </p:cNvPr>
          <p:cNvSpPr txBox="1"/>
          <p:nvPr/>
        </p:nvSpPr>
        <p:spPr>
          <a:xfrm>
            <a:off x="7400454" y="1442185"/>
            <a:ext cx="2904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Supervised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train-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testbaar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8FC6919-E153-3B62-C7CD-0CCACCD750DD}"/>
              </a:ext>
            </a:extLst>
          </p:cNvPr>
          <p:cNvSpPr txBox="1"/>
          <p:nvPr/>
        </p:nvSpPr>
        <p:spPr>
          <a:xfrm>
            <a:off x="7170912" y="5167705"/>
            <a:ext cx="3363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uitkomsten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interpreteren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behulp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4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meetwaarden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84501AF7-FE9B-CDA4-083F-B4FA1944F5DC}"/>
              </a:ext>
            </a:extLst>
          </p:cNvPr>
          <p:cNvSpPr txBox="1"/>
          <p:nvPr/>
        </p:nvSpPr>
        <p:spPr>
          <a:xfrm>
            <a:off x="1469192" y="3785996"/>
            <a:ext cx="36403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under-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overfitting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hoe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herkennen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classificatiemodellen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EF014368-29D9-9ABA-96F7-E11B491C774A}"/>
              </a:ext>
            </a:extLst>
          </p:cNvPr>
          <p:cNvSpPr txBox="1"/>
          <p:nvPr/>
        </p:nvSpPr>
        <p:spPr>
          <a:xfrm>
            <a:off x="2888968" y="1394677"/>
            <a:ext cx="26690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gini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impurity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hoe DecisionTree-algoritmen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gebruiken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beslisbomen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trainen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kstvak 7">
            <a:extLst>
              <a:ext uri="{FF2B5EF4-FFF2-40B4-BE49-F238E27FC236}">
                <a16:creationId xmlns:a16="http://schemas.microsoft.com/office/drawing/2014/main" id="{C6F9469A-2594-ACB4-7194-A2C74C69926D}"/>
              </a:ext>
            </a:extLst>
          </p:cNvPr>
          <p:cNvSpPr txBox="1"/>
          <p:nvPr/>
        </p:nvSpPr>
        <p:spPr>
          <a:xfrm>
            <a:off x="7633792" y="2505670"/>
            <a:ext cx="3710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Verantwoorden hoe een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Tree is opgebouwd, o.a. d.m.v. het geven van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impurity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-berekeningen.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kstvak 7">
            <a:extLst>
              <a:ext uri="{FF2B5EF4-FFF2-40B4-BE49-F238E27FC236}">
                <a16:creationId xmlns:a16="http://schemas.microsoft.com/office/drawing/2014/main" id="{BCAB1CE0-B0AE-066E-4F70-5F709D149613}"/>
              </a:ext>
            </a:extLst>
          </p:cNvPr>
          <p:cNvSpPr txBox="1"/>
          <p:nvPr/>
        </p:nvSpPr>
        <p:spPr>
          <a:xfrm>
            <a:off x="7805738" y="3818244"/>
            <a:ext cx="3710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Reeds gemaakte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Trees lezen en verbetermogelijkheden bepalen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C07DA7FE-68AA-21AC-9B98-A53FEF62329F}"/>
              </a:ext>
            </a:extLst>
          </p:cNvPr>
          <p:cNvSpPr txBox="1"/>
          <p:nvPr/>
        </p:nvSpPr>
        <p:spPr>
          <a:xfrm>
            <a:off x="1435472" y="3047023"/>
            <a:ext cx="3640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onderdelen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Decision Trees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bestaan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8" grpId="0"/>
      <p:bldP spid="9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15B34B80-DB18-DC4B-F6B5-D806B4726EAF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F6C34FBA-6EA5-1D56-0B52-8B8F33FAFAC2}"/>
              </a:ext>
            </a:extLst>
          </p:cNvPr>
          <p:cNvSpPr txBox="1"/>
          <p:nvPr/>
        </p:nvSpPr>
        <p:spPr>
          <a:xfrm>
            <a:off x="988290" y="0"/>
            <a:ext cx="111860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gini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impurity met 2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mogelijke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targetwaarden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C1D5210D-462E-82CC-9734-357CB7943CFE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4207A012-B920-8C1F-8824-BEE21D8E6432}"/>
              </a:ext>
            </a:extLst>
          </p:cNvPr>
          <p:cNvSpPr txBox="1"/>
          <p:nvPr/>
        </p:nvSpPr>
        <p:spPr>
          <a:xfrm>
            <a:off x="988290" y="3995678"/>
            <a:ext cx="32458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kans dat iemand één rode beker pakt is</a:t>
            </a:r>
          </a:p>
          <a:p>
            <a:pPr algn="ctr"/>
            <a:r>
              <a:rPr lang="nl-NL" b="1" dirty="0"/>
              <a:t>(7/10)</a:t>
            </a:r>
            <a:r>
              <a:rPr lang="nl-NL" dirty="0"/>
              <a:t>.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 kans dat iemand twee rode bekers pakt is</a:t>
            </a:r>
          </a:p>
          <a:p>
            <a:pPr algn="ctr"/>
            <a:r>
              <a:rPr lang="nl-NL" b="1" dirty="0"/>
              <a:t>(7/10) x (7/10)</a:t>
            </a:r>
            <a:r>
              <a:rPr lang="nl-NL" dirty="0"/>
              <a:t>.</a:t>
            </a:r>
          </a:p>
          <a:p>
            <a:pPr algn="ctr"/>
            <a:r>
              <a:rPr lang="nl-NL" dirty="0"/>
              <a:t>Hierbij wordt ervan uitgegaan dat elke getrokken beker weer teruggaat in de “dataset”.</a:t>
            </a:r>
          </a:p>
        </p:txBody>
      </p:sp>
      <p:pic>
        <p:nvPicPr>
          <p:cNvPr id="25" name="Picture 24" descr="A group of red cups&#10;&#10;AI-generated content may be incorrect.">
            <a:extLst>
              <a:ext uri="{FF2B5EF4-FFF2-40B4-BE49-F238E27FC236}">
                <a16:creationId xmlns:a16="http://schemas.microsoft.com/office/drawing/2014/main" id="{5847513D-5E71-43B1-4DD1-9CD69D311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504" y="1535972"/>
            <a:ext cx="2475130" cy="1068214"/>
          </a:xfrm>
          <a:prstGeom prst="rect">
            <a:avLst/>
          </a:prstGeom>
        </p:spPr>
      </p:pic>
      <p:pic>
        <p:nvPicPr>
          <p:cNvPr id="31" name="Picture 30" descr="A close up of a cup&#10;&#10;AI-generated content may be incorrect.">
            <a:extLst>
              <a:ext uri="{FF2B5EF4-FFF2-40B4-BE49-F238E27FC236}">
                <a16:creationId xmlns:a16="http://schemas.microsoft.com/office/drawing/2014/main" id="{EEBEF772-F623-FBEA-5B87-D230A9D9C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634" y="1535972"/>
            <a:ext cx="1654430" cy="1107295"/>
          </a:xfrm>
          <a:prstGeom prst="rect">
            <a:avLst/>
          </a:prstGeom>
        </p:spPr>
      </p:pic>
      <p:pic>
        <p:nvPicPr>
          <p:cNvPr id="32" name="Picture 31" descr="A close up of a cup&#10;&#10;AI-generated content may be incorrect.">
            <a:extLst>
              <a:ext uri="{FF2B5EF4-FFF2-40B4-BE49-F238E27FC236}">
                <a16:creationId xmlns:a16="http://schemas.microsoft.com/office/drawing/2014/main" id="{F5FBE191-0627-C3CA-09EF-3B95DAADC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116" y="2791369"/>
            <a:ext cx="1654430" cy="1107295"/>
          </a:xfrm>
          <a:prstGeom prst="rect">
            <a:avLst/>
          </a:prstGeom>
        </p:spPr>
      </p:pic>
      <p:pic>
        <p:nvPicPr>
          <p:cNvPr id="35" name="Picture 34" descr="A green cup and spoon&#10;&#10;AI-generated content may be incorrect.">
            <a:extLst>
              <a:ext uri="{FF2B5EF4-FFF2-40B4-BE49-F238E27FC236}">
                <a16:creationId xmlns:a16="http://schemas.microsoft.com/office/drawing/2014/main" id="{4960D248-B8D0-0BDA-0092-7DA50FFC7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575" y="2765316"/>
            <a:ext cx="2301163" cy="1133348"/>
          </a:xfrm>
          <a:prstGeom prst="rect">
            <a:avLst/>
          </a:prstGeom>
        </p:spPr>
      </p:pic>
      <p:pic>
        <p:nvPicPr>
          <p:cNvPr id="1026" name="Picture 2" descr="Blinddoek Vectoren, Illustraties en Clipart - 123RF">
            <a:extLst>
              <a:ext uri="{FF2B5EF4-FFF2-40B4-BE49-F238E27FC236}">
                <a16:creationId xmlns:a16="http://schemas.microsoft.com/office/drawing/2014/main" id="{48B4C616-FF55-683A-47CC-BF8EDB8E5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30" y="1535972"/>
            <a:ext cx="2192786" cy="219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kstvak 35">
            <a:extLst>
              <a:ext uri="{FF2B5EF4-FFF2-40B4-BE49-F238E27FC236}">
                <a16:creationId xmlns:a16="http://schemas.microsoft.com/office/drawing/2014/main" id="{0EB88838-C2CB-5B85-E19B-CD4CA21649A6}"/>
              </a:ext>
            </a:extLst>
          </p:cNvPr>
          <p:cNvSpPr txBox="1"/>
          <p:nvPr/>
        </p:nvSpPr>
        <p:spPr>
          <a:xfrm>
            <a:off x="4596682" y="3995678"/>
            <a:ext cx="33611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kans dat iemand één groene beker pakt is </a:t>
            </a:r>
            <a:r>
              <a:rPr lang="nl-NL" b="1" dirty="0"/>
              <a:t>(3/10)</a:t>
            </a:r>
            <a:r>
              <a:rPr lang="nl-NL" dirty="0"/>
              <a:t>.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 kans dat iemand </a:t>
            </a:r>
            <a:r>
              <a:rPr lang="nl-NL" u="sng" dirty="0"/>
              <a:t>met terugleggen</a:t>
            </a:r>
            <a:r>
              <a:rPr lang="nl-NL" dirty="0"/>
              <a:t> twee groene bekers pakt is</a:t>
            </a:r>
          </a:p>
          <a:p>
            <a:pPr algn="ctr"/>
            <a:r>
              <a:rPr lang="nl-NL" dirty="0"/>
              <a:t>(</a:t>
            </a:r>
            <a:r>
              <a:rPr lang="nl-NL" b="1" dirty="0"/>
              <a:t>3/10) x (3/10)</a:t>
            </a:r>
            <a:r>
              <a:rPr lang="nl-NL" dirty="0"/>
              <a:t>.</a:t>
            </a:r>
          </a:p>
          <a:p>
            <a:pPr algn="ctr"/>
            <a:r>
              <a:rPr lang="nl-NL" dirty="0"/>
              <a:t>Ook hiérbij wordt ervan uitgegaan dat elke getrokken beker weer teruggaat in de “dataset”.</a:t>
            </a:r>
          </a:p>
        </p:txBody>
      </p:sp>
      <p:sp>
        <p:nvSpPr>
          <p:cNvPr id="38" name="Tekstvak 35">
            <a:extLst>
              <a:ext uri="{FF2B5EF4-FFF2-40B4-BE49-F238E27FC236}">
                <a16:creationId xmlns:a16="http://schemas.microsoft.com/office/drawing/2014/main" id="{C7BEF6D4-C19A-5AFD-3BC3-A13E9F83B0E5}"/>
              </a:ext>
            </a:extLst>
          </p:cNvPr>
          <p:cNvSpPr txBox="1"/>
          <p:nvPr/>
        </p:nvSpPr>
        <p:spPr>
          <a:xfrm>
            <a:off x="2655902" y="844247"/>
            <a:ext cx="774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Een bepaalde “dataset” bestaat uit 10 bekers, waarvan 7 rode en 3 groene.</a:t>
            </a:r>
          </a:p>
          <a:p>
            <a:pPr algn="ctr"/>
            <a:r>
              <a:rPr lang="nl-NL" dirty="0"/>
              <a:t>“kleur” is de target / afhankelijke variabele</a:t>
            </a:r>
          </a:p>
        </p:txBody>
      </p:sp>
      <p:sp>
        <p:nvSpPr>
          <p:cNvPr id="39" name="Tekstvak 35">
            <a:extLst>
              <a:ext uri="{FF2B5EF4-FFF2-40B4-BE49-F238E27FC236}">
                <a16:creationId xmlns:a16="http://schemas.microsoft.com/office/drawing/2014/main" id="{B30ED4DE-12F3-D7C7-F330-E3532641E088}"/>
              </a:ext>
            </a:extLst>
          </p:cNvPr>
          <p:cNvSpPr txBox="1"/>
          <p:nvPr/>
        </p:nvSpPr>
        <p:spPr>
          <a:xfrm>
            <a:off x="8237007" y="3995678"/>
            <a:ext cx="38134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kans dat iemand twee bekers pakt van dezelfde kleur is</a:t>
            </a:r>
          </a:p>
          <a:p>
            <a:pPr algn="ctr"/>
            <a:r>
              <a:rPr lang="nl-NL" b="1" dirty="0"/>
              <a:t>(7/10)^2 + (3/10)^2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 kans dat iemand twee bekers pakt van een </a:t>
            </a:r>
            <a:r>
              <a:rPr lang="nl-NL" u="sng" dirty="0"/>
              <a:t>verschillende</a:t>
            </a:r>
            <a:r>
              <a:rPr lang="nl-NL" dirty="0"/>
              <a:t> kleur is</a:t>
            </a:r>
          </a:p>
          <a:p>
            <a:pPr algn="ctr"/>
            <a:r>
              <a:rPr lang="nl-NL" b="1" dirty="0"/>
              <a:t>1 – (7/10)^2 – (3/10)^2</a:t>
            </a:r>
          </a:p>
          <a:p>
            <a:pPr algn="ctr"/>
            <a:r>
              <a:rPr lang="nl-NL" dirty="0"/>
              <a:t>Dit is de </a:t>
            </a:r>
            <a:r>
              <a:rPr lang="nl-NL" u="sng" dirty="0" err="1"/>
              <a:t>gini</a:t>
            </a:r>
            <a:r>
              <a:rPr lang="nl-NL" u="sng" dirty="0"/>
              <a:t> </a:t>
            </a:r>
            <a:r>
              <a:rPr lang="nl-NL" u="sng" dirty="0" err="1"/>
              <a:t>impurity</a:t>
            </a:r>
            <a:r>
              <a:rPr lang="nl-NL" u="sng" dirty="0"/>
              <a:t>: de kans dat je </a:t>
            </a:r>
            <a:r>
              <a:rPr lang="nl-NL" i="1" u="sng" dirty="0"/>
              <a:t>met terugleggen</a:t>
            </a:r>
            <a:r>
              <a:rPr lang="nl-NL" u="sng" dirty="0"/>
              <a:t> 2 items uit je dataset kiest met </a:t>
            </a:r>
            <a:r>
              <a:rPr lang="nl-NL" i="1" u="sng" dirty="0"/>
              <a:t>verschillende targetwaarden</a:t>
            </a:r>
          </a:p>
        </p:txBody>
      </p:sp>
    </p:spTree>
    <p:extLst>
      <p:ext uri="{BB962C8B-B14F-4D97-AF65-F5344CB8AC3E}">
        <p14:creationId xmlns:p14="http://schemas.microsoft.com/office/powerpoint/2010/main" val="176442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0DA8-3507-5154-370E-3357DF9C2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396F5F63-ED35-1FC1-6799-0B42FB9328C1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3C6FD1B-7F8D-48DB-4F90-58EEA38EC6DC}"/>
              </a:ext>
            </a:extLst>
          </p:cNvPr>
          <p:cNvSpPr txBox="1"/>
          <p:nvPr/>
        </p:nvSpPr>
        <p:spPr>
          <a:xfrm>
            <a:off x="988290" y="0"/>
            <a:ext cx="1140806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gini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impurity met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meer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dan 2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mogelijke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targetwaarden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D955AA30-1BD8-FA9A-2D19-CA8C64975EE9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9B33903E-8B1D-8ECD-C032-1B236F71EDF0}"/>
              </a:ext>
            </a:extLst>
          </p:cNvPr>
          <p:cNvSpPr txBox="1"/>
          <p:nvPr/>
        </p:nvSpPr>
        <p:spPr>
          <a:xfrm>
            <a:off x="988290" y="3752367"/>
            <a:ext cx="32458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kans dat iemand twee rode bekers pakt is</a:t>
            </a:r>
          </a:p>
          <a:p>
            <a:pPr algn="ctr"/>
            <a:r>
              <a:rPr lang="nl-NL" b="1" dirty="0"/>
              <a:t>(5/10)^2</a:t>
            </a:r>
            <a:endParaRPr lang="nl-NL" dirty="0"/>
          </a:p>
          <a:p>
            <a:pPr algn="ctr"/>
            <a:endParaRPr lang="nl-NL" dirty="0"/>
          </a:p>
          <a:p>
            <a:pPr algn="ctr"/>
            <a:r>
              <a:rPr lang="nl-NL" dirty="0"/>
              <a:t>De kans dat iemand twee blauwe bekers pakt is</a:t>
            </a:r>
          </a:p>
          <a:p>
            <a:pPr algn="ctr"/>
            <a:r>
              <a:rPr lang="nl-NL" b="1" dirty="0"/>
              <a:t>(2/10)^2</a:t>
            </a:r>
          </a:p>
          <a:p>
            <a:pPr algn="ctr"/>
            <a:endParaRPr lang="nl-NL" b="1" dirty="0"/>
          </a:p>
          <a:p>
            <a:pPr algn="ctr"/>
            <a:r>
              <a:rPr lang="nl-NL" dirty="0"/>
              <a:t>De kans dat iemand twee groene bekers pakt is</a:t>
            </a:r>
          </a:p>
          <a:p>
            <a:pPr algn="ctr"/>
            <a:r>
              <a:rPr lang="nl-NL" b="1" dirty="0"/>
              <a:t>(3/10)^2</a:t>
            </a:r>
          </a:p>
        </p:txBody>
      </p:sp>
      <p:pic>
        <p:nvPicPr>
          <p:cNvPr id="25" name="Picture 24" descr="A group of red cups&#10;&#10;AI-generated content may be incorrect.">
            <a:extLst>
              <a:ext uri="{FF2B5EF4-FFF2-40B4-BE49-F238E27FC236}">
                <a16:creationId xmlns:a16="http://schemas.microsoft.com/office/drawing/2014/main" id="{D43AC5CF-53CB-CE92-BA53-2F247779E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504" y="1535972"/>
            <a:ext cx="2475130" cy="1068214"/>
          </a:xfrm>
          <a:prstGeom prst="rect">
            <a:avLst/>
          </a:prstGeom>
        </p:spPr>
      </p:pic>
      <p:pic>
        <p:nvPicPr>
          <p:cNvPr id="31" name="Picture 30" descr="A close up of a cup&#10;&#10;AI-generated content may be incorrect.">
            <a:extLst>
              <a:ext uri="{FF2B5EF4-FFF2-40B4-BE49-F238E27FC236}">
                <a16:creationId xmlns:a16="http://schemas.microsoft.com/office/drawing/2014/main" id="{84BBA801-C552-4C2E-20FF-F190A6EAA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634" y="1535972"/>
            <a:ext cx="1654430" cy="1107295"/>
          </a:xfrm>
          <a:prstGeom prst="rect">
            <a:avLst/>
          </a:prstGeom>
        </p:spPr>
      </p:pic>
      <p:pic>
        <p:nvPicPr>
          <p:cNvPr id="35" name="Picture 34" descr="A green cup and spoon&#10;&#10;AI-generated content may be incorrect.">
            <a:extLst>
              <a:ext uri="{FF2B5EF4-FFF2-40B4-BE49-F238E27FC236}">
                <a16:creationId xmlns:a16="http://schemas.microsoft.com/office/drawing/2014/main" id="{5A837039-397F-7196-6D11-7C23608FD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177" y="2659677"/>
            <a:ext cx="2406669" cy="1185311"/>
          </a:xfrm>
          <a:prstGeom prst="rect">
            <a:avLst/>
          </a:prstGeom>
        </p:spPr>
      </p:pic>
      <p:pic>
        <p:nvPicPr>
          <p:cNvPr id="1026" name="Picture 2" descr="Blinddoek Vectoren, Illustraties en Clipart - 123RF">
            <a:extLst>
              <a:ext uri="{FF2B5EF4-FFF2-40B4-BE49-F238E27FC236}">
                <a16:creationId xmlns:a16="http://schemas.microsoft.com/office/drawing/2014/main" id="{69CCAD4B-F7DC-117C-6786-6DE0944A6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30" y="1535972"/>
            <a:ext cx="2192786" cy="219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kstvak 35">
            <a:extLst>
              <a:ext uri="{FF2B5EF4-FFF2-40B4-BE49-F238E27FC236}">
                <a16:creationId xmlns:a16="http://schemas.microsoft.com/office/drawing/2014/main" id="{63397FE3-1F17-B7F8-6D23-CCF039A4978B}"/>
              </a:ext>
            </a:extLst>
          </p:cNvPr>
          <p:cNvSpPr txBox="1"/>
          <p:nvPr/>
        </p:nvSpPr>
        <p:spPr>
          <a:xfrm>
            <a:off x="8928467" y="3995678"/>
            <a:ext cx="32458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Als je de kans wil berekenen dat 2 gebeurtenissen samen (achter elkaar) voorkomen, </a:t>
            </a:r>
            <a:r>
              <a:rPr lang="nl-NL" u="sng" dirty="0"/>
              <a:t>vermenigvuldig</a:t>
            </a:r>
            <a:r>
              <a:rPr lang="nl-NL" dirty="0"/>
              <a:t> je beide onderliggende kansen.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Als je de kans wil berekenen dat óf de ene óf de andere gebeurtenis voorkomt, </a:t>
            </a:r>
            <a:r>
              <a:rPr lang="nl-NL" u="sng" dirty="0"/>
              <a:t>tel je de onderliggende kansen op</a:t>
            </a:r>
            <a:endParaRPr lang="nl-NL" dirty="0"/>
          </a:p>
        </p:txBody>
      </p:sp>
      <p:sp>
        <p:nvSpPr>
          <p:cNvPr id="38" name="Tekstvak 35">
            <a:extLst>
              <a:ext uri="{FF2B5EF4-FFF2-40B4-BE49-F238E27FC236}">
                <a16:creationId xmlns:a16="http://schemas.microsoft.com/office/drawing/2014/main" id="{95F0BB9E-A6B5-3C9E-FF55-264D0463AADB}"/>
              </a:ext>
            </a:extLst>
          </p:cNvPr>
          <p:cNvSpPr txBox="1"/>
          <p:nvPr/>
        </p:nvSpPr>
        <p:spPr>
          <a:xfrm>
            <a:off x="988290" y="844247"/>
            <a:ext cx="11203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Een bepaalde “dataset” bestaat uit 10 bekers, waarvan 5 rode, 2 blauwe en 3 groene.</a:t>
            </a:r>
          </a:p>
          <a:p>
            <a:pPr algn="ctr"/>
            <a:r>
              <a:rPr lang="nl-NL" dirty="0"/>
              <a:t>“kleur” is nog steeds de target / afhankelijke variabele</a:t>
            </a:r>
          </a:p>
        </p:txBody>
      </p:sp>
      <p:sp>
        <p:nvSpPr>
          <p:cNvPr id="39" name="Tekstvak 35">
            <a:extLst>
              <a:ext uri="{FF2B5EF4-FFF2-40B4-BE49-F238E27FC236}">
                <a16:creationId xmlns:a16="http://schemas.microsoft.com/office/drawing/2014/main" id="{F4501B4C-418A-A6DA-1C7E-64B013294CB2}"/>
              </a:ext>
            </a:extLst>
          </p:cNvPr>
          <p:cNvSpPr txBox="1"/>
          <p:nvPr/>
        </p:nvSpPr>
        <p:spPr>
          <a:xfrm>
            <a:off x="4727865" y="3995678"/>
            <a:ext cx="38134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kans dat iemand twee bekers pakt van dezelfde kleur is</a:t>
            </a:r>
          </a:p>
          <a:p>
            <a:pPr algn="ctr"/>
            <a:r>
              <a:rPr lang="nl-NL" b="1" dirty="0"/>
              <a:t>(5/10)^2 + (2/10)^2 + (3/10)^2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 kans dat iemand twee bekers pakt van een </a:t>
            </a:r>
            <a:r>
              <a:rPr lang="nl-NL" u="sng" dirty="0"/>
              <a:t>verschillende</a:t>
            </a:r>
            <a:r>
              <a:rPr lang="nl-NL" dirty="0"/>
              <a:t> kleur is</a:t>
            </a:r>
          </a:p>
          <a:p>
            <a:pPr algn="ctr"/>
            <a:r>
              <a:rPr lang="nl-NL" b="1" dirty="0"/>
              <a:t>1 – (5/10)^2 – (2/10)^2 – (3/10)^2</a:t>
            </a:r>
          </a:p>
          <a:p>
            <a:pPr algn="ctr"/>
            <a:r>
              <a:rPr lang="nl-NL" dirty="0"/>
              <a:t>Dit is de </a:t>
            </a:r>
            <a:r>
              <a:rPr lang="nl-NL" u="sng" dirty="0" err="1"/>
              <a:t>gini</a:t>
            </a:r>
            <a:r>
              <a:rPr lang="nl-NL" u="sng" dirty="0"/>
              <a:t> </a:t>
            </a:r>
            <a:r>
              <a:rPr lang="nl-NL" u="sng" dirty="0" err="1"/>
              <a:t>impurity</a:t>
            </a:r>
            <a:r>
              <a:rPr lang="nl-NL" u="sng" dirty="0"/>
              <a:t>: de kans dat je </a:t>
            </a:r>
            <a:r>
              <a:rPr lang="nl-NL" i="1" u="sng" dirty="0"/>
              <a:t>met terugleggen</a:t>
            </a:r>
            <a:r>
              <a:rPr lang="nl-NL" u="sng" dirty="0"/>
              <a:t> 2 items uit je dataset kiest met </a:t>
            </a:r>
            <a:r>
              <a:rPr lang="nl-NL" i="1" u="sng" dirty="0"/>
              <a:t>verschillende targetwaarden</a:t>
            </a:r>
          </a:p>
        </p:txBody>
      </p:sp>
      <p:pic>
        <p:nvPicPr>
          <p:cNvPr id="3" name="Picture 2" descr="A pair of blue plastic cups&#10;&#10;AI-generated content may be incorrect.">
            <a:extLst>
              <a:ext uri="{FF2B5EF4-FFF2-40B4-BE49-F238E27FC236}">
                <a16:creationId xmlns:a16="http://schemas.microsoft.com/office/drawing/2014/main" id="{0B570FA7-0C72-CFF3-A36B-0E114D50B2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2673" y="2680418"/>
            <a:ext cx="1710873" cy="118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9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8E27A-1645-6F77-87BE-942762C5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194E5395-29A4-93DA-2122-699241758627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F9EE6735-45D9-12CB-8A86-49FC1F03F25C}"/>
              </a:ext>
            </a:extLst>
          </p:cNvPr>
          <p:cNvSpPr txBox="1"/>
          <p:nvPr/>
        </p:nvSpPr>
        <p:spPr>
          <a:xfrm>
            <a:off x="988291" y="0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gini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impurity met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allemaal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unieke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targetwaarden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216D91F3-EBA3-BA2A-889F-1A74FD1AE619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77C0A521-2949-8924-CA42-27A9BD1C94BA}"/>
              </a:ext>
            </a:extLst>
          </p:cNvPr>
          <p:cNvSpPr txBox="1"/>
          <p:nvPr/>
        </p:nvSpPr>
        <p:spPr>
          <a:xfrm>
            <a:off x="934340" y="3728758"/>
            <a:ext cx="31576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kans dat iemand twee rode bekers pakt is</a:t>
            </a:r>
          </a:p>
          <a:p>
            <a:pPr algn="ctr"/>
            <a:r>
              <a:rPr lang="nl-NL" b="1" dirty="0"/>
              <a:t>(1/10)^2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 kans dat iemand twee blauwe bekers pakt is</a:t>
            </a:r>
          </a:p>
          <a:p>
            <a:pPr algn="ctr"/>
            <a:r>
              <a:rPr lang="nl-NL" b="1" dirty="0"/>
              <a:t>(1/10)^2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Dit geldt voor alle tien mogelijke kleuren</a:t>
            </a:r>
          </a:p>
        </p:txBody>
      </p:sp>
      <p:pic>
        <p:nvPicPr>
          <p:cNvPr id="1026" name="Picture 2" descr="Blinddoek Vectoren, Illustraties en Clipart - 123RF">
            <a:extLst>
              <a:ext uri="{FF2B5EF4-FFF2-40B4-BE49-F238E27FC236}">
                <a16:creationId xmlns:a16="http://schemas.microsoft.com/office/drawing/2014/main" id="{6786BBF7-400A-53A2-3EE7-8EB78CDD3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30" y="1535972"/>
            <a:ext cx="2192786" cy="219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kstvak 35">
            <a:extLst>
              <a:ext uri="{FF2B5EF4-FFF2-40B4-BE49-F238E27FC236}">
                <a16:creationId xmlns:a16="http://schemas.microsoft.com/office/drawing/2014/main" id="{2D2D42E6-D8DE-244A-6DE1-6A407C0ADC63}"/>
              </a:ext>
            </a:extLst>
          </p:cNvPr>
          <p:cNvSpPr txBox="1"/>
          <p:nvPr/>
        </p:nvSpPr>
        <p:spPr>
          <a:xfrm>
            <a:off x="988290" y="844247"/>
            <a:ext cx="11203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Een bepaalde “dataset” bestaat uit 10 bekers, die allemaal een andere kleur hebben.</a:t>
            </a:r>
          </a:p>
          <a:p>
            <a:pPr algn="ctr"/>
            <a:r>
              <a:rPr lang="nl-NL" dirty="0"/>
              <a:t>“kleur” is nog steeds de afhankelijke variabele</a:t>
            </a:r>
          </a:p>
        </p:txBody>
      </p:sp>
      <p:sp>
        <p:nvSpPr>
          <p:cNvPr id="39" name="Tekstvak 35">
            <a:extLst>
              <a:ext uri="{FF2B5EF4-FFF2-40B4-BE49-F238E27FC236}">
                <a16:creationId xmlns:a16="http://schemas.microsoft.com/office/drawing/2014/main" id="{754D4AA3-8D0B-52F9-740F-FDC646901698}"/>
              </a:ext>
            </a:extLst>
          </p:cNvPr>
          <p:cNvSpPr txBox="1"/>
          <p:nvPr/>
        </p:nvSpPr>
        <p:spPr>
          <a:xfrm>
            <a:off x="4286517" y="3736027"/>
            <a:ext cx="38134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kans dat iemand twee bekers pakt van dezelfde kleur is</a:t>
            </a:r>
          </a:p>
          <a:p>
            <a:pPr algn="ctr"/>
            <a:r>
              <a:rPr lang="nl-NL" b="1" dirty="0"/>
              <a:t>(1/10)^2 x 10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 kans dat iemand twee bekers pakt van een </a:t>
            </a:r>
            <a:r>
              <a:rPr lang="nl-NL" u="sng" dirty="0"/>
              <a:t>verschillende</a:t>
            </a:r>
            <a:r>
              <a:rPr lang="nl-NL" dirty="0"/>
              <a:t> kleur is</a:t>
            </a:r>
          </a:p>
          <a:p>
            <a:pPr algn="ctr"/>
            <a:r>
              <a:rPr lang="nl-NL" b="1" dirty="0"/>
              <a:t>1 – ((1/10)^2 x 10)</a:t>
            </a:r>
          </a:p>
        </p:txBody>
      </p:sp>
      <p:pic>
        <p:nvPicPr>
          <p:cNvPr id="7" name="Picture 6" descr="A red cup on a white background&#10;&#10;AI-generated content may be incorrect.">
            <a:extLst>
              <a:ext uri="{FF2B5EF4-FFF2-40B4-BE49-F238E27FC236}">
                <a16:creationId xmlns:a16="http://schemas.microsoft.com/office/drawing/2014/main" id="{4BFA78EB-E2BD-C578-6FB2-EACFE6D08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673" y="1474809"/>
            <a:ext cx="850854" cy="1157556"/>
          </a:xfrm>
          <a:prstGeom prst="rect">
            <a:avLst/>
          </a:prstGeom>
        </p:spPr>
      </p:pic>
      <p:pic>
        <p:nvPicPr>
          <p:cNvPr id="9" name="Picture 8" descr="A blue cup with a straw&#10;&#10;AI-generated content may be incorrect.">
            <a:extLst>
              <a:ext uri="{FF2B5EF4-FFF2-40B4-BE49-F238E27FC236}">
                <a16:creationId xmlns:a16="http://schemas.microsoft.com/office/drawing/2014/main" id="{12EBCCBE-4682-4868-905C-C8D8994E0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335" y="1522024"/>
            <a:ext cx="612402" cy="1123705"/>
          </a:xfrm>
          <a:prstGeom prst="rect">
            <a:avLst/>
          </a:prstGeom>
        </p:spPr>
      </p:pic>
      <p:pic>
        <p:nvPicPr>
          <p:cNvPr id="11" name="Picture 10" descr="A close-up of a green cup&#10;&#10;AI-generated content may be incorrect.">
            <a:extLst>
              <a:ext uri="{FF2B5EF4-FFF2-40B4-BE49-F238E27FC236}">
                <a16:creationId xmlns:a16="http://schemas.microsoft.com/office/drawing/2014/main" id="{AB2537B3-59C1-1D52-F9F6-933960475F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2026" y="1522023"/>
            <a:ext cx="696512" cy="1123705"/>
          </a:xfrm>
          <a:prstGeom prst="rect">
            <a:avLst/>
          </a:prstGeom>
        </p:spPr>
      </p:pic>
      <p:pic>
        <p:nvPicPr>
          <p:cNvPr id="13" name="Picture 12" descr="A close up of a yellow cup&#10;&#10;AI-generated content may be incorrect.">
            <a:extLst>
              <a:ext uri="{FF2B5EF4-FFF2-40B4-BE49-F238E27FC236}">
                <a16:creationId xmlns:a16="http://schemas.microsoft.com/office/drawing/2014/main" id="{E52711F8-CB79-367D-ACB0-2CB3F94818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8236" y="1535972"/>
            <a:ext cx="608909" cy="1123704"/>
          </a:xfrm>
          <a:prstGeom prst="rect">
            <a:avLst/>
          </a:prstGeom>
        </p:spPr>
      </p:pic>
      <p:sp>
        <p:nvSpPr>
          <p:cNvPr id="14" name="Tekstvak 35">
            <a:extLst>
              <a:ext uri="{FF2B5EF4-FFF2-40B4-BE49-F238E27FC236}">
                <a16:creationId xmlns:a16="http://schemas.microsoft.com/office/drawing/2014/main" id="{39EF7EC8-27E1-F2AC-E849-F84CEFC061F8}"/>
              </a:ext>
            </a:extLst>
          </p:cNvPr>
          <p:cNvSpPr txBox="1"/>
          <p:nvPr/>
        </p:nvSpPr>
        <p:spPr>
          <a:xfrm>
            <a:off x="8099979" y="3705429"/>
            <a:ext cx="40194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Omdat er sprake is van pakken </a:t>
            </a:r>
            <a:r>
              <a:rPr lang="nl-NL" u="sng" dirty="0"/>
              <a:t>met terugleggen</a:t>
            </a:r>
            <a:r>
              <a:rPr lang="nl-NL" dirty="0"/>
              <a:t> (elke getrokken beker gaat terug in de dataset), is er bijna altijd een kans dat je 2 bekers van dezelfde kleur pakt.</a:t>
            </a:r>
          </a:p>
          <a:p>
            <a:pPr algn="ctr"/>
            <a:endParaRPr lang="nl-NL" i="1" u="sng" dirty="0"/>
          </a:p>
          <a:p>
            <a:pPr algn="ctr"/>
            <a:r>
              <a:rPr lang="nl-NL" dirty="0"/>
              <a:t>Hierom is 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bijna altijd hoger dan, en bijna nooit exact of kleiner dan, 0.</a:t>
            </a:r>
          </a:p>
        </p:txBody>
      </p:sp>
      <p:pic>
        <p:nvPicPr>
          <p:cNvPr id="16" name="Picture 15" descr="A pink cup with orange lid&#10;&#10;AI-generated content may be incorrect.">
            <a:extLst>
              <a:ext uri="{FF2B5EF4-FFF2-40B4-BE49-F238E27FC236}">
                <a16:creationId xmlns:a16="http://schemas.microsoft.com/office/drawing/2014/main" id="{C3735F5F-106D-B1F3-CE5B-5A28CFF9ED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6370" y="1522024"/>
            <a:ext cx="648805" cy="1123704"/>
          </a:xfrm>
          <a:prstGeom prst="rect">
            <a:avLst/>
          </a:prstGeom>
        </p:spPr>
      </p:pic>
      <p:sp>
        <p:nvSpPr>
          <p:cNvPr id="17" name="Tekstvak 35">
            <a:extLst>
              <a:ext uri="{FF2B5EF4-FFF2-40B4-BE49-F238E27FC236}">
                <a16:creationId xmlns:a16="http://schemas.microsoft.com/office/drawing/2014/main" id="{6AEFEE8F-B46B-59D0-6F23-6110325167AE}"/>
              </a:ext>
            </a:extLst>
          </p:cNvPr>
          <p:cNvSpPr txBox="1"/>
          <p:nvPr/>
        </p:nvSpPr>
        <p:spPr>
          <a:xfrm>
            <a:off x="7216116" y="2626271"/>
            <a:ext cx="157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Enzovoort</a:t>
            </a:r>
          </a:p>
        </p:txBody>
      </p:sp>
    </p:spTree>
    <p:extLst>
      <p:ext uri="{BB962C8B-B14F-4D97-AF65-F5344CB8AC3E}">
        <p14:creationId xmlns:p14="http://schemas.microsoft.com/office/powerpoint/2010/main" val="404494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97E23-E862-C758-B008-22D100E9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8876C7D0-B1F5-F46B-763B-1C3F01564C1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7F8C35C4-D021-2E11-E0D2-AB152F35ADC5}"/>
              </a:ext>
            </a:extLst>
          </p:cNvPr>
          <p:cNvSpPr txBox="1"/>
          <p:nvPr/>
        </p:nvSpPr>
        <p:spPr>
          <a:xfrm>
            <a:off x="988290" y="0"/>
            <a:ext cx="1140806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gini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impurity met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slechts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1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targetwaarde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1BDA17E1-54BC-FF3A-3111-BB0BF4344DA8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66A478FD-84D0-F83E-4FF4-9A4550DFF9B9}"/>
              </a:ext>
            </a:extLst>
          </p:cNvPr>
          <p:cNvSpPr txBox="1"/>
          <p:nvPr/>
        </p:nvSpPr>
        <p:spPr>
          <a:xfrm>
            <a:off x="988290" y="4503509"/>
            <a:ext cx="32458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kans dat iemand twee rode bekers pakt is</a:t>
            </a:r>
          </a:p>
          <a:p>
            <a:pPr algn="ctr"/>
            <a:r>
              <a:rPr lang="nl-NL" b="1" dirty="0"/>
              <a:t>(10/10)^2 = 1</a:t>
            </a:r>
            <a:endParaRPr lang="nl-NL" dirty="0"/>
          </a:p>
        </p:txBody>
      </p:sp>
      <p:pic>
        <p:nvPicPr>
          <p:cNvPr id="25" name="Picture 24" descr="A group of red cups&#10;&#10;AI-generated content may be incorrect.">
            <a:extLst>
              <a:ext uri="{FF2B5EF4-FFF2-40B4-BE49-F238E27FC236}">
                <a16:creationId xmlns:a16="http://schemas.microsoft.com/office/drawing/2014/main" id="{78B015CB-81AE-846D-4A34-A34A72F4C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504" y="1535972"/>
            <a:ext cx="2475130" cy="1068214"/>
          </a:xfrm>
          <a:prstGeom prst="rect">
            <a:avLst/>
          </a:prstGeom>
        </p:spPr>
      </p:pic>
      <p:pic>
        <p:nvPicPr>
          <p:cNvPr id="31" name="Picture 30" descr="A close up of a cup&#10;&#10;AI-generated content may be incorrect.">
            <a:extLst>
              <a:ext uri="{FF2B5EF4-FFF2-40B4-BE49-F238E27FC236}">
                <a16:creationId xmlns:a16="http://schemas.microsoft.com/office/drawing/2014/main" id="{B4E87171-18E3-89F3-A860-1131E4C15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634" y="1535972"/>
            <a:ext cx="1654430" cy="1107295"/>
          </a:xfrm>
          <a:prstGeom prst="rect">
            <a:avLst/>
          </a:prstGeom>
        </p:spPr>
      </p:pic>
      <p:pic>
        <p:nvPicPr>
          <p:cNvPr id="1026" name="Picture 2" descr="Blinddoek Vectoren, Illustraties en Clipart - 123RF">
            <a:extLst>
              <a:ext uri="{FF2B5EF4-FFF2-40B4-BE49-F238E27FC236}">
                <a16:creationId xmlns:a16="http://schemas.microsoft.com/office/drawing/2014/main" id="{9D50019C-301E-68FA-59CE-4CAB7F45F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30" y="1535972"/>
            <a:ext cx="2192786" cy="219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kstvak 35">
            <a:extLst>
              <a:ext uri="{FF2B5EF4-FFF2-40B4-BE49-F238E27FC236}">
                <a16:creationId xmlns:a16="http://schemas.microsoft.com/office/drawing/2014/main" id="{47332141-662D-A55A-CFD4-2EFCF08D898B}"/>
              </a:ext>
            </a:extLst>
          </p:cNvPr>
          <p:cNvSpPr txBox="1"/>
          <p:nvPr/>
        </p:nvSpPr>
        <p:spPr>
          <a:xfrm>
            <a:off x="988290" y="844247"/>
            <a:ext cx="11203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Een bepaalde “dataset” bestaat uit 10 bekers, deze zijn allemaal rood.</a:t>
            </a:r>
          </a:p>
          <a:p>
            <a:pPr algn="ctr"/>
            <a:r>
              <a:rPr lang="nl-NL" dirty="0"/>
              <a:t>“kleur” is nog steeds de afhankelijke variabele</a:t>
            </a:r>
          </a:p>
        </p:txBody>
      </p:sp>
      <p:sp>
        <p:nvSpPr>
          <p:cNvPr id="39" name="Tekstvak 35">
            <a:extLst>
              <a:ext uri="{FF2B5EF4-FFF2-40B4-BE49-F238E27FC236}">
                <a16:creationId xmlns:a16="http://schemas.microsoft.com/office/drawing/2014/main" id="{A26BCD6C-94B6-5871-9015-87C816B9636A}"/>
              </a:ext>
            </a:extLst>
          </p:cNvPr>
          <p:cNvSpPr txBox="1"/>
          <p:nvPr/>
        </p:nvSpPr>
        <p:spPr>
          <a:xfrm>
            <a:off x="4785591" y="4065311"/>
            <a:ext cx="38134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kans dat iemand twee bekers pakt van dezelfde kleur is</a:t>
            </a:r>
          </a:p>
          <a:p>
            <a:pPr algn="ctr"/>
            <a:r>
              <a:rPr lang="nl-NL" b="1" dirty="0"/>
              <a:t>(10/10)^2 = 1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 kans dat iemand twee bekers pakt van een </a:t>
            </a:r>
            <a:r>
              <a:rPr lang="nl-NL" u="sng" dirty="0"/>
              <a:t>verschillende</a:t>
            </a:r>
            <a:r>
              <a:rPr lang="nl-NL" dirty="0"/>
              <a:t> kleur is </a:t>
            </a:r>
            <a:r>
              <a:rPr lang="nl-NL" b="1" dirty="0"/>
              <a:t>1 – (10/10)^2 = 0</a:t>
            </a:r>
          </a:p>
          <a:p>
            <a:pPr algn="ctr"/>
            <a:r>
              <a:rPr lang="nl-NL" dirty="0"/>
              <a:t>Bij een dataset waar alle items dezelfde targetwaarde hebben, is 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dus altijd 0.</a:t>
            </a:r>
          </a:p>
        </p:txBody>
      </p:sp>
      <p:pic>
        <p:nvPicPr>
          <p:cNvPr id="2" name="Picture 1" descr="A group of red cups&#10;&#10;AI-generated content may be incorrect.">
            <a:extLst>
              <a:ext uri="{FF2B5EF4-FFF2-40B4-BE49-F238E27FC236}">
                <a16:creationId xmlns:a16="http://schemas.microsoft.com/office/drawing/2014/main" id="{2A3B0B9C-369F-907D-C569-F856C4937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504" y="2643267"/>
            <a:ext cx="2475130" cy="1068214"/>
          </a:xfrm>
          <a:prstGeom prst="rect">
            <a:avLst/>
          </a:prstGeom>
        </p:spPr>
      </p:pic>
      <p:pic>
        <p:nvPicPr>
          <p:cNvPr id="7" name="Picture 6" descr="A close up of a cup&#10;&#10;AI-generated content may be incorrect.">
            <a:extLst>
              <a:ext uri="{FF2B5EF4-FFF2-40B4-BE49-F238E27FC236}">
                <a16:creationId xmlns:a16="http://schemas.microsoft.com/office/drawing/2014/main" id="{05D9F799-0FAF-75F3-7752-6F360B865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634" y="2643267"/>
            <a:ext cx="1654430" cy="1107295"/>
          </a:xfrm>
          <a:prstGeom prst="rect">
            <a:avLst/>
          </a:prstGeom>
        </p:spPr>
      </p:pic>
      <p:sp>
        <p:nvSpPr>
          <p:cNvPr id="8" name="Tekstvak 35">
            <a:extLst>
              <a:ext uri="{FF2B5EF4-FFF2-40B4-BE49-F238E27FC236}">
                <a16:creationId xmlns:a16="http://schemas.microsoft.com/office/drawing/2014/main" id="{3926DF98-D3D0-A6D3-7FD7-1656B487A088}"/>
              </a:ext>
            </a:extLst>
          </p:cNvPr>
          <p:cNvSpPr txBox="1"/>
          <p:nvPr/>
        </p:nvSpPr>
        <p:spPr>
          <a:xfrm>
            <a:off x="8813913" y="4780508"/>
            <a:ext cx="32458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kan dus 1 zijn, maar is bijna nooit exact gelijk aan 0</a:t>
            </a:r>
          </a:p>
        </p:txBody>
      </p:sp>
    </p:spTree>
    <p:extLst>
      <p:ext uri="{BB962C8B-B14F-4D97-AF65-F5344CB8AC3E}">
        <p14:creationId xmlns:p14="http://schemas.microsoft.com/office/powerpoint/2010/main" val="331946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74CBD-B2F1-821A-2F30-1EB16F5E8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61C050B7-41F8-1DE1-7034-1008B51A6E0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B949085-9D4E-8148-FC45-5FAC5D424D56}"/>
              </a:ext>
            </a:extLst>
          </p:cNvPr>
          <p:cNvSpPr txBox="1"/>
          <p:nvPr/>
        </p:nvSpPr>
        <p:spPr>
          <a:xfrm>
            <a:off x="988290" y="0"/>
            <a:ext cx="1140806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gini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impurity in het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DecisionTree-algoritme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FA5420FD-38DB-A01B-1AC6-741C93C7EFC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35">
            <a:extLst>
              <a:ext uri="{FF2B5EF4-FFF2-40B4-BE49-F238E27FC236}">
                <a16:creationId xmlns:a16="http://schemas.microsoft.com/office/drawing/2014/main" id="{3CE3004F-F066-A3CD-4EF2-3B322A974572}"/>
              </a:ext>
            </a:extLst>
          </p:cNvPr>
          <p:cNvSpPr txBox="1"/>
          <p:nvPr/>
        </p:nvSpPr>
        <p:spPr>
          <a:xfrm>
            <a:off x="1523535" y="895750"/>
            <a:ext cx="324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Titanic-dataset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95DC80-B7E8-2D0B-FFD3-62BDAB575B6C}"/>
              </a:ext>
            </a:extLst>
          </p:cNvPr>
          <p:cNvGraphicFramePr>
            <a:graphicFrameLocks noGrp="1"/>
          </p:cNvGraphicFramePr>
          <p:nvPr/>
        </p:nvGraphicFramePr>
        <p:xfrm>
          <a:off x="988382" y="1265082"/>
          <a:ext cx="570394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788">
                  <a:extLst>
                    <a:ext uri="{9D8B030D-6E8A-4147-A177-3AD203B41FA5}">
                      <a16:colId xmlns:a16="http://schemas.microsoft.com/office/drawing/2014/main" val="297074867"/>
                    </a:ext>
                  </a:extLst>
                </a:gridCol>
                <a:gridCol w="926336">
                  <a:extLst>
                    <a:ext uri="{9D8B030D-6E8A-4147-A177-3AD203B41FA5}">
                      <a16:colId xmlns:a16="http://schemas.microsoft.com/office/drawing/2014/main" val="871078992"/>
                    </a:ext>
                  </a:extLst>
                </a:gridCol>
                <a:gridCol w="987136">
                  <a:extLst>
                    <a:ext uri="{9D8B030D-6E8A-4147-A177-3AD203B41FA5}">
                      <a16:colId xmlns:a16="http://schemas.microsoft.com/office/drawing/2014/main" val="2768932971"/>
                    </a:ext>
                  </a:extLst>
                </a:gridCol>
                <a:gridCol w="1508892">
                  <a:extLst>
                    <a:ext uri="{9D8B030D-6E8A-4147-A177-3AD203B41FA5}">
                      <a16:colId xmlns:a16="http://schemas.microsoft.com/office/drawing/2014/main" val="2981508375"/>
                    </a:ext>
                  </a:extLst>
                </a:gridCol>
                <a:gridCol w="1140788">
                  <a:extLst>
                    <a:ext uri="{9D8B030D-6E8A-4147-A177-3AD203B41FA5}">
                      <a16:colId xmlns:a16="http://schemas.microsoft.com/office/drawing/2014/main" val="1773520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Passenger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Pclass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Survived</a:t>
                      </a:r>
                      <a:r>
                        <a:rPr lang="nl-NL" dirty="0"/>
                        <a:t> (target)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9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82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6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21362"/>
                  </a:ext>
                </a:extLst>
              </a:tr>
            </a:tbl>
          </a:graphicData>
        </a:graphic>
      </p:graphicFrame>
      <p:sp>
        <p:nvSpPr>
          <p:cNvPr id="9" name="Tekstvak 35">
            <a:extLst>
              <a:ext uri="{FF2B5EF4-FFF2-40B4-BE49-F238E27FC236}">
                <a16:creationId xmlns:a16="http://schemas.microsoft.com/office/drawing/2014/main" id="{55D89AD1-F8B1-1F3B-0CB7-36530F9BB9F5}"/>
              </a:ext>
            </a:extLst>
          </p:cNvPr>
          <p:cNvSpPr txBox="1"/>
          <p:nvPr/>
        </p:nvSpPr>
        <p:spPr>
          <a:xfrm>
            <a:off x="6978369" y="1080416"/>
            <a:ext cx="50624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van deze dataset is</a:t>
            </a:r>
          </a:p>
          <a:p>
            <a:pPr algn="ctr"/>
            <a:r>
              <a:rPr lang="nl-NL" dirty="0"/>
              <a:t>1 – (2/4)^2 – (2/4)^2 = 0,50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Het </a:t>
            </a:r>
            <a:r>
              <a:rPr lang="nl-NL" dirty="0" err="1"/>
              <a:t>DecisionTree</a:t>
            </a:r>
            <a:r>
              <a:rPr lang="nl-NL" dirty="0"/>
              <a:t>-algoritme probeert deze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te </a:t>
            </a:r>
            <a:r>
              <a:rPr lang="nl-NL" u="sng" dirty="0"/>
              <a:t>verminderen</a:t>
            </a:r>
            <a:r>
              <a:rPr lang="nl-NL" dirty="0"/>
              <a:t> door het maken van “</a:t>
            </a:r>
            <a:r>
              <a:rPr lang="nl-NL" dirty="0" err="1"/>
              <a:t>stumps</a:t>
            </a:r>
            <a:r>
              <a:rPr lang="nl-NL" dirty="0"/>
              <a:t>”: kleine beslisboompjes die de dataset </a:t>
            </a:r>
            <a:r>
              <a:rPr lang="nl-NL" u="sng" dirty="0"/>
              <a:t>onderverdelen</a:t>
            </a:r>
            <a:r>
              <a:rPr lang="nl-NL" dirty="0"/>
              <a:t> volgens slechts één splitsvoorwaarde</a:t>
            </a:r>
          </a:p>
        </p:txBody>
      </p:sp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87515857-FA47-248F-136C-99436C154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968" y="3453437"/>
            <a:ext cx="5235950" cy="18899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F96D4D-4D0B-6E9C-0E96-DC472B02D44E}"/>
              </a:ext>
            </a:extLst>
          </p:cNvPr>
          <p:cNvSpPr txBox="1"/>
          <p:nvPr/>
        </p:nvSpPr>
        <p:spPr>
          <a:xfrm>
            <a:off x="3623491" y="5962250"/>
            <a:ext cx="65121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van deze totale </a:t>
            </a:r>
            <a:r>
              <a:rPr lang="nl-NL" dirty="0" err="1"/>
              <a:t>stump</a:t>
            </a:r>
            <a:r>
              <a:rPr lang="nl-NL" dirty="0"/>
              <a:t> wordt als volgt berekend:</a:t>
            </a:r>
          </a:p>
          <a:p>
            <a:pPr marL="285750" indent="-285750" algn="ctr">
              <a:buFontTx/>
              <a:buChar char="-"/>
            </a:pPr>
            <a:r>
              <a:rPr lang="nl-NL" dirty="0"/>
              <a:t>Vermenigvuldig voor elke </a:t>
            </a:r>
            <a:r>
              <a:rPr lang="nl-NL" dirty="0" err="1"/>
              <a:t>leaf</a:t>
            </a:r>
            <a:r>
              <a:rPr lang="nl-NL" dirty="0"/>
              <a:t> het gewicht en de </a:t>
            </a:r>
            <a:r>
              <a:rPr lang="nl-NL" dirty="0" err="1"/>
              <a:t>impurity</a:t>
            </a:r>
            <a:endParaRPr lang="nl-NL" dirty="0"/>
          </a:p>
          <a:p>
            <a:pPr marL="285750" indent="-285750" algn="ctr">
              <a:buFontTx/>
              <a:buChar char="-"/>
            </a:pPr>
            <a:r>
              <a:rPr lang="nl-NL" dirty="0"/>
              <a:t>Tel al deze vermenigvuldigingen bij elkaar op.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3E6336-83B7-5DB6-714C-7E7BA0BF6D05}"/>
              </a:ext>
            </a:extLst>
          </p:cNvPr>
          <p:cNvSpPr txBox="1"/>
          <p:nvPr/>
        </p:nvSpPr>
        <p:spPr>
          <a:xfrm>
            <a:off x="8901264" y="3192261"/>
            <a:ext cx="34017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Per </a:t>
            </a:r>
            <a:r>
              <a:rPr lang="nl-NL" dirty="0" err="1"/>
              <a:t>leaf</a:t>
            </a:r>
            <a:r>
              <a:rPr lang="nl-NL" dirty="0"/>
              <a:t> zijn er 2 meetwaarden belangrijk:</a:t>
            </a:r>
          </a:p>
          <a:p>
            <a:pPr marL="285750" indent="-285750">
              <a:buFontTx/>
              <a:buChar char="-"/>
            </a:pPr>
            <a:r>
              <a:rPr lang="nl-NL" dirty="0"/>
              <a:t>Gewicht: hoeveel procent van de originele datapunten in de </a:t>
            </a:r>
            <a:r>
              <a:rPr lang="nl-NL" dirty="0" err="1"/>
              <a:t>leaf</a:t>
            </a:r>
            <a:r>
              <a:rPr lang="nl-NL" dirty="0"/>
              <a:t> gekomen is.</a:t>
            </a:r>
          </a:p>
          <a:p>
            <a:pPr marL="285750" indent="-285750">
              <a:buFontTx/>
              <a:buChar char="-"/>
            </a:pPr>
            <a:r>
              <a:rPr lang="nl-NL" dirty="0" err="1"/>
              <a:t>Impurity</a:t>
            </a:r>
            <a:r>
              <a:rPr lang="nl-NL" dirty="0"/>
              <a:t>: de kans dat je binnen het blad 2 items pakt die dezelfde targetvariabele hebben.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5E542-6EB7-69C5-1A5A-A83CA48DAD05}"/>
              </a:ext>
            </a:extLst>
          </p:cNvPr>
          <p:cNvSpPr txBox="1"/>
          <p:nvPr/>
        </p:nvSpPr>
        <p:spPr>
          <a:xfrm>
            <a:off x="1054993" y="3388521"/>
            <a:ext cx="32336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In de “root” van elke </a:t>
            </a:r>
            <a:r>
              <a:rPr lang="nl-NL" dirty="0" err="1"/>
              <a:t>stump</a:t>
            </a:r>
            <a:r>
              <a:rPr lang="nl-NL" dirty="0"/>
              <a:t> komt de splitsvoorwaarde te staan. Deze heeft altijd betrekking op een feature</a:t>
            </a:r>
          </a:p>
          <a:p>
            <a:endParaRPr lang="nl-NL" dirty="0"/>
          </a:p>
          <a:p>
            <a:endParaRPr lang="nl-NL" dirty="0"/>
          </a:p>
          <a:p>
            <a:r>
              <a:rPr lang="nl-NL"/>
              <a:t>`</a:t>
            </a:r>
            <a:endParaRPr lang="nl-NL" dirty="0"/>
          </a:p>
          <a:p>
            <a:r>
              <a:rPr lang="nl-NL" dirty="0"/>
              <a:t>Elke “</a:t>
            </a:r>
            <a:r>
              <a:rPr lang="nl-NL" dirty="0" err="1"/>
              <a:t>leaf</a:t>
            </a:r>
            <a:r>
              <a:rPr lang="nl-NL" dirty="0"/>
              <a:t>” bevat een subset van de data als gevolg van de splitsing door de “root”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1F348A-E0FB-555C-2680-DB17A8B971DF}"/>
              </a:ext>
            </a:extLst>
          </p:cNvPr>
          <p:cNvSpPr txBox="1"/>
          <p:nvPr/>
        </p:nvSpPr>
        <p:spPr>
          <a:xfrm>
            <a:off x="4349528" y="4819901"/>
            <a:ext cx="71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leaf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86067-E434-B5B7-511D-BF6B43E35E83}"/>
              </a:ext>
            </a:extLst>
          </p:cNvPr>
          <p:cNvSpPr txBox="1"/>
          <p:nvPr/>
        </p:nvSpPr>
        <p:spPr>
          <a:xfrm>
            <a:off x="6234711" y="3706629"/>
            <a:ext cx="71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root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7DE5E-636D-B522-EA3E-A764FF13CC50}"/>
              </a:ext>
            </a:extLst>
          </p:cNvPr>
          <p:cNvSpPr txBox="1"/>
          <p:nvPr/>
        </p:nvSpPr>
        <p:spPr>
          <a:xfrm>
            <a:off x="7940375" y="4833049"/>
            <a:ext cx="71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leaf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DB6444-678A-F36D-4EE1-AF5E151A4AEC}"/>
              </a:ext>
            </a:extLst>
          </p:cNvPr>
          <p:cNvSpPr txBox="1"/>
          <p:nvPr/>
        </p:nvSpPr>
        <p:spPr>
          <a:xfrm>
            <a:off x="4208318" y="4115590"/>
            <a:ext cx="1477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true-branch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6E483-9E91-A825-A30F-CFC15A10B709}"/>
              </a:ext>
            </a:extLst>
          </p:cNvPr>
          <p:cNvSpPr txBox="1"/>
          <p:nvPr/>
        </p:nvSpPr>
        <p:spPr>
          <a:xfrm>
            <a:off x="7212856" y="4100182"/>
            <a:ext cx="1477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false-branch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3407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16" grpId="0"/>
      <p:bldP spid="18" grpId="0" build="allAtOnce"/>
      <p:bldP spid="23" grpId="0"/>
      <p:bldP spid="2" grpId="0"/>
      <p:bldP spid="7" grpId="0"/>
      <p:bldP spid="10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5D06-93F8-1B75-28A9-E815DB5B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3B1386F0-A106-9419-E615-5AA0E7B9D17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4881DDC1-2A26-D597-192B-592E842E678C}"/>
              </a:ext>
            </a:extLst>
          </p:cNvPr>
          <p:cNvSpPr txBox="1"/>
          <p:nvPr/>
        </p:nvSpPr>
        <p:spPr>
          <a:xfrm>
            <a:off x="988290" y="0"/>
            <a:ext cx="1140806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eerste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stump: “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s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ex”</a:t>
            </a: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77DAFC82-0D1B-8EFE-3FEF-8B711FB68849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35">
            <a:extLst>
              <a:ext uri="{FF2B5EF4-FFF2-40B4-BE49-F238E27FC236}">
                <a16:creationId xmlns:a16="http://schemas.microsoft.com/office/drawing/2014/main" id="{7BC7F20F-5DAF-374D-5D5D-67C3C876F648}"/>
              </a:ext>
            </a:extLst>
          </p:cNvPr>
          <p:cNvSpPr txBox="1"/>
          <p:nvPr/>
        </p:nvSpPr>
        <p:spPr>
          <a:xfrm>
            <a:off x="1523535" y="895750"/>
            <a:ext cx="324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Titanic-dataset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68DA82-C844-B5F3-63ED-2DD7850AC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774397"/>
              </p:ext>
            </p:extLst>
          </p:nvPr>
        </p:nvGraphicFramePr>
        <p:xfrm>
          <a:off x="988382" y="1265082"/>
          <a:ext cx="570394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788">
                  <a:extLst>
                    <a:ext uri="{9D8B030D-6E8A-4147-A177-3AD203B41FA5}">
                      <a16:colId xmlns:a16="http://schemas.microsoft.com/office/drawing/2014/main" val="297074867"/>
                    </a:ext>
                  </a:extLst>
                </a:gridCol>
                <a:gridCol w="926336">
                  <a:extLst>
                    <a:ext uri="{9D8B030D-6E8A-4147-A177-3AD203B41FA5}">
                      <a16:colId xmlns:a16="http://schemas.microsoft.com/office/drawing/2014/main" val="871078992"/>
                    </a:ext>
                  </a:extLst>
                </a:gridCol>
                <a:gridCol w="987136">
                  <a:extLst>
                    <a:ext uri="{9D8B030D-6E8A-4147-A177-3AD203B41FA5}">
                      <a16:colId xmlns:a16="http://schemas.microsoft.com/office/drawing/2014/main" val="2768932971"/>
                    </a:ext>
                  </a:extLst>
                </a:gridCol>
                <a:gridCol w="1508892">
                  <a:extLst>
                    <a:ext uri="{9D8B030D-6E8A-4147-A177-3AD203B41FA5}">
                      <a16:colId xmlns:a16="http://schemas.microsoft.com/office/drawing/2014/main" val="2981508375"/>
                    </a:ext>
                  </a:extLst>
                </a:gridCol>
                <a:gridCol w="1140788">
                  <a:extLst>
                    <a:ext uri="{9D8B030D-6E8A-4147-A177-3AD203B41FA5}">
                      <a16:colId xmlns:a16="http://schemas.microsoft.com/office/drawing/2014/main" val="1773520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Passenger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Pclass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Survived</a:t>
                      </a:r>
                      <a:r>
                        <a:rPr lang="nl-NL" dirty="0"/>
                        <a:t> (target)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9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82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6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21362"/>
                  </a:ext>
                </a:extLst>
              </a:tr>
            </a:tbl>
          </a:graphicData>
        </a:graphic>
      </p:graphicFrame>
      <p:sp>
        <p:nvSpPr>
          <p:cNvPr id="9" name="Tekstvak 35">
            <a:extLst>
              <a:ext uri="{FF2B5EF4-FFF2-40B4-BE49-F238E27FC236}">
                <a16:creationId xmlns:a16="http://schemas.microsoft.com/office/drawing/2014/main" id="{E012B71A-A28F-940F-E649-12D01D3403CC}"/>
              </a:ext>
            </a:extLst>
          </p:cNvPr>
          <p:cNvSpPr txBox="1"/>
          <p:nvPr/>
        </p:nvSpPr>
        <p:spPr>
          <a:xfrm>
            <a:off x="6938682" y="1080416"/>
            <a:ext cx="51021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van deze dataset is</a:t>
            </a:r>
          </a:p>
          <a:p>
            <a:pPr algn="ctr"/>
            <a:r>
              <a:rPr lang="nl-NL" dirty="0"/>
              <a:t>1 – (2/4)^2 – (2/4)^2 = 0,50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Het </a:t>
            </a:r>
            <a:r>
              <a:rPr lang="nl-NL" dirty="0" err="1"/>
              <a:t>DecisionTree</a:t>
            </a:r>
            <a:r>
              <a:rPr lang="nl-NL" dirty="0"/>
              <a:t>-algoritme probeert deze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te </a:t>
            </a:r>
            <a:r>
              <a:rPr lang="nl-NL" u="sng" dirty="0"/>
              <a:t>verminderen</a:t>
            </a:r>
            <a:r>
              <a:rPr lang="nl-NL" dirty="0"/>
              <a:t> door het maken van “</a:t>
            </a:r>
            <a:r>
              <a:rPr lang="nl-NL" dirty="0" err="1"/>
              <a:t>stumps</a:t>
            </a:r>
            <a:r>
              <a:rPr lang="nl-NL" dirty="0"/>
              <a:t>”: kleine beslisboompjes die de dataset </a:t>
            </a:r>
            <a:r>
              <a:rPr lang="nl-NL" u="sng" dirty="0"/>
              <a:t>onderverdelen</a:t>
            </a:r>
            <a:r>
              <a:rPr lang="nl-NL" dirty="0"/>
              <a:t> volgens slechts één splitsvoorwaarde</a:t>
            </a:r>
          </a:p>
        </p:txBody>
      </p:sp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3B35B73E-CB12-4400-0DB8-2959D605D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968" y="3469479"/>
            <a:ext cx="5235950" cy="18899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D2CD92-6E3C-674F-16F8-AF7DC39D97AC}"/>
              </a:ext>
            </a:extLst>
          </p:cNvPr>
          <p:cNvSpPr txBox="1"/>
          <p:nvPr/>
        </p:nvSpPr>
        <p:spPr>
          <a:xfrm>
            <a:off x="5757474" y="3690277"/>
            <a:ext cx="154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solidFill>
                  <a:schemeClr val="bg1"/>
                </a:solidFill>
              </a:rPr>
              <a:t>Sex</a:t>
            </a:r>
            <a:r>
              <a:rPr lang="nl-NL" dirty="0">
                <a:solidFill>
                  <a:schemeClr val="bg1"/>
                </a:solidFill>
              </a:rPr>
              <a:t> == </a:t>
            </a:r>
            <a:r>
              <a:rPr lang="nl-NL" dirty="0" err="1">
                <a:solidFill>
                  <a:schemeClr val="bg1"/>
                </a:solidFill>
              </a:rPr>
              <a:t>female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A431C3-93CF-C940-A2FD-E4A17293690C}"/>
              </a:ext>
            </a:extLst>
          </p:cNvPr>
          <p:cNvSpPr txBox="1"/>
          <p:nvPr/>
        </p:nvSpPr>
        <p:spPr>
          <a:xfrm>
            <a:off x="4058560" y="4713073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2</a:t>
            </a:r>
          </a:p>
          <a:p>
            <a:r>
              <a:rPr lang="nl-NL" dirty="0">
                <a:solidFill>
                  <a:schemeClr val="bg1"/>
                </a:solidFill>
              </a:rPr>
              <a:t>Dead: 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D4086-5CBE-4CEF-8F73-EBA27F8EBD40}"/>
              </a:ext>
            </a:extLst>
          </p:cNvPr>
          <p:cNvSpPr txBox="1"/>
          <p:nvPr/>
        </p:nvSpPr>
        <p:spPr>
          <a:xfrm>
            <a:off x="7546442" y="4713072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0</a:t>
            </a:r>
          </a:p>
          <a:p>
            <a:r>
              <a:rPr lang="nl-NL" dirty="0">
                <a:solidFill>
                  <a:schemeClr val="bg1"/>
                </a:solidFill>
              </a:rPr>
              <a:t>Dead: 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37C2D9-4664-13E5-8C3C-4EFBC9A2BEE5}"/>
              </a:ext>
            </a:extLst>
          </p:cNvPr>
          <p:cNvSpPr txBox="1"/>
          <p:nvPr/>
        </p:nvSpPr>
        <p:spPr>
          <a:xfrm>
            <a:off x="1992168" y="5914005"/>
            <a:ext cx="91959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van deze totale </a:t>
            </a:r>
            <a:r>
              <a:rPr lang="nl-NL" dirty="0" err="1"/>
              <a:t>stump</a:t>
            </a:r>
            <a:r>
              <a:rPr lang="nl-NL" dirty="0"/>
              <a:t> is</a:t>
            </a:r>
          </a:p>
          <a:p>
            <a:pPr algn="ctr"/>
            <a:r>
              <a:rPr lang="nl-NL" b="1" dirty="0"/>
              <a:t>Gewicht_ </a:t>
            </a:r>
            <a:r>
              <a:rPr lang="nl-NL" b="1" dirty="0" err="1"/>
              <a:t>female</a:t>
            </a:r>
            <a:r>
              <a:rPr lang="nl-NL" b="1" dirty="0"/>
              <a:t> x </a:t>
            </a:r>
            <a:r>
              <a:rPr lang="nl-NL" b="1" dirty="0" err="1"/>
              <a:t>Impurity_female</a:t>
            </a:r>
            <a:r>
              <a:rPr lang="nl-NL" b="1" dirty="0"/>
              <a:t> + Gewicht_ male x </a:t>
            </a:r>
            <a:r>
              <a:rPr lang="nl-NL" b="1" dirty="0" err="1"/>
              <a:t>Impurity_male</a:t>
            </a:r>
            <a:r>
              <a:rPr lang="nl-NL" b="1" dirty="0"/>
              <a:t> =</a:t>
            </a:r>
          </a:p>
          <a:p>
            <a:pPr algn="ctr"/>
            <a:r>
              <a:rPr lang="nl-NL" b="1" dirty="0"/>
              <a:t>(2/4) x 0 + (2/4) x 0 =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D887F2-7E0E-82DC-B48E-65AFF032B650}"/>
              </a:ext>
            </a:extLst>
          </p:cNvPr>
          <p:cNvSpPr txBox="1"/>
          <p:nvPr/>
        </p:nvSpPr>
        <p:spPr>
          <a:xfrm>
            <a:off x="1013725" y="3666343"/>
            <a:ext cx="27592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Totaal aantal items: 4</a:t>
            </a:r>
          </a:p>
          <a:p>
            <a:r>
              <a:rPr lang="nl-NL" dirty="0"/>
              <a:t>Aantal </a:t>
            </a:r>
            <a:r>
              <a:rPr lang="nl-NL" dirty="0" err="1"/>
              <a:t>female</a:t>
            </a:r>
            <a:r>
              <a:rPr lang="nl-NL" dirty="0"/>
              <a:t>: 2</a:t>
            </a:r>
          </a:p>
          <a:p>
            <a:r>
              <a:rPr lang="nl-NL" dirty="0" err="1"/>
              <a:t>Gewicht_female</a:t>
            </a:r>
            <a:r>
              <a:rPr lang="nl-NL" dirty="0"/>
              <a:t>: (2/4)</a:t>
            </a:r>
          </a:p>
          <a:p>
            <a:endParaRPr lang="nl-NL" dirty="0"/>
          </a:p>
          <a:p>
            <a:r>
              <a:rPr lang="nl-NL" dirty="0"/>
              <a:t>Kans op 2 </a:t>
            </a:r>
            <a:r>
              <a:rPr lang="nl-NL" dirty="0" err="1"/>
              <a:t>survived</a:t>
            </a:r>
            <a:r>
              <a:rPr lang="nl-NL" dirty="0"/>
              <a:t>: (2/2)^2</a:t>
            </a:r>
          </a:p>
          <a:p>
            <a:r>
              <a:rPr lang="nl-NL" dirty="0"/>
              <a:t>Kans op 2 dead: (0/2)^2</a:t>
            </a:r>
          </a:p>
          <a:p>
            <a:r>
              <a:rPr lang="nl-NL" dirty="0" err="1"/>
              <a:t>Impurity_female</a:t>
            </a:r>
            <a:r>
              <a:rPr lang="nl-NL" dirty="0"/>
              <a:t>:</a:t>
            </a:r>
          </a:p>
          <a:p>
            <a:r>
              <a:rPr lang="nl-NL" dirty="0"/>
              <a:t>1 – (2/2)^2 – (0/2)^2 =</a:t>
            </a:r>
            <a:r>
              <a:rPr lang="nl-NL" b="1" dirty="0"/>
              <a:t> </a:t>
            </a:r>
            <a:r>
              <a:rPr lang="nl-NL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3E3278-A732-625D-9460-F1B7DF43444E}"/>
              </a:ext>
            </a:extLst>
          </p:cNvPr>
          <p:cNvSpPr txBox="1"/>
          <p:nvPr/>
        </p:nvSpPr>
        <p:spPr>
          <a:xfrm>
            <a:off x="9366213" y="3666343"/>
            <a:ext cx="28763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Totaal aantal items: 4</a:t>
            </a:r>
          </a:p>
          <a:p>
            <a:r>
              <a:rPr lang="nl-NL" dirty="0"/>
              <a:t>Aantal male: 2</a:t>
            </a:r>
          </a:p>
          <a:p>
            <a:r>
              <a:rPr lang="nl-NL" dirty="0" err="1"/>
              <a:t>Gewicht_male</a:t>
            </a:r>
            <a:r>
              <a:rPr lang="nl-NL" dirty="0"/>
              <a:t>: (2/4)</a:t>
            </a:r>
          </a:p>
          <a:p>
            <a:endParaRPr lang="nl-NL" dirty="0"/>
          </a:p>
          <a:p>
            <a:r>
              <a:rPr lang="nl-NL" dirty="0"/>
              <a:t>Kans op 2 </a:t>
            </a:r>
            <a:r>
              <a:rPr lang="nl-NL" dirty="0" err="1"/>
              <a:t>survived</a:t>
            </a:r>
            <a:r>
              <a:rPr lang="nl-NL" dirty="0"/>
              <a:t>: (0/2)^2</a:t>
            </a:r>
          </a:p>
          <a:p>
            <a:r>
              <a:rPr lang="nl-NL" dirty="0"/>
              <a:t>Kans op 2 dead: (2/2)^2</a:t>
            </a:r>
          </a:p>
          <a:p>
            <a:r>
              <a:rPr lang="nl-NL" dirty="0" err="1"/>
              <a:t>Impurity_male</a:t>
            </a:r>
            <a:r>
              <a:rPr lang="nl-NL" dirty="0"/>
              <a:t>:</a:t>
            </a:r>
          </a:p>
          <a:p>
            <a:r>
              <a:rPr lang="nl-NL" dirty="0"/>
              <a:t>1 – (2/2)^2 – (0/2)^2 =</a:t>
            </a:r>
            <a:r>
              <a:rPr lang="nl-NL" b="1" dirty="0"/>
              <a:t> </a:t>
            </a:r>
            <a:r>
              <a:rPr lang="nl-NL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53ED1-2155-9370-2943-61E2603D3497}"/>
              </a:ext>
            </a:extLst>
          </p:cNvPr>
          <p:cNvSpPr txBox="1"/>
          <p:nvPr/>
        </p:nvSpPr>
        <p:spPr>
          <a:xfrm>
            <a:off x="4208318" y="4115590"/>
            <a:ext cx="1477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true-branch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0638D-D22D-7CC2-8BD5-F2896E08174F}"/>
              </a:ext>
            </a:extLst>
          </p:cNvPr>
          <p:cNvSpPr txBox="1"/>
          <p:nvPr/>
        </p:nvSpPr>
        <p:spPr>
          <a:xfrm>
            <a:off x="7212856" y="4100182"/>
            <a:ext cx="1477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false-branch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260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C6B8-974B-4245-0926-E42446605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F6550627-1533-46EF-9CDF-C5FA7B493ED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A7FA7F6-9FD4-D8BE-8CAE-20A4622D147A}"/>
              </a:ext>
            </a:extLst>
          </p:cNvPr>
          <p:cNvSpPr txBox="1"/>
          <p:nvPr/>
        </p:nvSpPr>
        <p:spPr>
          <a:xfrm>
            <a:off x="988290" y="0"/>
            <a:ext cx="1140806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tweede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stump: “age”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i.p.v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. “sex”</a:t>
            </a: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A3B5DC86-1E9D-BD62-916E-95E58B4DFCF1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35">
            <a:extLst>
              <a:ext uri="{FF2B5EF4-FFF2-40B4-BE49-F238E27FC236}">
                <a16:creationId xmlns:a16="http://schemas.microsoft.com/office/drawing/2014/main" id="{897F7558-F9BB-912C-D94E-F85B473D4C4C}"/>
              </a:ext>
            </a:extLst>
          </p:cNvPr>
          <p:cNvSpPr txBox="1"/>
          <p:nvPr/>
        </p:nvSpPr>
        <p:spPr>
          <a:xfrm>
            <a:off x="1523535" y="895750"/>
            <a:ext cx="324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Titanic-dataset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BEBCA1-1D9C-BD8F-2C7D-79EFDB0D1747}"/>
              </a:ext>
            </a:extLst>
          </p:cNvPr>
          <p:cNvGraphicFramePr>
            <a:graphicFrameLocks noGrp="1"/>
          </p:cNvGraphicFramePr>
          <p:nvPr/>
        </p:nvGraphicFramePr>
        <p:xfrm>
          <a:off x="988382" y="1265082"/>
          <a:ext cx="570394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788">
                  <a:extLst>
                    <a:ext uri="{9D8B030D-6E8A-4147-A177-3AD203B41FA5}">
                      <a16:colId xmlns:a16="http://schemas.microsoft.com/office/drawing/2014/main" val="297074867"/>
                    </a:ext>
                  </a:extLst>
                </a:gridCol>
                <a:gridCol w="926336">
                  <a:extLst>
                    <a:ext uri="{9D8B030D-6E8A-4147-A177-3AD203B41FA5}">
                      <a16:colId xmlns:a16="http://schemas.microsoft.com/office/drawing/2014/main" val="871078992"/>
                    </a:ext>
                  </a:extLst>
                </a:gridCol>
                <a:gridCol w="987136">
                  <a:extLst>
                    <a:ext uri="{9D8B030D-6E8A-4147-A177-3AD203B41FA5}">
                      <a16:colId xmlns:a16="http://schemas.microsoft.com/office/drawing/2014/main" val="2768932971"/>
                    </a:ext>
                  </a:extLst>
                </a:gridCol>
                <a:gridCol w="1508892">
                  <a:extLst>
                    <a:ext uri="{9D8B030D-6E8A-4147-A177-3AD203B41FA5}">
                      <a16:colId xmlns:a16="http://schemas.microsoft.com/office/drawing/2014/main" val="2981508375"/>
                    </a:ext>
                  </a:extLst>
                </a:gridCol>
                <a:gridCol w="1140788">
                  <a:extLst>
                    <a:ext uri="{9D8B030D-6E8A-4147-A177-3AD203B41FA5}">
                      <a16:colId xmlns:a16="http://schemas.microsoft.com/office/drawing/2014/main" val="1773520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Passenger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Pclass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Survived</a:t>
                      </a:r>
                      <a:r>
                        <a:rPr lang="nl-NL" dirty="0"/>
                        <a:t> (target)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9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82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6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21362"/>
                  </a:ext>
                </a:extLst>
              </a:tr>
            </a:tbl>
          </a:graphicData>
        </a:graphic>
      </p:graphicFrame>
      <p:sp>
        <p:nvSpPr>
          <p:cNvPr id="9" name="Tekstvak 35">
            <a:extLst>
              <a:ext uri="{FF2B5EF4-FFF2-40B4-BE49-F238E27FC236}">
                <a16:creationId xmlns:a16="http://schemas.microsoft.com/office/drawing/2014/main" id="{BECE4D48-8DF2-196E-D6F0-CFD7DEE7094B}"/>
              </a:ext>
            </a:extLst>
          </p:cNvPr>
          <p:cNvSpPr txBox="1"/>
          <p:nvPr/>
        </p:nvSpPr>
        <p:spPr>
          <a:xfrm>
            <a:off x="7310026" y="1080416"/>
            <a:ext cx="47308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van deze dataset is</a:t>
            </a:r>
          </a:p>
          <a:p>
            <a:pPr algn="ctr"/>
            <a:r>
              <a:rPr lang="nl-NL" dirty="0"/>
              <a:t>1 – (2/4)^2 – (2/4)^2 = 0,50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Het </a:t>
            </a:r>
            <a:r>
              <a:rPr lang="nl-NL" dirty="0" err="1"/>
              <a:t>DecisionTree</a:t>
            </a:r>
            <a:r>
              <a:rPr lang="nl-NL" dirty="0"/>
              <a:t>-algoritme probeert deze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te </a:t>
            </a:r>
            <a:r>
              <a:rPr lang="nl-NL" u="sng" dirty="0"/>
              <a:t>verminderen</a:t>
            </a:r>
            <a:r>
              <a:rPr lang="nl-NL" dirty="0"/>
              <a:t> door het maken van “</a:t>
            </a:r>
            <a:r>
              <a:rPr lang="nl-NL" dirty="0" err="1"/>
              <a:t>stumps</a:t>
            </a:r>
            <a:r>
              <a:rPr lang="nl-NL" dirty="0"/>
              <a:t>”: kleine beslisboompjes die de dataset </a:t>
            </a:r>
            <a:r>
              <a:rPr lang="nl-NL" u="sng" dirty="0"/>
              <a:t>onderverdelen</a:t>
            </a:r>
            <a:r>
              <a:rPr lang="nl-NL" dirty="0"/>
              <a:t> volgens slechts één criterium</a:t>
            </a:r>
          </a:p>
        </p:txBody>
      </p:sp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932BF768-A084-E67C-BB51-2AB7CBBE6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968" y="3469479"/>
            <a:ext cx="5235950" cy="18899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9C44AD-857F-A52C-2349-2BBF2DF5707B}"/>
              </a:ext>
            </a:extLst>
          </p:cNvPr>
          <p:cNvSpPr txBox="1"/>
          <p:nvPr/>
        </p:nvSpPr>
        <p:spPr>
          <a:xfrm>
            <a:off x="5757474" y="3690277"/>
            <a:ext cx="154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Age &lt; 28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D72803-B260-D565-EA5D-E3B654782D3E}"/>
              </a:ext>
            </a:extLst>
          </p:cNvPr>
          <p:cNvSpPr txBox="1"/>
          <p:nvPr/>
        </p:nvSpPr>
        <p:spPr>
          <a:xfrm>
            <a:off x="4058560" y="4713073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1</a:t>
            </a:r>
          </a:p>
          <a:p>
            <a:r>
              <a:rPr lang="nl-NL" dirty="0">
                <a:solidFill>
                  <a:schemeClr val="bg1"/>
                </a:solidFill>
              </a:rPr>
              <a:t>Dead: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E6C508-249B-534E-4D29-752C9AE01C14}"/>
              </a:ext>
            </a:extLst>
          </p:cNvPr>
          <p:cNvSpPr txBox="1"/>
          <p:nvPr/>
        </p:nvSpPr>
        <p:spPr>
          <a:xfrm>
            <a:off x="7546442" y="4713072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1</a:t>
            </a:r>
          </a:p>
          <a:p>
            <a:r>
              <a:rPr lang="nl-NL" dirty="0">
                <a:solidFill>
                  <a:schemeClr val="bg1"/>
                </a:solidFill>
              </a:rPr>
              <a:t>Dead: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CF3FF0-41CA-4F84-7B5F-9C625B72D57F}"/>
              </a:ext>
            </a:extLst>
          </p:cNvPr>
          <p:cNvSpPr txBox="1"/>
          <p:nvPr/>
        </p:nvSpPr>
        <p:spPr>
          <a:xfrm>
            <a:off x="1992168" y="5914005"/>
            <a:ext cx="91959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van deze totale </a:t>
            </a:r>
            <a:r>
              <a:rPr lang="nl-NL" dirty="0" err="1"/>
              <a:t>stump</a:t>
            </a:r>
            <a:r>
              <a:rPr lang="nl-NL" dirty="0"/>
              <a:t> is</a:t>
            </a:r>
          </a:p>
          <a:p>
            <a:pPr algn="ctr"/>
            <a:r>
              <a:rPr lang="nl-NL" b="1" dirty="0"/>
              <a:t>Gewicht_ </a:t>
            </a:r>
            <a:r>
              <a:rPr lang="nl-NL" b="1" dirty="0" err="1"/>
              <a:t>female</a:t>
            </a:r>
            <a:r>
              <a:rPr lang="nl-NL" b="1" dirty="0"/>
              <a:t> x </a:t>
            </a:r>
            <a:r>
              <a:rPr lang="nl-NL" b="1" dirty="0" err="1"/>
              <a:t>Impurity_female</a:t>
            </a:r>
            <a:r>
              <a:rPr lang="nl-NL" b="1" dirty="0"/>
              <a:t> + Gewicht_ male x </a:t>
            </a:r>
            <a:r>
              <a:rPr lang="nl-NL" b="1" dirty="0" err="1"/>
              <a:t>Impurity_male</a:t>
            </a:r>
            <a:r>
              <a:rPr lang="nl-NL" b="1" dirty="0"/>
              <a:t> =</a:t>
            </a:r>
          </a:p>
          <a:p>
            <a:pPr algn="ctr"/>
            <a:r>
              <a:rPr lang="nl-NL" b="1" dirty="0"/>
              <a:t>(2/4) x 0,5 + (2/4) x 0,5 = 0,5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CE6C3C-C621-C00B-DC72-283926B324D3}"/>
              </a:ext>
            </a:extLst>
          </p:cNvPr>
          <p:cNvSpPr txBox="1"/>
          <p:nvPr/>
        </p:nvSpPr>
        <p:spPr>
          <a:xfrm>
            <a:off x="1013725" y="3666343"/>
            <a:ext cx="27592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Totaal aantal items: 4</a:t>
            </a:r>
          </a:p>
          <a:p>
            <a:r>
              <a:rPr lang="nl-NL" dirty="0"/>
              <a:t>Aantal &lt; 28: 2</a:t>
            </a:r>
          </a:p>
          <a:p>
            <a:r>
              <a:rPr lang="nl-NL" dirty="0"/>
              <a:t>Gewicht_under_28: (2/4)</a:t>
            </a:r>
          </a:p>
          <a:p>
            <a:endParaRPr lang="nl-NL" dirty="0"/>
          </a:p>
          <a:p>
            <a:r>
              <a:rPr lang="nl-NL" dirty="0"/>
              <a:t>Kans op 2 </a:t>
            </a:r>
            <a:r>
              <a:rPr lang="nl-NL" dirty="0" err="1"/>
              <a:t>survived</a:t>
            </a:r>
            <a:r>
              <a:rPr lang="nl-NL" dirty="0"/>
              <a:t>: (1/2)^2</a:t>
            </a:r>
          </a:p>
          <a:p>
            <a:r>
              <a:rPr lang="nl-NL" dirty="0"/>
              <a:t>Kans op 2 dead: (1/2)^2</a:t>
            </a:r>
          </a:p>
          <a:p>
            <a:r>
              <a:rPr lang="nl-NL" dirty="0"/>
              <a:t>Impurity_under_28:</a:t>
            </a:r>
          </a:p>
          <a:p>
            <a:r>
              <a:rPr lang="nl-NL" dirty="0"/>
              <a:t>1 – (1/2)^2 – (1/2)^2 =</a:t>
            </a:r>
            <a:r>
              <a:rPr lang="nl-NL" b="1" dirty="0"/>
              <a:t> </a:t>
            </a:r>
            <a:r>
              <a:rPr lang="nl-NL" dirty="0"/>
              <a:t>0,5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19C881-D042-1151-98D9-FB2708A5C4F5}"/>
              </a:ext>
            </a:extLst>
          </p:cNvPr>
          <p:cNvSpPr txBox="1"/>
          <p:nvPr/>
        </p:nvSpPr>
        <p:spPr>
          <a:xfrm>
            <a:off x="9366213" y="3666343"/>
            <a:ext cx="28763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Totaal aantal items: 4</a:t>
            </a:r>
          </a:p>
          <a:p>
            <a:r>
              <a:rPr lang="nl-NL" dirty="0"/>
              <a:t>Aantal &gt;= 28: 2</a:t>
            </a:r>
          </a:p>
          <a:p>
            <a:r>
              <a:rPr lang="nl-NL" dirty="0"/>
              <a:t>Gewicht_at_least_28: (2/4)</a:t>
            </a:r>
          </a:p>
          <a:p>
            <a:endParaRPr lang="nl-NL" dirty="0"/>
          </a:p>
          <a:p>
            <a:r>
              <a:rPr lang="nl-NL" dirty="0"/>
              <a:t>Kans op 2 </a:t>
            </a:r>
            <a:r>
              <a:rPr lang="nl-NL" dirty="0" err="1"/>
              <a:t>survived</a:t>
            </a:r>
            <a:r>
              <a:rPr lang="nl-NL" dirty="0"/>
              <a:t>: (1/2)^2</a:t>
            </a:r>
          </a:p>
          <a:p>
            <a:r>
              <a:rPr lang="nl-NL" dirty="0"/>
              <a:t>Kans op 2 dead: (1/2)^2</a:t>
            </a:r>
          </a:p>
          <a:p>
            <a:r>
              <a:rPr lang="nl-NL" dirty="0"/>
              <a:t>Impurity_at_least_28:</a:t>
            </a:r>
          </a:p>
          <a:p>
            <a:r>
              <a:rPr lang="nl-NL" dirty="0"/>
              <a:t>1 – (1/2)^2 – (1/2)^2 =</a:t>
            </a:r>
            <a:r>
              <a:rPr lang="nl-NL" b="1" dirty="0"/>
              <a:t> </a:t>
            </a:r>
            <a:r>
              <a:rPr lang="nl-NL" dirty="0"/>
              <a:t>0,5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65DA0-727A-B27C-8BB8-93ABC8CBBB4B}"/>
              </a:ext>
            </a:extLst>
          </p:cNvPr>
          <p:cNvSpPr txBox="1"/>
          <p:nvPr/>
        </p:nvSpPr>
        <p:spPr>
          <a:xfrm>
            <a:off x="4208318" y="4115590"/>
            <a:ext cx="1477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true-branch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CC62A-B2C0-DBFB-4E7F-E0DBCE110A43}"/>
              </a:ext>
            </a:extLst>
          </p:cNvPr>
          <p:cNvSpPr txBox="1"/>
          <p:nvPr/>
        </p:nvSpPr>
        <p:spPr>
          <a:xfrm>
            <a:off x="7212856" y="4100182"/>
            <a:ext cx="1477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false-branch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428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822D-5D44-D17D-B934-00215A2A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DB30487F-165E-F352-8001-1633419E7639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B18FEE9-EBC4-F2C0-2D8E-65C268A04F29}"/>
              </a:ext>
            </a:extLst>
          </p:cNvPr>
          <p:cNvSpPr txBox="1"/>
          <p:nvPr/>
        </p:nvSpPr>
        <p:spPr>
          <a:xfrm>
            <a:off x="988290" y="0"/>
            <a:ext cx="1140806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derde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stump:</a:t>
            </a:r>
            <a:r>
              <a:rPr kumimoji="0" lang="en-US" sz="3000" b="1" i="0" u="none" strike="noStrike" kern="1200" cap="none" spc="0" normalizeH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een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andere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grens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voor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“age”</a:t>
            </a: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668D67D0-1E53-6F35-A7A0-58B7AC113E43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35">
            <a:extLst>
              <a:ext uri="{FF2B5EF4-FFF2-40B4-BE49-F238E27FC236}">
                <a16:creationId xmlns:a16="http://schemas.microsoft.com/office/drawing/2014/main" id="{896DE031-14EF-3DD9-5093-F4E83CD852B3}"/>
              </a:ext>
            </a:extLst>
          </p:cNvPr>
          <p:cNvSpPr txBox="1"/>
          <p:nvPr/>
        </p:nvSpPr>
        <p:spPr>
          <a:xfrm>
            <a:off x="1523535" y="895750"/>
            <a:ext cx="3245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Titanic-dataset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589A56-42F7-F566-0B97-38349BF65526}"/>
              </a:ext>
            </a:extLst>
          </p:cNvPr>
          <p:cNvGraphicFramePr>
            <a:graphicFrameLocks noGrp="1"/>
          </p:cNvGraphicFramePr>
          <p:nvPr/>
        </p:nvGraphicFramePr>
        <p:xfrm>
          <a:off x="988382" y="1265082"/>
          <a:ext cx="570394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788">
                  <a:extLst>
                    <a:ext uri="{9D8B030D-6E8A-4147-A177-3AD203B41FA5}">
                      <a16:colId xmlns:a16="http://schemas.microsoft.com/office/drawing/2014/main" val="297074867"/>
                    </a:ext>
                  </a:extLst>
                </a:gridCol>
                <a:gridCol w="926336">
                  <a:extLst>
                    <a:ext uri="{9D8B030D-6E8A-4147-A177-3AD203B41FA5}">
                      <a16:colId xmlns:a16="http://schemas.microsoft.com/office/drawing/2014/main" val="871078992"/>
                    </a:ext>
                  </a:extLst>
                </a:gridCol>
                <a:gridCol w="987136">
                  <a:extLst>
                    <a:ext uri="{9D8B030D-6E8A-4147-A177-3AD203B41FA5}">
                      <a16:colId xmlns:a16="http://schemas.microsoft.com/office/drawing/2014/main" val="2768932971"/>
                    </a:ext>
                  </a:extLst>
                </a:gridCol>
                <a:gridCol w="1508892">
                  <a:extLst>
                    <a:ext uri="{9D8B030D-6E8A-4147-A177-3AD203B41FA5}">
                      <a16:colId xmlns:a16="http://schemas.microsoft.com/office/drawing/2014/main" val="2981508375"/>
                    </a:ext>
                  </a:extLst>
                </a:gridCol>
                <a:gridCol w="1140788">
                  <a:extLst>
                    <a:ext uri="{9D8B030D-6E8A-4147-A177-3AD203B41FA5}">
                      <a16:colId xmlns:a16="http://schemas.microsoft.com/office/drawing/2014/main" val="1773520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Passenger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Pclass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Survived</a:t>
                      </a:r>
                      <a:r>
                        <a:rPr lang="nl-NL" dirty="0"/>
                        <a:t> (target)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9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82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6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21362"/>
                  </a:ext>
                </a:extLst>
              </a:tr>
            </a:tbl>
          </a:graphicData>
        </a:graphic>
      </p:graphicFrame>
      <p:sp>
        <p:nvSpPr>
          <p:cNvPr id="9" name="Tekstvak 35">
            <a:extLst>
              <a:ext uri="{FF2B5EF4-FFF2-40B4-BE49-F238E27FC236}">
                <a16:creationId xmlns:a16="http://schemas.microsoft.com/office/drawing/2014/main" id="{D7699022-1513-870A-8877-35BBE7F2E194}"/>
              </a:ext>
            </a:extLst>
          </p:cNvPr>
          <p:cNvSpPr txBox="1"/>
          <p:nvPr/>
        </p:nvSpPr>
        <p:spPr>
          <a:xfrm>
            <a:off x="7310026" y="1080416"/>
            <a:ext cx="47308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van deze dataset is</a:t>
            </a:r>
          </a:p>
          <a:p>
            <a:pPr algn="ctr"/>
            <a:r>
              <a:rPr lang="nl-NL" dirty="0"/>
              <a:t>1 – (2/4)^2 – (2/4)^2 = 0,50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Het </a:t>
            </a:r>
            <a:r>
              <a:rPr lang="nl-NL" dirty="0" err="1"/>
              <a:t>DecisionTree</a:t>
            </a:r>
            <a:r>
              <a:rPr lang="nl-NL" dirty="0"/>
              <a:t>-algoritme probeert deze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te </a:t>
            </a:r>
            <a:r>
              <a:rPr lang="nl-NL" u="sng" dirty="0"/>
              <a:t>verminderen</a:t>
            </a:r>
            <a:r>
              <a:rPr lang="nl-NL" dirty="0"/>
              <a:t> door het maken van “</a:t>
            </a:r>
            <a:r>
              <a:rPr lang="nl-NL" dirty="0" err="1"/>
              <a:t>stumps</a:t>
            </a:r>
            <a:r>
              <a:rPr lang="nl-NL" dirty="0"/>
              <a:t>”: kleine beslisboompjes die de dataset </a:t>
            </a:r>
            <a:r>
              <a:rPr lang="nl-NL" u="sng" dirty="0"/>
              <a:t>onderverdelen</a:t>
            </a:r>
            <a:r>
              <a:rPr lang="nl-NL" dirty="0"/>
              <a:t> volgens slechts één criterium</a:t>
            </a:r>
          </a:p>
        </p:txBody>
      </p:sp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0138D13A-3064-DE4E-B22B-196576A21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968" y="3469479"/>
            <a:ext cx="5235950" cy="18899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52BF5A-6BC6-0CA3-DBE4-33BFB778639D}"/>
              </a:ext>
            </a:extLst>
          </p:cNvPr>
          <p:cNvSpPr txBox="1"/>
          <p:nvPr/>
        </p:nvSpPr>
        <p:spPr>
          <a:xfrm>
            <a:off x="5757474" y="3690277"/>
            <a:ext cx="154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Age &lt; 33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0CC7B-66E5-A1A9-32AE-0751730D8088}"/>
              </a:ext>
            </a:extLst>
          </p:cNvPr>
          <p:cNvSpPr txBox="1"/>
          <p:nvPr/>
        </p:nvSpPr>
        <p:spPr>
          <a:xfrm>
            <a:off x="4058560" y="4713073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2</a:t>
            </a:r>
          </a:p>
          <a:p>
            <a:r>
              <a:rPr lang="nl-NL" dirty="0">
                <a:solidFill>
                  <a:schemeClr val="bg1"/>
                </a:solidFill>
              </a:rPr>
              <a:t>Dead: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F0E296-69D2-BC57-3D8A-8037B6F11ED4}"/>
              </a:ext>
            </a:extLst>
          </p:cNvPr>
          <p:cNvSpPr txBox="1"/>
          <p:nvPr/>
        </p:nvSpPr>
        <p:spPr>
          <a:xfrm>
            <a:off x="7546442" y="4713072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0</a:t>
            </a:r>
          </a:p>
          <a:p>
            <a:r>
              <a:rPr lang="nl-NL" dirty="0">
                <a:solidFill>
                  <a:schemeClr val="bg1"/>
                </a:solidFill>
              </a:rPr>
              <a:t>Dead: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A5511-3537-44B6-E01E-D5CF5976B25F}"/>
              </a:ext>
            </a:extLst>
          </p:cNvPr>
          <p:cNvSpPr txBox="1"/>
          <p:nvPr/>
        </p:nvSpPr>
        <p:spPr>
          <a:xfrm>
            <a:off x="1992168" y="5914005"/>
            <a:ext cx="91959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gini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van deze totale </a:t>
            </a:r>
            <a:r>
              <a:rPr lang="nl-NL" dirty="0" err="1"/>
              <a:t>stump</a:t>
            </a:r>
            <a:r>
              <a:rPr lang="nl-NL" dirty="0"/>
              <a:t> is</a:t>
            </a:r>
          </a:p>
          <a:p>
            <a:pPr algn="ctr"/>
            <a:r>
              <a:rPr lang="nl-NL" b="1" dirty="0"/>
              <a:t>Gewicht_ </a:t>
            </a:r>
            <a:r>
              <a:rPr lang="nl-NL" b="1" dirty="0" err="1"/>
              <a:t>female</a:t>
            </a:r>
            <a:r>
              <a:rPr lang="nl-NL" b="1" dirty="0"/>
              <a:t> x </a:t>
            </a:r>
            <a:r>
              <a:rPr lang="nl-NL" b="1" dirty="0" err="1"/>
              <a:t>Impurity_female</a:t>
            </a:r>
            <a:r>
              <a:rPr lang="nl-NL" b="1" dirty="0"/>
              <a:t> + Gewicht_ male x </a:t>
            </a:r>
            <a:r>
              <a:rPr lang="nl-NL" b="1" dirty="0" err="1"/>
              <a:t>Impurity_male</a:t>
            </a:r>
            <a:r>
              <a:rPr lang="nl-NL" b="1" dirty="0"/>
              <a:t> =</a:t>
            </a:r>
          </a:p>
          <a:p>
            <a:pPr algn="ctr"/>
            <a:r>
              <a:rPr lang="nl-NL" b="1" dirty="0"/>
              <a:t>(3/4) x 0,44 + (1/4) x 0 = 0,33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52A385-DA42-26D0-53CB-3EC6103D344A}"/>
              </a:ext>
            </a:extLst>
          </p:cNvPr>
          <p:cNvSpPr txBox="1"/>
          <p:nvPr/>
        </p:nvSpPr>
        <p:spPr>
          <a:xfrm>
            <a:off x="1013725" y="3666343"/>
            <a:ext cx="27592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Totaal aantal items: 4</a:t>
            </a:r>
          </a:p>
          <a:p>
            <a:r>
              <a:rPr lang="nl-NL" dirty="0"/>
              <a:t>Aantal &lt; 33: 3</a:t>
            </a:r>
          </a:p>
          <a:p>
            <a:r>
              <a:rPr lang="nl-NL" dirty="0"/>
              <a:t>Gewicht_under_33: (3/4)</a:t>
            </a:r>
          </a:p>
          <a:p>
            <a:endParaRPr lang="nl-NL" dirty="0"/>
          </a:p>
          <a:p>
            <a:r>
              <a:rPr lang="nl-NL" dirty="0"/>
              <a:t>Kans op 2 </a:t>
            </a:r>
            <a:r>
              <a:rPr lang="nl-NL" dirty="0" err="1"/>
              <a:t>survived</a:t>
            </a:r>
            <a:r>
              <a:rPr lang="nl-NL" dirty="0"/>
              <a:t>: (2/3)^2</a:t>
            </a:r>
          </a:p>
          <a:p>
            <a:r>
              <a:rPr lang="nl-NL" dirty="0"/>
              <a:t>Kans op 2 dead: (1/3)^2</a:t>
            </a:r>
          </a:p>
          <a:p>
            <a:r>
              <a:rPr lang="nl-NL" dirty="0"/>
              <a:t>Impurity_under_28:</a:t>
            </a:r>
          </a:p>
          <a:p>
            <a:r>
              <a:rPr lang="nl-NL" dirty="0"/>
              <a:t>1 – (2/3)^2 – (1/3)^2 = 0,44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ED3BE0-1977-AE46-37A8-A61EC3B5D419}"/>
              </a:ext>
            </a:extLst>
          </p:cNvPr>
          <p:cNvSpPr txBox="1"/>
          <p:nvPr/>
        </p:nvSpPr>
        <p:spPr>
          <a:xfrm>
            <a:off x="9366213" y="3666343"/>
            <a:ext cx="28763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Totaal aantal items: 4</a:t>
            </a:r>
          </a:p>
          <a:p>
            <a:r>
              <a:rPr lang="nl-NL" dirty="0"/>
              <a:t>Aantal &gt;= 33: 1</a:t>
            </a:r>
          </a:p>
          <a:p>
            <a:r>
              <a:rPr lang="nl-NL" dirty="0"/>
              <a:t>Gewicht_at_least_33: (1/4)</a:t>
            </a:r>
          </a:p>
          <a:p>
            <a:endParaRPr lang="nl-NL" dirty="0"/>
          </a:p>
          <a:p>
            <a:r>
              <a:rPr lang="nl-NL" dirty="0"/>
              <a:t>Kans op 2 </a:t>
            </a:r>
            <a:r>
              <a:rPr lang="nl-NL" dirty="0" err="1"/>
              <a:t>survived</a:t>
            </a:r>
            <a:r>
              <a:rPr lang="nl-NL" dirty="0"/>
              <a:t>: (0/1)^2</a:t>
            </a:r>
          </a:p>
          <a:p>
            <a:r>
              <a:rPr lang="nl-NL" dirty="0"/>
              <a:t>Kans op 2 dead: (1/1)^2</a:t>
            </a:r>
          </a:p>
          <a:p>
            <a:r>
              <a:rPr lang="nl-NL" dirty="0"/>
              <a:t>Impurity_at_least_33:</a:t>
            </a:r>
          </a:p>
          <a:p>
            <a:r>
              <a:rPr lang="nl-NL" dirty="0"/>
              <a:t>1 – (0/1)^2 – (1/1)^2 =</a:t>
            </a:r>
            <a:r>
              <a:rPr lang="nl-NL" b="1" dirty="0"/>
              <a:t> </a:t>
            </a:r>
            <a:r>
              <a:rPr lang="nl-NL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61746A-B0F6-693D-4BB4-D3AC8DC7D71D}"/>
              </a:ext>
            </a:extLst>
          </p:cNvPr>
          <p:cNvSpPr txBox="1"/>
          <p:nvPr/>
        </p:nvSpPr>
        <p:spPr>
          <a:xfrm>
            <a:off x="4208318" y="4115590"/>
            <a:ext cx="1477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true-branch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04A51-386F-2A6B-EFD7-6B27042782F2}"/>
              </a:ext>
            </a:extLst>
          </p:cNvPr>
          <p:cNvSpPr txBox="1"/>
          <p:nvPr/>
        </p:nvSpPr>
        <p:spPr>
          <a:xfrm>
            <a:off x="7212856" y="4100182"/>
            <a:ext cx="1477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false-branch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653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D906-FC8A-E7C1-7BA2-6C72D9C4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5CC1D1AE-F977-494B-C189-D9E4A38C8B88}"/>
              </a:ext>
            </a:extLst>
          </p:cNvPr>
          <p:cNvSpPr/>
          <p:nvPr/>
        </p:nvSpPr>
        <p:spPr>
          <a:xfrm>
            <a:off x="971077" y="4319193"/>
            <a:ext cx="5380855" cy="2490335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kstvak 7">
            <a:extLst>
              <a:ext uri="{FF2B5EF4-FFF2-40B4-BE49-F238E27FC236}">
                <a16:creationId xmlns:a16="http://schemas.microsoft.com/office/drawing/2014/main" id="{E732531F-9DA5-43DC-BE7A-9899E3D75C2C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C14DB544-CE32-DE0B-1CE7-28659582A298}"/>
              </a:ext>
            </a:extLst>
          </p:cNvPr>
          <p:cNvSpPr txBox="1"/>
          <p:nvPr/>
        </p:nvSpPr>
        <p:spPr>
          <a:xfrm>
            <a:off x="988290" y="0"/>
            <a:ext cx="1140806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Welke stump is de “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winnaar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”?</a:t>
            </a:r>
          </a:p>
        </p:txBody>
      </p: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3F9DF3BD-EF16-BDA3-E211-088A24A0394C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6DCD7616-23C5-82EC-6FA7-662ED1652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359" y="4587415"/>
            <a:ext cx="5235950" cy="18899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817D44-D98D-8F57-AE29-01770C712978}"/>
              </a:ext>
            </a:extLst>
          </p:cNvPr>
          <p:cNvSpPr txBox="1"/>
          <p:nvPr/>
        </p:nvSpPr>
        <p:spPr>
          <a:xfrm>
            <a:off x="8815865" y="4808213"/>
            <a:ext cx="154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Age &lt; 33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F4A7E-3A2E-FB6F-E5B6-03E77AF5165E}"/>
              </a:ext>
            </a:extLst>
          </p:cNvPr>
          <p:cNvSpPr txBox="1"/>
          <p:nvPr/>
        </p:nvSpPr>
        <p:spPr>
          <a:xfrm>
            <a:off x="7038911" y="5830581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2</a:t>
            </a:r>
          </a:p>
          <a:p>
            <a:r>
              <a:rPr lang="nl-NL" dirty="0">
                <a:solidFill>
                  <a:schemeClr val="bg1"/>
                </a:solidFill>
              </a:rPr>
              <a:t>Dead: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B4978-0A5A-11F6-D1CB-C606E28E0AF0}"/>
              </a:ext>
            </a:extLst>
          </p:cNvPr>
          <p:cNvSpPr txBox="1"/>
          <p:nvPr/>
        </p:nvSpPr>
        <p:spPr>
          <a:xfrm>
            <a:off x="10723528" y="5800354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0</a:t>
            </a:r>
          </a:p>
          <a:p>
            <a:r>
              <a:rPr lang="nl-NL" dirty="0">
                <a:solidFill>
                  <a:schemeClr val="bg1"/>
                </a:solidFill>
              </a:rPr>
              <a:t>Dead: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1E0B3B-54BD-A9E6-670E-544758B95B15}"/>
              </a:ext>
            </a:extLst>
          </p:cNvPr>
          <p:cNvSpPr txBox="1"/>
          <p:nvPr/>
        </p:nvSpPr>
        <p:spPr>
          <a:xfrm>
            <a:off x="8518281" y="848933"/>
            <a:ext cx="2143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dirty="0"/>
              <a:t>Split </a:t>
            </a:r>
            <a:r>
              <a:rPr lang="nl-NL" b="1" dirty="0" err="1"/>
              <a:t>Impurity</a:t>
            </a:r>
            <a:r>
              <a:rPr lang="nl-NL" b="1" dirty="0"/>
              <a:t>: 0,5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2D96E6-25CE-85DE-A19C-F560CE1DBE72}"/>
              </a:ext>
            </a:extLst>
          </p:cNvPr>
          <p:cNvSpPr txBox="1"/>
          <p:nvPr/>
        </p:nvSpPr>
        <p:spPr>
          <a:xfrm>
            <a:off x="7272577" y="6405453"/>
            <a:ext cx="8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true</a:t>
            </a:r>
            <a:endParaRPr lang="nl-N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BD5BF3-24D5-E257-747F-FD93FA9F4105}"/>
              </a:ext>
            </a:extLst>
          </p:cNvPr>
          <p:cNvSpPr txBox="1"/>
          <p:nvPr/>
        </p:nvSpPr>
        <p:spPr>
          <a:xfrm>
            <a:off x="10723528" y="6399130"/>
            <a:ext cx="8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false</a:t>
            </a:r>
            <a:endParaRPr lang="nl-NL" dirty="0"/>
          </a:p>
        </p:txBody>
      </p:sp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493A2164-08CA-5346-F129-757245CAB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359" y="1156358"/>
            <a:ext cx="5235950" cy="18899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26A2A1-622A-5B09-077A-3D939924B435}"/>
              </a:ext>
            </a:extLst>
          </p:cNvPr>
          <p:cNvSpPr txBox="1"/>
          <p:nvPr/>
        </p:nvSpPr>
        <p:spPr>
          <a:xfrm>
            <a:off x="8815865" y="1377156"/>
            <a:ext cx="154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solidFill>
                  <a:schemeClr val="bg1"/>
                </a:solidFill>
              </a:rPr>
              <a:t>Sex</a:t>
            </a:r>
            <a:r>
              <a:rPr lang="nl-NL" dirty="0">
                <a:solidFill>
                  <a:schemeClr val="bg1"/>
                </a:solidFill>
              </a:rPr>
              <a:t> &lt; 28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9BE6B5-6C7A-C34D-F220-9DD31DBA28DE}"/>
              </a:ext>
            </a:extLst>
          </p:cNvPr>
          <p:cNvSpPr txBox="1"/>
          <p:nvPr/>
        </p:nvSpPr>
        <p:spPr>
          <a:xfrm>
            <a:off x="7116951" y="2399952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2</a:t>
            </a:r>
          </a:p>
          <a:p>
            <a:r>
              <a:rPr lang="nl-NL" dirty="0">
                <a:solidFill>
                  <a:schemeClr val="bg1"/>
                </a:solidFill>
              </a:rPr>
              <a:t>Dead: 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BE3E6-24A1-4425-78DE-8A6D8C8CE9D8}"/>
              </a:ext>
            </a:extLst>
          </p:cNvPr>
          <p:cNvSpPr txBox="1"/>
          <p:nvPr/>
        </p:nvSpPr>
        <p:spPr>
          <a:xfrm>
            <a:off x="10604833" y="2399951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0</a:t>
            </a:r>
          </a:p>
          <a:p>
            <a:r>
              <a:rPr lang="nl-NL" dirty="0">
                <a:solidFill>
                  <a:schemeClr val="bg1"/>
                </a:solidFill>
              </a:rPr>
              <a:t>Dead: 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11403E-6645-055E-F614-4495A5E26F1E}"/>
              </a:ext>
            </a:extLst>
          </p:cNvPr>
          <p:cNvSpPr txBox="1"/>
          <p:nvPr/>
        </p:nvSpPr>
        <p:spPr>
          <a:xfrm>
            <a:off x="7272577" y="2974396"/>
            <a:ext cx="8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true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7078D1-9275-7522-AB51-A23906832008}"/>
              </a:ext>
            </a:extLst>
          </p:cNvPr>
          <p:cNvSpPr txBox="1"/>
          <p:nvPr/>
        </p:nvSpPr>
        <p:spPr>
          <a:xfrm>
            <a:off x="10723528" y="2968073"/>
            <a:ext cx="8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false</a:t>
            </a:r>
            <a:endParaRPr lang="nl-N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1478-01B1-AEBE-9F62-081C081BECBD}"/>
              </a:ext>
            </a:extLst>
          </p:cNvPr>
          <p:cNvSpPr txBox="1"/>
          <p:nvPr/>
        </p:nvSpPr>
        <p:spPr>
          <a:xfrm>
            <a:off x="8518281" y="4326101"/>
            <a:ext cx="2143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dirty="0"/>
              <a:t>Split </a:t>
            </a:r>
            <a:r>
              <a:rPr lang="nl-NL" b="1" dirty="0" err="1"/>
              <a:t>Impurity</a:t>
            </a:r>
            <a:r>
              <a:rPr lang="nl-NL" b="1" dirty="0"/>
              <a:t>: 0,33</a:t>
            </a:r>
          </a:p>
        </p:txBody>
      </p:sp>
      <p:pic>
        <p:nvPicPr>
          <p:cNvPr id="24" name="Picture 23" descr="A diagram of a diagram&#10;&#10;AI-generated content may be incorrect.">
            <a:extLst>
              <a:ext uri="{FF2B5EF4-FFF2-40B4-BE49-F238E27FC236}">
                <a16:creationId xmlns:a16="http://schemas.microsoft.com/office/drawing/2014/main" id="{3B35B73E-CB12-4400-0DB8-2959D605D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75" y="4629066"/>
            <a:ext cx="5235950" cy="188992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5D2CD92-6E3C-674F-16F8-AF7DC39D97AC}"/>
              </a:ext>
            </a:extLst>
          </p:cNvPr>
          <p:cNvSpPr txBox="1"/>
          <p:nvPr/>
        </p:nvSpPr>
        <p:spPr>
          <a:xfrm>
            <a:off x="2938133" y="4849864"/>
            <a:ext cx="154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>
                <a:solidFill>
                  <a:schemeClr val="bg1"/>
                </a:solidFill>
              </a:rPr>
              <a:t>Sex</a:t>
            </a:r>
            <a:r>
              <a:rPr lang="nl-NL" dirty="0">
                <a:solidFill>
                  <a:schemeClr val="bg1"/>
                </a:solidFill>
              </a:rPr>
              <a:t> == </a:t>
            </a:r>
            <a:r>
              <a:rPr lang="nl-NL" dirty="0" err="1">
                <a:solidFill>
                  <a:schemeClr val="bg1"/>
                </a:solidFill>
              </a:rPr>
              <a:t>female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A431C3-93CF-C940-A2FD-E4A17293690C}"/>
              </a:ext>
            </a:extLst>
          </p:cNvPr>
          <p:cNvSpPr txBox="1"/>
          <p:nvPr/>
        </p:nvSpPr>
        <p:spPr>
          <a:xfrm>
            <a:off x="1239219" y="5872660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2</a:t>
            </a:r>
          </a:p>
          <a:p>
            <a:r>
              <a:rPr lang="nl-NL" dirty="0">
                <a:solidFill>
                  <a:schemeClr val="bg1"/>
                </a:solidFill>
              </a:rPr>
              <a:t>Dead: 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CD4086-5CBE-4CEF-8F73-EBA27F8EBD40}"/>
              </a:ext>
            </a:extLst>
          </p:cNvPr>
          <p:cNvSpPr txBox="1"/>
          <p:nvPr/>
        </p:nvSpPr>
        <p:spPr>
          <a:xfrm>
            <a:off x="4727101" y="5872659"/>
            <a:ext cx="1313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</a:rPr>
              <a:t>Survived</a:t>
            </a:r>
            <a:r>
              <a:rPr lang="nl-NL" dirty="0">
                <a:solidFill>
                  <a:schemeClr val="bg1"/>
                </a:solidFill>
              </a:rPr>
              <a:t>: 0</a:t>
            </a:r>
          </a:p>
          <a:p>
            <a:r>
              <a:rPr lang="nl-NL" dirty="0">
                <a:solidFill>
                  <a:schemeClr val="bg1"/>
                </a:solidFill>
              </a:rPr>
              <a:t>Dead: 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E50CAA-B247-49A9-A038-5AC8BCE1CDDE}"/>
              </a:ext>
            </a:extLst>
          </p:cNvPr>
          <p:cNvSpPr txBox="1"/>
          <p:nvPr/>
        </p:nvSpPr>
        <p:spPr>
          <a:xfrm>
            <a:off x="1394845" y="6447104"/>
            <a:ext cx="8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true</a:t>
            </a:r>
            <a:endParaRPr lang="nl-N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CAED7D-AC30-6B5D-8E94-CF58D80C3AD8}"/>
              </a:ext>
            </a:extLst>
          </p:cNvPr>
          <p:cNvSpPr txBox="1"/>
          <p:nvPr/>
        </p:nvSpPr>
        <p:spPr>
          <a:xfrm>
            <a:off x="4994432" y="6420338"/>
            <a:ext cx="846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false</a:t>
            </a:r>
            <a:endParaRPr lang="nl-N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6C4BBC-6389-7DF2-467D-33981A2915C4}"/>
              </a:ext>
            </a:extLst>
          </p:cNvPr>
          <p:cNvSpPr txBox="1"/>
          <p:nvPr/>
        </p:nvSpPr>
        <p:spPr>
          <a:xfrm>
            <a:off x="2583687" y="4358386"/>
            <a:ext cx="2143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dirty="0"/>
              <a:t>Split </a:t>
            </a:r>
            <a:r>
              <a:rPr lang="nl-NL" b="1" dirty="0" err="1"/>
              <a:t>Impurity</a:t>
            </a:r>
            <a:r>
              <a:rPr lang="nl-NL" b="1" dirty="0"/>
              <a:t>: 0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AC846F6-1D71-2848-CBCB-40121C874A63}"/>
              </a:ext>
            </a:extLst>
          </p:cNvPr>
          <p:cNvGraphicFramePr>
            <a:graphicFrameLocks noGrp="1"/>
          </p:cNvGraphicFramePr>
          <p:nvPr/>
        </p:nvGraphicFramePr>
        <p:xfrm>
          <a:off x="988382" y="1265082"/>
          <a:ext cx="570394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788">
                  <a:extLst>
                    <a:ext uri="{9D8B030D-6E8A-4147-A177-3AD203B41FA5}">
                      <a16:colId xmlns:a16="http://schemas.microsoft.com/office/drawing/2014/main" val="297074867"/>
                    </a:ext>
                  </a:extLst>
                </a:gridCol>
                <a:gridCol w="926336">
                  <a:extLst>
                    <a:ext uri="{9D8B030D-6E8A-4147-A177-3AD203B41FA5}">
                      <a16:colId xmlns:a16="http://schemas.microsoft.com/office/drawing/2014/main" val="871078992"/>
                    </a:ext>
                  </a:extLst>
                </a:gridCol>
                <a:gridCol w="987136">
                  <a:extLst>
                    <a:ext uri="{9D8B030D-6E8A-4147-A177-3AD203B41FA5}">
                      <a16:colId xmlns:a16="http://schemas.microsoft.com/office/drawing/2014/main" val="2768932971"/>
                    </a:ext>
                  </a:extLst>
                </a:gridCol>
                <a:gridCol w="1508892">
                  <a:extLst>
                    <a:ext uri="{9D8B030D-6E8A-4147-A177-3AD203B41FA5}">
                      <a16:colId xmlns:a16="http://schemas.microsoft.com/office/drawing/2014/main" val="2981508375"/>
                    </a:ext>
                  </a:extLst>
                </a:gridCol>
                <a:gridCol w="1140788">
                  <a:extLst>
                    <a:ext uri="{9D8B030D-6E8A-4147-A177-3AD203B41FA5}">
                      <a16:colId xmlns:a16="http://schemas.microsoft.com/office/drawing/2014/main" val="1773520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Passenger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Pclass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Survived</a:t>
                      </a:r>
                      <a:r>
                        <a:rPr lang="nl-NL" dirty="0"/>
                        <a:t> (target)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49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82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2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6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Female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2136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AACAA08-D4CD-9279-8588-FFF291FA07A5}"/>
              </a:ext>
            </a:extLst>
          </p:cNvPr>
          <p:cNvSpPr txBox="1"/>
          <p:nvPr/>
        </p:nvSpPr>
        <p:spPr>
          <a:xfrm>
            <a:off x="1012674" y="831273"/>
            <a:ext cx="5679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b="1" dirty="0"/>
              <a:t>Initiële split </a:t>
            </a:r>
            <a:r>
              <a:rPr lang="nl-NL" b="1" dirty="0" err="1"/>
              <a:t>Impurity</a:t>
            </a:r>
            <a:r>
              <a:rPr lang="nl-NL" b="1" dirty="0"/>
              <a:t>: 0,5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F7D9B5-C756-93BD-1D4A-4F3060CF91C7}"/>
              </a:ext>
            </a:extLst>
          </p:cNvPr>
          <p:cNvSpPr txBox="1"/>
          <p:nvPr/>
        </p:nvSpPr>
        <p:spPr>
          <a:xfrm>
            <a:off x="2752404" y="3551281"/>
            <a:ext cx="7879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</a:t>
            </a:r>
            <a:r>
              <a:rPr lang="nl-NL" dirty="0" err="1"/>
              <a:t>stump</a:t>
            </a:r>
            <a:r>
              <a:rPr lang="nl-NL" dirty="0"/>
              <a:t> met de </a:t>
            </a:r>
            <a:r>
              <a:rPr lang="nl-NL" u="sng" dirty="0"/>
              <a:t>laagste</a:t>
            </a:r>
            <a:r>
              <a:rPr lang="nl-NL" dirty="0"/>
              <a:t> </a:t>
            </a:r>
            <a:r>
              <a:rPr lang="nl-NL" dirty="0" err="1"/>
              <a:t>impurity</a:t>
            </a:r>
            <a:r>
              <a:rPr lang="nl-NL" dirty="0"/>
              <a:t> wordt aan de uiteindelijke beslisboom toegevoegd!</a:t>
            </a:r>
          </a:p>
        </p:txBody>
      </p:sp>
    </p:spTree>
    <p:extLst>
      <p:ext uri="{BB962C8B-B14F-4D97-AF65-F5344CB8AC3E}">
        <p14:creationId xmlns:p14="http://schemas.microsoft.com/office/powerpoint/2010/main" val="189972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9A617919-8590-5E9D-2A06-FBA4FE392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156" y="1567321"/>
            <a:ext cx="4732430" cy="3830589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Beslisbomen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lezen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AA2BA045-8B04-6A83-F966-2BA7FE05CB93}"/>
              </a:ext>
            </a:extLst>
          </p:cNvPr>
          <p:cNvSpPr txBox="1"/>
          <p:nvPr/>
        </p:nvSpPr>
        <p:spPr>
          <a:xfrm>
            <a:off x="988290" y="934509"/>
            <a:ext cx="1106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Stel: vrouw A is aan boord van de Titanic gegaan met een ticket voor de 1</a:t>
            </a:r>
            <a:r>
              <a:rPr lang="nl-NL" baseline="30000" dirty="0"/>
              <a:t>e</a:t>
            </a:r>
            <a:r>
              <a:rPr lang="nl-NL" dirty="0"/>
              <a:t> klasse…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648B8451-036F-1433-93BE-6DDAB09964C8}"/>
              </a:ext>
            </a:extLst>
          </p:cNvPr>
          <p:cNvSpPr/>
          <p:nvPr/>
        </p:nvSpPr>
        <p:spPr>
          <a:xfrm>
            <a:off x="3728223" y="1570422"/>
            <a:ext cx="1224944" cy="826055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C4D63E0-33BB-F8F0-8358-D8BC278FF14E}"/>
              </a:ext>
            </a:extLst>
          </p:cNvPr>
          <p:cNvSpPr txBox="1"/>
          <p:nvPr/>
        </p:nvSpPr>
        <p:spPr>
          <a:xfrm>
            <a:off x="8791216" y="1874359"/>
            <a:ext cx="33634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De </a:t>
            </a:r>
            <a:r>
              <a:rPr lang="nl-NL" dirty="0" err="1"/>
              <a:t>linkerpijl</a:t>
            </a:r>
            <a:r>
              <a:rPr lang="nl-NL" dirty="0"/>
              <a:t> staat altijd voor True, de rechterpijl voor </a:t>
            </a:r>
            <a:r>
              <a:rPr lang="nl-NL" dirty="0" err="1"/>
              <a:t>False</a:t>
            </a:r>
            <a:r>
              <a:rPr lang="nl-NL" dirty="0"/>
              <a:t>.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Het eerste getal tussen blokhaken staat voor </a:t>
            </a:r>
            <a:r>
              <a:rPr lang="nl-NL" dirty="0" err="1"/>
              <a:t>survived</a:t>
            </a:r>
            <a:r>
              <a:rPr lang="nl-NL" dirty="0"/>
              <a:t> = 0, het tweede getal voor </a:t>
            </a:r>
            <a:r>
              <a:rPr lang="nl-NL" dirty="0" err="1"/>
              <a:t>survived</a:t>
            </a:r>
            <a:r>
              <a:rPr lang="nl-NL" dirty="0"/>
              <a:t> = 1</a:t>
            </a: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B4FCBDB-369F-7B2B-7206-A4D11FB554EB}"/>
              </a:ext>
            </a:extLst>
          </p:cNvPr>
          <p:cNvSpPr/>
          <p:nvPr/>
        </p:nvSpPr>
        <p:spPr>
          <a:xfrm>
            <a:off x="4953166" y="3067818"/>
            <a:ext cx="1142834" cy="826055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A7E7BA95-D7A7-61CA-F1EB-DD574CB0CA73}"/>
              </a:ext>
            </a:extLst>
          </p:cNvPr>
          <p:cNvSpPr/>
          <p:nvPr/>
        </p:nvSpPr>
        <p:spPr>
          <a:xfrm>
            <a:off x="4401393" y="4616060"/>
            <a:ext cx="1091605" cy="646331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19B96C4F-F538-FCFF-CB8F-ADF8DB1F44C9}"/>
              </a:ext>
            </a:extLst>
          </p:cNvPr>
          <p:cNvSpPr txBox="1"/>
          <p:nvPr/>
        </p:nvSpPr>
        <p:spPr>
          <a:xfrm>
            <a:off x="5225180" y="1666967"/>
            <a:ext cx="2295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Onze </a:t>
            </a:r>
            <a:r>
              <a:rPr lang="nl-NL" dirty="0" err="1"/>
              <a:t>Sex_female</a:t>
            </a:r>
            <a:r>
              <a:rPr lang="nl-NL" dirty="0"/>
              <a:t> = 1 en 1 &lt;= 0.5 = </a:t>
            </a:r>
            <a:r>
              <a:rPr lang="nl-NL" dirty="0" err="1"/>
              <a:t>False</a:t>
            </a:r>
            <a:endParaRPr lang="nl-NL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E5436B5D-8CAD-BA91-E0F5-9A00E8E5E0FF}"/>
              </a:ext>
            </a:extLst>
          </p:cNvPr>
          <p:cNvSpPr txBox="1"/>
          <p:nvPr/>
        </p:nvSpPr>
        <p:spPr>
          <a:xfrm>
            <a:off x="6249510" y="3158216"/>
            <a:ext cx="1939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Onze Pclass_3 = 0 en 0 &lt;= 0.5 = True</a:t>
            </a: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4DE6D2D6-011D-0EEA-9175-515DC2A8A12C}"/>
              </a:ext>
            </a:extLst>
          </p:cNvPr>
          <p:cNvSpPr/>
          <p:nvPr/>
        </p:nvSpPr>
        <p:spPr>
          <a:xfrm>
            <a:off x="1093825" y="5788287"/>
            <a:ext cx="6125202" cy="91731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Er waren 139 niet-3</a:t>
            </a:r>
            <a:r>
              <a:rPr lang="nl-NL" baseline="30000" dirty="0"/>
              <a:t>e</a:t>
            </a:r>
            <a:r>
              <a:rPr lang="nl-NL" dirty="0"/>
              <a:t>-klasse-vrouwen aan boord</a:t>
            </a:r>
          </a:p>
          <a:p>
            <a:pPr algn="ctr"/>
            <a:r>
              <a:rPr lang="nl-NL" dirty="0"/>
              <a:t>Daarvan hebben er 6 de ramp niet overleefd en 133 wel.</a:t>
            </a:r>
          </a:p>
          <a:p>
            <a:pPr algn="ctr"/>
            <a:r>
              <a:rPr lang="nl-NL" dirty="0"/>
              <a:t>Conclusie: vrouw A heeft de ramp waarschijnlijk </a:t>
            </a:r>
            <a:r>
              <a:rPr lang="nl-NL" b="1" u="sng" dirty="0"/>
              <a:t>wel</a:t>
            </a:r>
            <a:r>
              <a:rPr lang="nl-NL" dirty="0"/>
              <a:t> overleefd</a:t>
            </a:r>
          </a:p>
        </p:txBody>
      </p:sp>
      <p:sp>
        <p:nvSpPr>
          <p:cNvPr id="19" name="Pijl: omlaag 18">
            <a:extLst>
              <a:ext uri="{FF2B5EF4-FFF2-40B4-BE49-F238E27FC236}">
                <a16:creationId xmlns:a16="http://schemas.microsoft.com/office/drawing/2014/main" id="{CE79E3B2-CB4B-EDAC-6A7B-588E4B0D553F}"/>
              </a:ext>
            </a:extLst>
          </p:cNvPr>
          <p:cNvSpPr/>
          <p:nvPr/>
        </p:nvSpPr>
        <p:spPr>
          <a:xfrm>
            <a:off x="4866882" y="5287578"/>
            <a:ext cx="334468" cy="485625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hthoek 19">
            <a:extLst>
              <a:ext uri="{FF2B5EF4-FFF2-40B4-BE49-F238E27FC236}">
                <a16:creationId xmlns:a16="http://schemas.microsoft.com/office/drawing/2014/main" id="{51859156-1703-BD1B-C7B0-D632A5AC3E4C}"/>
              </a:ext>
            </a:extLst>
          </p:cNvPr>
          <p:cNvSpPr/>
          <p:nvPr/>
        </p:nvSpPr>
        <p:spPr>
          <a:xfrm>
            <a:off x="7749003" y="5621805"/>
            <a:ext cx="4405669" cy="10697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Voor 3</a:t>
            </a:r>
            <a:r>
              <a:rPr lang="nl-NL" baseline="30000" dirty="0"/>
              <a:t>e</a:t>
            </a:r>
            <a:r>
              <a:rPr lang="nl-NL" dirty="0"/>
              <a:t>-klasse-vrouwen kan een minder sluitende conclusie worden getrokken</a:t>
            </a:r>
          </a:p>
          <a:p>
            <a:pPr algn="ctr"/>
            <a:r>
              <a:rPr lang="nl-NL" dirty="0"/>
              <a:t>(iets minder dan 50% overlevingskans).</a:t>
            </a:r>
          </a:p>
        </p:txBody>
      </p:sp>
      <p:sp>
        <p:nvSpPr>
          <p:cNvPr id="21" name="Pijl: omlaag 20">
            <a:extLst>
              <a:ext uri="{FF2B5EF4-FFF2-40B4-BE49-F238E27FC236}">
                <a16:creationId xmlns:a16="http://schemas.microsoft.com/office/drawing/2014/main" id="{F45D1404-D376-ED18-FE5E-DD6B4250BC7D}"/>
              </a:ext>
            </a:extLst>
          </p:cNvPr>
          <p:cNvSpPr/>
          <p:nvPr/>
        </p:nvSpPr>
        <p:spPr>
          <a:xfrm rot="18060054">
            <a:off x="7022204" y="4675016"/>
            <a:ext cx="334468" cy="119734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135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15" grpId="0"/>
      <p:bldP spid="16" grpId="0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“Hoe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diep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wordt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mijn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boom?”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590145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850026" y="879137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Underfitting: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max_depth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 2</a:t>
            </a:r>
            <a:endParaRPr lang="nl-NL" sz="2000" dirty="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6694258" y="879137"/>
            <a:ext cx="5497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Overfitting: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max_depth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is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niet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ingegeven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(in de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onderste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leafs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is de impurity exact 0)</a:t>
            </a:r>
            <a:endParaRPr lang="nl-NL" sz="2000" dirty="0"/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E1920202-5C03-4241-6763-D8DAA9CFD28F}"/>
              </a:ext>
            </a:extLst>
          </p:cNvPr>
          <p:cNvSpPr txBox="1"/>
          <p:nvPr/>
        </p:nvSpPr>
        <p:spPr>
          <a:xfrm>
            <a:off x="6798879" y="5613829"/>
            <a:ext cx="5304097" cy="1165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en-US" dirty="0">
                <a:latin typeface="Arial"/>
                <a:ea typeface="MS PGothic" charset="0"/>
              </a:rPr>
              <a:t>De </a:t>
            </a:r>
            <a:r>
              <a:rPr lang="en-US" dirty="0" err="1">
                <a:latin typeface="Arial"/>
                <a:ea typeface="MS PGothic" charset="0"/>
              </a:rPr>
              <a:t>beslisboom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leert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teveel</a:t>
            </a:r>
            <a:r>
              <a:rPr lang="en-US" dirty="0">
                <a:latin typeface="Arial"/>
                <a:ea typeface="MS PGothic" charset="0"/>
              </a:rPr>
              <a:t> van de </a:t>
            </a:r>
            <a:r>
              <a:rPr lang="en-US" dirty="0" err="1">
                <a:latin typeface="Arial"/>
                <a:ea typeface="MS PGothic" charset="0"/>
              </a:rPr>
              <a:t>traindata</a:t>
            </a:r>
            <a:r>
              <a:rPr lang="en-US" dirty="0">
                <a:latin typeface="Arial"/>
                <a:ea typeface="MS PGothic" charset="0"/>
              </a:rPr>
              <a:t>, </a:t>
            </a:r>
            <a:r>
              <a:rPr lang="en-US" dirty="0" err="1">
                <a:latin typeface="Arial"/>
                <a:ea typeface="MS PGothic" charset="0"/>
              </a:rPr>
              <a:t>waardoor</a:t>
            </a:r>
            <a:r>
              <a:rPr lang="en-US" dirty="0">
                <a:latin typeface="Arial"/>
                <a:ea typeface="MS PGothic" charset="0"/>
              </a:rPr>
              <a:t> het model </a:t>
            </a:r>
            <a:r>
              <a:rPr lang="en-US" dirty="0" err="1">
                <a:latin typeface="Arial"/>
                <a:ea typeface="MS PGothic" charset="0"/>
              </a:rPr>
              <a:t>niet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te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generaliseren</a:t>
            </a:r>
            <a:r>
              <a:rPr lang="en-US" dirty="0">
                <a:latin typeface="Arial"/>
                <a:ea typeface="MS PGothic" charset="0"/>
              </a:rPr>
              <a:t> is </a:t>
            </a:r>
            <a:r>
              <a:rPr lang="en-US" dirty="0" err="1">
                <a:latin typeface="Arial"/>
                <a:ea typeface="MS PGothic" charset="0"/>
              </a:rPr>
              <a:t>naar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nieuwe</a:t>
            </a:r>
            <a:r>
              <a:rPr lang="en-US" dirty="0">
                <a:latin typeface="Arial"/>
                <a:ea typeface="MS PGothic" charset="0"/>
              </a:rPr>
              <a:t>/</a:t>
            </a:r>
            <a:r>
              <a:rPr lang="en-US" dirty="0" err="1">
                <a:latin typeface="Arial"/>
                <a:ea typeface="MS PGothic" charset="0"/>
              </a:rPr>
              <a:t>toekomstige</a:t>
            </a:r>
            <a:r>
              <a:rPr lang="en-US" dirty="0">
                <a:latin typeface="Arial"/>
                <a:ea typeface="MS PGothic" charset="0"/>
              </a:rPr>
              <a:t> data.</a:t>
            </a:r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03538475-B948-35F0-1013-3761103667FE}"/>
              </a:ext>
            </a:extLst>
          </p:cNvPr>
          <p:cNvSpPr txBox="1"/>
          <p:nvPr/>
        </p:nvSpPr>
        <p:spPr>
          <a:xfrm>
            <a:off x="1011934" y="5621879"/>
            <a:ext cx="5084066" cy="1165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dirty="0">
                <a:latin typeface="Arial"/>
                <a:ea typeface="MS PGothic" charset="0"/>
              </a:rPr>
              <a:t>De </a:t>
            </a:r>
            <a:r>
              <a:rPr lang="en-US" dirty="0" err="1">
                <a:latin typeface="Arial"/>
                <a:ea typeface="MS PGothic" charset="0"/>
              </a:rPr>
              <a:t>beslisboom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leert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té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weinig</a:t>
            </a:r>
            <a:r>
              <a:rPr lang="en-US" dirty="0">
                <a:latin typeface="Arial"/>
                <a:ea typeface="MS PGothic" charset="0"/>
              </a:rPr>
              <a:t> van de </a:t>
            </a:r>
            <a:r>
              <a:rPr lang="en-US" dirty="0" err="1">
                <a:latin typeface="Arial"/>
                <a:ea typeface="MS PGothic" charset="0"/>
              </a:rPr>
              <a:t>traindata</a:t>
            </a:r>
            <a:r>
              <a:rPr lang="en-US" dirty="0">
                <a:latin typeface="Arial"/>
                <a:ea typeface="MS PGothic" charset="0"/>
              </a:rPr>
              <a:t>, er </a:t>
            </a:r>
            <a:r>
              <a:rPr lang="en-US" dirty="0" err="1">
                <a:latin typeface="Arial"/>
                <a:ea typeface="MS PGothic" charset="0"/>
              </a:rPr>
              <a:t>wordt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onvoldoende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gekeken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naar</a:t>
            </a:r>
            <a:r>
              <a:rPr lang="en-US" dirty="0">
                <a:latin typeface="Arial"/>
                <a:ea typeface="MS PGothic" charset="0"/>
              </a:rPr>
              <a:t> de </a:t>
            </a:r>
            <a:r>
              <a:rPr lang="en-US" dirty="0" err="1">
                <a:latin typeface="Arial"/>
                <a:ea typeface="MS PGothic" charset="0"/>
              </a:rPr>
              <a:t>invloed</a:t>
            </a:r>
            <a:r>
              <a:rPr lang="en-US" dirty="0">
                <a:latin typeface="Arial"/>
                <a:ea typeface="MS PGothic" charset="0"/>
              </a:rPr>
              <a:t> van </a:t>
            </a:r>
            <a:r>
              <a:rPr lang="en-US" dirty="0" err="1">
                <a:latin typeface="Arial"/>
                <a:ea typeface="MS PGothic" charset="0"/>
              </a:rPr>
              <a:t>onafhankelijke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variabelen</a:t>
            </a:r>
            <a:r>
              <a:rPr lang="en-US" dirty="0">
                <a:latin typeface="Arial"/>
                <a:ea typeface="MS PGothic" charset="0"/>
              </a:rPr>
              <a:t>!</a:t>
            </a:r>
          </a:p>
        </p:txBody>
      </p:sp>
      <p:sp>
        <p:nvSpPr>
          <p:cNvPr id="6" name="Rechthoek 2">
            <a:extLst>
              <a:ext uri="{FF2B5EF4-FFF2-40B4-BE49-F238E27FC236}">
                <a16:creationId xmlns:a16="http://schemas.microsoft.com/office/drawing/2014/main" id="{0AD231AB-8F75-3DAB-846D-A89BFEE4A6CB}"/>
              </a:ext>
            </a:extLst>
          </p:cNvPr>
          <p:cNvSpPr/>
          <p:nvPr/>
        </p:nvSpPr>
        <p:spPr>
          <a:xfrm>
            <a:off x="2854835" y="4522386"/>
            <a:ext cx="3526577" cy="10697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Voor 3</a:t>
            </a:r>
            <a:r>
              <a:rPr lang="nl-NL" baseline="30000" dirty="0"/>
              <a:t>e</a:t>
            </a:r>
            <a:r>
              <a:rPr lang="nl-NL" dirty="0"/>
              <a:t>-klasse-vrouwen kan een minder sluitende conclusie worden getrokken</a:t>
            </a:r>
          </a:p>
          <a:p>
            <a:pPr algn="ctr"/>
            <a:r>
              <a:rPr lang="nl-NL" dirty="0"/>
              <a:t>(ong. 50% overlevingskans).</a:t>
            </a:r>
          </a:p>
        </p:txBody>
      </p:sp>
      <p:pic>
        <p:nvPicPr>
          <p:cNvPr id="11" name="Afbeelding 8">
            <a:extLst>
              <a:ext uri="{FF2B5EF4-FFF2-40B4-BE49-F238E27FC236}">
                <a16:creationId xmlns:a16="http://schemas.microsoft.com/office/drawing/2014/main" id="{A7F52CB8-74D8-9DCA-8036-7575A85C0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084" y="1406833"/>
            <a:ext cx="4732430" cy="3055885"/>
          </a:xfrm>
          <a:prstGeom prst="rect">
            <a:avLst/>
          </a:prstGeom>
        </p:spPr>
      </p:pic>
      <p:pic>
        <p:nvPicPr>
          <p:cNvPr id="14" name="Afbeelding 2">
            <a:extLst>
              <a:ext uri="{FF2B5EF4-FFF2-40B4-BE49-F238E27FC236}">
                <a16:creationId xmlns:a16="http://schemas.microsoft.com/office/drawing/2014/main" id="{F92F74A6-9D24-D3D1-CB39-091818FF2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476" y="1587023"/>
            <a:ext cx="5096358" cy="415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0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  <p:bldP spid="30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1011934" y="-990"/>
            <a:ext cx="1120370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Classificatiemodellen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evalueren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met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Confusion Matrix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">
            <a:extLst>
              <a:ext uri="{FF2B5EF4-FFF2-40B4-BE49-F238E27FC236}">
                <a16:creationId xmlns:a16="http://schemas.microsoft.com/office/drawing/2014/main" id="{E1920202-5C03-4241-6763-D8DAA9CFD28F}"/>
              </a:ext>
            </a:extLst>
          </p:cNvPr>
          <p:cNvSpPr txBox="1"/>
          <p:nvPr/>
        </p:nvSpPr>
        <p:spPr>
          <a:xfrm>
            <a:off x="6518786" y="2028220"/>
            <a:ext cx="5654995" cy="4506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dirty="0">
                <a:latin typeface="Arial"/>
                <a:ea typeface="MS PGothic" charset="0"/>
              </a:rPr>
              <a:t>4 direct zichtbare getallen: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>
                <a:latin typeface="Arial"/>
                <a:ea typeface="MS PGothic" charset="0"/>
              </a:rPr>
              <a:t>True </a:t>
            </a:r>
            <a:r>
              <a:rPr lang="nl-NL" dirty="0" err="1">
                <a:latin typeface="Arial"/>
                <a:ea typeface="MS PGothic" charset="0"/>
              </a:rPr>
              <a:t>Positives</a:t>
            </a:r>
            <a:r>
              <a:rPr lang="nl-NL" dirty="0">
                <a:latin typeface="Arial"/>
                <a:ea typeface="MS PGothic" charset="0"/>
              </a:rPr>
              <a:t>: correct voorspeld dat iemand een stempel heeft.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>
                <a:latin typeface="Arial"/>
                <a:ea typeface="MS PGothic" charset="0"/>
              </a:rPr>
              <a:t>True </a:t>
            </a:r>
            <a:r>
              <a:rPr lang="nl-NL" dirty="0" err="1">
                <a:latin typeface="Arial"/>
                <a:ea typeface="MS PGothic" charset="0"/>
              </a:rPr>
              <a:t>Negatives</a:t>
            </a:r>
            <a:r>
              <a:rPr lang="nl-NL" dirty="0">
                <a:latin typeface="Arial"/>
                <a:ea typeface="MS PGothic" charset="0"/>
              </a:rPr>
              <a:t>: correct voorspeld dat iemand </a:t>
            </a:r>
            <a:r>
              <a:rPr lang="nl-NL">
                <a:latin typeface="Arial"/>
                <a:ea typeface="MS PGothic" charset="0"/>
              </a:rPr>
              <a:t>géén stempel </a:t>
            </a:r>
            <a:r>
              <a:rPr lang="nl-NL" dirty="0">
                <a:latin typeface="Arial"/>
                <a:ea typeface="MS PGothic" charset="0"/>
              </a:rPr>
              <a:t>heeft.</a:t>
            </a: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endParaRPr lang="nl-NL" dirty="0">
              <a:latin typeface="Arial"/>
              <a:ea typeface="MS PGothic" charset="0"/>
            </a:endParaRP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 err="1">
                <a:latin typeface="Arial"/>
                <a:ea typeface="MS PGothic" charset="0"/>
              </a:rPr>
              <a:t>False</a:t>
            </a:r>
            <a:r>
              <a:rPr lang="nl-NL" dirty="0">
                <a:latin typeface="Arial"/>
                <a:ea typeface="MS PGothic" charset="0"/>
              </a:rPr>
              <a:t> </a:t>
            </a:r>
            <a:r>
              <a:rPr lang="nl-NL" dirty="0" err="1">
                <a:latin typeface="Arial"/>
                <a:ea typeface="MS PGothic" charset="0"/>
              </a:rPr>
              <a:t>Positives</a:t>
            </a:r>
            <a:r>
              <a:rPr lang="nl-NL" dirty="0">
                <a:latin typeface="Arial"/>
                <a:ea typeface="MS PGothic" charset="0"/>
              </a:rPr>
              <a:t>: voorspeld dat iemand een stempel heeft, terwijl dat in werkelijkheid niet zo is. Synoniem: “type I error”.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 err="1">
                <a:latin typeface="Arial"/>
                <a:ea typeface="MS PGothic" charset="0"/>
              </a:rPr>
              <a:t>False</a:t>
            </a:r>
            <a:r>
              <a:rPr lang="nl-NL" dirty="0">
                <a:latin typeface="Arial"/>
                <a:ea typeface="MS PGothic" charset="0"/>
              </a:rPr>
              <a:t> </a:t>
            </a:r>
            <a:r>
              <a:rPr lang="nl-NL" dirty="0" err="1">
                <a:latin typeface="Arial"/>
                <a:ea typeface="MS PGothic" charset="0"/>
              </a:rPr>
              <a:t>Negatives</a:t>
            </a:r>
            <a:r>
              <a:rPr lang="nl-NL" dirty="0">
                <a:latin typeface="Arial"/>
                <a:ea typeface="MS PGothic" charset="0"/>
              </a:rPr>
              <a:t>: voorspeld dat iemand géén stempel heeft, terwijl dat in werkelijkheid wel zo is. Synoniem: “type II error”.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1BF4FD7-1C07-D356-A239-4D6C56206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0" y="2425483"/>
            <a:ext cx="5530497" cy="4114800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C563808F-AE7B-9AA5-1EAD-33B881442491}"/>
              </a:ext>
            </a:extLst>
          </p:cNvPr>
          <p:cNvSpPr txBox="1"/>
          <p:nvPr/>
        </p:nvSpPr>
        <p:spPr>
          <a:xfrm>
            <a:off x="1570470" y="827668"/>
            <a:ext cx="10039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term “</a:t>
            </a:r>
            <a:r>
              <a:rPr lang="nl-NL" dirty="0" err="1"/>
              <a:t>Positive</a:t>
            </a:r>
            <a:r>
              <a:rPr lang="nl-NL" dirty="0"/>
              <a:t>” komt altijd met een stempel. In dit geval: “heeft ramp overleefd”.</a:t>
            </a:r>
          </a:p>
          <a:p>
            <a:pPr algn="ctr"/>
            <a:r>
              <a:rPr lang="nl-NL" dirty="0"/>
              <a:t>De term “</a:t>
            </a:r>
            <a:r>
              <a:rPr lang="nl-NL" dirty="0" err="1"/>
              <a:t>Negative</a:t>
            </a:r>
            <a:r>
              <a:rPr lang="nl-NL" dirty="0"/>
              <a:t>” staat voor het tegenovergestelde hiervan. In dit geval: “heeft ramp </a:t>
            </a:r>
            <a:r>
              <a:rPr lang="nl-NL" b="1" u="sng" dirty="0"/>
              <a:t>niet</a:t>
            </a:r>
            <a:r>
              <a:rPr lang="nl-NL" dirty="0"/>
              <a:t> overleefd”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B3B00A87-D26B-4BEF-0FC2-714BEFE0422A}"/>
              </a:ext>
            </a:extLst>
          </p:cNvPr>
          <p:cNvSpPr txBox="1"/>
          <p:nvPr/>
        </p:nvSpPr>
        <p:spPr>
          <a:xfrm>
            <a:off x="1823856" y="2572135"/>
            <a:ext cx="180186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/>
                <a:ea typeface="MS PGothic" charset="0"/>
              </a:rPr>
              <a:t>True negatives</a:t>
            </a:r>
            <a:endParaRPr lang="nl-NL" b="1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20910E36-D384-3582-FBF4-F903BAB306BD}"/>
              </a:ext>
            </a:extLst>
          </p:cNvPr>
          <p:cNvSpPr txBox="1"/>
          <p:nvPr/>
        </p:nvSpPr>
        <p:spPr>
          <a:xfrm>
            <a:off x="3866434" y="4371642"/>
            <a:ext cx="180186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/>
                <a:ea typeface="MS PGothic" charset="0"/>
              </a:rPr>
              <a:t>True positives</a:t>
            </a:r>
            <a:endParaRPr lang="nl-NL" b="1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C08080C2-D079-84B7-7DB0-595F575B4A8A}"/>
              </a:ext>
            </a:extLst>
          </p:cNvPr>
          <p:cNvSpPr txBox="1"/>
          <p:nvPr/>
        </p:nvSpPr>
        <p:spPr>
          <a:xfrm>
            <a:off x="1823856" y="4371642"/>
            <a:ext cx="192968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/>
                <a:ea typeface="MS PGothic" charset="0"/>
              </a:rPr>
              <a:t>False Negatives</a:t>
            </a:r>
            <a:endParaRPr lang="nl-NL" b="1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265B0562-7936-0994-2837-5D65BAE2EF59}"/>
              </a:ext>
            </a:extLst>
          </p:cNvPr>
          <p:cNvSpPr txBox="1"/>
          <p:nvPr/>
        </p:nvSpPr>
        <p:spPr>
          <a:xfrm>
            <a:off x="3753538" y="2599510"/>
            <a:ext cx="191475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/>
                <a:ea typeface="MS PGothic" charset="0"/>
              </a:rPr>
              <a:t>False Positives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50258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B94F0-ED68-7BB6-88EA-79A7F38C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1F429744-D58B-57CF-A242-DE7828C3BB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95ACA-2CCF-5A25-5972-C461B528A87D}"/>
              </a:ext>
            </a:extLst>
          </p:cNvPr>
          <p:cNvSpPr txBox="1"/>
          <p:nvPr/>
        </p:nvSpPr>
        <p:spPr>
          <a:xfrm>
            <a:off x="1011934" y="-990"/>
            <a:ext cx="1120370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Classificatiemodellen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evalueren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met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Confusion Matrix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3F9191A3-2814-E6FA-6B6C-5363451DA4BD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">
            <a:extLst>
              <a:ext uri="{FF2B5EF4-FFF2-40B4-BE49-F238E27FC236}">
                <a16:creationId xmlns:a16="http://schemas.microsoft.com/office/drawing/2014/main" id="{34F64149-45AF-9769-1CBE-AC614AD9EC28}"/>
              </a:ext>
            </a:extLst>
          </p:cNvPr>
          <p:cNvSpPr txBox="1"/>
          <p:nvPr/>
        </p:nvSpPr>
        <p:spPr>
          <a:xfrm>
            <a:off x="5704725" y="1812395"/>
            <a:ext cx="6510918" cy="3392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 err="1">
                <a:latin typeface="Arial"/>
                <a:ea typeface="MS PGothic" charset="0"/>
              </a:rPr>
              <a:t>Accuracy</a:t>
            </a:r>
            <a:r>
              <a:rPr lang="nl-NL" dirty="0">
                <a:latin typeface="Arial"/>
                <a:ea typeface="MS PGothic" charset="0"/>
              </a:rPr>
              <a:t>: de procentuele mate waarin het model goede voorspellingen heeft gemaakt.</a:t>
            </a:r>
          </a:p>
          <a:p>
            <a:pPr marL="742950" lvl="1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>
                <a:latin typeface="Arial"/>
                <a:ea typeface="MS PGothic" charset="0"/>
              </a:rPr>
              <a:t>Formule: TP + TN / (TP + TN + FP + FN)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 err="1">
                <a:latin typeface="Arial"/>
                <a:ea typeface="MS PGothic" charset="0"/>
              </a:rPr>
              <a:t>Recall</a:t>
            </a:r>
            <a:r>
              <a:rPr lang="nl-NL" dirty="0">
                <a:latin typeface="Arial"/>
                <a:ea typeface="MS PGothic" charset="0"/>
              </a:rPr>
              <a:t>: de procentuele mate waarin het model échte positieve gevallen als “positief” classificeert.</a:t>
            </a:r>
          </a:p>
          <a:p>
            <a:pPr marL="742950" lvl="1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>
                <a:latin typeface="Arial"/>
                <a:ea typeface="MS PGothic" charset="0"/>
              </a:rPr>
              <a:t>Formule: TP / (TP + FN)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Precision: welk deel van de als positief voorspelde gevallen ook écht positief is.</a:t>
            </a:r>
          </a:p>
          <a:p>
            <a:pPr marL="742950" lvl="1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>
                <a:latin typeface="Arial" panose="020B0604020202020204" pitchFamily="34" charset="0"/>
                <a:ea typeface="MS PGothic" charset="0"/>
                <a:cs typeface="Arial" panose="020B0604020202020204" pitchFamily="34" charset="0"/>
              </a:rPr>
              <a:t>Formule: TP / (TP + FP)</a:t>
            </a:r>
            <a:endParaRPr lang="nl-NL" dirty="0">
              <a:latin typeface="Arial"/>
              <a:ea typeface="MS PGothic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850F6F26-2813-E33C-C2B2-B280B3784CCF}"/>
              </a:ext>
            </a:extLst>
          </p:cNvPr>
          <p:cNvSpPr txBox="1"/>
          <p:nvPr/>
        </p:nvSpPr>
        <p:spPr>
          <a:xfrm>
            <a:off x="1011934" y="827668"/>
            <a:ext cx="11180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De term “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” komt altijd met een stempel. In dit geval: “heeft ramp overleefd”.</a:t>
            </a:r>
          </a:p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De term “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” staat voor het tegenovergestelde hiervan. In dit geval: “heeft ramp </a:t>
            </a:r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niet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overleefd</a:t>
            </a:r>
            <a:r>
              <a:rPr lang="nl-NL" dirty="0"/>
              <a:t>”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7FB3E67-1D47-7936-AFCC-606A0206B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482" y="1668760"/>
            <a:ext cx="4198984" cy="3284505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4EB8BB08-6CA7-0007-A3F7-2130F3987806}"/>
              </a:ext>
            </a:extLst>
          </p:cNvPr>
          <p:cNvSpPr txBox="1"/>
          <p:nvPr/>
        </p:nvSpPr>
        <p:spPr>
          <a:xfrm>
            <a:off x="1230383" y="4928297"/>
            <a:ext cx="2104972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b="1" dirty="0">
                <a:latin typeface="Arial"/>
                <a:ea typeface="MS PGothic" charset="0"/>
              </a:rPr>
              <a:t>Meetwaarden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 err="1">
                <a:latin typeface="Arial"/>
                <a:ea typeface="MS PGothic" charset="0"/>
              </a:rPr>
              <a:t>Accuracy</a:t>
            </a:r>
            <a:r>
              <a:rPr lang="nl-NL" dirty="0">
                <a:latin typeface="Arial"/>
                <a:ea typeface="MS PGothic" charset="0"/>
              </a:rPr>
              <a:t>: 77%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: 51%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Precision: 88%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70EC0-0887-FE4C-5719-1DF0352D4942}"/>
              </a:ext>
            </a:extLst>
          </p:cNvPr>
          <p:cNvSpPr txBox="1"/>
          <p:nvPr/>
        </p:nvSpPr>
        <p:spPr>
          <a:xfrm>
            <a:off x="3747271" y="5886233"/>
            <a:ext cx="585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Arial"/>
                <a:ea typeface="MS PGothic" charset="0"/>
              </a:rPr>
              <a:t>De berekeningen hiervan staan in de Speaker </a:t>
            </a:r>
            <a:r>
              <a:rPr lang="nl-NL" dirty="0" err="1">
                <a:latin typeface="Arial"/>
                <a:ea typeface="MS PGothic" charset="0"/>
              </a:rPr>
              <a:t>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77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58B4-14FE-F758-0767-4513A8CBC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C4F33089-4179-A825-813C-099DFA2BF08B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42001-AED5-3C1F-2690-0298C638CF3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Precision vs. recall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42931E0E-FBB5-773B-522D-45B5B895A334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">
            <a:extLst>
              <a:ext uri="{FF2B5EF4-FFF2-40B4-BE49-F238E27FC236}">
                <a16:creationId xmlns:a16="http://schemas.microsoft.com/office/drawing/2014/main" id="{918C6597-6685-4745-E142-C1C91AFE53FC}"/>
              </a:ext>
            </a:extLst>
          </p:cNvPr>
          <p:cNvSpPr txBox="1"/>
          <p:nvPr/>
        </p:nvSpPr>
        <p:spPr>
          <a:xfrm>
            <a:off x="1008976" y="2263802"/>
            <a:ext cx="5084066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dirty="0">
                <a:latin typeface="Arial"/>
                <a:ea typeface="MS PGothic" charset="0"/>
              </a:rPr>
              <a:t>Hoe </a:t>
            </a:r>
            <a:r>
              <a:rPr lang="en-US" dirty="0" err="1">
                <a:latin typeface="Arial"/>
                <a:ea typeface="MS PGothic" charset="0"/>
              </a:rPr>
              <a:t>hoger</a:t>
            </a:r>
            <a:r>
              <a:rPr lang="en-US" dirty="0">
                <a:latin typeface="Arial"/>
                <a:ea typeface="MS PGothic" charset="0"/>
              </a:rPr>
              <a:t> de precision, hoe </a:t>
            </a:r>
            <a:r>
              <a:rPr lang="en-US" dirty="0" err="1">
                <a:latin typeface="Arial"/>
                <a:ea typeface="MS PGothic" charset="0"/>
              </a:rPr>
              <a:t>voorzichtiger</a:t>
            </a:r>
            <a:r>
              <a:rPr lang="en-US" dirty="0">
                <a:latin typeface="Arial"/>
                <a:ea typeface="MS PGothic" charset="0"/>
              </a:rPr>
              <a:t> het model </a:t>
            </a:r>
            <a:r>
              <a:rPr lang="en-US" dirty="0" err="1">
                <a:latin typeface="Arial"/>
                <a:ea typeface="MS PGothic" charset="0"/>
              </a:rPr>
              <a:t>classificeert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dirty="0">
                <a:latin typeface="Arial"/>
                <a:ea typeface="MS PGothic" charset="0"/>
              </a:rPr>
              <a:t>“</a:t>
            </a:r>
            <a:r>
              <a:rPr lang="en-US" dirty="0" err="1">
                <a:latin typeface="Arial"/>
                <a:ea typeface="MS PGothic" charset="0"/>
              </a:rPr>
              <a:t>Voorspel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alléén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iets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als</a:t>
            </a:r>
            <a:r>
              <a:rPr lang="en-US" dirty="0">
                <a:latin typeface="Arial"/>
                <a:ea typeface="MS PGothic" charset="0"/>
              </a:rPr>
              <a:t> je </a:t>
            </a:r>
            <a:r>
              <a:rPr lang="en-US" dirty="0" err="1">
                <a:latin typeface="Arial"/>
                <a:ea typeface="MS PGothic" charset="0"/>
              </a:rPr>
              <a:t>bijna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zeker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weet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dat</a:t>
            </a:r>
            <a:r>
              <a:rPr lang="en-US" dirty="0">
                <a:latin typeface="Arial"/>
                <a:ea typeface="MS PGothic" charset="0"/>
              </a:rPr>
              <a:t> die </a:t>
            </a:r>
            <a:r>
              <a:rPr lang="en-US" dirty="0" err="1">
                <a:latin typeface="Arial"/>
                <a:ea typeface="MS PGothic" charset="0"/>
              </a:rPr>
              <a:t>voorspelling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klopt</a:t>
            </a:r>
            <a:r>
              <a:rPr lang="en-US" dirty="0">
                <a:latin typeface="Arial"/>
                <a:ea typeface="MS PGothic" charset="0"/>
              </a:rPr>
              <a:t>”</a:t>
            </a:r>
          </a:p>
        </p:txBody>
      </p:sp>
      <p:pic>
        <p:nvPicPr>
          <p:cNvPr id="9" name="Picture 8" descr="A black text with black text&#10;&#10;AI-generated content may be incorrect.">
            <a:extLst>
              <a:ext uri="{FF2B5EF4-FFF2-40B4-BE49-F238E27FC236}">
                <a16:creationId xmlns:a16="http://schemas.microsoft.com/office/drawing/2014/main" id="{CC6C3547-7621-2A83-0711-AC9C276A6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19" y="916718"/>
            <a:ext cx="4828361" cy="1161463"/>
          </a:xfrm>
          <a:prstGeom prst="rect">
            <a:avLst/>
          </a:prstGeom>
        </p:spPr>
      </p:pic>
      <p:pic>
        <p:nvPicPr>
          <p:cNvPr id="12" name="Picture 11" descr="A black and white text&#10;&#10;AI-generated content may be incorrect.">
            <a:extLst>
              <a:ext uri="{FF2B5EF4-FFF2-40B4-BE49-F238E27FC236}">
                <a16:creationId xmlns:a16="http://schemas.microsoft.com/office/drawing/2014/main" id="{B33D43E7-7C3B-392B-3356-77C5939F8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72" y="916719"/>
            <a:ext cx="4742783" cy="13470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66131B-FB56-F12D-49DB-76761B285D78}"/>
              </a:ext>
            </a:extLst>
          </p:cNvPr>
          <p:cNvSpPr txBox="1"/>
          <p:nvPr/>
        </p:nvSpPr>
        <p:spPr>
          <a:xfrm>
            <a:off x="6705332" y="2298504"/>
            <a:ext cx="5150964" cy="153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dirty="0">
                <a:latin typeface="Arial"/>
                <a:ea typeface="MS PGothic" charset="0"/>
              </a:rPr>
              <a:t>Hoe </a:t>
            </a:r>
            <a:r>
              <a:rPr lang="en-US" dirty="0" err="1">
                <a:latin typeface="Arial"/>
                <a:ea typeface="MS PGothic" charset="0"/>
              </a:rPr>
              <a:t>hoger</a:t>
            </a:r>
            <a:r>
              <a:rPr lang="en-US" dirty="0">
                <a:latin typeface="Arial"/>
                <a:ea typeface="MS PGothic" charset="0"/>
              </a:rPr>
              <a:t> de recall, hoe </a:t>
            </a:r>
            <a:r>
              <a:rPr lang="en-US" dirty="0" err="1">
                <a:latin typeface="Arial"/>
                <a:ea typeface="MS PGothic" charset="0"/>
              </a:rPr>
              <a:t>ruimer</a:t>
            </a:r>
            <a:r>
              <a:rPr lang="en-US" dirty="0">
                <a:latin typeface="Arial"/>
                <a:ea typeface="MS PGothic" charset="0"/>
              </a:rPr>
              <a:t> het model </a:t>
            </a:r>
            <a:r>
              <a:rPr lang="en-US" dirty="0" err="1">
                <a:latin typeface="Arial"/>
                <a:ea typeface="MS PGothic" charset="0"/>
              </a:rPr>
              <a:t>classificeert</a:t>
            </a:r>
            <a:r>
              <a:rPr lang="en-US" dirty="0">
                <a:latin typeface="Arial"/>
                <a:ea typeface="MS PGothic" charset="0"/>
              </a:rPr>
              <a:t>.</a:t>
            </a:r>
          </a:p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dirty="0">
                <a:latin typeface="Arial"/>
                <a:ea typeface="MS PGothic" charset="0"/>
              </a:rPr>
              <a:t>“</a:t>
            </a:r>
            <a:r>
              <a:rPr lang="en-US" dirty="0" err="1">
                <a:latin typeface="Arial"/>
                <a:ea typeface="MS PGothic" charset="0"/>
              </a:rPr>
              <a:t>Probeer</a:t>
            </a:r>
            <a:r>
              <a:rPr lang="en-US" dirty="0">
                <a:latin typeface="Arial"/>
                <a:ea typeface="MS PGothic" charset="0"/>
              </a:rPr>
              <a:t> alle </a:t>
            </a:r>
            <a:r>
              <a:rPr lang="en-US" dirty="0" err="1">
                <a:latin typeface="Arial"/>
                <a:ea typeface="MS PGothic" charset="0"/>
              </a:rPr>
              <a:t>positieve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gevallen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te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vinden</a:t>
            </a:r>
            <a:r>
              <a:rPr lang="en-US" dirty="0">
                <a:latin typeface="Arial"/>
                <a:ea typeface="MS PGothic" charset="0"/>
              </a:rPr>
              <a:t>, het </a:t>
            </a:r>
            <a:r>
              <a:rPr lang="en-US" dirty="0" err="1">
                <a:latin typeface="Arial"/>
                <a:ea typeface="MS PGothic" charset="0"/>
              </a:rPr>
              <a:t>geeft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niet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als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een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aantal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voorspellingen</a:t>
            </a:r>
            <a:r>
              <a:rPr lang="en-US" dirty="0">
                <a:latin typeface="Arial"/>
                <a:ea typeface="MS PGothic" charset="0"/>
              </a:rPr>
              <a:t> </a:t>
            </a:r>
            <a:r>
              <a:rPr lang="en-US" dirty="0" err="1">
                <a:latin typeface="Arial"/>
                <a:ea typeface="MS PGothic" charset="0"/>
              </a:rPr>
              <a:t>fout</a:t>
            </a:r>
            <a:r>
              <a:rPr lang="en-US" dirty="0">
                <a:latin typeface="Arial"/>
                <a:ea typeface="MS PGothic" charset="0"/>
              </a:rPr>
              <a:t> is”.</a:t>
            </a:r>
          </a:p>
        </p:txBody>
      </p:sp>
      <p:pic>
        <p:nvPicPr>
          <p:cNvPr id="1028" name="Picture 4" descr="Careful Sign - National Safety Signs - Australia">
            <a:extLst>
              <a:ext uri="{FF2B5EF4-FFF2-40B4-BE49-F238E27FC236}">
                <a16:creationId xmlns:a16="http://schemas.microsoft.com/office/drawing/2014/main" id="{A0D4EBAB-6B50-7099-02C2-11D4CF249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507" y="4098425"/>
            <a:ext cx="2585076" cy="2554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0">
            <a:extLst>
              <a:ext uri="{FF2B5EF4-FFF2-40B4-BE49-F238E27FC236}">
                <a16:creationId xmlns:a16="http://schemas.microsoft.com/office/drawing/2014/main" id="{02244E78-8C2A-F2D9-3041-A078D661BAB5}"/>
              </a:ext>
            </a:extLst>
          </p:cNvPr>
          <p:cNvCxnSpPr>
            <a:cxnSpLocks/>
          </p:cNvCxnSpPr>
          <p:nvPr/>
        </p:nvCxnSpPr>
        <p:spPr>
          <a:xfrm flipV="1">
            <a:off x="6369628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Search,look,explore. a Man, a Guy with a Magnifying Glass is Searching  Stock Illustration - Illustration of evidence, vision: 370556059">
            <a:extLst>
              <a:ext uri="{FF2B5EF4-FFF2-40B4-BE49-F238E27FC236}">
                <a16:creationId xmlns:a16="http://schemas.microsoft.com/office/drawing/2014/main" id="{AB24C9AF-1850-926D-E9DA-D95A9E4C4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803" y="4055723"/>
            <a:ext cx="4189787" cy="259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12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1011934" y="-990"/>
            <a:ext cx="1120370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De confusion matrix met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ongebalanceerde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datasets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66593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kstvak 5">
            <a:extLst>
              <a:ext uri="{FF2B5EF4-FFF2-40B4-BE49-F238E27FC236}">
                <a16:creationId xmlns:a16="http://schemas.microsoft.com/office/drawing/2014/main" id="{C563808F-AE7B-9AA5-1EAD-33B881442491}"/>
              </a:ext>
            </a:extLst>
          </p:cNvPr>
          <p:cNvSpPr txBox="1"/>
          <p:nvPr/>
        </p:nvSpPr>
        <p:spPr>
          <a:xfrm>
            <a:off x="988290" y="700750"/>
            <a:ext cx="11203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De dataset die wordt gerepresenteerd door deze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confusion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matrix is heel erg ongebalanceerd.</a:t>
            </a:r>
          </a:p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Er zijn namelijk veel meer mensen die niét ziek zijn (910) dan mensen die wél ziek zijn (90)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83E773-5D80-EF78-B661-4F99B7DD2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723872"/>
              </p:ext>
            </p:extLst>
          </p:nvPr>
        </p:nvGraphicFramePr>
        <p:xfrm>
          <a:off x="1173006" y="2003267"/>
          <a:ext cx="492666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88">
                  <a:extLst>
                    <a:ext uri="{9D8B030D-6E8A-4147-A177-3AD203B41FA5}">
                      <a16:colId xmlns:a16="http://schemas.microsoft.com/office/drawing/2014/main" val="1531249056"/>
                    </a:ext>
                  </a:extLst>
                </a:gridCol>
                <a:gridCol w="1705389">
                  <a:extLst>
                    <a:ext uri="{9D8B030D-6E8A-4147-A177-3AD203B41FA5}">
                      <a16:colId xmlns:a16="http://schemas.microsoft.com/office/drawing/2014/main" val="3262410269"/>
                    </a:ext>
                  </a:extLst>
                </a:gridCol>
                <a:gridCol w="1735283">
                  <a:extLst>
                    <a:ext uri="{9D8B030D-6E8A-4147-A177-3AD203B41FA5}">
                      <a16:colId xmlns:a16="http://schemas.microsoft.com/office/drawing/2014/main" val="2273802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Voorspeld: </a:t>
                      </a:r>
                      <a:r>
                        <a:rPr lang="nl-NL" dirty="0" err="1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Voorspeld: </a:t>
                      </a:r>
                      <a:r>
                        <a:rPr lang="nl-NL" dirty="0" err="1"/>
                        <a:t>false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27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Werkelijk: </a:t>
                      </a:r>
                      <a:r>
                        <a:rPr lang="nl-NL" b="1" dirty="0" err="1"/>
                        <a:t>true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900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Werkelijk: </a:t>
                      </a:r>
                      <a:r>
                        <a:rPr lang="nl-NL" b="1" dirty="0" err="1"/>
                        <a:t>false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900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558490"/>
                  </a:ext>
                </a:extLst>
              </a:tr>
            </a:tbl>
          </a:graphicData>
        </a:graphic>
      </p:graphicFrame>
      <p:sp>
        <p:nvSpPr>
          <p:cNvPr id="8" name="Tekstvak 5">
            <a:extLst>
              <a:ext uri="{FF2B5EF4-FFF2-40B4-BE49-F238E27FC236}">
                <a16:creationId xmlns:a16="http://schemas.microsoft.com/office/drawing/2014/main" id="{5EBC3EAC-705B-1B73-E4B5-65B8E81AE16D}"/>
              </a:ext>
            </a:extLst>
          </p:cNvPr>
          <p:cNvSpPr txBox="1"/>
          <p:nvPr/>
        </p:nvSpPr>
        <p:spPr>
          <a:xfrm>
            <a:off x="2062409" y="1356936"/>
            <a:ext cx="3876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Casus Ziekenhuis:</a:t>
            </a:r>
          </a:p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Is iemand ziek (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) of niet (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)?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CD2DA21F-4971-3466-9F84-DFB7A7C18F65}"/>
              </a:ext>
            </a:extLst>
          </p:cNvPr>
          <p:cNvSpPr txBox="1"/>
          <p:nvPr/>
        </p:nvSpPr>
        <p:spPr>
          <a:xfrm>
            <a:off x="8716467" y="1554575"/>
            <a:ext cx="2302527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b="1" dirty="0">
                <a:latin typeface="Arial"/>
                <a:ea typeface="MS PGothic" charset="0"/>
              </a:rPr>
              <a:t>Meetwaarden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 err="1">
                <a:latin typeface="Arial"/>
                <a:ea typeface="MS PGothic" charset="0"/>
              </a:rPr>
              <a:t>Accuracy</a:t>
            </a:r>
            <a:r>
              <a:rPr lang="nl-NL" dirty="0">
                <a:latin typeface="Arial"/>
                <a:ea typeface="MS PGothic" charset="0"/>
              </a:rPr>
              <a:t>: 94%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b="1" dirty="0" err="1">
                <a:latin typeface="Arial"/>
                <a:ea typeface="MS PGothic" charset="0"/>
              </a:rPr>
              <a:t>Recall</a:t>
            </a:r>
            <a:r>
              <a:rPr lang="nl-NL" b="1" dirty="0">
                <a:latin typeface="Arial"/>
                <a:ea typeface="MS PGothic" charset="0"/>
              </a:rPr>
              <a:t>: 44%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>
                <a:latin typeface="Arial"/>
                <a:ea typeface="MS PGothic" charset="0"/>
              </a:rPr>
              <a:t>Precision: 80%</a:t>
            </a:r>
          </a:p>
        </p:txBody>
      </p:sp>
      <p:sp>
        <p:nvSpPr>
          <p:cNvPr id="10" name="Tekstvak 5">
            <a:extLst>
              <a:ext uri="{FF2B5EF4-FFF2-40B4-BE49-F238E27FC236}">
                <a16:creationId xmlns:a16="http://schemas.microsoft.com/office/drawing/2014/main" id="{EF3D94EB-53EC-1075-668C-E501048E97D5}"/>
              </a:ext>
            </a:extLst>
          </p:cNvPr>
          <p:cNvSpPr txBox="1"/>
          <p:nvPr/>
        </p:nvSpPr>
        <p:spPr>
          <a:xfrm>
            <a:off x="1011933" y="3734514"/>
            <a:ext cx="54408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Welke fout is erger (ethische afweging)?</a:t>
            </a:r>
          </a:p>
          <a:p>
            <a:pPr marL="285750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Dat er af en toe iemand als “gezond” wordt geclassificeerd, terwijl diegene ziek is?</a:t>
            </a:r>
          </a:p>
          <a:p>
            <a:pPr marL="742950" lvl="1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Dit zijn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Negatives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belangrijker dan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Dat er af en toe iemand als “ziek” wordt geclassificeerd, terwijl diegene gezond is?</a:t>
            </a:r>
          </a:p>
          <a:p>
            <a:pPr marL="742950" lvl="1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Dit zijn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Positives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belangrijker dan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1F962575-74D4-A338-C3AA-0053222DFCA6}"/>
              </a:ext>
            </a:extLst>
          </p:cNvPr>
          <p:cNvSpPr/>
          <p:nvPr/>
        </p:nvSpPr>
        <p:spPr>
          <a:xfrm>
            <a:off x="6177370" y="4011521"/>
            <a:ext cx="872836" cy="55071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50FA4-0E1E-240C-5C09-4FAB4EE0425F}"/>
              </a:ext>
            </a:extLst>
          </p:cNvPr>
          <p:cNvSpPr txBox="1"/>
          <p:nvPr/>
        </p:nvSpPr>
        <p:spPr>
          <a:xfrm>
            <a:off x="7938655" y="4655756"/>
            <a:ext cx="40328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Conclusie</a:t>
            </a:r>
          </a:p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Weliswaar is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heel hoog, maar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heel laag.</a:t>
            </a:r>
          </a:p>
          <a:p>
            <a:pPr algn="ctr"/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Het model presteert minder goed dan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weergeeft!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5CF6E3-45EC-C6F8-98A6-9A7F67180AB9}"/>
              </a:ext>
            </a:extLst>
          </p:cNvPr>
          <p:cNvSpPr txBox="1"/>
          <p:nvPr/>
        </p:nvSpPr>
        <p:spPr>
          <a:xfrm>
            <a:off x="6613788" y="3642189"/>
            <a:ext cx="585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Arial"/>
                <a:ea typeface="MS PGothic" charset="0"/>
              </a:rPr>
              <a:t>De berekeningen hiervan staan in de Speaker </a:t>
            </a:r>
            <a:r>
              <a:rPr lang="nl-NL" dirty="0" err="1">
                <a:latin typeface="Arial"/>
                <a:ea typeface="MS PGothic" charset="0"/>
              </a:rPr>
              <a:t>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21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animBg="1"/>
      <p:bldP spid="18" grpId="0" build="allAtOnce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BBB5F-4FD4-C000-DD6E-CD07B249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FDD7FE-BF9F-6404-4F55-BD49A805989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300B53-8177-9334-DEF4-F44CBC23311D}"/>
              </a:ext>
            </a:extLst>
          </p:cNvPr>
          <p:cNvSpPr txBox="1"/>
          <p:nvPr/>
        </p:nvSpPr>
        <p:spPr>
          <a:xfrm>
            <a:off x="1011934" y="-990"/>
            <a:ext cx="1120370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Een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andere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ongebalanceerde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casus: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Rechtbank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F5796CB4-269C-4FCA-6C91-31B863428612}"/>
              </a:ext>
            </a:extLst>
          </p:cNvPr>
          <p:cNvCxnSpPr>
            <a:cxnSpLocks/>
          </p:cNvCxnSpPr>
          <p:nvPr/>
        </p:nvCxnSpPr>
        <p:spPr>
          <a:xfrm>
            <a:off x="988290" y="66593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kstvak 5">
            <a:extLst>
              <a:ext uri="{FF2B5EF4-FFF2-40B4-BE49-F238E27FC236}">
                <a16:creationId xmlns:a16="http://schemas.microsoft.com/office/drawing/2014/main" id="{7C006461-D8CC-184C-7D76-0C99403728F9}"/>
              </a:ext>
            </a:extLst>
          </p:cNvPr>
          <p:cNvSpPr txBox="1"/>
          <p:nvPr/>
        </p:nvSpPr>
        <p:spPr>
          <a:xfrm>
            <a:off x="988290" y="700750"/>
            <a:ext cx="11203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De dataset die wordt gerepresenteerd door deze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confusion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matrix is heel erg ongebalanceerd.</a:t>
            </a:r>
          </a:p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Er zijn namelijk veel meer mensen die onschuldig zijn (950) dan mensen die wél schuldig zijn (50)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3D5F20-AE84-5A19-C295-AC063E66F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821954"/>
              </p:ext>
            </p:extLst>
          </p:nvPr>
        </p:nvGraphicFramePr>
        <p:xfrm>
          <a:off x="1173006" y="2003267"/>
          <a:ext cx="492666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88">
                  <a:extLst>
                    <a:ext uri="{9D8B030D-6E8A-4147-A177-3AD203B41FA5}">
                      <a16:colId xmlns:a16="http://schemas.microsoft.com/office/drawing/2014/main" val="1531249056"/>
                    </a:ext>
                  </a:extLst>
                </a:gridCol>
                <a:gridCol w="1705389">
                  <a:extLst>
                    <a:ext uri="{9D8B030D-6E8A-4147-A177-3AD203B41FA5}">
                      <a16:colId xmlns:a16="http://schemas.microsoft.com/office/drawing/2014/main" val="3262410269"/>
                    </a:ext>
                  </a:extLst>
                </a:gridCol>
                <a:gridCol w="1735283">
                  <a:extLst>
                    <a:ext uri="{9D8B030D-6E8A-4147-A177-3AD203B41FA5}">
                      <a16:colId xmlns:a16="http://schemas.microsoft.com/office/drawing/2014/main" val="2273802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Voorspeld: </a:t>
                      </a:r>
                      <a:r>
                        <a:rPr lang="nl-NL" dirty="0" err="1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Voorspeld: </a:t>
                      </a:r>
                      <a:r>
                        <a:rPr lang="nl-NL" dirty="0" err="1"/>
                        <a:t>false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27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Werkelijk: </a:t>
                      </a:r>
                      <a:r>
                        <a:rPr lang="nl-NL" b="1" dirty="0" err="1"/>
                        <a:t>true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900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Werkelijk: </a:t>
                      </a:r>
                      <a:r>
                        <a:rPr lang="nl-NL" b="1" dirty="0" err="1"/>
                        <a:t>false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900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558490"/>
                  </a:ext>
                </a:extLst>
              </a:tr>
            </a:tbl>
          </a:graphicData>
        </a:graphic>
      </p:graphicFrame>
      <p:sp>
        <p:nvSpPr>
          <p:cNvPr id="8" name="Tekstvak 5">
            <a:extLst>
              <a:ext uri="{FF2B5EF4-FFF2-40B4-BE49-F238E27FC236}">
                <a16:creationId xmlns:a16="http://schemas.microsoft.com/office/drawing/2014/main" id="{0D691D30-6E63-5402-E86A-AA1B6080590C}"/>
              </a:ext>
            </a:extLst>
          </p:cNvPr>
          <p:cNvSpPr txBox="1"/>
          <p:nvPr/>
        </p:nvSpPr>
        <p:spPr>
          <a:xfrm>
            <a:off x="1173006" y="1356936"/>
            <a:ext cx="50043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Casus Rechtbank:</a:t>
            </a:r>
          </a:p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Is iemand schuldig (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) of niet (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)?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49C6102A-DD79-CA54-B94C-8A4EDFF028DC}"/>
              </a:ext>
            </a:extLst>
          </p:cNvPr>
          <p:cNvSpPr txBox="1"/>
          <p:nvPr/>
        </p:nvSpPr>
        <p:spPr>
          <a:xfrm>
            <a:off x="8716467" y="1746181"/>
            <a:ext cx="2302527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b="1" dirty="0">
                <a:latin typeface="Arial"/>
                <a:ea typeface="MS PGothic" charset="0"/>
              </a:rPr>
              <a:t>Meetwaarden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 err="1">
                <a:latin typeface="Arial"/>
                <a:ea typeface="MS PGothic" charset="0"/>
              </a:rPr>
              <a:t>Accuracy</a:t>
            </a:r>
            <a:r>
              <a:rPr lang="nl-NL" dirty="0">
                <a:latin typeface="Arial"/>
                <a:ea typeface="MS PGothic" charset="0"/>
              </a:rPr>
              <a:t>: 94%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dirty="0" err="1">
                <a:latin typeface="Arial"/>
                <a:ea typeface="MS PGothic" charset="0"/>
              </a:rPr>
              <a:t>Recall</a:t>
            </a:r>
            <a:r>
              <a:rPr lang="nl-NL" dirty="0">
                <a:latin typeface="Arial"/>
                <a:ea typeface="MS PGothic" charset="0"/>
              </a:rPr>
              <a:t>: 80%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nl-NL" b="1" dirty="0">
                <a:latin typeface="Arial"/>
                <a:ea typeface="MS PGothic" charset="0"/>
              </a:rPr>
              <a:t>Precision: 44%</a:t>
            </a:r>
          </a:p>
        </p:txBody>
      </p:sp>
      <p:sp>
        <p:nvSpPr>
          <p:cNvPr id="10" name="Tekstvak 5">
            <a:extLst>
              <a:ext uri="{FF2B5EF4-FFF2-40B4-BE49-F238E27FC236}">
                <a16:creationId xmlns:a16="http://schemas.microsoft.com/office/drawing/2014/main" id="{62330709-6CE1-1C54-390C-787BF80824B3}"/>
              </a:ext>
            </a:extLst>
          </p:cNvPr>
          <p:cNvSpPr txBox="1"/>
          <p:nvPr/>
        </p:nvSpPr>
        <p:spPr>
          <a:xfrm>
            <a:off x="1011933" y="3734514"/>
            <a:ext cx="54408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Welke fout is erger (ethische afweging)?</a:t>
            </a:r>
          </a:p>
          <a:p>
            <a:pPr marL="285750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Dat er af en toe iemand als “onschuldig” wordt geclassificeerd, terwijl diegene schuldig is?</a:t>
            </a:r>
          </a:p>
          <a:p>
            <a:pPr marL="742950" lvl="1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Dit zijn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Negatives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belangrijker dan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Dat er af en toe iemand als “schuldig” wordt geclassificeerd, terwijl diegene onschuldig is?</a:t>
            </a:r>
          </a:p>
          <a:p>
            <a:pPr marL="742950" lvl="1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Dit zijn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Positives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belangrijker dan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DE5427D7-BC88-3134-EE37-82AED1B24475}"/>
              </a:ext>
            </a:extLst>
          </p:cNvPr>
          <p:cNvSpPr/>
          <p:nvPr/>
        </p:nvSpPr>
        <p:spPr>
          <a:xfrm>
            <a:off x="6177370" y="5582366"/>
            <a:ext cx="872836" cy="55071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9EEB8-3D6B-209C-00A5-29EAB90C148A}"/>
              </a:ext>
            </a:extLst>
          </p:cNvPr>
          <p:cNvSpPr txBox="1"/>
          <p:nvPr/>
        </p:nvSpPr>
        <p:spPr>
          <a:xfrm>
            <a:off x="7938655" y="4655756"/>
            <a:ext cx="40328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Conclusie</a:t>
            </a:r>
          </a:p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Weliswaar is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heel hoog, maar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heel laag.</a:t>
            </a:r>
          </a:p>
          <a:p>
            <a:pPr algn="ctr"/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Het model presteert minder goed dan de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weergeeft!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908F4-CAD0-209A-ECC2-E598A33167E0}"/>
              </a:ext>
            </a:extLst>
          </p:cNvPr>
          <p:cNvSpPr txBox="1"/>
          <p:nvPr/>
        </p:nvSpPr>
        <p:spPr>
          <a:xfrm>
            <a:off x="6613788" y="3642189"/>
            <a:ext cx="5858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latin typeface="Arial"/>
                <a:ea typeface="MS PGothic" charset="0"/>
              </a:rPr>
              <a:t>De berekeningen hiervan staan in de Speaker </a:t>
            </a:r>
            <a:r>
              <a:rPr lang="nl-NL" dirty="0" err="1">
                <a:latin typeface="Arial"/>
                <a:ea typeface="MS PGothic" charset="0"/>
              </a:rPr>
              <a:t>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4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animBg="1"/>
      <p:bldP spid="18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CD72-B6A5-EEB7-D8A9-DDD4A989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5141011A-2DB4-C36E-8C88-82DF5787636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E4D218-DF2C-EB68-D8D5-92154D703FEB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Confusion matrices: 2x2 vs. 3x3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3985132A-80D3-F5D9-850D-367087FC5457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">
            <a:extLst>
              <a:ext uri="{FF2B5EF4-FFF2-40B4-BE49-F238E27FC236}">
                <a16:creationId xmlns:a16="http://schemas.microsoft.com/office/drawing/2014/main" id="{94E79190-213C-CE40-6FCD-A3B71AAD0EC4}"/>
              </a:ext>
            </a:extLst>
          </p:cNvPr>
          <p:cNvSpPr txBox="1"/>
          <p:nvPr/>
        </p:nvSpPr>
        <p:spPr>
          <a:xfrm>
            <a:off x="926530" y="812800"/>
            <a:ext cx="4757298" cy="423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 dirty="0">
                <a:latin typeface="Arial"/>
                <a:ea typeface="MS PGothic" charset="0"/>
              </a:rPr>
              <a:t>2x2</a:t>
            </a:r>
          </a:p>
        </p:txBody>
      </p:sp>
      <p:cxnSp>
        <p:nvCxnSpPr>
          <p:cNvPr id="17" name="Straight Connector 10">
            <a:extLst>
              <a:ext uri="{FF2B5EF4-FFF2-40B4-BE49-F238E27FC236}">
                <a16:creationId xmlns:a16="http://schemas.microsoft.com/office/drawing/2014/main" id="{5206AF01-2E54-36C0-F0FB-9EF868CA288A}"/>
              </a:ext>
            </a:extLst>
          </p:cNvPr>
          <p:cNvCxnSpPr>
            <a:cxnSpLocks/>
          </p:cNvCxnSpPr>
          <p:nvPr/>
        </p:nvCxnSpPr>
        <p:spPr>
          <a:xfrm flipV="1">
            <a:off x="5683828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1">
            <a:extLst>
              <a:ext uri="{FF2B5EF4-FFF2-40B4-BE49-F238E27FC236}">
                <a16:creationId xmlns:a16="http://schemas.microsoft.com/office/drawing/2014/main" id="{4E736D9A-0F02-8D3B-01C6-A2B3134E62B9}"/>
              </a:ext>
            </a:extLst>
          </p:cNvPr>
          <p:cNvSpPr txBox="1"/>
          <p:nvPr/>
        </p:nvSpPr>
        <p:spPr>
          <a:xfrm>
            <a:off x="988288" y="4508304"/>
            <a:ext cx="4573657" cy="227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</a:pPr>
            <a:r>
              <a:rPr lang="nl-NL" dirty="0">
                <a:latin typeface="Arial"/>
                <a:ea typeface="MS PGothic" charset="0"/>
              </a:rPr>
              <a:t>Slechts 1 </a:t>
            </a:r>
            <a:r>
              <a:rPr lang="nl-NL" dirty="0" err="1">
                <a:latin typeface="Arial"/>
                <a:ea typeface="MS PGothic" charset="0"/>
              </a:rPr>
              <a:t>accuracy</a:t>
            </a:r>
            <a:endParaRPr lang="nl-NL" dirty="0">
              <a:latin typeface="Arial"/>
              <a:ea typeface="MS PGothic" charset="0"/>
            </a:endParaRP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</a:pPr>
            <a:r>
              <a:rPr lang="nl-NL" dirty="0">
                <a:latin typeface="Arial"/>
                <a:ea typeface="MS PGothic" charset="0"/>
              </a:rPr>
              <a:t>Slechts 1 </a:t>
            </a:r>
            <a:r>
              <a:rPr lang="nl-NL" dirty="0" err="1">
                <a:latin typeface="Arial"/>
                <a:ea typeface="MS PGothic" charset="0"/>
              </a:rPr>
              <a:t>precision</a:t>
            </a:r>
            <a:endParaRPr lang="nl-NL" dirty="0">
              <a:latin typeface="Arial"/>
              <a:ea typeface="MS PGothic" charset="0"/>
            </a:endParaRP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</a:pPr>
            <a:r>
              <a:rPr lang="nl-NL" dirty="0">
                <a:latin typeface="Arial"/>
                <a:ea typeface="MS PGothic" charset="0"/>
              </a:rPr>
              <a:t>Slechts 1 </a:t>
            </a:r>
            <a:r>
              <a:rPr lang="nl-NL" dirty="0" err="1">
                <a:latin typeface="Arial"/>
                <a:ea typeface="MS PGothic" charset="0"/>
              </a:rPr>
              <a:t>recall</a:t>
            </a:r>
            <a:endParaRPr lang="nl-NL" dirty="0">
              <a:latin typeface="Arial"/>
              <a:ea typeface="MS PGothic" charset="0"/>
            </a:endParaRP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endParaRPr lang="nl-NL" dirty="0">
              <a:latin typeface="Arial"/>
              <a:ea typeface="MS PGothic" charset="0"/>
            </a:endParaRP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endParaRPr lang="nl-NL" dirty="0">
              <a:latin typeface="Arial"/>
              <a:ea typeface="MS PGothic" charset="0"/>
            </a:endParaRPr>
          </a:p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b="1" dirty="0">
                <a:latin typeface="Arial"/>
                <a:ea typeface="MS PGothic" charset="0"/>
              </a:rPr>
              <a:t>Zie Speaker </a:t>
            </a:r>
            <a:r>
              <a:rPr lang="nl-NL" b="1" dirty="0" err="1">
                <a:latin typeface="Arial"/>
                <a:ea typeface="MS PGothic" charset="0"/>
              </a:rPr>
              <a:t>Notes</a:t>
            </a:r>
            <a:r>
              <a:rPr lang="nl-NL" b="1" dirty="0">
                <a:latin typeface="Arial"/>
                <a:ea typeface="MS PGothic" charset="0"/>
              </a:rPr>
              <a:t> voor berekeningen</a:t>
            </a:r>
            <a:endParaRPr lang="en-US" b="1" dirty="0">
              <a:latin typeface="Arial"/>
              <a:ea typeface="MS PGothic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5411E67-8A19-7808-E76A-760A0E986192}"/>
              </a:ext>
            </a:extLst>
          </p:cNvPr>
          <p:cNvSpPr txBox="1"/>
          <p:nvPr/>
        </p:nvSpPr>
        <p:spPr>
          <a:xfrm>
            <a:off x="5745587" y="812799"/>
            <a:ext cx="6446413" cy="423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 dirty="0">
                <a:latin typeface="Arial"/>
                <a:ea typeface="MS PGothic" charset="0"/>
              </a:rPr>
              <a:t>3x3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1CC98FA-7A24-87F0-856B-8FD1891ED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418178"/>
              </p:ext>
            </p:extLst>
          </p:nvPr>
        </p:nvGraphicFramePr>
        <p:xfrm>
          <a:off x="1128760" y="2184400"/>
          <a:ext cx="436803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493">
                  <a:extLst>
                    <a:ext uri="{9D8B030D-6E8A-4147-A177-3AD203B41FA5}">
                      <a16:colId xmlns:a16="http://schemas.microsoft.com/office/drawing/2014/main" val="1531249056"/>
                    </a:ext>
                  </a:extLst>
                </a:gridCol>
                <a:gridCol w="1512017">
                  <a:extLst>
                    <a:ext uri="{9D8B030D-6E8A-4147-A177-3AD203B41FA5}">
                      <a16:colId xmlns:a16="http://schemas.microsoft.com/office/drawing/2014/main" val="3262410269"/>
                    </a:ext>
                  </a:extLst>
                </a:gridCol>
                <a:gridCol w="1538521">
                  <a:extLst>
                    <a:ext uri="{9D8B030D-6E8A-4147-A177-3AD203B41FA5}">
                      <a16:colId xmlns:a16="http://schemas.microsoft.com/office/drawing/2014/main" val="2273802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Voorspeld: </a:t>
                      </a:r>
                      <a:r>
                        <a:rPr lang="nl-NL" dirty="0" err="1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Voorspeld: </a:t>
                      </a:r>
                      <a:r>
                        <a:rPr lang="nl-NL" dirty="0" err="1"/>
                        <a:t>false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27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Werkelijk: </a:t>
                      </a:r>
                      <a:r>
                        <a:rPr lang="nl-NL" b="1" dirty="0" err="1"/>
                        <a:t>true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900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Werkelijk: </a:t>
                      </a:r>
                      <a:r>
                        <a:rPr lang="nl-NL" b="1" dirty="0" err="1"/>
                        <a:t>false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900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5584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F52FB6-ABBC-F98C-D6B2-249B36386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983438"/>
              </p:ext>
            </p:extLst>
          </p:nvPr>
        </p:nvGraphicFramePr>
        <p:xfrm>
          <a:off x="6190173" y="2184400"/>
          <a:ext cx="57593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4020">
                  <a:extLst>
                    <a:ext uri="{9D8B030D-6E8A-4147-A177-3AD203B41FA5}">
                      <a16:colId xmlns:a16="http://schemas.microsoft.com/office/drawing/2014/main" val="1531249056"/>
                    </a:ext>
                  </a:extLst>
                </a:gridCol>
                <a:gridCol w="1423552">
                  <a:extLst>
                    <a:ext uri="{9D8B030D-6E8A-4147-A177-3AD203B41FA5}">
                      <a16:colId xmlns:a16="http://schemas.microsoft.com/office/drawing/2014/main" val="3262410269"/>
                    </a:ext>
                  </a:extLst>
                </a:gridCol>
                <a:gridCol w="1444336">
                  <a:extLst>
                    <a:ext uri="{9D8B030D-6E8A-4147-A177-3AD203B41FA5}">
                      <a16:colId xmlns:a16="http://schemas.microsoft.com/office/drawing/2014/main" val="2273802361"/>
                    </a:ext>
                  </a:extLst>
                </a:gridCol>
                <a:gridCol w="1527464">
                  <a:extLst>
                    <a:ext uri="{9D8B030D-6E8A-4147-A177-3AD203B41FA5}">
                      <a16:colId xmlns:a16="http://schemas.microsoft.com/office/drawing/2014/main" val="3964586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Voorspeld: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Voorspeld: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Voorspeld: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27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Werkelijk: 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900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Werkelijk: 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900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558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b="1" dirty="0"/>
                        <a:t>Werkelijk: 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b="0" dirty="0"/>
                        <a:t>10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78651"/>
                  </a:ext>
                </a:extLst>
              </a:tr>
            </a:tbl>
          </a:graphicData>
        </a:graphic>
      </p:graphicFrame>
      <p:sp>
        <p:nvSpPr>
          <p:cNvPr id="11" name="TextBox 1">
            <a:extLst>
              <a:ext uri="{FF2B5EF4-FFF2-40B4-BE49-F238E27FC236}">
                <a16:creationId xmlns:a16="http://schemas.microsoft.com/office/drawing/2014/main" id="{9E358CAF-DFE1-A3B9-E445-370A9FCC81DD}"/>
              </a:ext>
            </a:extLst>
          </p:cNvPr>
          <p:cNvSpPr txBox="1"/>
          <p:nvPr/>
        </p:nvSpPr>
        <p:spPr>
          <a:xfrm>
            <a:off x="988289" y="1219927"/>
            <a:ext cx="4573659" cy="79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dirty="0">
                <a:latin typeface="Arial"/>
                <a:ea typeface="MS PGothic" charset="0"/>
              </a:rPr>
              <a:t>Bij slechts 2 labels. In dit geval: “0” en “1”.</a:t>
            </a:r>
          </a:p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dirty="0">
                <a:latin typeface="Arial"/>
                <a:ea typeface="MS PGothic" charset="0"/>
              </a:rPr>
              <a:t>Synoniem: “binaire classificatie”</a:t>
            </a:r>
            <a:endParaRPr lang="en-US" dirty="0">
              <a:latin typeface="Arial"/>
              <a:ea typeface="MS PGothic" charset="0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A9CCF05D-660D-7D71-2FE3-3780156C745B}"/>
              </a:ext>
            </a:extLst>
          </p:cNvPr>
          <p:cNvSpPr txBox="1"/>
          <p:nvPr/>
        </p:nvSpPr>
        <p:spPr>
          <a:xfrm>
            <a:off x="5683827" y="1228023"/>
            <a:ext cx="6508172" cy="79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dirty="0">
                <a:latin typeface="Arial"/>
                <a:ea typeface="MS PGothic" charset="0"/>
              </a:rPr>
              <a:t>Bij meer dan 2 labels. In dit geval: “0”, “1” en “2”.</a:t>
            </a:r>
          </a:p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dirty="0">
                <a:latin typeface="Arial"/>
                <a:ea typeface="MS PGothic" charset="0"/>
              </a:rPr>
              <a:t>Synoniem: “</a:t>
            </a:r>
            <a:r>
              <a:rPr lang="nl-NL" dirty="0" err="1">
                <a:latin typeface="Arial"/>
                <a:ea typeface="MS PGothic" charset="0"/>
              </a:rPr>
              <a:t>multi</a:t>
            </a:r>
            <a:r>
              <a:rPr lang="nl-NL" dirty="0">
                <a:latin typeface="Arial"/>
                <a:ea typeface="MS PGothic" charset="0"/>
              </a:rPr>
              <a:t>-class classificatie”</a:t>
            </a:r>
            <a:endParaRPr lang="en-US" dirty="0">
              <a:latin typeface="Arial"/>
              <a:ea typeface="MS PGothic" charset="0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CF96D2A4-A170-DE9F-B19E-9BC0A54B85B6}"/>
              </a:ext>
            </a:extLst>
          </p:cNvPr>
          <p:cNvSpPr txBox="1"/>
          <p:nvPr/>
        </p:nvSpPr>
        <p:spPr>
          <a:xfrm>
            <a:off x="5805708" y="4501047"/>
            <a:ext cx="6264409" cy="227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</a:pPr>
            <a:r>
              <a:rPr lang="nl-NL" dirty="0">
                <a:latin typeface="Arial"/>
                <a:ea typeface="MS PGothic" charset="0"/>
              </a:rPr>
              <a:t>Slechts 1 </a:t>
            </a:r>
            <a:r>
              <a:rPr lang="nl-NL" dirty="0" err="1">
                <a:latin typeface="Arial"/>
                <a:ea typeface="MS PGothic" charset="0"/>
              </a:rPr>
              <a:t>accuracy</a:t>
            </a:r>
            <a:endParaRPr lang="nl-NL" dirty="0">
              <a:latin typeface="Arial"/>
              <a:ea typeface="MS PGothic" charset="0"/>
            </a:endParaRP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</a:pPr>
            <a:r>
              <a:rPr lang="nl-NL" dirty="0">
                <a:latin typeface="Arial"/>
                <a:ea typeface="MS PGothic" charset="0"/>
              </a:rPr>
              <a:t>3 </a:t>
            </a:r>
            <a:r>
              <a:rPr lang="nl-NL" dirty="0" err="1">
                <a:latin typeface="Arial"/>
                <a:ea typeface="MS PGothic" charset="0"/>
              </a:rPr>
              <a:t>precisions</a:t>
            </a:r>
            <a:r>
              <a:rPr lang="nl-NL" dirty="0">
                <a:latin typeface="Arial"/>
                <a:ea typeface="MS PGothic" charset="0"/>
              </a:rPr>
              <a:t> (1 voor elk label)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</a:pPr>
            <a:r>
              <a:rPr lang="nl-NL" dirty="0">
                <a:latin typeface="Arial"/>
                <a:ea typeface="MS PGothic" charset="0"/>
              </a:rPr>
              <a:t>3 </a:t>
            </a:r>
            <a:r>
              <a:rPr lang="nl-NL" dirty="0" err="1">
                <a:latin typeface="Arial"/>
                <a:ea typeface="MS PGothic" charset="0"/>
              </a:rPr>
              <a:t>recalls</a:t>
            </a:r>
            <a:r>
              <a:rPr lang="nl-NL" dirty="0">
                <a:latin typeface="Arial"/>
                <a:ea typeface="MS PGothic" charset="0"/>
              </a:rPr>
              <a:t> (1 voor elk label)</a:t>
            </a: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endParaRPr lang="nl-NL" dirty="0">
              <a:latin typeface="Arial"/>
              <a:ea typeface="MS PGothic" charset="0"/>
            </a:endParaRP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endParaRPr lang="nl-NL" dirty="0">
              <a:latin typeface="Arial"/>
              <a:ea typeface="MS PGothic" charset="0"/>
            </a:endParaRPr>
          </a:p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nl-NL" b="1" dirty="0">
                <a:latin typeface="Arial"/>
                <a:ea typeface="MS PGothic" charset="0"/>
              </a:rPr>
              <a:t>Zie Speaker </a:t>
            </a:r>
            <a:r>
              <a:rPr lang="nl-NL" b="1" dirty="0" err="1">
                <a:latin typeface="Arial"/>
                <a:ea typeface="MS PGothic" charset="0"/>
              </a:rPr>
              <a:t>Notes</a:t>
            </a:r>
            <a:r>
              <a:rPr lang="nl-NL" b="1" dirty="0">
                <a:latin typeface="Arial"/>
                <a:ea typeface="MS PGothic" charset="0"/>
              </a:rPr>
              <a:t> voor berekeningen</a:t>
            </a:r>
            <a:endParaRPr lang="en-US" b="1" dirty="0">
              <a:latin typeface="Arial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78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AC71-3498-942D-754D-F74DC3BA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CEC621F3-CF9C-E006-C460-E2CB28E91556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41EFFA-3FEE-86AD-C155-53371C11ABD9}"/>
              </a:ext>
            </a:extLst>
          </p:cNvPr>
          <p:cNvSpPr txBox="1"/>
          <p:nvPr/>
        </p:nvSpPr>
        <p:spPr>
          <a:xfrm>
            <a:off x="2259112" y="0"/>
            <a:ext cx="9139669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Demo time</a:t>
            </a:r>
          </a:p>
        </p:txBody>
      </p:sp>
      <p:pic>
        <p:nvPicPr>
          <p:cNvPr id="1026" name="Picture 2" descr="Demo - Applied Post">
            <a:extLst>
              <a:ext uri="{FF2B5EF4-FFF2-40B4-BE49-F238E27FC236}">
                <a16:creationId xmlns:a16="http://schemas.microsoft.com/office/drawing/2014/main" id="{8C1BFF8E-1A1D-4FCA-B3A5-ECCA34886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151" y="900504"/>
            <a:ext cx="9626630" cy="548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970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0739-E07E-FB18-5A93-F116E400C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E2A8C-21FB-B299-B471-795DC701F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13B28A5-E555-8A22-9635-8DBE5D13C0B2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AAE02655-3CCA-152D-8410-829DEB3AFD7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870D6EA8-DBB4-6413-2D83-4CF6B8869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" y="1052941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3E7B81-E6D1-C7E9-940B-9E8FD90848A3}"/>
              </a:ext>
            </a:extLst>
          </p:cNvPr>
          <p:cNvSpPr txBox="1"/>
          <p:nvPr/>
        </p:nvSpPr>
        <p:spPr>
          <a:xfrm>
            <a:off x="3576418" y="683609"/>
            <a:ext cx="129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6723DE-CDD3-D183-6E41-F1C061F3BF47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B925D5-CAB2-4284-6549-71496E9215D8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B8E7258B-C4EC-C087-5A81-2F30EE9B1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716" y="3060087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6">
            <a:extLst>
              <a:ext uri="{FF2B5EF4-FFF2-40B4-BE49-F238E27FC236}">
                <a16:creationId xmlns:a16="http://schemas.microsoft.com/office/drawing/2014/main" id="{CCB69DB6-4CE8-1A1C-75B6-729742FC1483}"/>
              </a:ext>
            </a:extLst>
          </p:cNvPr>
          <p:cNvSpPr txBox="1"/>
          <p:nvPr/>
        </p:nvSpPr>
        <p:spPr>
          <a:xfrm>
            <a:off x="2150925" y="5161035"/>
            <a:ext cx="3407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confusion matrix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hoe je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lezen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classificatie-modellen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54E2D43-400A-EA32-F339-8A233EA6E209}"/>
              </a:ext>
            </a:extLst>
          </p:cNvPr>
          <p:cNvSpPr txBox="1"/>
          <p:nvPr/>
        </p:nvSpPr>
        <p:spPr>
          <a:xfrm>
            <a:off x="7400454" y="1442185"/>
            <a:ext cx="2904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Supervised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train-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testbaar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maken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F369872-0E6A-DFF5-C95B-95DF9F5E6D8C}"/>
              </a:ext>
            </a:extLst>
          </p:cNvPr>
          <p:cNvSpPr txBox="1"/>
          <p:nvPr/>
        </p:nvSpPr>
        <p:spPr>
          <a:xfrm>
            <a:off x="7170912" y="5167705"/>
            <a:ext cx="3363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uitkomsten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classificatiemodellen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interpreteren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behulp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4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meetwaarden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B82E7B33-21EB-2E41-FFD9-F5B5E0CD4EF3}"/>
              </a:ext>
            </a:extLst>
          </p:cNvPr>
          <p:cNvSpPr txBox="1"/>
          <p:nvPr/>
        </p:nvSpPr>
        <p:spPr>
          <a:xfrm>
            <a:off x="1528865" y="3944276"/>
            <a:ext cx="3640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Hoe je under-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overfitting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herkennen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evalueren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classificatiemodellen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C8111E78-2734-FD24-BD16-D8BC182D82EE}"/>
              </a:ext>
            </a:extLst>
          </p:cNvPr>
          <p:cNvSpPr txBox="1"/>
          <p:nvPr/>
        </p:nvSpPr>
        <p:spPr>
          <a:xfrm>
            <a:off x="2888968" y="1394677"/>
            <a:ext cx="26690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 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gini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impurity 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hoe DecisionTree-algoritmen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gebruiken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beslisbomen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trainen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kstvak 7">
            <a:extLst>
              <a:ext uri="{FF2B5EF4-FFF2-40B4-BE49-F238E27FC236}">
                <a16:creationId xmlns:a16="http://schemas.microsoft.com/office/drawing/2014/main" id="{425140C2-4D23-3129-AD7B-33A8727A6875}"/>
              </a:ext>
            </a:extLst>
          </p:cNvPr>
          <p:cNvSpPr txBox="1"/>
          <p:nvPr/>
        </p:nvSpPr>
        <p:spPr>
          <a:xfrm>
            <a:off x="7633792" y="2505670"/>
            <a:ext cx="3710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Verantwoorden hoe een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Tree is opgebouwd, o.a. d.m.v. het geven van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impurity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-berekeningen.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kstvak 7">
            <a:extLst>
              <a:ext uri="{FF2B5EF4-FFF2-40B4-BE49-F238E27FC236}">
                <a16:creationId xmlns:a16="http://schemas.microsoft.com/office/drawing/2014/main" id="{A1FB4EFE-F84D-64A1-8130-DA1ACF36A194}"/>
              </a:ext>
            </a:extLst>
          </p:cNvPr>
          <p:cNvSpPr txBox="1"/>
          <p:nvPr/>
        </p:nvSpPr>
        <p:spPr>
          <a:xfrm>
            <a:off x="7805738" y="3818244"/>
            <a:ext cx="3710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Reeds gemaakte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Trees lezen en verbetermogelijkheden bepalen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CE3C4FD3-D231-CFE2-55E4-03BDBADBC0F4}"/>
              </a:ext>
            </a:extLst>
          </p:cNvPr>
          <p:cNvSpPr txBox="1"/>
          <p:nvPr/>
        </p:nvSpPr>
        <p:spPr>
          <a:xfrm>
            <a:off x="1297246" y="3060087"/>
            <a:ext cx="3640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onderdelen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Decision Trees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bestaan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272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b2ec890ea17184f49c4a58d4bd1095a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f90993f1e063ba2c6886d3a92126f3a0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Props1.xml><?xml version="1.0" encoding="utf-8"?>
<ds:datastoreItem xmlns:ds="http://schemas.openxmlformats.org/officeDocument/2006/customXml" ds:itemID="{094E910E-C555-4280-BBC5-601620219E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DFC9BD-8113-4B60-98EC-DDDCD34E55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7C0D5E-30E6-490A-A439-2FB9FFAFAC48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32f5a426-4411-422f-b9c8-9b9c919dd02d"/>
    <ds:schemaRef ds:uri="http://schemas.microsoft.com/office/infopath/2007/PartnerControls"/>
    <ds:schemaRef ds:uri="http://purl.org/dc/terms/"/>
    <ds:schemaRef ds:uri="597a471e-0b75-4fc5-bc4a-75c43d0a6ad2"/>
    <ds:schemaRef ds:uri="http://purl.org/dc/elements/1.1/"/>
    <ds:schemaRef ds:uri="d11bdb94-d558-4ffe-a4b0-092cbde2148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3439</Words>
  <Application>Microsoft Office PowerPoint</Application>
  <PresentationFormat>Widescreen</PresentationFormat>
  <Paragraphs>594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Jelle van Barneveld</dc:creator>
  <cp:lastModifiedBy>Jelle van Barneveld</cp:lastModifiedBy>
  <cp:revision>2</cp:revision>
  <dcterms:created xsi:type="dcterms:W3CDTF">2024-03-27T15:31:37Z</dcterms:created>
  <dcterms:modified xsi:type="dcterms:W3CDTF">2026-03-29T15:00:16Z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